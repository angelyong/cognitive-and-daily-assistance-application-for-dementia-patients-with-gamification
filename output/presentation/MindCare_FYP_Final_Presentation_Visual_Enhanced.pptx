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589d9d71ef4c45" /><Relationship Type="http://schemas.openxmlformats.org/officeDocument/2006/relationships/extended-properties" Target="/docProps/app.xml" Id="R1dbf50ff796b47c1" /><Relationship Type="http://schemas.openxmlformats.org/officeDocument/2006/relationships/officeDocument" Target="/ppt/presentation.xml" Id="R25b45974fef84071" /></Relationships>
</file>

<file path=ppt/presentation.xml><?xml version="1.0" encoding="utf-8"?>
<p:presentation xmlns:p="http://schemas.openxmlformats.org/presentationml/2006/main">
  <p:sldMasterIdLst>
    <p:sldMasterId xmlns:r="http://schemas.openxmlformats.org/officeDocument/2006/relationships" id="2147483648" r:id="R4a99cbe31b354a0b"/>
  </p:sldMasterIdLst>
  <p:notesMasterIdLst>
    <p:notesMasterId xmlns:r="http://schemas.openxmlformats.org/officeDocument/2006/relationships" r:id="R7347aced3fa9454e"/>
  </p:notesMasterIdLst>
  <p:sldIdLst>
    <p:sldId xmlns:r="http://schemas.openxmlformats.org/officeDocument/2006/relationships" id="256" r:id="R1835a31c06df46e5"/>
    <p:sldId xmlns:r="http://schemas.openxmlformats.org/officeDocument/2006/relationships" id="257" r:id="R059387969f784e90"/>
    <p:sldId xmlns:r="http://schemas.openxmlformats.org/officeDocument/2006/relationships" id="258" r:id="R259101d147164660"/>
    <p:sldId xmlns:r="http://schemas.openxmlformats.org/officeDocument/2006/relationships" id="259" r:id="R6aa8d6a59f7b43a7"/>
    <p:sldId xmlns:r="http://schemas.openxmlformats.org/officeDocument/2006/relationships" id="260" r:id="R27dc7b42f50e4dc3"/>
    <p:sldId xmlns:r="http://schemas.openxmlformats.org/officeDocument/2006/relationships" id="261" r:id="R15381c21025e4788"/>
    <p:sldId xmlns:r="http://schemas.openxmlformats.org/officeDocument/2006/relationships" id="262" r:id="Rcb4d6fc4970247af"/>
    <p:sldId xmlns:r="http://schemas.openxmlformats.org/officeDocument/2006/relationships" id="263" r:id="R6af1e9af332943bd"/>
    <p:sldId xmlns:r="http://schemas.openxmlformats.org/officeDocument/2006/relationships" id="264" r:id="Rbf3e083d5ba34127"/>
    <p:sldId xmlns:r="http://schemas.openxmlformats.org/officeDocument/2006/relationships" id="265" r:id="Ref110af59b604b0d"/>
    <p:sldId xmlns:r="http://schemas.openxmlformats.org/officeDocument/2006/relationships" id="266" r:id="R8275e60126d34207"/>
    <p:sldId xmlns:r="http://schemas.openxmlformats.org/officeDocument/2006/relationships" id="267" r:id="Rb5d8eb23ca404811"/>
    <p:sldId xmlns:r="http://schemas.openxmlformats.org/officeDocument/2006/relationships" id="268" r:id="Ra38d7226c24b458c"/>
    <p:sldId xmlns:r="http://schemas.openxmlformats.org/officeDocument/2006/relationships" id="269" r:id="R5ab6c4f3fb504314"/>
    <p:sldId xmlns:r="http://schemas.openxmlformats.org/officeDocument/2006/relationships" id="270" r:id="R6b5ed7fafeb943c1"/>
    <p:sldId xmlns:r="http://schemas.openxmlformats.org/officeDocument/2006/relationships" id="271" r:id="Rf707c0645c4549f0"/>
    <p:sldId xmlns:r="http://schemas.openxmlformats.org/officeDocument/2006/relationships" id="272" r:id="Rbd91029b3db24de7"/>
    <p:sldId xmlns:r="http://schemas.openxmlformats.org/officeDocument/2006/relationships" id="273" r:id="R25ac6bf85f024485"/>
    <p:sldId xmlns:r="http://schemas.openxmlformats.org/officeDocument/2006/relationships" id="274" r:id="R828281d4d0a94bbe"/>
    <p:sldId xmlns:r="http://schemas.openxmlformats.org/officeDocument/2006/relationships" id="275" r:id="Re3ec545551f4499f"/>
    <p:sldId xmlns:r="http://schemas.openxmlformats.org/officeDocument/2006/relationships" id="276" r:id="Rf3a753bc0a1b41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c855e898f064eda" /><Relationship Type="http://schemas.openxmlformats.org/officeDocument/2006/relationships/slideMaster" Target="/ppt/slideMasters/slideMaster1.xml" Id="R4a99cbe31b354a0b" /><Relationship Type="http://schemas.openxmlformats.org/officeDocument/2006/relationships/notesMaster" Target="/ppt/notesMasters/notesMaster1.xml" Id="R7347aced3fa9454e" /><Relationship Type="http://schemas.openxmlformats.org/officeDocument/2006/relationships/presProps" Target="/ppt/presProps.xml" Id="R6bc065dc9f444b99" /><Relationship Type="http://schemas.openxmlformats.org/officeDocument/2006/relationships/viewProps" Target="/ppt/viewProps.xml" Id="R905d14fef1ef425b" /><Relationship Type="http://schemas.openxmlformats.org/officeDocument/2006/relationships/tableStyles" Target="/ppt/tableStyles.xml" Id="Rd8aa826dc7e0424f" /><Relationship Type="http://schemas.openxmlformats.org/officeDocument/2006/relationships/slide" Target="/ppt/slides/slide1.xml" Id="R1835a31c06df46e5" /><Relationship Type="http://schemas.openxmlformats.org/officeDocument/2006/relationships/slide" Target="/ppt/slides/slide2.xml" Id="R059387969f784e90" /><Relationship Type="http://schemas.openxmlformats.org/officeDocument/2006/relationships/slide" Target="/ppt/slides/slide3.xml" Id="R259101d147164660" /><Relationship Type="http://schemas.openxmlformats.org/officeDocument/2006/relationships/slide" Target="/ppt/slides/slide4.xml" Id="R6aa8d6a59f7b43a7" /><Relationship Type="http://schemas.openxmlformats.org/officeDocument/2006/relationships/slide" Target="/ppt/slides/slide5.xml" Id="R27dc7b42f50e4dc3" /><Relationship Type="http://schemas.openxmlformats.org/officeDocument/2006/relationships/slide" Target="/ppt/slides/slide6.xml" Id="R15381c21025e4788" /><Relationship Type="http://schemas.openxmlformats.org/officeDocument/2006/relationships/slide" Target="/ppt/slides/slide7.xml" Id="Rcb4d6fc4970247af" /><Relationship Type="http://schemas.openxmlformats.org/officeDocument/2006/relationships/slide" Target="/ppt/slides/slide8.xml" Id="R6af1e9af332943bd" /><Relationship Type="http://schemas.openxmlformats.org/officeDocument/2006/relationships/slide" Target="/ppt/slides/slide9.xml" Id="Rbf3e083d5ba34127" /><Relationship Type="http://schemas.openxmlformats.org/officeDocument/2006/relationships/slide" Target="/ppt/slides/slide10.xml" Id="Ref110af59b604b0d" /><Relationship Type="http://schemas.openxmlformats.org/officeDocument/2006/relationships/slide" Target="/ppt/slides/slide11.xml" Id="R8275e60126d34207" /><Relationship Type="http://schemas.openxmlformats.org/officeDocument/2006/relationships/slide" Target="/ppt/slides/slide12.xml" Id="Rb5d8eb23ca404811" /><Relationship Type="http://schemas.openxmlformats.org/officeDocument/2006/relationships/slide" Target="/ppt/slides/slide13.xml" Id="Ra38d7226c24b458c" /><Relationship Type="http://schemas.openxmlformats.org/officeDocument/2006/relationships/slide" Target="/ppt/slides/slide14.xml" Id="R5ab6c4f3fb504314" /><Relationship Type="http://schemas.openxmlformats.org/officeDocument/2006/relationships/slide" Target="/ppt/slides/slide15.xml" Id="R6b5ed7fafeb943c1" /><Relationship Type="http://schemas.openxmlformats.org/officeDocument/2006/relationships/slide" Target="/ppt/slides/slide16.xml" Id="Rf707c0645c4549f0" /><Relationship Type="http://schemas.openxmlformats.org/officeDocument/2006/relationships/slide" Target="/ppt/slides/slide17.xml" Id="Rbd91029b3db24de7" /><Relationship Type="http://schemas.openxmlformats.org/officeDocument/2006/relationships/slide" Target="/ppt/slides/slide18.xml" Id="R25ac6bf85f024485" /><Relationship Type="http://schemas.openxmlformats.org/officeDocument/2006/relationships/slide" Target="/ppt/slides/slide19.xml" Id="R828281d4d0a94bbe" /><Relationship Type="http://schemas.openxmlformats.org/officeDocument/2006/relationships/slide" Target="/ppt/slides/slide20.xml" Id="Re3ec545551f4499f" /><Relationship Type="http://schemas.openxmlformats.org/officeDocument/2006/relationships/slide" Target="/ppt/slides/slide21.xml" Id="Rf3a753bc0a1b41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75abf38b4b43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71450" dist="60241" dir="4293903">
              <a:srgbClr val="000000">
                <a:alpha val="28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7b6b5243114157" /><Relationship Type="http://schemas.openxmlformats.org/officeDocument/2006/relationships/notesMaster" Target="/ppt/notesMasters/notesMaster1.xml" Id="R86314d96526f44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3ca923a65d43b7" /><Relationship Type="http://schemas.openxmlformats.org/officeDocument/2006/relationships/notesMaster" Target="/ppt/notesMasters/notesMaster1.xml" Id="Re8134efa4c244e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92d21dc1604fb8" /><Relationship Type="http://schemas.openxmlformats.org/officeDocument/2006/relationships/notesMaster" Target="/ppt/notesMasters/notesMaster1.xml" Id="R0657b87341a743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5fe3e9e5ca4107" /><Relationship Type="http://schemas.openxmlformats.org/officeDocument/2006/relationships/notesMaster" Target="/ppt/notesMasters/notesMaster1.xml" Id="R203bb1e5705144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47d13d521f4ef3" /><Relationship Type="http://schemas.openxmlformats.org/officeDocument/2006/relationships/notesMaster" Target="/ppt/notesMasters/notesMaster1.xml" Id="Rb7dbd0b47ff74b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9a9cb197d18049ca" /><Relationship Type="http://schemas.openxmlformats.org/officeDocument/2006/relationships/notesMaster" Target="/ppt/notesMasters/notesMaster1.xml" Id="R2f02ab97837047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73461108534bfd" /><Relationship Type="http://schemas.openxmlformats.org/officeDocument/2006/relationships/notesMaster" Target="/ppt/notesMasters/notesMaster1.xml" Id="R3c1f391bcd8c43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c08314944448e3" /><Relationship Type="http://schemas.openxmlformats.org/officeDocument/2006/relationships/notesMaster" Target="/ppt/notesMasters/notesMaster1.xml" Id="R3af3b37be6a74cb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dca9e52b704582" /><Relationship Type="http://schemas.openxmlformats.org/officeDocument/2006/relationships/notesMaster" Target="/ppt/notesMasters/notesMaster1.xml" Id="Redaea7ea057a4a3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25b30610e15421f" /><Relationship Type="http://schemas.openxmlformats.org/officeDocument/2006/relationships/notesMaster" Target="/ppt/notesMasters/notesMaster1.xml" Id="R9cf6ee74791b466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9f7d89d4f349d2" /><Relationship Type="http://schemas.openxmlformats.org/officeDocument/2006/relationships/notesMaster" Target="/ppt/notesMasters/notesMaster1.xml" Id="Rb7597cf40ecf43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33d6971a34647f9" /><Relationship Type="http://schemas.openxmlformats.org/officeDocument/2006/relationships/notesMaster" Target="/ppt/notesMasters/notesMaster1.xml" Id="Ra7f0265b5bbc465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47de47e3aa54014" /><Relationship Type="http://schemas.openxmlformats.org/officeDocument/2006/relationships/notesMaster" Target="/ppt/notesMasters/notesMaster1.xml" Id="R74148cb0331f409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0a78aba89734285" /><Relationship Type="http://schemas.openxmlformats.org/officeDocument/2006/relationships/notesMaster" Target="/ppt/notesMasters/notesMaster1.xml" Id="R6bbe9fa58e764d6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5139dae11664462" /><Relationship Type="http://schemas.openxmlformats.org/officeDocument/2006/relationships/notesMaster" Target="/ppt/notesMasters/notesMaster1.xml" Id="Rb86b1bec28ce464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5ca1cce90fe4c75" /><Relationship Type="http://schemas.openxmlformats.org/officeDocument/2006/relationships/notesMaster" Target="/ppt/notesMasters/notesMaster1.xml" Id="Raa0882c4bc9249e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2ff2a0549d748b1" /><Relationship Type="http://schemas.openxmlformats.org/officeDocument/2006/relationships/notesMaster" Target="/ppt/notesMasters/notesMaster1.xml" Id="R699a4107cf33432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332269a1781423e" /><Relationship Type="http://schemas.openxmlformats.org/officeDocument/2006/relationships/notesMaster" Target="/ppt/notesMasters/notesMaster1.xml" Id="Rcdb595f61e52422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c633b110c6044db" /><Relationship Type="http://schemas.openxmlformats.org/officeDocument/2006/relationships/notesMaster" Target="/ppt/notesMasters/notesMaster1.xml" Id="R39a0fe774d11494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38e8655bd21495d" /><Relationship Type="http://schemas.openxmlformats.org/officeDocument/2006/relationships/notesMaster" Target="/ppt/notesMasters/notesMaster1.xml" Id="R1542695fa2234da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976608d0b4f47e0" /><Relationship Type="http://schemas.openxmlformats.org/officeDocument/2006/relationships/notesMaster" Target="/ppt/notesMasters/notesMaster1.xml" Id="Rd045973b0c694e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title and student details are taken from the final report cover. Interface image: Final_Proposal_2205499.pdf, Figure 6.19.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comparison: Proposal_ANGELYAPYOONYING_2205499.pdf, functional requirements on pp. 44–45; Final_Proposal_2205499.pdf, Chapters 1, 4, and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statements compared between the earlier proposal (pp. 13–14) and the final report (pp. 21–23). The fifth problem is new in the final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Objectives and target users compared between the earlier proposal (pp. 16–17) and final report (pp. 25–27). The formal adaptive-cognition objective is new.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sources are listed in Final_Proposal_2205499.pdf references: Lim &amp; Sharmeen (2018); Manera et al. (2017); Lu et al. (2021); Ortega Morán et al. (2024); Bahar-Fuchs et al. (2017); Engelsma et al. (2024); Greysen et al. (2024); Koivisto &amp; Malik (2021). Existing app observations are from final report Chapter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Final_Proposal_2205499.pdf, Table 2.10, pp. 36–37. The table is condensed for presentation readability while preserving the report's Yes/No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Final_Proposal_2205499.pdf, Chapter 3, pp. 38–40. The flow summarises the described prototyping stages.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comparison: earlier proposal functional requirement list (9 items) and final report Table 4.1 (33 FR IDs across six modules).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Final_Proposal_2205499.pdf, Table 4.1 and Chapter 6. The wording condenses implemented </a:t>
            </a:r>
            <a:r>
              <a:t>behaviours</a:t>
            </a:r>
            <a:r>
              <a:t> into presentation highlights.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requested an editable placeholder because the updated use-case diagram will be inserted manually.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requested placeholders for Chapter 5 diagrams. Replace the left and right frames with the final system architecture and ERD images.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requested placeholders for Chapter 5 diagrams. Replace the left and right frames with the final system architecture and ERD images.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Interface images: Final_Proposal_2205499.pdf, Figures 6.6 and 6.19.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are based on the test IDs documented in Final_Proposal_2205499.pdf Chapter 7: 14 unit cases, 9 integration cases, 17 system scenarios, and 34 UAT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Final_Proposal_2205499.pdf, Table 7.9. All 19 caregiver UAT cases and all 15 patient UAT cases are marked PASS.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Final_Proposal_2205499.pdf, Table 7.11. Participant SUS scores: 87.5, 90.0, 92.5, 95.0, 90.0; average 91.0; target 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Final_Proposal_2205499.pdf, Chapters 7 and 8. The sample-size and non-clinical limitations are stated in Section 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Final_Proposal_2205499.pdf, formal objectives on pp. 25–26, testing evidence in Chapter 7, and objective achievements in Section 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Final_Proposal_2205499.pdf, formal objectives on pp. 25–26, testing evidence in Chapter 7, and objective achievements in Section 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Final_Proposal_2205499.pdf, Section 8.3, pp. 227–228. The owned reward-game recommendation follows from the report's stated dependency on external WebView sites.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summary. Interface image: Final_Proposal_2205499.pdf, Figure 6.8. UAT and SUS figures are from Chapter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28a40b358e41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4adc2589c847fc" /><Relationship Type="http://schemas.openxmlformats.org/officeDocument/2006/relationships/slideLayout" Target="/ppt/slideLayouts/slideLayout1.xml" Id="R4b09dbb55be244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09dbb55be244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531a53b422b472e" /><Relationship Type="http://schemas.openxmlformats.org/officeDocument/2006/relationships/image" Target="/ppt/media/image.png" Id="R35d136711afd456a" /><Relationship Type="http://schemas.openxmlformats.org/officeDocument/2006/relationships/notesSlide" Target="/ppt/notesSlides/notesSlide1.xml" Id="Ra15c7e9b3e1d48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a0e5ce14ac94882" /><Relationship Type="http://schemas.openxmlformats.org/officeDocument/2006/relationships/notesSlide" Target="/ppt/notesSlides/notesSlide2.xml" Id="R4c1c7a2eea4e46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ecc06ce902c4ff7" /><Relationship Type="http://schemas.openxmlformats.org/officeDocument/2006/relationships/notesSlide" Target="/ppt/notesSlides/notesSlide3.xml" Id="Rd414d976a7b442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7d5528d00444f83" /><Relationship Type="http://schemas.openxmlformats.org/officeDocument/2006/relationships/notesSlide" Target="/ppt/notesSlides/notesSlide4.xml" Id="R8a6de73d20094c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6f6afd903094909" /><Relationship Type="http://schemas.openxmlformats.org/officeDocument/2006/relationships/notesSlide" Target="/ppt/notesSlides/notesSlide5.xml" Id="R3e2bb23b7f1d4e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f130afec3814ff5" /><Relationship Type="http://schemas.openxmlformats.org/officeDocument/2006/relationships/notesSlide" Target="/ppt/notesSlides/notesSlide6.xml" Id="R9ed14c6756774a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93a32156ae840a8" /><Relationship Type="http://schemas.openxmlformats.org/officeDocument/2006/relationships/notesSlide" Target="/ppt/notesSlides/notesSlide7.xml" Id="R2d772f29ef9642c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1cc504434af40bd" /><Relationship Type="http://schemas.openxmlformats.org/officeDocument/2006/relationships/notesSlide" Target="/ppt/notesSlides/notesSlide8.xml" Id="Ra420d893f1a04d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8c3edc101aa4bb8" /><Relationship Type="http://schemas.openxmlformats.org/officeDocument/2006/relationships/notesSlide" Target="/ppt/notesSlides/notesSlide9.xml" Id="Rb8bf91a1de5641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930a254b42540a7" /><Relationship Type="http://schemas.openxmlformats.org/officeDocument/2006/relationships/image" Target="/ppt/media/image2.png" Id="R685b9516c2cf4027" /><Relationship Type="http://schemas.openxmlformats.org/officeDocument/2006/relationships/notesSlide" Target="/ppt/notesSlides/notesSlide10.xml" Id="Rb820b6e03e21455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2237923aecf434d" /><Relationship Type="http://schemas.openxmlformats.org/officeDocument/2006/relationships/image" Target="/ppt/media/image3.png" Id="R3bbcf93e16a548a8" /><Relationship Type="http://schemas.openxmlformats.org/officeDocument/2006/relationships/notesSlide" Target="/ppt/notesSlides/notesSlide11.xml" Id="Rfd258658d4734c3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f0ba36f1ba94a63" /><Relationship Type="http://schemas.openxmlformats.org/officeDocument/2006/relationships/image" Target="/ppt/media/image4.png" Id="Rb6acc7c7ec7c4670" /><Relationship Type="http://schemas.openxmlformats.org/officeDocument/2006/relationships/notesSlide" Target="/ppt/notesSlides/notesSlide12.xml" Id="Ra753d6684986403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612446b26a6453b" /><Relationship Type="http://schemas.openxmlformats.org/officeDocument/2006/relationships/image" Target="/ppt/media/image.png" Id="Rcac7c8c4aa45498d" /><Relationship Type="http://schemas.openxmlformats.org/officeDocument/2006/relationships/image" Target="/ppt/media/image5.png" Id="R744dd85cf80a4973" /><Relationship Type="http://schemas.openxmlformats.org/officeDocument/2006/relationships/notesSlide" Target="/ppt/notesSlides/notesSlide13.xml" Id="Rc26229d8c2644de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0d9a4a919cd4b03" /><Relationship Type="http://schemas.openxmlformats.org/officeDocument/2006/relationships/notesSlide" Target="/ppt/notesSlides/notesSlide14.xml" Id="R3bc4f12cff2547c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6beff3f10cb4a6f" /><Relationship Type="http://schemas.openxmlformats.org/officeDocument/2006/relationships/notesSlide" Target="/ppt/notesSlides/notesSlide15.xml" Id="R4e40209c7d1947c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7367ff333ae4b94" /><Relationship Type="http://schemas.openxmlformats.org/officeDocument/2006/relationships/chart" Target="/ppt/slides/charts/chart1.xml" Id="Rbfb40b80c0dd4c85" /><Relationship Type="http://schemas.openxmlformats.org/officeDocument/2006/relationships/notesSlide" Target="/ppt/notesSlides/notesSlide16.xml" Id="R182fcbc11f8043d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db8d989a52342e8" /><Relationship Type="http://schemas.openxmlformats.org/officeDocument/2006/relationships/notesSlide" Target="/ppt/notesSlides/notesSlide17.xml" Id="Rfbedb11fd3dc41d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d25999f0f134b0f" /><Relationship Type="http://schemas.openxmlformats.org/officeDocument/2006/relationships/notesSlide" Target="/ppt/notesSlides/notesSlide18.xml" Id="R4bb7dcc7d6f648e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5302b2a74144bfc" /><Relationship Type="http://schemas.openxmlformats.org/officeDocument/2006/relationships/notesSlide" Target="/ppt/notesSlides/notesSlide19.xml" Id="R19c2bad5925a416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49e66b421cd4ad8" /><Relationship Type="http://schemas.openxmlformats.org/officeDocument/2006/relationships/notesSlide" Target="/ppt/notesSlides/notesSlide20.xml" Id="Rb046e26af048482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167d3776ea54180" /><Relationship Type="http://schemas.openxmlformats.org/officeDocument/2006/relationships/image" Target="/ppt/media/image6.png" Id="Rce8f1b2e021f43a2" /><Relationship Type="http://schemas.openxmlformats.org/officeDocument/2006/relationships/notesSlide" Target="/ppt/notesSlides/notesSlide21.xml" Id="R2aefc3ba89fd4f24" /></Relationships>
</file>

<file path=ppt/slides/charts/chart1.xml><?xml version="1.0" encoding="utf-8"?>
<c:chartSpace xmlns:c="http://schemas.openxmlformats.org/drawingml/2006/chart">
  <c:lang val="en-US"/>
  <c:roundedCorners val="1"/>
  <c:style val="2"/>
  <c:chart>
    <c:autoTitleDeleted val="1"/>
    <c:plotArea>
      <c:barChart>
        <c:barDir val="col"/>
        <c:grouping val="clustered"/>
        <c:varyColors val="1"/>
        <c:ser>
          <c:idx val="0"/>
          <c:order val="0"/>
          <c:tx>
            <c:v>SUS score</c:v>
          </c:tx>
          <c:spPr>
            <a:solidFill xmlns:a="http://schemas.openxmlformats.org/drawingml/2006/main">
              <a:srgbClr val="FF6B62"/>
            </a:solidFill>
          </c:spPr>
          <c:dPt>
            <c:idx val="0"/>
            <c:invertIfNegative val="0"/>
            <c:spPr>
              <a:solidFill xmlns:a="http://schemas.openxmlformats.org/drawingml/2006/main">
                <a:srgbClr val="7C83FD"/>
              </a:solidFill>
            </c:spPr>
          </c:dPt>
          <c:dPt>
            <c:idx val="2"/>
            <c:invertIfNegative val="0"/>
            <c:spPr>
              <a:solidFill xmlns:a="http://schemas.openxmlformats.org/drawingml/2006/main">
                <a:srgbClr val="2ED9A4"/>
              </a:solidFill>
            </c:spPr>
          </c:dPt>
          <c:dPt>
            <c:idx val="3"/>
            <c:invertIfNegative val="0"/>
            <c:spPr>
              <a:solidFill xmlns:a="http://schemas.openxmlformats.org/drawingml/2006/main">
                <a:srgbClr val="FFB020"/>
              </a:solidFill>
            </c:spPr>
          </c:dPt>
          <c:dPt>
            <c:idx val="4"/>
            <c:invertIfNegative val="0"/>
            <c:spPr>
              <a:solidFill xmlns:a="http://schemas.openxmlformats.org/drawingml/2006/main">
                <a:srgbClr val="56C4FF"/>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050" b="1">
                    <a:solidFill>
                      <a:srgbClr val="F8F6FF"/>
                    </a:solidFill>
                    <a:latin typeface="Calibri"/>
                    <a:ea typeface="Calibri"/>
                    <a:cs typeface="Calibri"/>
                  </a:defRPr>
                </a:pPr>
              </a:p>
            </c:txPr>
            <c:dLblPos val="outEnd"/>
            <c:showLegendKey val="0"/>
            <c:showVal val="1"/>
            <c:showCatName val="0"/>
            <c:showSerName val="0"/>
            <c:showPercent val="0"/>
            <c:showBubbleSize val="0"/>
            <c:showLeaderLines val="0"/>
          </c:dLbls>
          <c:cat>
            <c:strLit>
              <c:ptCount val="5"/>
              <c:pt idx="0">
                <c:v>User 1</c:v>
              </c:pt>
              <c:pt idx="1">
                <c:v>User 2</c:v>
              </c:pt>
              <c:pt idx="2">
                <c:v>User 3</c:v>
              </c:pt>
              <c:pt idx="3">
                <c:v>User 4</c:v>
              </c:pt>
              <c:pt idx="4">
                <c:v>User 5</c:v>
              </c:pt>
            </c:strLit>
          </c:cat>
          <c:val>
            <c:numLit>
              <c:formatCode>0.0</c:formatCode>
              <c:ptCount val="5"/>
              <c:pt idx="0">
                <c:v>87.5</c:v>
              </c:pt>
              <c:pt idx="1">
                <c:v>90</c:v>
              </c:pt>
              <c:pt idx="2">
                <c:v>92.5</c:v>
              </c:pt>
              <c:pt idx="3">
                <c:v>95</c:v>
              </c:pt>
              <c:pt idx="4">
                <c:v>90</c:v>
              </c:pt>
            </c:numLit>
          </c:val>
        </c:ser>
        <c:dLbls>
          <c:dLblPos val="outEnd"/>
          <c:showLegendKey val="0"/>
          <c:showVal val="1"/>
          <c:showCatName val="0"/>
          <c:showSerName val="0"/>
          <c:showPercent val="0"/>
          <c:showBubbleSize val="0"/>
        </c:dLbls>
        <c:gapWidth val="48"/>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8F87AC"/>
            </a:solidFill>
            <a:prstDash val="solid"/>
          </a:ln>
        </c:spPr>
        <c:txPr>
          <a:bodyPr xmlns:a="http://schemas.openxmlformats.org/drawingml/2006/main" anchorCtr="1"/>
          <a:lstStyle xmlns:a="http://schemas.openxmlformats.org/drawingml/2006/main"/>
          <a:p xmlns:a="http://schemas.openxmlformats.org/drawingml/2006/main">
            <a:pPr>
              <a:defRPr sz="1050">
                <a:solidFill>
                  <a:srgbClr val="B8B0D4"/>
                </a:solidFill>
                <a:latin typeface="Calibri"/>
                <a:ea typeface="Calibri"/>
                <a:cs typeface="Calibri"/>
              </a:defRPr>
            </a:pPr>
          </a:p>
        </c:txPr>
        <c:crossAx val="48672768"/>
        <c:crosses val="autoZero"/>
        <c:lblOffset val="100"/>
      </c:catAx>
      <c:valAx>
        <c:axId val="48672768"/>
        <c:scaling>
          <c:orientation val="minMax"/>
          <c:max val="100"/>
          <c:min val="0"/>
        </c:scaling>
        <c:delete val="0"/>
        <c:axPos val="l"/>
        <c:majorGridlines>
          <c:spPr>
            <a:ln xmlns:a="http://schemas.openxmlformats.org/drawingml/2006/main" w="9525">
              <a:solidFill>
                <a:srgbClr val="3A3160"/>
              </a:solidFill>
              <a:prstDash val="solid"/>
            </a:ln>
          </c:spPr>
        </c:majorGridlines>
        <c:numFmt formatCode="0.0" sourceLinked="1"/>
        <c:majorTickMark val="none"/>
        <c:minorTickMark val="none"/>
        <c:tickLblPos val="nextTo"/>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a:solidFill>
                  <a:srgbClr val="B8B0D4"/>
                </a:solidFill>
                <a:latin typeface="Calibri"/>
                <a:ea typeface="Calibri"/>
                <a:cs typeface="Calibri"/>
              </a:defRPr>
            </a:pPr>
          </a:p>
        </c:txPr>
        <c:crossAx val="48650112"/>
        <c:crosses val="autoZero"/>
        <c:crossBetween val="between"/>
        <c:majorUnit val="20"/>
      </c:valAx>
      <c:spPr>
        <a:solidFill xmlns:a="http://schemas.openxmlformats.org/drawingml/2006/main">
          <a:srgbClr val="1A1530"/>
        </a:solidFill>
        <a:ln xmlns:a="http://schemas.openxmlformats.org/drawingml/2006/main" w="0">
          <a:noFill/>
        </a:ln>
      </c:spPr>
    </c:plotArea>
    <c:plotVisOnly val="1"/>
  </c:chart>
  <c:spPr>
    <a:solidFill xmlns:a="http://schemas.openxmlformats.org/drawingml/2006/main">
      <a:srgbClr val="1A1530"/>
    </a:solidFill>
    <a:ln xmlns:a="http://schemas.openxmlformats.org/drawingml/2006/main" w="0">
      <a:noFill/>
    </a:ln>
  </c:spPr>
</c:chartSpace>
</file>

<file path=ppt/slides/slide1.xml><?xml version="1.0" encoding="utf-8"?>
<p:sld xmlns:p="http://schemas.openxmlformats.org/presentationml/2006/main">
  <p:cSld>
    <p:bg>
      <p:bgPr>
        <a:gradFill xmlns:a="http://schemas.openxmlformats.org/drawingml/2006/main">
          <a:gsLst>
            <a:gs pos="0">
              <a:srgbClr val="120B27"/>
            </a:gs>
            <a:gs pos="52000">
              <a:srgbClr val="19112F"/>
            </a:gs>
            <a:gs pos="100000">
              <a:srgbClr val="24183F"/>
            </a:gs>
          </a:gsLst>
          <a:lin ang="8100000"/>
        </a:gra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FEF67296-6EFC-4AD3-8F33-60818D118AE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Oval 1">
            <a:extLst xmlns:a="http://schemas.openxmlformats.org/drawingml/2006/main">
              <a:ext uri="{FF2B5EF4-FFF2-40B4-BE49-F238E27FC236}">
                <a16:creationId xmlns:a16="http://schemas.microsoft.com/office/drawing/2014/main" id="{06937355-3D4D-4BBC-8C76-F62F0F578870}"/>
              </a:ext>
            </a:extLst>
          </p:cNvPr>
          <p:cNvSpPr>
            <a:spLocks xmlns:a="http://schemas.openxmlformats.org/drawingml/2006/main" noGrp="1"/>
          </p:cNvSpPr>
          <p:nvPr/>
        </p:nvSpPr>
        <p:spPr>
          <a:xfrm xmlns:a="http://schemas.openxmlformats.org/drawingml/2006/main">
            <a:off x="-1143000" y="4857750"/>
            <a:ext cx="3714750" cy="3714750"/>
          </a:xfrm>
          <a:prstGeom xmlns:a="http://schemas.openxmlformats.org/drawingml/2006/main" prst="ellipse">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3" name="Oval 2">
            <a:extLst xmlns:a="http://schemas.openxmlformats.org/drawingml/2006/main">
              <a:ext uri="{FF2B5EF4-FFF2-40B4-BE49-F238E27FC236}">
                <a16:creationId xmlns:a16="http://schemas.microsoft.com/office/drawing/2014/main" id="{C88E4EBE-206B-48EA-8AE2-6EE566836328}"/>
              </a:ext>
            </a:extLst>
          </p:cNvPr>
          <p:cNvSpPr>
            <a:spLocks xmlns:a="http://schemas.openxmlformats.org/drawingml/2006/main" noGrp="1"/>
          </p:cNvSpPr>
          <p:nvPr/>
        </p:nvSpPr>
        <p:spPr>
          <a:xfrm xmlns:a="http://schemas.openxmlformats.org/drawingml/2006/main">
            <a:off x="10287000" y="-1143000"/>
            <a:ext cx="2857500" cy="2857500"/>
          </a:xfrm>
          <a:prstGeom xmlns:a="http://schemas.openxmlformats.org/drawingml/2006/main" prst="ellipse">
            <a:avLst/>
          </a:prstGeom>
          <a:solidFill xmlns:a="http://schemas.openxmlformats.org/drawingml/2006/main">
            <a:srgbClr val="FF4D79"/>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4" name="Rectangle: Rounded Corners 3">
            <a:extLst xmlns:a="http://schemas.openxmlformats.org/drawingml/2006/main">
              <a:ext uri="{FF2B5EF4-FFF2-40B4-BE49-F238E27FC236}">
                <a16:creationId xmlns:a16="http://schemas.microsoft.com/office/drawing/2014/main" id="{049D5479-F11E-4EA7-86C2-6AFEDFF7F436}"/>
              </a:ext>
            </a:extLst>
          </p:cNvPr>
          <p:cNvSpPr>
            <a:spLocks xmlns:a="http://schemas.openxmlformats.org/drawingml/2006/main" noGrp="1"/>
          </p:cNvSpPr>
          <p:nvPr/>
        </p:nvSpPr>
        <p:spPr>
          <a:xfrm xmlns:a="http://schemas.openxmlformats.org/drawingml/2006/main">
            <a:off x="685800" y="590550"/>
            <a:ext cx="2381250" cy="323850"/>
          </a:xfrm>
          <a:prstGeom xmlns:a="http://schemas.openxmlformats.org/drawingml/2006/main" prst="roundRect">
            <a:avLst>
              <a:gd name="adj" fmla="val 35294"/>
            </a:avLst>
          </a:prstGeom>
          <a:solidFill xmlns:a="http://schemas.openxmlformats.org/drawingml/2006/main">
            <a:srgbClr val="3A3160"/>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892A9743-3761-4094-B772-EF5E0E394679}"/>
              </a:ext>
            </a:extLst>
          </p:cNvPr>
          <p:cNvSpPr>
            <a:spLocks xmlns:a="http://schemas.openxmlformats.org/drawingml/2006/main" noGrp="1"/>
          </p:cNvSpPr>
          <p:nvPr/>
        </p:nvSpPr>
        <p:spPr>
          <a:xfrm xmlns:a="http://schemas.openxmlformats.org/drawingml/2006/main">
            <a:off x="685800" y="6000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B8B0D4"/>
                </a:solidFill>
                <a:latin typeface="Calibri"/>
                <a:ea typeface="Calibri"/>
                <a:cs typeface="Calibri"/>
              </a:defRPr>
            </a:pPr>
            <a:r>
              <a:rPr sz="1125" b="1">
                <a:solidFill>
                  <a:srgbClr val="B8B0D4"/>
                </a:solidFill>
                <a:latin typeface="Calibri"/>
                <a:ea typeface="Calibri"/>
                <a:cs typeface="Calibri"/>
              </a:rPr>
              <a:t>FYP II · FINAL PRESENTATION</a:t>
            </a:r>
          </a:p>
        </p:txBody>
      </p:sp>
      <p:sp>
        <p:nvSpPr>
          <p:cNvPr id="9" name="Rectangle 8">
            <a:extLst xmlns:a="http://schemas.openxmlformats.org/drawingml/2006/main">
              <a:ext uri="{FF2B5EF4-FFF2-40B4-BE49-F238E27FC236}">
                <a16:creationId xmlns:a16="http://schemas.microsoft.com/office/drawing/2014/main" id="{E4A8E5C8-C033-42E8-8FDF-AD36423770A8}"/>
              </a:ext>
            </a:extLst>
          </p:cNvPr>
          <p:cNvSpPr>
            <a:spLocks xmlns:a="http://schemas.openxmlformats.org/drawingml/2006/main" noGrp="1"/>
          </p:cNvSpPr>
          <p:nvPr/>
        </p:nvSpPr>
        <p:spPr>
          <a:xfrm xmlns:a="http://schemas.openxmlformats.org/drawingml/2006/main">
            <a:off x="704850" y="56007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F8F6FF"/>
                </a:solidFill>
                <a:latin typeface="Calibri"/>
                <a:ea typeface="Calibri"/>
                <a:cs typeface="Calibri"/>
              </a:defRPr>
            </a:pPr>
            <a:r>
              <a:rPr sz="1350" b="1">
                <a:solidFill>
                  <a:srgbClr val="F8F6FF"/>
                </a:solidFill>
                <a:latin typeface="Calibri"/>
                <a:ea typeface="Calibri"/>
                <a:cs typeface="Calibri"/>
              </a:rPr>
              <a:t>ANGEL YAP YOON YING · 2205499</a:t>
            </a:r>
          </a:p>
        </p:txBody>
      </p:sp>
      <p:sp>
        <p:nvSpPr>
          <p:cNvPr id="10" name="Rectangle 9">
            <a:extLst xmlns:a="http://schemas.openxmlformats.org/drawingml/2006/main">
              <a:ext uri="{FF2B5EF4-FFF2-40B4-BE49-F238E27FC236}">
                <a16:creationId xmlns:a16="http://schemas.microsoft.com/office/drawing/2014/main" id="{9B8FF6E6-2A7E-48CA-AEF1-15BE94EBFAC7}"/>
              </a:ext>
            </a:extLst>
          </p:cNvPr>
          <p:cNvSpPr>
            <a:spLocks xmlns:a="http://schemas.openxmlformats.org/drawingml/2006/main" noGrp="1"/>
          </p:cNvSpPr>
          <p:nvPr/>
        </p:nvSpPr>
        <p:spPr>
          <a:xfrm xmlns:a="http://schemas.openxmlformats.org/drawingml/2006/main">
            <a:off x="704850" y="59245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a:solidFill>
                  <a:srgbClr val="B8B0D4"/>
                </a:solidFill>
                <a:latin typeface="Calibri"/>
                <a:ea typeface="Calibri"/>
                <a:cs typeface="Calibri"/>
              </a:defRPr>
            </a:pPr>
            <a:r>
              <a:rPr sz="1200" b="0">
                <a:solidFill>
                  <a:srgbClr val="B8B0D4"/>
                </a:solidFill>
                <a:latin typeface="Calibri"/>
                <a:ea typeface="Calibri"/>
                <a:cs typeface="Calibri"/>
              </a:rPr>
              <a:t>Universiti Tunku Abdul Rahman</a:t>
            </a:r>
          </a:p>
        </p:txBody>
      </p:sp>
      <p:sp>
        <p:nvSpPr>
          <p:cNvPr id="11" name="Rectangle: Rounded Corners 10">
            <a:extLst xmlns:a="http://schemas.openxmlformats.org/drawingml/2006/main">
              <a:ext uri="{FF2B5EF4-FFF2-40B4-BE49-F238E27FC236}">
                <a16:creationId xmlns:a16="http://schemas.microsoft.com/office/drawing/2014/main" id="{527F1040-6D3B-49F8-9EA9-8FA783933E85}"/>
              </a:ext>
            </a:extLst>
          </p:cNvPr>
          <p:cNvSpPr>
            <a:spLocks xmlns:a="http://schemas.openxmlformats.org/drawingml/2006/main" noGrp="1"/>
          </p:cNvSpPr>
          <p:nvPr/>
        </p:nvSpPr>
        <p:spPr>
          <a:xfrm xmlns:a="http://schemas.openxmlformats.org/drawingml/2006/main">
            <a:off x="6838950" y="1066800"/>
            <a:ext cx="4762500" cy="4991100"/>
          </a:xfrm>
          <a:prstGeom xmlns:a="http://schemas.openxmlformats.org/drawingml/2006/main" prst="roundRect">
            <a:avLst>
              <a:gd name="adj" fmla="val 3200"/>
            </a:avLst>
          </a:prstGeom>
          <a:solidFill xmlns:a="http://schemas.openxmlformats.org/drawingml/2006/main">
            <a:srgbClr val="100B22"/>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2" name="Rectangle: Rounded Corners 11">
            <a:extLst xmlns:a="http://schemas.openxmlformats.org/drawingml/2006/main">
              <a:ext uri="{FF2B5EF4-FFF2-40B4-BE49-F238E27FC236}">
                <a16:creationId xmlns:a16="http://schemas.microsoft.com/office/drawing/2014/main" id="{E3DE4D1C-ACC2-41AB-8D93-FD9BF2B6BFC0}"/>
              </a:ext>
            </a:extLst>
          </p:cNvPr>
          <p:cNvSpPr>
            <a:spLocks xmlns:a="http://schemas.openxmlformats.org/drawingml/2006/main" noGrp="1"/>
          </p:cNvSpPr>
          <p:nvPr/>
        </p:nvSpPr>
        <p:spPr>
          <a:xfrm xmlns:a="http://schemas.openxmlformats.org/drawingml/2006/main">
            <a:off x="6724650" y="933450"/>
            <a:ext cx="4838700" cy="5067300"/>
          </a:xfrm>
          <a:prstGeom xmlns:a="http://schemas.openxmlformats.org/drawingml/2006/main" prst="roundRect">
            <a:avLst>
              <a:gd name="adj" fmla="val 3150"/>
            </a:avLst>
          </a:prstGeom>
          <a:solidFill xmlns:a="http://schemas.openxmlformats.org/drawingml/2006/main">
            <a:srgbClr val="3A316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pic>
        <p:nvPicPr>
          <p:cNvPr id="25" name="Picture 25"/>
          <p:cNvPicPr>
            <a:picLocks xmlns:a="http://schemas.openxmlformats.org/drawingml/2006/main" noChangeAspect="1"/>
          </p:cNvPicPr>
          <p:nvPr/>
        </p:nvPicPr>
        <p:blipFill>
          <a:blip xmlns:r="http://schemas.openxmlformats.org/officeDocument/2006/relationships" xmlns:a="http://schemas.openxmlformats.org/drawingml/2006/main" r:embed="R35d136711afd456a"/>
          <a:srcRect xmlns:a="http://schemas.openxmlformats.org/drawingml/2006/main" l="0" t="275" r="0" b="275"/>
          <a:stretch xmlns:a="http://schemas.openxmlformats.org/drawingml/2006/main">
            <a:fillRect l="0" t="0" r="0" b="0"/>
          </a:stretch>
        </p:blipFill>
        <p:spPr>
          <a:xfrm xmlns:a="http://schemas.openxmlformats.org/drawingml/2006/main">
            <a:off x="6762750" y="971550"/>
            <a:ext cx="4762500" cy="4991100"/>
          </a:xfrm>
          <a:prstGeom xmlns:a="http://schemas.openxmlformats.org/drawingml/2006/main" prst="roundRect">
            <a:avLst>
              <a:gd name="adj" fmla="val 2400"/>
            </a:avLst>
          </a:prstGeom>
        </p:spPr>
      </p:pic>
      <p:sp>
        <p:nvSpPr>
          <p:cNvPr id="6" name="Rectangle 5">
            <a:extLst xmlns:a="http://schemas.openxmlformats.org/drawingml/2006/main">
              <a:ext uri="{FF2B5EF4-FFF2-40B4-BE49-F238E27FC236}">
                <a16:creationId xmlns:a16="http://schemas.microsoft.com/office/drawing/2014/main" id="{6A120ED8-D57F-4FDC-8378-555D1517284E}"/>
              </a:ext>
            </a:extLst>
          </p:cNvPr>
          <p:cNvSpPr>
            <a:spLocks xmlns:a="http://schemas.openxmlformats.org/drawingml/2006/main" noGrp="1"/>
          </p:cNvSpPr>
          <p:nvPr/>
        </p:nvSpPr>
        <p:spPr>
          <a:xfrm xmlns:a="http://schemas.openxmlformats.org/drawingml/2006/main">
            <a:off x="402943" y="1914525"/>
            <a:ext cx="6923831" cy="12001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050" b="1">
                <a:solidFill>
                  <a:srgbClr val="F8F6FF"/>
                </a:solidFill>
                <a:latin typeface="Calibri"/>
                <a:ea typeface="Calibri"/>
                <a:cs typeface="Calibri"/>
              </a:defRPr>
            </a:pPr>
            <a:r>
              <a:rPr sz="2800" b="1"/>
              <a:t>A Mobile-Based Cognitive and Daily Assistance Application for Dementia Patients with Gamification</a:t>
            </a:r>
            <a:endParaRPr sz="2800" b="1">
              <a:solidFill>
                <a:srgbClr val="F8F6FF"/>
              </a:solidFill>
              <a:latin typeface="Calibri"/>
              <a:ea typeface="Calibri"/>
              <a:cs typeface="Calibri"/>
            </a:endParaRPr>
          </a:p>
        </p:txBody>
      </p:sp>
    </p:spTree>
    <p:extLst>
      <p:ext uri="{BB962C8B-B14F-4D97-AF65-F5344CB8AC3E}">
        <p14:creationId xmlns:p14="http://schemas.microsoft.com/office/powerpoint/2010/main" val="1194686076"/>
      </p:ext>
    </p:extLst>
  </p:cSld>
</p:sld>
</file>

<file path=ppt/slides/slide2.xml><?xml version="1.0" encoding="utf-8"?>
<p:sld xmlns:p="http://schemas.openxmlformats.org/presentationml/2006/main">
  <p:cSld>
    <p:bg>
      <p:bgPr>
        <a:gradFill xmlns:a="http://schemas.openxmlformats.org/drawingml/2006/main">
          <a:gsLst>
            <a:gs pos="0">
              <a:srgbClr val="120B27"/>
            </a:gs>
            <a:gs pos="52000">
              <a:srgbClr val="19112F"/>
            </a:gs>
            <a:gs pos="100000">
              <a:srgbClr val="24183F"/>
            </a:gs>
          </a:gsLst>
          <a:lin ang="8100000"/>
        </a:gradFill>
      </p:bgPr>
    </p:bg>
    <p:spTree>
      <p:nvGrpSpPr>
        <p:cNvPr id="1" name=""/>
        <p:cNvGrpSpPr/>
        <p:nvPr/>
      </p:nvGrpSpPr>
      <p:grpSpPr>
        <a:xfrm xmlns:a="http://schemas.openxmlformats.org/drawingml/2006/main"/>
      </p:grpSpPr>
      <p:sp>
        <p:nvSpPr>
          <p:cNvPr id="36" name="Rectangle 35">
            <a:extLst xmlns:a="http://schemas.openxmlformats.org/drawingml/2006/main">
              <a:ext uri="{FF2B5EF4-FFF2-40B4-BE49-F238E27FC236}">
                <a16:creationId xmlns:a16="http://schemas.microsoft.com/office/drawing/2014/main" id="{430A317A-04F7-455D-B9B5-C8F9E6A0413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36D5CB5D-E56A-470C-BAC2-E85B85B6DA72}"/>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FF6B62"/>
                </a:solidFill>
                <a:latin typeface="Calibri"/>
                <a:ea typeface="Calibri"/>
                <a:cs typeface="Calibri"/>
              </a:defRPr>
            </a:pPr>
            <a:r>
              <a:rPr sz="1125" b="1">
                <a:solidFill>
                  <a:srgbClr val="FF6B62"/>
                </a:solidFill>
                <a:latin typeface="Calibri"/>
                <a:ea typeface="Calibri"/>
                <a:cs typeface="Calibri"/>
              </a:rPr>
              <a:t>PROJECT EVOLUTION</a:t>
            </a:r>
          </a:p>
        </p:txBody>
      </p:sp>
      <p:sp>
        <p:nvSpPr>
          <p:cNvPr id="3" name="Rectangle 2">
            <a:extLst xmlns:a="http://schemas.openxmlformats.org/drawingml/2006/main">
              <a:ext uri="{FF2B5EF4-FFF2-40B4-BE49-F238E27FC236}">
                <a16:creationId xmlns:a16="http://schemas.microsoft.com/office/drawing/2014/main" id="{332D28B4-409A-4ABA-A80E-0BBE458D280C}"/>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F8F6FF"/>
                </a:solidFill>
                <a:latin typeface="Calibri"/>
                <a:ea typeface="Calibri"/>
                <a:cs typeface="Calibri"/>
              </a:defRPr>
            </a:pPr>
            <a:r>
              <a:rPr sz="2700" b="1">
                <a:solidFill>
                  <a:srgbClr val="F8F6FF"/>
                </a:solidFill>
                <a:latin typeface="Calibri"/>
                <a:ea typeface="Calibri"/>
                <a:cs typeface="Calibri"/>
              </a:rPr>
              <a:t>What changed from proposal to final product</a:t>
            </a:r>
          </a:p>
        </p:txBody>
      </p:sp>
      <p:sp>
        <p:nvSpPr>
          <p:cNvPr id="4" name="Rectangle 3">
            <a:extLst xmlns:a="http://schemas.openxmlformats.org/drawingml/2006/main">
              <a:ext uri="{FF2B5EF4-FFF2-40B4-BE49-F238E27FC236}">
                <a16:creationId xmlns:a16="http://schemas.microsoft.com/office/drawing/2014/main" id="{C7D2AD27-C39A-48A4-806F-E185B7F527C5}"/>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B8B0D4"/>
                </a:solidFill>
                <a:latin typeface="Calibri"/>
                <a:ea typeface="Calibri"/>
                <a:cs typeface="Calibri"/>
              </a:defRPr>
            </a:pPr>
            <a:r>
              <a:rPr sz="1350" b="0">
                <a:solidFill>
                  <a:srgbClr val="B8B0D4"/>
                </a:solidFill>
                <a:latin typeface="Calibri"/>
                <a:ea typeface="Calibri"/>
                <a:cs typeface="Calibri"/>
              </a:rPr>
              <a:t>The final report transformed a broad concept into a traceable, personalised care platform.</a:t>
            </a:r>
          </a:p>
        </p:txBody>
      </p:sp>
      <p:sp>
        <p:nvSpPr>
          <p:cNvPr id="5" name="Rectangle: Rounded Corners 4">
            <a:extLst xmlns:a="http://schemas.openxmlformats.org/drawingml/2006/main">
              <a:ext uri="{FF2B5EF4-FFF2-40B4-BE49-F238E27FC236}">
                <a16:creationId xmlns:a16="http://schemas.microsoft.com/office/drawing/2014/main" id="{73D4B8F3-AF0A-4451-8546-50233824A631}"/>
              </a:ext>
            </a:extLst>
          </p:cNvPr>
          <p:cNvSpPr>
            <a:spLocks xmlns:a="http://schemas.openxmlformats.org/drawingml/2006/main" noGrp="1"/>
          </p:cNvSpPr>
          <p:nvPr/>
        </p:nvSpPr>
        <p:spPr>
          <a:xfrm xmlns:a="http://schemas.openxmlformats.org/drawingml/2006/main">
            <a:off x="647700" y="1857375"/>
            <a:ext cx="2381250" cy="1009650"/>
          </a:xfrm>
          <a:prstGeom xmlns:a="http://schemas.openxmlformats.org/drawingml/2006/main" prst="roundRect">
            <a:avLst>
              <a:gd name="adj" fmla="val 11321"/>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6" name="Rectangle: Rounded Corners 5">
            <a:extLst xmlns:a="http://schemas.openxmlformats.org/drawingml/2006/main">
              <a:ext uri="{FF2B5EF4-FFF2-40B4-BE49-F238E27FC236}">
                <a16:creationId xmlns:a16="http://schemas.microsoft.com/office/drawing/2014/main" id="{5DE5DF18-A7E1-499B-9B89-582C7BA8BEE6}"/>
              </a:ext>
            </a:extLst>
          </p:cNvPr>
          <p:cNvSpPr>
            <a:spLocks xmlns:a="http://schemas.openxmlformats.org/drawingml/2006/main" noGrp="1"/>
          </p:cNvSpPr>
          <p:nvPr/>
        </p:nvSpPr>
        <p:spPr>
          <a:xfrm xmlns:a="http://schemas.openxmlformats.org/drawingml/2006/main">
            <a:off x="819150" y="2028825"/>
            <a:ext cx="457200" cy="76200"/>
          </a:xfrm>
          <a:prstGeom xmlns:a="http://schemas.openxmlformats.org/drawingml/2006/main" prst="roundRect">
            <a:avLst>
              <a:gd name="adj" fmla="val 50000"/>
            </a:avLst>
          </a:prstGeom>
          <a:solidFill xmlns:a="http://schemas.openxmlformats.org/drawingml/2006/main">
            <a:srgbClr val="8F87AC"/>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7" name="Rectangle 6">
            <a:extLst xmlns:a="http://schemas.openxmlformats.org/drawingml/2006/main">
              <a:ext uri="{FF2B5EF4-FFF2-40B4-BE49-F238E27FC236}">
                <a16:creationId xmlns:a16="http://schemas.microsoft.com/office/drawing/2014/main" id="{B37C3D9E-0206-4183-8CBB-3F2EA2A448A5}"/>
              </a:ext>
            </a:extLst>
          </p:cNvPr>
          <p:cNvSpPr>
            <a:spLocks xmlns:a="http://schemas.openxmlformats.org/drawingml/2006/main" noGrp="1"/>
          </p:cNvSpPr>
          <p:nvPr/>
        </p:nvSpPr>
        <p:spPr>
          <a:xfrm xmlns:a="http://schemas.openxmlformats.org/drawingml/2006/main">
            <a:off x="819150" y="2152650"/>
            <a:ext cx="2038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F8F6FF"/>
                </a:solidFill>
                <a:latin typeface="Calibri"/>
                <a:ea typeface="Calibri"/>
                <a:cs typeface="Calibri"/>
              </a:defRPr>
            </a:pPr>
            <a:r>
              <a:rPr sz="2550" b="1">
                <a:solidFill>
                  <a:srgbClr val="F8F6FF"/>
                </a:solidFill>
                <a:latin typeface="Calibri"/>
                <a:ea typeface="Calibri"/>
                <a:cs typeface="Calibri"/>
              </a:rPr>
              <a:t>9</a:t>
            </a:r>
          </a:p>
        </p:txBody>
      </p:sp>
      <p:sp>
        <p:nvSpPr>
          <p:cNvPr id="8" name="Rectangle 7">
            <a:extLst xmlns:a="http://schemas.openxmlformats.org/drawingml/2006/main">
              <a:ext uri="{FF2B5EF4-FFF2-40B4-BE49-F238E27FC236}">
                <a16:creationId xmlns:a16="http://schemas.microsoft.com/office/drawing/2014/main" id="{24D03E9B-EF32-46A0-9836-7F3C51F7905C}"/>
              </a:ext>
            </a:extLst>
          </p:cNvPr>
          <p:cNvSpPr>
            <a:spLocks xmlns:a="http://schemas.openxmlformats.org/drawingml/2006/main" noGrp="1"/>
          </p:cNvSpPr>
          <p:nvPr/>
        </p:nvSpPr>
        <p:spPr>
          <a:xfrm xmlns:a="http://schemas.openxmlformats.org/drawingml/2006/main">
            <a:off x="819150" y="2581274"/>
            <a:ext cx="20383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B8B0D4"/>
                </a:solidFill>
                <a:latin typeface="Calibri"/>
                <a:ea typeface="Calibri"/>
                <a:cs typeface="Calibri"/>
              </a:defRPr>
            </a:pPr>
            <a:r>
              <a:rPr sz="1050" b="0">
                <a:solidFill>
                  <a:srgbClr val="B8B0D4"/>
                </a:solidFill>
                <a:latin typeface="Calibri"/>
                <a:ea typeface="Calibri"/>
                <a:cs typeface="Calibri"/>
              </a:rPr>
              <a:t>broad functional requirements </a:t>
            </a:r>
          </a:p>
        </p:txBody>
      </p:sp>
      <p:sp>
        <p:nvSpPr>
          <p:cNvPr id="9" name="Rectangle: Rounded Corners 8">
            <a:extLst xmlns:a="http://schemas.openxmlformats.org/drawingml/2006/main">
              <a:ext uri="{FF2B5EF4-FFF2-40B4-BE49-F238E27FC236}">
                <a16:creationId xmlns:a16="http://schemas.microsoft.com/office/drawing/2014/main" id="{E148A3BF-6574-4905-9FD2-C609DBF2EF9B}"/>
              </a:ext>
            </a:extLst>
          </p:cNvPr>
          <p:cNvSpPr>
            <a:spLocks xmlns:a="http://schemas.openxmlformats.org/drawingml/2006/main" noGrp="1"/>
          </p:cNvSpPr>
          <p:nvPr/>
        </p:nvSpPr>
        <p:spPr>
          <a:xfrm xmlns:a="http://schemas.openxmlformats.org/drawingml/2006/main">
            <a:off x="3238500" y="1857375"/>
            <a:ext cx="2381250" cy="1009650"/>
          </a:xfrm>
          <a:prstGeom xmlns:a="http://schemas.openxmlformats.org/drawingml/2006/main" prst="roundRect">
            <a:avLst>
              <a:gd name="adj" fmla="val 11321"/>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0" name="Rectangle: Rounded Corners 9">
            <a:extLst xmlns:a="http://schemas.openxmlformats.org/drawingml/2006/main">
              <a:ext uri="{FF2B5EF4-FFF2-40B4-BE49-F238E27FC236}">
                <a16:creationId xmlns:a16="http://schemas.microsoft.com/office/drawing/2014/main" id="{B5520C3B-1D0C-4745-83BD-B409C6D14CBB}"/>
              </a:ext>
            </a:extLst>
          </p:cNvPr>
          <p:cNvSpPr>
            <a:spLocks xmlns:a="http://schemas.openxmlformats.org/drawingml/2006/main" noGrp="1"/>
          </p:cNvSpPr>
          <p:nvPr/>
        </p:nvSpPr>
        <p:spPr>
          <a:xfrm xmlns:a="http://schemas.openxmlformats.org/drawingml/2006/main">
            <a:off x="3409950" y="2028825"/>
            <a:ext cx="457200" cy="76200"/>
          </a:xfrm>
          <a:prstGeom xmlns:a="http://schemas.openxmlformats.org/drawingml/2006/main" prst="roundRect">
            <a:avLst>
              <a:gd name="adj" fmla="val 50000"/>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1" name="Rectangle 10">
            <a:extLst xmlns:a="http://schemas.openxmlformats.org/drawingml/2006/main">
              <a:ext uri="{FF2B5EF4-FFF2-40B4-BE49-F238E27FC236}">
                <a16:creationId xmlns:a16="http://schemas.microsoft.com/office/drawing/2014/main" id="{62798FD9-10E2-4660-8DF3-93CBEBB449A7}"/>
              </a:ext>
            </a:extLst>
          </p:cNvPr>
          <p:cNvSpPr>
            <a:spLocks xmlns:a="http://schemas.openxmlformats.org/drawingml/2006/main" noGrp="1"/>
          </p:cNvSpPr>
          <p:nvPr/>
        </p:nvSpPr>
        <p:spPr>
          <a:xfrm xmlns:a="http://schemas.openxmlformats.org/drawingml/2006/main">
            <a:off x="3409950" y="2152650"/>
            <a:ext cx="2038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F8F6FF"/>
                </a:solidFill>
                <a:latin typeface="Calibri"/>
                <a:ea typeface="Calibri"/>
                <a:cs typeface="Calibri"/>
              </a:defRPr>
            </a:pPr>
            <a:r>
              <a:rPr sz="2550" b="1">
                <a:solidFill>
                  <a:srgbClr val="F8F6FF"/>
                </a:solidFill>
                <a:latin typeface="Calibri"/>
                <a:ea typeface="Calibri"/>
                <a:cs typeface="Calibri"/>
              </a:rPr>
              <a:t>33</a:t>
            </a:r>
          </a:p>
        </p:txBody>
      </p:sp>
      <p:sp>
        <p:nvSpPr>
          <p:cNvPr id="12" name="Rectangle 11">
            <a:extLst xmlns:a="http://schemas.openxmlformats.org/drawingml/2006/main">
              <a:ext uri="{FF2B5EF4-FFF2-40B4-BE49-F238E27FC236}">
                <a16:creationId xmlns:a16="http://schemas.microsoft.com/office/drawing/2014/main" id="{11A119F7-43E2-43C5-BBC2-384674C549CC}"/>
              </a:ext>
            </a:extLst>
          </p:cNvPr>
          <p:cNvSpPr>
            <a:spLocks xmlns:a="http://schemas.openxmlformats.org/drawingml/2006/main" noGrp="1"/>
          </p:cNvSpPr>
          <p:nvPr/>
        </p:nvSpPr>
        <p:spPr>
          <a:xfrm xmlns:a="http://schemas.openxmlformats.org/drawingml/2006/main">
            <a:off x="3409950" y="258127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B8B0D4"/>
                </a:solidFill>
                <a:latin typeface="Calibri"/>
                <a:ea typeface="Calibri"/>
                <a:cs typeface="Calibri"/>
              </a:defRPr>
            </a:pPr>
            <a:r>
              <a:rPr sz="1050" b="0">
                <a:solidFill>
                  <a:srgbClr val="B8B0D4"/>
                </a:solidFill>
                <a:latin typeface="Calibri"/>
                <a:ea typeface="Calibri"/>
                <a:cs typeface="Calibri"/>
              </a:rPr>
              <a:t>traceable functional requirements in the final report</a:t>
            </a:r>
          </a:p>
        </p:txBody>
      </p:sp>
      <p:sp>
        <p:nvSpPr>
          <p:cNvPr id="13" name="Rectangle: Rounded Corners 12">
            <a:extLst xmlns:a="http://schemas.openxmlformats.org/drawingml/2006/main">
              <a:ext uri="{FF2B5EF4-FFF2-40B4-BE49-F238E27FC236}">
                <a16:creationId xmlns:a16="http://schemas.microsoft.com/office/drawing/2014/main" id="{67AF53E0-D1A3-4821-BE7B-4E17609D891C}"/>
              </a:ext>
            </a:extLst>
          </p:cNvPr>
          <p:cNvSpPr>
            <a:spLocks xmlns:a="http://schemas.openxmlformats.org/drawingml/2006/main" noGrp="1"/>
          </p:cNvSpPr>
          <p:nvPr/>
        </p:nvSpPr>
        <p:spPr>
          <a:xfrm xmlns:a="http://schemas.openxmlformats.org/drawingml/2006/main">
            <a:off x="5829300" y="1857375"/>
            <a:ext cx="2381250" cy="1009650"/>
          </a:xfrm>
          <a:prstGeom xmlns:a="http://schemas.openxmlformats.org/drawingml/2006/main" prst="roundRect">
            <a:avLst>
              <a:gd name="adj" fmla="val 11321"/>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4" name="Rectangle: Rounded Corners 13">
            <a:extLst xmlns:a="http://schemas.openxmlformats.org/drawingml/2006/main">
              <a:ext uri="{FF2B5EF4-FFF2-40B4-BE49-F238E27FC236}">
                <a16:creationId xmlns:a16="http://schemas.microsoft.com/office/drawing/2014/main" id="{7D464385-E23B-4ED8-B748-D885C51A2001}"/>
              </a:ext>
            </a:extLst>
          </p:cNvPr>
          <p:cNvSpPr>
            <a:spLocks xmlns:a="http://schemas.openxmlformats.org/drawingml/2006/main" noGrp="1"/>
          </p:cNvSpPr>
          <p:nvPr/>
        </p:nvSpPr>
        <p:spPr>
          <a:xfrm xmlns:a="http://schemas.openxmlformats.org/drawingml/2006/main">
            <a:off x="6000750" y="2028825"/>
            <a:ext cx="457200" cy="76200"/>
          </a:xfrm>
          <a:prstGeom xmlns:a="http://schemas.openxmlformats.org/drawingml/2006/main" prst="roundRect">
            <a:avLst>
              <a:gd name="adj" fmla="val 50000"/>
            </a:avLst>
          </a:prstGeom>
          <a:solidFill xmlns:a="http://schemas.openxmlformats.org/drawingml/2006/main">
            <a:srgbClr val="7C83F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AFF14D54-FAE3-4BBD-8212-CF7DE0A38FEF}"/>
              </a:ext>
            </a:extLst>
          </p:cNvPr>
          <p:cNvSpPr>
            <a:spLocks xmlns:a="http://schemas.openxmlformats.org/drawingml/2006/main" noGrp="1"/>
          </p:cNvSpPr>
          <p:nvPr/>
        </p:nvSpPr>
        <p:spPr>
          <a:xfrm xmlns:a="http://schemas.openxmlformats.org/drawingml/2006/main">
            <a:off x="6000750" y="2152650"/>
            <a:ext cx="2038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F8F6FF"/>
                </a:solidFill>
                <a:latin typeface="Calibri"/>
                <a:ea typeface="Calibri"/>
                <a:cs typeface="Calibri"/>
              </a:defRPr>
            </a:pPr>
            <a:r>
              <a:rPr sz="2550" b="1">
                <a:solidFill>
                  <a:srgbClr val="F8F6FF"/>
                </a:solidFill>
                <a:latin typeface="Calibri"/>
                <a:ea typeface="Calibri"/>
                <a:cs typeface="Calibri"/>
              </a:rPr>
              <a:t>4 → 5</a:t>
            </a:r>
          </a:p>
        </p:txBody>
      </p:sp>
      <p:sp>
        <p:nvSpPr>
          <p:cNvPr id="16" name="Rectangle 15">
            <a:extLst xmlns:a="http://schemas.openxmlformats.org/drawingml/2006/main">
              <a:ext uri="{FF2B5EF4-FFF2-40B4-BE49-F238E27FC236}">
                <a16:creationId xmlns:a16="http://schemas.microsoft.com/office/drawing/2014/main" id="{46AC184D-4215-43EE-8CA7-83B06580106C}"/>
              </a:ext>
            </a:extLst>
          </p:cNvPr>
          <p:cNvSpPr>
            <a:spLocks xmlns:a="http://schemas.openxmlformats.org/drawingml/2006/main" noGrp="1"/>
          </p:cNvSpPr>
          <p:nvPr/>
        </p:nvSpPr>
        <p:spPr>
          <a:xfrm xmlns:a="http://schemas.openxmlformats.org/drawingml/2006/main">
            <a:off x="6000750" y="2581275"/>
            <a:ext cx="2038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B8B0D4"/>
                </a:solidFill>
                <a:latin typeface="Calibri"/>
                <a:ea typeface="Calibri"/>
                <a:cs typeface="Calibri"/>
              </a:defRPr>
            </a:pPr>
            <a:r>
              <a:rPr sz="1050" b="0">
                <a:solidFill>
                  <a:srgbClr val="B8B0D4"/>
                </a:solidFill>
                <a:latin typeface="Calibri"/>
                <a:ea typeface="Calibri"/>
                <a:cs typeface="Calibri"/>
              </a:rPr>
              <a:t>problem statements after adding personalization</a:t>
            </a:r>
          </a:p>
        </p:txBody>
      </p:sp>
      <p:sp>
        <p:nvSpPr>
          <p:cNvPr id="17" name="Rectangle: Rounded Corners 16">
            <a:extLst xmlns:a="http://schemas.openxmlformats.org/drawingml/2006/main">
              <a:ext uri="{FF2B5EF4-FFF2-40B4-BE49-F238E27FC236}">
                <a16:creationId xmlns:a16="http://schemas.microsoft.com/office/drawing/2014/main" id="{54441D7C-2C9F-4DE5-BA99-DDD4633D1457}"/>
              </a:ext>
            </a:extLst>
          </p:cNvPr>
          <p:cNvSpPr>
            <a:spLocks xmlns:a="http://schemas.openxmlformats.org/drawingml/2006/main" noGrp="1"/>
          </p:cNvSpPr>
          <p:nvPr/>
        </p:nvSpPr>
        <p:spPr>
          <a:xfrm xmlns:a="http://schemas.openxmlformats.org/drawingml/2006/main">
            <a:off x="8420100" y="1857375"/>
            <a:ext cx="2381250" cy="1009650"/>
          </a:xfrm>
          <a:prstGeom xmlns:a="http://schemas.openxmlformats.org/drawingml/2006/main" prst="roundRect">
            <a:avLst>
              <a:gd name="adj" fmla="val 11321"/>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8" name="Rectangle: Rounded Corners 17">
            <a:extLst xmlns:a="http://schemas.openxmlformats.org/drawingml/2006/main">
              <a:ext uri="{FF2B5EF4-FFF2-40B4-BE49-F238E27FC236}">
                <a16:creationId xmlns:a16="http://schemas.microsoft.com/office/drawing/2014/main" id="{9BB25F2F-CE02-4297-8B9E-FEF6B77AD9A3}"/>
              </a:ext>
            </a:extLst>
          </p:cNvPr>
          <p:cNvSpPr>
            <a:spLocks xmlns:a="http://schemas.openxmlformats.org/drawingml/2006/main" noGrp="1"/>
          </p:cNvSpPr>
          <p:nvPr/>
        </p:nvSpPr>
        <p:spPr>
          <a:xfrm xmlns:a="http://schemas.openxmlformats.org/drawingml/2006/main">
            <a:off x="8591550" y="2028825"/>
            <a:ext cx="457200" cy="76200"/>
          </a:xfrm>
          <a:prstGeom xmlns:a="http://schemas.openxmlformats.org/drawingml/2006/main" prst="roundRect">
            <a:avLst>
              <a:gd name="adj" fmla="val 50000"/>
            </a:avLst>
          </a:prstGeom>
          <a:solidFill xmlns:a="http://schemas.openxmlformats.org/drawingml/2006/main">
            <a:srgbClr val="2ED9A4"/>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9" name="Rectangle 18">
            <a:extLst xmlns:a="http://schemas.openxmlformats.org/drawingml/2006/main">
              <a:ext uri="{FF2B5EF4-FFF2-40B4-BE49-F238E27FC236}">
                <a16:creationId xmlns:a16="http://schemas.microsoft.com/office/drawing/2014/main" id="{CD1D79D0-73EA-4AE5-B815-96CCDADFA9D4}"/>
              </a:ext>
            </a:extLst>
          </p:cNvPr>
          <p:cNvSpPr>
            <a:spLocks xmlns:a="http://schemas.openxmlformats.org/drawingml/2006/main" noGrp="1"/>
          </p:cNvSpPr>
          <p:nvPr/>
        </p:nvSpPr>
        <p:spPr>
          <a:xfrm xmlns:a="http://schemas.openxmlformats.org/drawingml/2006/main">
            <a:off x="8591550" y="2152650"/>
            <a:ext cx="2038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F8F6FF"/>
                </a:solidFill>
                <a:latin typeface="Calibri"/>
                <a:ea typeface="Calibri"/>
                <a:cs typeface="Calibri"/>
              </a:defRPr>
            </a:pPr>
            <a:r>
              <a:rPr sz="2550" b="1">
                <a:solidFill>
                  <a:srgbClr val="F8F6FF"/>
                </a:solidFill>
                <a:latin typeface="Calibri"/>
                <a:ea typeface="Calibri"/>
                <a:cs typeface="Calibri"/>
              </a:rPr>
              <a:t>91.0</a:t>
            </a:r>
          </a:p>
        </p:txBody>
      </p:sp>
      <p:sp>
        <p:nvSpPr>
          <p:cNvPr id="20" name="Rectangle 19">
            <a:extLst xmlns:a="http://schemas.openxmlformats.org/drawingml/2006/main">
              <a:ext uri="{FF2B5EF4-FFF2-40B4-BE49-F238E27FC236}">
                <a16:creationId xmlns:a16="http://schemas.microsoft.com/office/drawing/2014/main" id="{779718C3-96AC-4707-BBAD-67373A695078}"/>
              </a:ext>
            </a:extLst>
          </p:cNvPr>
          <p:cNvSpPr>
            <a:spLocks xmlns:a="http://schemas.openxmlformats.org/drawingml/2006/main" noGrp="1"/>
          </p:cNvSpPr>
          <p:nvPr/>
        </p:nvSpPr>
        <p:spPr>
          <a:xfrm xmlns:a="http://schemas.openxmlformats.org/drawingml/2006/main">
            <a:off x="8591550" y="2581275"/>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B8B0D4"/>
                </a:solidFill>
                <a:latin typeface="Calibri"/>
                <a:ea typeface="Calibri"/>
                <a:cs typeface="Calibri"/>
              </a:defRPr>
            </a:pPr>
            <a:r>
              <a:rPr sz="1050" b="0">
                <a:solidFill>
                  <a:srgbClr val="B8B0D4"/>
                </a:solidFill>
                <a:latin typeface="Calibri"/>
                <a:ea typeface="Calibri"/>
                <a:cs typeface="Calibri"/>
              </a:rPr>
              <a:t>average SUS score against an 85 target</a:t>
            </a:r>
          </a:p>
        </p:txBody>
      </p:sp>
      <p:sp>
        <p:nvSpPr>
          <p:cNvPr id="21" name="Rectangle: Rounded Corners 20">
            <a:extLst xmlns:a="http://schemas.openxmlformats.org/drawingml/2006/main">
              <a:ext uri="{FF2B5EF4-FFF2-40B4-BE49-F238E27FC236}">
                <a16:creationId xmlns:a16="http://schemas.microsoft.com/office/drawing/2014/main" id="{F790E51E-1535-4B43-A10F-6FAD026D512A}"/>
              </a:ext>
            </a:extLst>
          </p:cNvPr>
          <p:cNvSpPr>
            <a:spLocks xmlns:a="http://schemas.openxmlformats.org/drawingml/2006/main" noGrp="1"/>
          </p:cNvSpPr>
          <p:nvPr/>
        </p:nvSpPr>
        <p:spPr>
          <a:xfrm xmlns:a="http://schemas.openxmlformats.org/drawingml/2006/main">
            <a:off x="647700" y="3295650"/>
            <a:ext cx="10153650" cy="2171700"/>
          </a:xfrm>
          <a:prstGeom xmlns:a="http://schemas.openxmlformats.org/drawingml/2006/main" prst="roundRect">
            <a:avLst>
              <a:gd name="adj" fmla="val 7018"/>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22" name="Rectangle 21">
            <a:extLst xmlns:a="http://schemas.openxmlformats.org/drawingml/2006/main">
              <a:ext uri="{FF2B5EF4-FFF2-40B4-BE49-F238E27FC236}">
                <a16:creationId xmlns:a16="http://schemas.microsoft.com/office/drawing/2014/main" id="{B42E1AB5-E29E-4132-B213-41DC6EF1D850}"/>
              </a:ext>
            </a:extLst>
          </p:cNvPr>
          <p:cNvSpPr>
            <a:spLocks xmlns:a="http://schemas.openxmlformats.org/drawingml/2006/main" noGrp="1"/>
          </p:cNvSpPr>
          <p:nvPr/>
        </p:nvSpPr>
        <p:spPr>
          <a:xfrm xmlns:a="http://schemas.openxmlformats.org/drawingml/2006/main">
            <a:off x="914400" y="355282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B8B0D4"/>
                </a:solidFill>
                <a:latin typeface="Calibri"/>
                <a:ea typeface="Calibri"/>
                <a:cs typeface="Calibri"/>
              </a:defRPr>
            </a:pPr>
            <a:r>
              <a:rPr sz="1275" b="0">
                <a:solidFill>
                  <a:srgbClr val="B8B0D4"/>
                </a:solidFill>
                <a:latin typeface="Calibri"/>
                <a:ea typeface="Calibri"/>
                <a:cs typeface="Calibri"/>
              </a:rPr>
              <a:t>Reminder app</a:t>
            </a:r>
          </a:p>
        </p:txBody>
      </p:sp>
      <p:sp>
        <p:nvSpPr>
          <p:cNvPr id="23" name="Rectangle 22">
            <a:extLst xmlns:a="http://schemas.openxmlformats.org/drawingml/2006/main">
              <a:ext uri="{FF2B5EF4-FFF2-40B4-BE49-F238E27FC236}">
                <a16:creationId xmlns:a16="http://schemas.microsoft.com/office/drawing/2014/main" id="{00AB54C9-5027-4009-8CCD-D9DFB37A6087}"/>
              </a:ext>
            </a:extLst>
          </p:cNvPr>
          <p:cNvSpPr>
            <a:spLocks xmlns:a="http://schemas.openxmlformats.org/drawingml/2006/main" noGrp="1"/>
          </p:cNvSpPr>
          <p:nvPr/>
        </p:nvSpPr>
        <p:spPr>
          <a:xfrm xmlns:a="http://schemas.openxmlformats.org/drawingml/2006/main">
            <a:off x="2755900" y="35337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FF6B62"/>
                </a:solidFill>
                <a:latin typeface="Calibri"/>
                <a:ea typeface="Calibri"/>
                <a:cs typeface="Calibri"/>
              </a:defRPr>
            </a:pPr>
            <a:r>
              <a:rPr sz="1800" b="1">
                <a:solidFill>
                  <a:srgbClr val="FF6B62"/>
                </a:solidFill>
                <a:latin typeface="Calibri"/>
                <a:ea typeface="Calibri"/>
                <a:cs typeface="Calibri"/>
              </a:rPr>
              <a:t>→</a:t>
            </a:r>
          </a:p>
        </p:txBody>
      </p:sp>
      <p:sp>
        <p:nvSpPr>
          <p:cNvPr id="24" name="Rectangle 23">
            <a:extLst xmlns:a="http://schemas.openxmlformats.org/drawingml/2006/main">
              <a:ext uri="{FF2B5EF4-FFF2-40B4-BE49-F238E27FC236}">
                <a16:creationId xmlns:a16="http://schemas.microsoft.com/office/drawing/2014/main" id="{09BAD325-383B-4A6F-8B1F-20A55B2EEC56}"/>
              </a:ext>
            </a:extLst>
          </p:cNvPr>
          <p:cNvSpPr>
            <a:spLocks xmlns:a="http://schemas.openxmlformats.org/drawingml/2006/main" noGrp="1"/>
          </p:cNvSpPr>
          <p:nvPr/>
        </p:nvSpPr>
        <p:spPr>
          <a:xfrm xmlns:a="http://schemas.openxmlformats.org/drawingml/2006/main">
            <a:off x="3581400" y="3552825"/>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F8F6FF"/>
                </a:solidFill>
                <a:latin typeface="Calibri"/>
                <a:ea typeface="Calibri"/>
                <a:cs typeface="Calibri"/>
              </a:defRPr>
            </a:pPr>
            <a:r>
              <a:rPr sz="1350" b="1">
                <a:solidFill>
                  <a:srgbClr val="F8F6FF"/>
                </a:solidFill>
                <a:latin typeface="Calibri"/>
                <a:ea typeface="Calibri"/>
                <a:cs typeface="Calibri"/>
              </a:rPr>
              <a:t>Recurring occurrence engine with response-aware notifications</a:t>
            </a:r>
          </a:p>
        </p:txBody>
      </p:sp>
      <p:sp>
        <p:nvSpPr>
          <p:cNvPr id="25" name="Rectangle 24">
            <a:extLst xmlns:a="http://schemas.openxmlformats.org/drawingml/2006/main">
              <a:ext uri="{FF2B5EF4-FFF2-40B4-BE49-F238E27FC236}">
                <a16:creationId xmlns:a16="http://schemas.microsoft.com/office/drawing/2014/main" id="{07CBEFFA-2F94-4485-8817-2065A680B795}"/>
              </a:ext>
            </a:extLst>
          </p:cNvPr>
          <p:cNvSpPr>
            <a:spLocks xmlns:a="http://schemas.openxmlformats.org/drawingml/2006/main" noGrp="1"/>
          </p:cNvSpPr>
          <p:nvPr/>
        </p:nvSpPr>
        <p:spPr>
          <a:xfrm xmlns:a="http://schemas.openxmlformats.org/drawingml/2006/main">
            <a:off x="914400" y="39909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B8B0D4"/>
                </a:solidFill>
                <a:latin typeface="Calibri"/>
                <a:ea typeface="Calibri"/>
                <a:cs typeface="Calibri"/>
              </a:defRPr>
            </a:pPr>
            <a:r>
              <a:rPr sz="1275" b="0">
                <a:solidFill>
                  <a:srgbClr val="B8B0D4"/>
                </a:solidFill>
                <a:latin typeface="Calibri"/>
                <a:ea typeface="Calibri"/>
                <a:cs typeface="Calibri"/>
              </a:rPr>
              <a:t>Generic games</a:t>
            </a:r>
          </a:p>
        </p:txBody>
      </p:sp>
      <p:sp>
        <p:nvSpPr>
          <p:cNvPr id="26" name="Rectangle 25">
            <a:extLst xmlns:a="http://schemas.openxmlformats.org/drawingml/2006/main">
              <a:ext uri="{FF2B5EF4-FFF2-40B4-BE49-F238E27FC236}">
                <a16:creationId xmlns:a16="http://schemas.microsoft.com/office/drawing/2014/main" id="{AF93FC33-AC19-417A-82E2-9335F5F78AD6}"/>
              </a:ext>
            </a:extLst>
          </p:cNvPr>
          <p:cNvSpPr>
            <a:spLocks xmlns:a="http://schemas.openxmlformats.org/drawingml/2006/main" noGrp="1"/>
          </p:cNvSpPr>
          <p:nvPr/>
        </p:nvSpPr>
        <p:spPr>
          <a:xfrm xmlns:a="http://schemas.openxmlformats.org/drawingml/2006/main">
            <a:off x="2755900" y="39719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FF6B62"/>
                </a:solidFill>
                <a:latin typeface="Calibri"/>
                <a:ea typeface="Calibri"/>
                <a:cs typeface="Calibri"/>
              </a:defRPr>
            </a:pPr>
            <a:r>
              <a:rPr sz="1800" b="1">
                <a:solidFill>
                  <a:srgbClr val="FF6B62"/>
                </a:solidFill>
                <a:latin typeface="Calibri"/>
                <a:ea typeface="Calibri"/>
                <a:cs typeface="Calibri"/>
              </a:rPr>
              <a:t>→</a:t>
            </a:r>
          </a:p>
        </p:txBody>
      </p:sp>
      <p:sp>
        <p:nvSpPr>
          <p:cNvPr id="27" name="Rectangle 26">
            <a:extLst xmlns:a="http://schemas.openxmlformats.org/drawingml/2006/main">
              <a:ext uri="{FF2B5EF4-FFF2-40B4-BE49-F238E27FC236}">
                <a16:creationId xmlns:a16="http://schemas.microsoft.com/office/drawing/2014/main" id="{7DB356E8-EED9-4FF4-9DB5-FC5116FBE8C6}"/>
              </a:ext>
            </a:extLst>
          </p:cNvPr>
          <p:cNvSpPr>
            <a:spLocks xmlns:a="http://schemas.openxmlformats.org/drawingml/2006/main" noGrp="1"/>
          </p:cNvSpPr>
          <p:nvPr/>
        </p:nvSpPr>
        <p:spPr>
          <a:xfrm xmlns:a="http://schemas.openxmlformats.org/drawingml/2006/main">
            <a:off x="3581400" y="3990975"/>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F8F6FF"/>
                </a:solidFill>
                <a:latin typeface="Calibri"/>
                <a:ea typeface="Calibri"/>
                <a:cs typeface="Calibri"/>
              </a:defRPr>
            </a:pPr>
            <a:r>
              <a:rPr sz="1350" b="1">
                <a:solidFill>
                  <a:srgbClr val="F8F6FF"/>
                </a:solidFill>
                <a:latin typeface="Calibri"/>
                <a:ea typeface="Calibri"/>
                <a:cs typeface="Calibri"/>
              </a:rPr>
              <a:t>Dementia type-and-stage game sets with errorless guidance</a:t>
            </a:r>
          </a:p>
        </p:txBody>
      </p:sp>
      <p:sp>
        <p:nvSpPr>
          <p:cNvPr id="28" name="Rectangle 27">
            <a:extLst xmlns:a="http://schemas.openxmlformats.org/drawingml/2006/main">
              <a:ext uri="{FF2B5EF4-FFF2-40B4-BE49-F238E27FC236}">
                <a16:creationId xmlns:a16="http://schemas.microsoft.com/office/drawing/2014/main" id="{27FDB8AE-84F9-481C-98C9-385DE6D23E9A}"/>
              </a:ext>
            </a:extLst>
          </p:cNvPr>
          <p:cNvSpPr>
            <a:spLocks xmlns:a="http://schemas.openxmlformats.org/drawingml/2006/main" noGrp="1"/>
          </p:cNvSpPr>
          <p:nvPr/>
        </p:nvSpPr>
        <p:spPr>
          <a:xfrm xmlns:a="http://schemas.openxmlformats.org/drawingml/2006/main">
            <a:off x="914400" y="442912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B8B0D4"/>
                </a:solidFill>
                <a:latin typeface="Calibri"/>
                <a:ea typeface="Calibri"/>
                <a:cs typeface="Calibri"/>
              </a:defRPr>
            </a:pPr>
            <a:r>
              <a:rPr sz="1275" b="0">
                <a:solidFill>
                  <a:srgbClr val="B8B0D4"/>
                </a:solidFill>
                <a:latin typeface="Calibri"/>
                <a:ea typeface="Calibri"/>
                <a:cs typeface="Calibri"/>
              </a:rPr>
              <a:t>Fixed challenge</a:t>
            </a:r>
          </a:p>
        </p:txBody>
      </p:sp>
      <p:sp>
        <p:nvSpPr>
          <p:cNvPr id="29" name="Rectangle 28">
            <a:extLst xmlns:a="http://schemas.openxmlformats.org/drawingml/2006/main">
              <a:ext uri="{FF2B5EF4-FFF2-40B4-BE49-F238E27FC236}">
                <a16:creationId xmlns:a16="http://schemas.microsoft.com/office/drawing/2014/main" id="{56CDA9CC-143F-4128-A733-FC5C8620B979}"/>
              </a:ext>
            </a:extLst>
          </p:cNvPr>
          <p:cNvSpPr>
            <a:spLocks xmlns:a="http://schemas.openxmlformats.org/drawingml/2006/main" noGrp="1"/>
          </p:cNvSpPr>
          <p:nvPr/>
        </p:nvSpPr>
        <p:spPr>
          <a:xfrm xmlns:a="http://schemas.openxmlformats.org/drawingml/2006/main">
            <a:off x="2755900" y="441007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FF6B62"/>
                </a:solidFill>
                <a:latin typeface="Calibri"/>
                <a:ea typeface="Calibri"/>
                <a:cs typeface="Calibri"/>
              </a:defRPr>
            </a:pPr>
            <a:r>
              <a:rPr sz="1800" b="1">
                <a:solidFill>
                  <a:srgbClr val="FF6B62"/>
                </a:solidFill>
                <a:latin typeface="Calibri"/>
                <a:ea typeface="Calibri"/>
                <a:cs typeface="Calibri"/>
              </a:rPr>
              <a:t>→</a:t>
            </a:r>
          </a:p>
        </p:txBody>
      </p:sp>
      <p:sp>
        <p:nvSpPr>
          <p:cNvPr id="30" name="Rectangle 29">
            <a:extLst xmlns:a="http://schemas.openxmlformats.org/drawingml/2006/main">
              <a:ext uri="{FF2B5EF4-FFF2-40B4-BE49-F238E27FC236}">
                <a16:creationId xmlns:a16="http://schemas.microsoft.com/office/drawing/2014/main" id="{A00EA147-E6DD-4B5E-9F43-02399F40C62B}"/>
              </a:ext>
            </a:extLst>
          </p:cNvPr>
          <p:cNvSpPr>
            <a:spLocks xmlns:a="http://schemas.openxmlformats.org/drawingml/2006/main" noGrp="1"/>
          </p:cNvSpPr>
          <p:nvPr/>
        </p:nvSpPr>
        <p:spPr>
          <a:xfrm xmlns:a="http://schemas.openxmlformats.org/drawingml/2006/main">
            <a:off x="3581400" y="4429125"/>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F8F6FF"/>
                </a:solidFill>
                <a:latin typeface="Calibri"/>
                <a:ea typeface="Calibri"/>
                <a:cs typeface="Calibri"/>
              </a:defRPr>
            </a:pPr>
            <a:r>
              <a:rPr sz="1350" b="1">
                <a:solidFill>
                  <a:srgbClr val="F8F6FF"/>
                </a:solidFill>
                <a:latin typeface="Calibri"/>
                <a:ea typeface="Calibri"/>
                <a:cs typeface="Calibri"/>
              </a:rPr>
              <a:t>Per-game adaptive difficulty with caregiver override and audit history</a:t>
            </a:r>
          </a:p>
        </p:txBody>
      </p:sp>
      <p:sp>
        <p:nvSpPr>
          <p:cNvPr id="31" name="Rectangle 30">
            <a:extLst xmlns:a="http://schemas.openxmlformats.org/drawingml/2006/main">
              <a:ext uri="{FF2B5EF4-FFF2-40B4-BE49-F238E27FC236}">
                <a16:creationId xmlns:a16="http://schemas.microsoft.com/office/drawing/2014/main" id="{44F95BB8-8270-4427-8AAE-DD39F515B7DA}"/>
              </a:ext>
            </a:extLst>
          </p:cNvPr>
          <p:cNvSpPr>
            <a:spLocks xmlns:a="http://schemas.openxmlformats.org/drawingml/2006/main" noGrp="1"/>
          </p:cNvSpPr>
          <p:nvPr/>
        </p:nvSpPr>
        <p:spPr>
          <a:xfrm xmlns:a="http://schemas.openxmlformats.org/drawingml/2006/main">
            <a:off x="914400" y="48672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B8B0D4"/>
                </a:solidFill>
                <a:latin typeface="Calibri"/>
                <a:ea typeface="Calibri"/>
                <a:cs typeface="Calibri"/>
              </a:defRPr>
            </a:pPr>
            <a:r>
              <a:rPr sz="1275" b="0">
                <a:solidFill>
                  <a:srgbClr val="B8B0D4"/>
                </a:solidFill>
                <a:latin typeface="Calibri"/>
                <a:ea typeface="Calibri"/>
                <a:cs typeface="Calibri"/>
              </a:rPr>
              <a:t>Basic monitoring</a:t>
            </a:r>
          </a:p>
        </p:txBody>
      </p:sp>
      <p:sp>
        <p:nvSpPr>
          <p:cNvPr id="32" name="Rectangle 31">
            <a:extLst xmlns:a="http://schemas.openxmlformats.org/drawingml/2006/main">
              <a:ext uri="{FF2B5EF4-FFF2-40B4-BE49-F238E27FC236}">
                <a16:creationId xmlns:a16="http://schemas.microsoft.com/office/drawing/2014/main" id="{0658FBA2-DAEE-4A32-A585-058512CEB9D0}"/>
              </a:ext>
            </a:extLst>
          </p:cNvPr>
          <p:cNvSpPr>
            <a:spLocks xmlns:a="http://schemas.openxmlformats.org/drawingml/2006/main" noGrp="1"/>
          </p:cNvSpPr>
          <p:nvPr/>
        </p:nvSpPr>
        <p:spPr>
          <a:xfrm xmlns:a="http://schemas.openxmlformats.org/drawingml/2006/main">
            <a:off x="2755900" y="4848225"/>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00" b="1">
                <a:solidFill>
                  <a:srgbClr val="FF6B62"/>
                </a:solidFill>
                <a:latin typeface="Calibri"/>
                <a:ea typeface="Calibri"/>
                <a:cs typeface="Calibri"/>
              </a:defRPr>
            </a:pPr>
            <a:r>
              <a:rPr sz="1800" b="1">
                <a:solidFill>
                  <a:srgbClr val="FF6B62"/>
                </a:solidFill>
                <a:latin typeface="Calibri"/>
                <a:ea typeface="Calibri"/>
                <a:cs typeface="Calibri"/>
              </a:rPr>
              <a:t>→</a:t>
            </a:r>
          </a:p>
        </p:txBody>
      </p:sp>
      <p:sp>
        <p:nvSpPr>
          <p:cNvPr id="33" name="Rectangle 32">
            <a:extLst xmlns:a="http://schemas.openxmlformats.org/drawingml/2006/main">
              <a:ext uri="{FF2B5EF4-FFF2-40B4-BE49-F238E27FC236}">
                <a16:creationId xmlns:a16="http://schemas.microsoft.com/office/drawing/2014/main" id="{5A2787DD-F429-429C-9E51-41DF6D383EEA}"/>
              </a:ext>
            </a:extLst>
          </p:cNvPr>
          <p:cNvSpPr>
            <a:spLocks xmlns:a="http://schemas.openxmlformats.org/drawingml/2006/main" noGrp="1"/>
          </p:cNvSpPr>
          <p:nvPr/>
        </p:nvSpPr>
        <p:spPr>
          <a:xfrm xmlns:a="http://schemas.openxmlformats.org/drawingml/2006/main">
            <a:off x="3581400" y="4867275"/>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F8F6FF"/>
                </a:solidFill>
                <a:latin typeface="Calibri"/>
                <a:ea typeface="Calibri"/>
                <a:cs typeface="Calibri"/>
              </a:defRPr>
            </a:pPr>
            <a:r>
              <a:rPr sz="1350" b="1">
                <a:solidFill>
                  <a:srgbClr val="F8F6FF"/>
                </a:solidFill>
                <a:latin typeface="Calibri"/>
                <a:ea typeface="Calibri"/>
                <a:cs typeface="Calibri"/>
              </a:rPr>
              <a:t>Period analytics, game statistics and caregiver-only risk indicators</a:t>
            </a:r>
          </a:p>
        </p:txBody>
      </p:sp>
      <p:sp>
        <p:nvSpPr>
          <p:cNvPr id="34" name="Rectangle 33">
            <a:extLst xmlns:a="http://schemas.openxmlformats.org/drawingml/2006/main">
              <a:ext uri="{FF2B5EF4-FFF2-40B4-BE49-F238E27FC236}">
                <a16:creationId xmlns:a16="http://schemas.microsoft.com/office/drawing/2014/main" id="{CBB3CBDE-41C9-4937-8121-7546824F35E8}"/>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a:solidFill>
                  <a:srgbClr val="8F87AC"/>
                </a:solidFill>
                <a:latin typeface="Calibri"/>
                <a:ea typeface="Calibri"/>
                <a:cs typeface="Calibri"/>
              </a:defRPr>
            </a:pPr>
            <a:r>
              <a:rPr sz="750" b="0">
                <a:solidFill>
                  <a:srgbClr val="8F87AC"/>
                </a:solidFill>
                <a:latin typeface="Calibri"/>
                <a:ea typeface="Calibri"/>
                <a:cs typeface="Calibri"/>
              </a:rPr>
              <a:t>Sources: earlier proposal pp. 44–45; final report pp. 21–30, 51–54, 224–225.</a:t>
            </a:r>
          </a:p>
        </p:txBody>
      </p:sp>
      <p:sp>
        <p:nvSpPr>
          <p:cNvPr id="35" name="Rectangle 34">
            <a:extLst xmlns:a="http://schemas.openxmlformats.org/drawingml/2006/main">
              <a:ext uri="{FF2B5EF4-FFF2-40B4-BE49-F238E27FC236}">
                <a16:creationId xmlns:a16="http://schemas.microsoft.com/office/drawing/2014/main" id="{5F9AD8E6-DCD1-4ADF-91F0-7877EED8FA25}"/>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1">
                <a:solidFill>
                  <a:srgbClr val="B8B0D4"/>
                </a:solidFill>
                <a:latin typeface="Calibri"/>
                <a:ea typeface="Calibri"/>
                <a:cs typeface="Calibri"/>
              </a:defRPr>
            </a:pPr>
            <a:r>
              <a:rPr sz="975" b="1">
                <a:solidFill>
                  <a:srgbClr val="B8B0D4"/>
                </a:solidFill>
                <a:latin typeface="Calibri"/>
                <a:ea typeface="Calibri"/>
                <a:cs typeface="Calibri"/>
              </a:rPr>
              <a:t>02</a:t>
            </a:r>
          </a:p>
        </p:txBody>
      </p:sp>
    </p:spTree>
    <p:extLst>
      <p:ext uri="{BB962C8B-B14F-4D97-AF65-F5344CB8AC3E}">
        <p14:creationId xmlns:p14="http://schemas.microsoft.com/office/powerpoint/2010/main" val="636648141"/>
      </p:ext>
    </p:extLst>
  </p:cSld>
</p:sld>
</file>

<file path=ppt/slides/slide3.xml><?xml version="1.0" encoding="utf-8"?>
<p:sld xmlns:p="http://schemas.openxmlformats.org/presentationml/2006/main">
  <p:cSld>
    <p:bg>
      <p:bgPr>
        <a:gradFill xmlns:a="http://schemas.openxmlformats.org/drawingml/2006/main">
          <a:gsLst>
            <a:gs pos="0">
              <a:srgbClr val="120B27"/>
            </a:gs>
            <a:gs pos="52000">
              <a:srgbClr val="19112F"/>
            </a:gs>
            <a:gs pos="100000">
              <a:srgbClr val="24183F"/>
            </a:gs>
          </a:gsLst>
          <a:lin ang="8100000"/>
        </a:gradFill>
      </p:bgPr>
    </p:bg>
    <p:spTree>
      <p:nvGrpSpPr>
        <p:cNvPr id="1" name=""/>
        <p:cNvGrpSpPr/>
        <p:nvPr/>
      </p:nvGrpSpPr>
      <p:grpSpPr>
        <a:xfrm xmlns:a="http://schemas.openxmlformats.org/drawingml/2006/main"/>
      </p:grpSpPr>
      <p:sp>
        <p:nvSpPr>
          <p:cNvPr id="25" name="Rectangle 24">
            <a:extLst xmlns:a="http://schemas.openxmlformats.org/drawingml/2006/main">
              <a:ext uri="{FF2B5EF4-FFF2-40B4-BE49-F238E27FC236}">
                <a16:creationId xmlns:a16="http://schemas.microsoft.com/office/drawing/2014/main" id="{E794C7AD-3632-422C-B35C-A5B6ECA8801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4C61D332-E973-4695-B2D8-5BDCA8FFF4A3}"/>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FF6B62"/>
                </a:solidFill>
                <a:latin typeface="Calibri"/>
                <a:ea typeface="Calibri"/>
                <a:cs typeface="Calibri"/>
              </a:defRPr>
            </a:pPr>
            <a:r>
              <a:rPr sz="1125" b="1">
                <a:solidFill>
                  <a:srgbClr val="FF6B62"/>
                </a:solidFill>
                <a:latin typeface="Calibri"/>
                <a:ea typeface="Calibri"/>
                <a:cs typeface="Calibri"/>
              </a:rPr>
              <a:t>CHAPTER 1 · INTRODUCTION</a:t>
            </a:r>
          </a:p>
        </p:txBody>
      </p:sp>
      <p:sp>
        <p:nvSpPr>
          <p:cNvPr id="3" name="Rectangle 2">
            <a:extLst xmlns:a="http://schemas.openxmlformats.org/drawingml/2006/main">
              <a:ext uri="{FF2B5EF4-FFF2-40B4-BE49-F238E27FC236}">
                <a16:creationId xmlns:a16="http://schemas.microsoft.com/office/drawing/2014/main" id="{47FC5773-3B84-4FEC-A3C4-44CAF11EC118}"/>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F8F6FF"/>
                </a:solidFill>
                <a:latin typeface="Calibri"/>
                <a:ea typeface="Calibri"/>
                <a:cs typeface="Calibri"/>
              </a:defRPr>
            </a:pPr>
            <a:r>
              <a:rPr sz="2700" b="1">
                <a:solidFill>
                  <a:srgbClr val="F8F6FF"/>
                </a:solidFill>
                <a:latin typeface="Calibri"/>
                <a:ea typeface="Calibri"/>
                <a:cs typeface="Calibri"/>
              </a:rPr>
              <a:t>Problem statement evolution</a:t>
            </a:r>
          </a:p>
        </p:txBody>
      </p:sp>
      <p:sp>
        <p:nvSpPr>
          <p:cNvPr id="4" name="Rectangle 3">
            <a:extLst xmlns:a="http://schemas.openxmlformats.org/drawingml/2006/main">
              <a:ext uri="{FF2B5EF4-FFF2-40B4-BE49-F238E27FC236}">
                <a16:creationId xmlns:a16="http://schemas.microsoft.com/office/drawing/2014/main" id="{30E25A83-DA8A-43E6-B91E-6EF9361BBA82}"/>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B8B0D4"/>
                </a:solidFill>
                <a:latin typeface="Calibri"/>
                <a:ea typeface="Calibri"/>
                <a:cs typeface="Calibri"/>
              </a:defRPr>
            </a:pPr>
            <a:r>
              <a:rPr sz="1350" b="0">
                <a:solidFill>
                  <a:srgbClr val="B8B0D4"/>
                </a:solidFill>
                <a:latin typeface="Calibri"/>
                <a:ea typeface="Calibri"/>
                <a:cs typeface="Calibri"/>
              </a:rPr>
              <a:t>Four original problems remained; a fifth was added after development exposed the need for personalisation.</a:t>
            </a:r>
          </a:p>
        </p:txBody>
      </p:sp>
      <p:sp>
        <p:nvSpPr>
          <p:cNvPr id="5" name="Rectangle 4">
            <a:extLst xmlns:a="http://schemas.openxmlformats.org/drawingml/2006/main">
              <a:ext uri="{FF2B5EF4-FFF2-40B4-BE49-F238E27FC236}">
                <a16:creationId xmlns:a16="http://schemas.microsoft.com/office/drawing/2014/main" id="{FB2120D4-83CE-457D-8AA1-8D38B89BA264}"/>
              </a:ext>
            </a:extLst>
          </p:cNvPr>
          <p:cNvSpPr>
            <a:spLocks xmlns:a="http://schemas.openxmlformats.org/drawingml/2006/main" noGrp="1"/>
          </p:cNvSpPr>
          <p:nvPr/>
        </p:nvSpPr>
        <p:spPr>
          <a:xfrm xmlns:a="http://schemas.openxmlformats.org/drawingml/2006/main">
            <a:off x="647700" y="16764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8F87AC"/>
                </a:solidFill>
                <a:latin typeface="Calibri"/>
                <a:ea typeface="Calibri"/>
                <a:cs typeface="Calibri"/>
              </a:defRPr>
            </a:pPr>
            <a:r>
              <a:rPr sz="2250" b="1">
                <a:solidFill>
                  <a:srgbClr val="8F87AC"/>
                </a:solidFill>
                <a:latin typeface="Calibri"/>
                <a:ea typeface="Calibri"/>
                <a:cs typeface="Calibri"/>
              </a:rPr>
              <a:t>01</a:t>
            </a:r>
          </a:p>
        </p:txBody>
      </p:sp>
      <p:sp>
        <p:nvSpPr>
          <p:cNvPr id="6" name="Rectangle 5">
            <a:extLst xmlns:a="http://schemas.openxmlformats.org/drawingml/2006/main">
              <a:ext uri="{FF2B5EF4-FFF2-40B4-BE49-F238E27FC236}">
                <a16:creationId xmlns:a16="http://schemas.microsoft.com/office/drawing/2014/main" id="{816D6743-56AB-4763-A673-983F60FD5103}"/>
              </a:ext>
            </a:extLst>
          </p:cNvPr>
          <p:cNvSpPr>
            <a:spLocks xmlns:a="http://schemas.openxmlformats.org/drawingml/2006/main" noGrp="1"/>
          </p:cNvSpPr>
          <p:nvPr/>
        </p:nvSpPr>
        <p:spPr>
          <a:xfrm xmlns:a="http://schemas.openxmlformats.org/drawingml/2006/main">
            <a:off x="1333500" y="1685925"/>
            <a:ext cx="4457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1">
                <a:solidFill>
                  <a:srgbClr val="F8F6FF"/>
                </a:solidFill>
                <a:latin typeface="Calibri"/>
                <a:ea typeface="Calibri"/>
                <a:cs typeface="Calibri"/>
              </a:defRPr>
            </a:pPr>
            <a:r>
              <a:rPr sz="1650" b="1"/>
              <a:t>Difficulty in Managing Daily Tasks and Medications</a:t>
            </a:r>
            <a:endParaRPr sz="1650" b="1">
              <a:solidFill>
                <a:srgbClr val="F8F6FF"/>
              </a:solidFill>
              <a:latin typeface="Calibri"/>
              <a:ea typeface="Calibri"/>
              <a:cs typeface="Calibri"/>
            </a:endParaRPr>
          </a:p>
        </p:txBody>
      </p:sp>
      <p:sp>
        <p:nvSpPr>
          <p:cNvPr id="7" name="Rectangle 6">
            <a:extLst xmlns:a="http://schemas.openxmlformats.org/drawingml/2006/main">
              <a:ext uri="{FF2B5EF4-FFF2-40B4-BE49-F238E27FC236}">
                <a16:creationId xmlns:a16="http://schemas.microsoft.com/office/drawing/2014/main" id="{FF35DEA1-B074-42F8-B238-A4D00CB70B54}"/>
              </a:ext>
            </a:extLst>
          </p:cNvPr>
          <p:cNvSpPr>
            <a:spLocks xmlns:a="http://schemas.openxmlformats.org/drawingml/2006/main" noGrp="1"/>
          </p:cNvSpPr>
          <p:nvPr/>
        </p:nvSpPr>
        <p:spPr>
          <a:xfrm xmlns:a="http://schemas.openxmlformats.org/drawingml/2006/main">
            <a:off x="1333500" y="2000250"/>
            <a:ext cx="4457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Memory and executive-function decline made routine adherence difficult.</a:t>
            </a:r>
          </a:p>
        </p:txBody>
      </p:sp>
      <p:sp>
        <p:nvSpPr>
          <p:cNvPr id="8" name="Rectangle 7">
            <a:extLst xmlns:a="http://schemas.openxmlformats.org/drawingml/2006/main">
              <a:ext uri="{FF2B5EF4-FFF2-40B4-BE49-F238E27FC236}">
                <a16:creationId xmlns:a16="http://schemas.microsoft.com/office/drawing/2014/main" id="{1686F3F2-9F14-44D7-9284-50E8D36F20B1}"/>
              </a:ext>
            </a:extLst>
          </p:cNvPr>
          <p:cNvSpPr>
            <a:spLocks xmlns:a="http://schemas.openxmlformats.org/drawingml/2006/main" noGrp="1"/>
          </p:cNvSpPr>
          <p:nvPr/>
        </p:nvSpPr>
        <p:spPr>
          <a:xfrm xmlns:a="http://schemas.openxmlformats.org/drawingml/2006/main">
            <a:off x="647700" y="264795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8F87AC"/>
                </a:solidFill>
                <a:latin typeface="Calibri"/>
                <a:ea typeface="Calibri"/>
                <a:cs typeface="Calibri"/>
              </a:defRPr>
            </a:pPr>
            <a:r>
              <a:rPr sz="2250" b="1">
                <a:solidFill>
                  <a:srgbClr val="8F87AC"/>
                </a:solidFill>
                <a:latin typeface="Calibri"/>
                <a:ea typeface="Calibri"/>
                <a:cs typeface="Calibri"/>
              </a:rPr>
              <a:t>02</a:t>
            </a:r>
          </a:p>
        </p:txBody>
      </p:sp>
      <p:sp>
        <p:nvSpPr>
          <p:cNvPr id="9" name="Rectangle 8">
            <a:extLst xmlns:a="http://schemas.openxmlformats.org/drawingml/2006/main">
              <a:ext uri="{FF2B5EF4-FFF2-40B4-BE49-F238E27FC236}">
                <a16:creationId xmlns:a16="http://schemas.microsoft.com/office/drawing/2014/main" id="{50A1EC29-A6E8-4FD8-9B8A-4BDAB3A0DA35}"/>
              </a:ext>
            </a:extLst>
          </p:cNvPr>
          <p:cNvSpPr>
            <a:spLocks xmlns:a="http://schemas.openxmlformats.org/drawingml/2006/main" noGrp="1"/>
          </p:cNvSpPr>
          <p:nvPr/>
        </p:nvSpPr>
        <p:spPr>
          <a:xfrm xmlns:a="http://schemas.openxmlformats.org/drawingml/2006/main">
            <a:off x="1333500" y="2657475"/>
            <a:ext cx="4457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1">
                <a:solidFill>
                  <a:srgbClr val="F8F6FF"/>
                </a:solidFill>
                <a:latin typeface="Calibri"/>
                <a:ea typeface="Calibri"/>
                <a:cs typeface="Calibri"/>
              </a:defRPr>
            </a:pPr>
            <a:r>
              <a:rPr sz="1650" b="1"/>
              <a:t>Lack of Motivational Support in Dementia Care Routines</a:t>
            </a:r>
            <a:endParaRPr sz="1650" b="1">
              <a:solidFill>
                <a:srgbClr val="F8F6FF"/>
              </a:solidFill>
              <a:latin typeface="Calibri"/>
              <a:ea typeface="Calibri"/>
              <a:cs typeface="Calibri"/>
            </a:endParaRPr>
          </a:p>
        </p:txBody>
      </p:sp>
      <p:sp>
        <p:nvSpPr>
          <p:cNvPr id="10" name="Rectangle 9">
            <a:extLst xmlns:a="http://schemas.openxmlformats.org/drawingml/2006/main">
              <a:ext uri="{FF2B5EF4-FFF2-40B4-BE49-F238E27FC236}">
                <a16:creationId xmlns:a16="http://schemas.microsoft.com/office/drawing/2014/main" id="{3216964A-0003-4659-AC46-B4E66930A88C}"/>
              </a:ext>
            </a:extLst>
          </p:cNvPr>
          <p:cNvSpPr>
            <a:spLocks xmlns:a="http://schemas.openxmlformats.org/drawingml/2006/main" noGrp="1"/>
          </p:cNvSpPr>
          <p:nvPr/>
        </p:nvSpPr>
        <p:spPr>
          <a:xfrm xmlns:a="http://schemas.openxmlformats.org/drawingml/2006/main">
            <a:off x="1333500" y="3167063"/>
            <a:ext cx="4457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Traditional prompts alone did not sustain participation.</a:t>
            </a:r>
          </a:p>
        </p:txBody>
      </p:sp>
      <p:sp>
        <p:nvSpPr>
          <p:cNvPr id="11" name="Rectangle 10">
            <a:extLst xmlns:a="http://schemas.openxmlformats.org/drawingml/2006/main">
              <a:ext uri="{FF2B5EF4-FFF2-40B4-BE49-F238E27FC236}">
                <a16:creationId xmlns:a16="http://schemas.microsoft.com/office/drawing/2014/main" id="{8142B939-B618-4D3F-AC67-F997964DBDC4}"/>
              </a:ext>
            </a:extLst>
          </p:cNvPr>
          <p:cNvSpPr>
            <a:spLocks xmlns:a="http://schemas.openxmlformats.org/drawingml/2006/main" noGrp="1"/>
          </p:cNvSpPr>
          <p:nvPr/>
        </p:nvSpPr>
        <p:spPr>
          <a:xfrm xmlns:a="http://schemas.openxmlformats.org/drawingml/2006/main">
            <a:off x="647700" y="36195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8F87AC"/>
                </a:solidFill>
                <a:latin typeface="Calibri"/>
                <a:ea typeface="Calibri"/>
                <a:cs typeface="Calibri"/>
              </a:defRPr>
            </a:pPr>
            <a:r>
              <a:rPr sz="2250" b="1">
                <a:solidFill>
                  <a:srgbClr val="8F87AC"/>
                </a:solidFill>
                <a:latin typeface="Calibri"/>
                <a:ea typeface="Calibri"/>
                <a:cs typeface="Calibri"/>
              </a:rPr>
              <a:t>03</a:t>
            </a:r>
          </a:p>
        </p:txBody>
      </p:sp>
      <p:sp>
        <p:nvSpPr>
          <p:cNvPr id="12" name="Rectangle 11">
            <a:extLst xmlns:a="http://schemas.openxmlformats.org/drawingml/2006/main">
              <a:ext uri="{FF2B5EF4-FFF2-40B4-BE49-F238E27FC236}">
                <a16:creationId xmlns:a16="http://schemas.microsoft.com/office/drawing/2014/main" id="{308275FD-9E6A-47E0-B4A4-F6421E67F9A7}"/>
              </a:ext>
            </a:extLst>
          </p:cNvPr>
          <p:cNvSpPr>
            <a:spLocks xmlns:a="http://schemas.openxmlformats.org/drawingml/2006/main" noGrp="1"/>
          </p:cNvSpPr>
          <p:nvPr/>
        </p:nvSpPr>
        <p:spPr>
          <a:xfrm xmlns:a="http://schemas.openxmlformats.org/drawingml/2006/main">
            <a:off x="1333500" y="3629024"/>
            <a:ext cx="4457700" cy="5143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1">
                <a:solidFill>
                  <a:srgbClr val="F8F6FF"/>
                </a:solidFill>
                <a:latin typeface="Calibri"/>
                <a:ea typeface="Calibri"/>
                <a:cs typeface="Calibri"/>
              </a:defRPr>
            </a:pPr>
            <a:r>
              <a:rPr sz="1650" b="1"/>
              <a:t>Poor Usability and Cognitive Overload in Existing Applications</a:t>
            </a:r>
            <a:endParaRPr sz="1650" b="1">
              <a:solidFill>
                <a:srgbClr val="F8F6FF"/>
              </a:solidFill>
              <a:latin typeface="Calibri"/>
              <a:ea typeface="Calibri"/>
              <a:cs typeface="Calibri"/>
            </a:endParaRPr>
          </a:p>
        </p:txBody>
      </p:sp>
      <p:sp>
        <p:nvSpPr>
          <p:cNvPr id="13" name="Rectangle 12">
            <a:extLst xmlns:a="http://schemas.openxmlformats.org/drawingml/2006/main">
              <a:ext uri="{FF2B5EF4-FFF2-40B4-BE49-F238E27FC236}">
                <a16:creationId xmlns:a16="http://schemas.microsoft.com/office/drawing/2014/main" id="{FC529961-0565-45BE-BFD1-14343C549353}"/>
              </a:ext>
            </a:extLst>
          </p:cNvPr>
          <p:cNvSpPr>
            <a:spLocks xmlns:a="http://schemas.openxmlformats.org/drawingml/2006/main" noGrp="1"/>
          </p:cNvSpPr>
          <p:nvPr/>
        </p:nvSpPr>
        <p:spPr>
          <a:xfrm xmlns:a="http://schemas.openxmlformats.org/drawingml/2006/main">
            <a:off x="1352550" y="4167188"/>
            <a:ext cx="4457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Complex interfaces reduced independent use.</a:t>
            </a:r>
          </a:p>
        </p:txBody>
      </p:sp>
      <p:sp>
        <p:nvSpPr>
          <p:cNvPr id="14" name="Rectangle 13">
            <a:extLst xmlns:a="http://schemas.openxmlformats.org/drawingml/2006/main">
              <a:ext uri="{FF2B5EF4-FFF2-40B4-BE49-F238E27FC236}">
                <a16:creationId xmlns:a16="http://schemas.microsoft.com/office/drawing/2014/main" id="{23123FC3-04FB-4C5B-BFC2-8D12EF65A482}"/>
              </a:ext>
            </a:extLst>
          </p:cNvPr>
          <p:cNvSpPr>
            <a:spLocks xmlns:a="http://schemas.openxmlformats.org/drawingml/2006/main" noGrp="1"/>
          </p:cNvSpPr>
          <p:nvPr/>
        </p:nvSpPr>
        <p:spPr>
          <a:xfrm xmlns:a="http://schemas.openxmlformats.org/drawingml/2006/main">
            <a:off x="647700" y="459105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8F87AC"/>
                </a:solidFill>
                <a:latin typeface="Calibri"/>
                <a:ea typeface="Calibri"/>
                <a:cs typeface="Calibri"/>
              </a:defRPr>
            </a:pPr>
            <a:r>
              <a:rPr sz="2250" b="1">
                <a:solidFill>
                  <a:srgbClr val="8F87AC"/>
                </a:solidFill>
                <a:latin typeface="Calibri"/>
                <a:ea typeface="Calibri"/>
                <a:cs typeface="Calibri"/>
              </a:rPr>
              <a:t>04</a:t>
            </a:r>
          </a:p>
        </p:txBody>
      </p:sp>
      <p:sp>
        <p:nvSpPr>
          <p:cNvPr id="15" name="Rectangle 14">
            <a:extLst xmlns:a="http://schemas.openxmlformats.org/drawingml/2006/main">
              <a:ext uri="{FF2B5EF4-FFF2-40B4-BE49-F238E27FC236}">
                <a16:creationId xmlns:a16="http://schemas.microsoft.com/office/drawing/2014/main" id="{B46E9582-8A1B-4855-B355-9BF6715C882E}"/>
              </a:ext>
            </a:extLst>
          </p:cNvPr>
          <p:cNvSpPr>
            <a:spLocks xmlns:a="http://schemas.openxmlformats.org/drawingml/2006/main" noGrp="1"/>
          </p:cNvSpPr>
          <p:nvPr/>
        </p:nvSpPr>
        <p:spPr>
          <a:xfrm xmlns:a="http://schemas.openxmlformats.org/drawingml/2006/main">
            <a:off x="1333500" y="4600575"/>
            <a:ext cx="4457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1">
                <a:solidFill>
                  <a:srgbClr val="F8F6FF"/>
                </a:solidFill>
                <a:latin typeface="Calibri"/>
                <a:ea typeface="Calibri"/>
                <a:cs typeface="Calibri"/>
              </a:defRPr>
            </a:pPr>
            <a:r>
              <a:rPr sz="1650" b="1"/>
              <a:t>Inadequate Integration of Care Coordination</a:t>
            </a:r>
            <a:endParaRPr sz="1650" b="1">
              <a:solidFill>
                <a:srgbClr val="F8F6FF"/>
              </a:solidFill>
              <a:latin typeface="Calibri"/>
              <a:ea typeface="Calibri"/>
              <a:cs typeface="Calibri"/>
            </a:endParaRPr>
          </a:p>
        </p:txBody>
      </p:sp>
      <p:sp>
        <p:nvSpPr>
          <p:cNvPr id="16" name="Rectangle 15">
            <a:extLst xmlns:a="http://schemas.openxmlformats.org/drawingml/2006/main">
              <a:ext uri="{FF2B5EF4-FFF2-40B4-BE49-F238E27FC236}">
                <a16:creationId xmlns:a16="http://schemas.microsoft.com/office/drawing/2014/main" id="{4EF427AF-F44F-4460-B91A-433004613DB9}"/>
              </a:ext>
            </a:extLst>
          </p:cNvPr>
          <p:cNvSpPr>
            <a:spLocks xmlns:a="http://schemas.openxmlformats.org/drawingml/2006/main" noGrp="1"/>
          </p:cNvSpPr>
          <p:nvPr/>
        </p:nvSpPr>
        <p:spPr>
          <a:xfrm xmlns:a="http://schemas.openxmlformats.org/drawingml/2006/main">
            <a:off x="1333500" y="4914900"/>
            <a:ext cx="4457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Separate tools limited timely caregiver awareness.</a:t>
            </a:r>
          </a:p>
        </p:txBody>
      </p:sp>
      <p:sp>
        <p:nvSpPr>
          <p:cNvPr id="17" name="Rectangle: Rounded Corners 16">
            <a:extLst xmlns:a="http://schemas.openxmlformats.org/drawingml/2006/main">
              <a:ext uri="{FF2B5EF4-FFF2-40B4-BE49-F238E27FC236}">
                <a16:creationId xmlns:a16="http://schemas.microsoft.com/office/drawing/2014/main" id="{93B0C055-2AD5-496C-8DB5-877EE5D43959}"/>
              </a:ext>
            </a:extLst>
          </p:cNvPr>
          <p:cNvSpPr>
            <a:spLocks xmlns:a="http://schemas.openxmlformats.org/drawingml/2006/main" noGrp="1"/>
          </p:cNvSpPr>
          <p:nvPr/>
        </p:nvSpPr>
        <p:spPr>
          <a:xfrm xmlns:a="http://schemas.openxmlformats.org/drawingml/2006/main">
            <a:off x="6572250" y="1651000"/>
            <a:ext cx="4705350" cy="3886200"/>
          </a:xfrm>
          <a:prstGeom xmlns:a="http://schemas.openxmlformats.org/drawingml/2006/main" prst="roundRect">
            <a:avLst>
              <a:gd name="adj" fmla="val 3922"/>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8" name="Rectangle: Rounded Corners 17">
            <a:extLst xmlns:a="http://schemas.openxmlformats.org/drawingml/2006/main">
              <a:ext uri="{FF2B5EF4-FFF2-40B4-BE49-F238E27FC236}">
                <a16:creationId xmlns:a16="http://schemas.microsoft.com/office/drawing/2014/main" id="{84472275-3FDA-4F01-9F13-A7FCF8E704C3}"/>
              </a:ext>
            </a:extLst>
          </p:cNvPr>
          <p:cNvSpPr>
            <a:spLocks xmlns:a="http://schemas.openxmlformats.org/drawingml/2006/main" noGrp="1"/>
          </p:cNvSpPr>
          <p:nvPr/>
        </p:nvSpPr>
        <p:spPr>
          <a:xfrm xmlns:a="http://schemas.openxmlformats.org/drawingml/2006/main">
            <a:off x="6838950" y="1924050"/>
            <a:ext cx="1809750" cy="323850"/>
          </a:xfrm>
          <a:prstGeom xmlns:a="http://schemas.openxmlformats.org/drawingml/2006/main" prst="roundRect">
            <a:avLst>
              <a:gd name="adj" fmla="val 35294"/>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9" name="Rectangle 18">
            <a:extLst xmlns:a="http://schemas.openxmlformats.org/drawingml/2006/main">
              <a:ext uri="{FF2B5EF4-FFF2-40B4-BE49-F238E27FC236}">
                <a16:creationId xmlns:a16="http://schemas.microsoft.com/office/drawing/2014/main" id="{C187A6E6-07BE-4EE2-830E-0C9C9E0CF1D8}"/>
              </a:ext>
            </a:extLst>
          </p:cNvPr>
          <p:cNvSpPr>
            <a:spLocks xmlns:a="http://schemas.openxmlformats.org/drawingml/2006/main" noGrp="1"/>
          </p:cNvSpPr>
          <p:nvPr/>
        </p:nvSpPr>
        <p:spPr>
          <a:xfrm xmlns:a="http://schemas.openxmlformats.org/drawingml/2006/main">
            <a:off x="6838950" y="1933575"/>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F8F6FF"/>
                </a:solidFill>
                <a:latin typeface="Calibri"/>
                <a:ea typeface="Calibri"/>
                <a:cs typeface="Calibri"/>
              </a:defRPr>
            </a:pPr>
            <a:r>
              <a:rPr sz="1125" b="1">
                <a:solidFill>
                  <a:srgbClr val="F8F6FF"/>
                </a:solidFill>
                <a:latin typeface="Calibri"/>
                <a:ea typeface="Calibri"/>
                <a:cs typeface="Calibri"/>
              </a:rPr>
              <a:t>NEW IN FINAL REPORT</a:t>
            </a:r>
          </a:p>
        </p:txBody>
      </p:sp>
      <p:sp>
        <p:nvSpPr>
          <p:cNvPr id="20" name="Rectangle 19">
            <a:extLst xmlns:a="http://schemas.openxmlformats.org/drawingml/2006/main">
              <a:ext uri="{FF2B5EF4-FFF2-40B4-BE49-F238E27FC236}">
                <a16:creationId xmlns:a16="http://schemas.microsoft.com/office/drawing/2014/main" id="{C0F7AEFE-60EA-4DBE-9637-3C7DFD7A10AD}"/>
              </a:ext>
            </a:extLst>
          </p:cNvPr>
          <p:cNvSpPr>
            <a:spLocks xmlns:a="http://schemas.openxmlformats.org/drawingml/2006/main" noGrp="1"/>
          </p:cNvSpPr>
          <p:nvPr/>
        </p:nvSpPr>
        <p:spPr>
          <a:xfrm xmlns:a="http://schemas.openxmlformats.org/drawingml/2006/main">
            <a:off x="6838950" y="2505075"/>
            <a:ext cx="819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FF6B62"/>
                </a:solidFill>
                <a:latin typeface="Calibri"/>
                <a:ea typeface="Calibri"/>
                <a:cs typeface="Calibri"/>
              </a:defRPr>
            </a:pPr>
            <a:r>
              <a:rPr sz="3600" b="1">
                <a:solidFill>
                  <a:srgbClr val="FF6B62"/>
                </a:solidFill>
                <a:latin typeface="Calibri"/>
                <a:ea typeface="Calibri"/>
                <a:cs typeface="Calibri"/>
              </a:rPr>
              <a:t>05</a:t>
            </a:r>
          </a:p>
        </p:txBody>
      </p:sp>
      <p:sp>
        <p:nvSpPr>
          <p:cNvPr id="21" name="Rectangle 20">
            <a:extLst xmlns:a="http://schemas.openxmlformats.org/drawingml/2006/main">
              <a:ext uri="{FF2B5EF4-FFF2-40B4-BE49-F238E27FC236}">
                <a16:creationId xmlns:a16="http://schemas.microsoft.com/office/drawing/2014/main" id="{7A76555B-FBA7-4BBF-8D0C-DC84E833E55F}"/>
              </a:ext>
            </a:extLst>
          </p:cNvPr>
          <p:cNvSpPr>
            <a:spLocks xmlns:a="http://schemas.openxmlformats.org/drawingml/2006/main" noGrp="1"/>
          </p:cNvSpPr>
          <p:nvPr/>
        </p:nvSpPr>
        <p:spPr>
          <a:xfrm xmlns:a="http://schemas.openxmlformats.org/drawingml/2006/main">
            <a:off x="6838950" y="3143250"/>
            <a:ext cx="4000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F8F6FF"/>
                </a:solidFill>
                <a:latin typeface="Calibri"/>
                <a:ea typeface="Calibri"/>
                <a:cs typeface="Calibri"/>
              </a:defRPr>
            </a:pPr>
            <a:r>
              <a:rPr sz="2400" b="1">
                <a:solidFill>
                  <a:srgbClr val="F8F6FF"/>
                </a:solidFill>
                <a:latin typeface="Calibri"/>
                <a:ea typeface="Calibri"/>
                <a:cs typeface="Calibri"/>
              </a:rPr>
              <a:t>Lack of </a:t>
            </a:r>
            <a:r>
              <a:rPr sz="2400" b="1">
                <a:solidFill>
                  <a:srgbClr val="F8F6FF"/>
                </a:solidFill>
                <a:latin typeface="Calibri"/>
                <a:ea typeface="Calibri"/>
                <a:cs typeface="Calibri"/>
              </a:rPr>
              <a:t>personali</a:t>
            </a:r>
            <a:r>
              <a:rPr sz="2400" b="1">
                <a:solidFill>
                  <a:srgbClr val="F8F6FF"/>
                </a:solidFill>
                <a:latin typeface="Calibri"/>
                <a:ea typeface="Calibri"/>
                <a:cs typeface="Calibri"/>
              </a:rPr>
              <a:t>z</a:t>
            </a:r>
            <a:r>
              <a:rPr sz="2400" b="1">
                <a:solidFill>
                  <a:srgbClr val="F8F6FF"/>
                </a:solidFill>
                <a:latin typeface="Calibri"/>
                <a:ea typeface="Calibri"/>
                <a:cs typeface="Calibri"/>
              </a:rPr>
              <a:t>ed and adaptive cognitive support</a:t>
            </a:r>
          </a:p>
        </p:txBody>
      </p:sp>
      <p:sp>
        <p:nvSpPr>
          <p:cNvPr id="22" name="Rectangle 21">
            <a:extLst xmlns:a="http://schemas.openxmlformats.org/drawingml/2006/main">
              <a:ext uri="{FF2B5EF4-FFF2-40B4-BE49-F238E27FC236}">
                <a16:creationId xmlns:a16="http://schemas.microsoft.com/office/drawing/2014/main" id="{9FDD77DF-A4C1-4049-91E6-C333474FD9D7}"/>
              </a:ext>
            </a:extLst>
          </p:cNvPr>
          <p:cNvSpPr>
            <a:spLocks xmlns:a="http://schemas.openxmlformats.org/drawingml/2006/main" noGrp="1"/>
          </p:cNvSpPr>
          <p:nvPr/>
        </p:nvSpPr>
        <p:spPr>
          <a:xfrm xmlns:a="http://schemas.openxmlformats.org/drawingml/2006/main">
            <a:off x="6838950" y="4257675"/>
            <a:ext cx="400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B8B0D4"/>
                </a:solidFill>
                <a:latin typeface="Calibri"/>
                <a:ea typeface="Calibri"/>
                <a:cs typeface="Calibri"/>
              </a:defRPr>
            </a:pPr>
            <a:r>
              <a:rPr sz="1350" b="0">
                <a:solidFill>
                  <a:srgbClr val="B8B0D4"/>
                </a:solidFill>
                <a:latin typeface="Calibri"/>
                <a:ea typeface="Calibri"/>
                <a:cs typeface="Calibri"/>
              </a:rPr>
              <a:t>A single game set and fixed difficulty could be too demanding or too easy. The final system therefore matched activities to dementia type and stage, then adapted each game using recent performance.</a:t>
            </a:r>
          </a:p>
        </p:txBody>
      </p:sp>
      <p:sp>
        <p:nvSpPr>
          <p:cNvPr id="23" name="Rectangle 22">
            <a:extLst xmlns:a="http://schemas.openxmlformats.org/drawingml/2006/main">
              <a:ext uri="{FF2B5EF4-FFF2-40B4-BE49-F238E27FC236}">
                <a16:creationId xmlns:a16="http://schemas.microsoft.com/office/drawing/2014/main" id="{2FA45B3D-FF3A-4B89-A6B6-9FC717A76638}"/>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a:solidFill>
                  <a:srgbClr val="8F87AC"/>
                </a:solidFill>
                <a:latin typeface="Calibri"/>
                <a:ea typeface="Calibri"/>
                <a:cs typeface="Calibri"/>
              </a:defRPr>
            </a:pPr>
            <a:r>
              <a:rPr sz="750" b="0">
                <a:solidFill>
                  <a:srgbClr val="8F87AC"/>
                </a:solidFill>
                <a:latin typeface="Calibri"/>
                <a:ea typeface="Calibri"/>
                <a:cs typeface="Calibri"/>
              </a:rPr>
              <a:t>Sources: earlier proposal pp. 13–14; final report pp. 21–23.</a:t>
            </a:r>
          </a:p>
        </p:txBody>
      </p:sp>
      <p:sp>
        <p:nvSpPr>
          <p:cNvPr id="24" name="Rectangle 23">
            <a:extLst xmlns:a="http://schemas.openxmlformats.org/drawingml/2006/main">
              <a:ext uri="{FF2B5EF4-FFF2-40B4-BE49-F238E27FC236}">
                <a16:creationId xmlns:a16="http://schemas.microsoft.com/office/drawing/2014/main" id="{1642D1A9-BCD5-42D5-94B1-AB62A7427B9F}"/>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1">
                <a:solidFill>
                  <a:srgbClr val="B8B0D4"/>
                </a:solidFill>
                <a:latin typeface="Calibri"/>
                <a:ea typeface="Calibri"/>
                <a:cs typeface="Calibri"/>
              </a:defRPr>
            </a:pPr>
            <a:r>
              <a:rPr sz="975" b="1">
                <a:solidFill>
                  <a:srgbClr val="B8B0D4"/>
                </a:solidFill>
                <a:latin typeface="Calibri"/>
                <a:ea typeface="Calibri"/>
                <a:cs typeface="Calibri"/>
              </a:rPr>
              <a:t>03</a:t>
            </a:r>
          </a:p>
        </p:txBody>
      </p:sp>
    </p:spTree>
    <p:extLst>
      <p:ext uri="{BB962C8B-B14F-4D97-AF65-F5344CB8AC3E}">
        <p14:creationId xmlns:p14="http://schemas.microsoft.com/office/powerpoint/2010/main" val="1136475458"/>
      </p:ext>
    </p:extLst>
  </p:cSld>
</p:sld>
</file>

<file path=ppt/slides/slide4.xml><?xml version="1.0" encoding="utf-8"?>
<p:sld xmlns:p="http://schemas.openxmlformats.org/presentationml/2006/main">
  <p:cSld>
    <p:bg>
      <p:bgPr>
        <a:gradFill xmlns:a="http://schemas.openxmlformats.org/drawingml/2006/main">
          <a:gsLst>
            <a:gs pos="0">
              <a:srgbClr val="120B27"/>
            </a:gs>
            <a:gs pos="52000">
              <a:srgbClr val="19112F"/>
            </a:gs>
            <a:gs pos="100000">
              <a:srgbClr val="24183F"/>
            </a:gs>
          </a:gsLst>
          <a:lin ang="8100000"/>
        </a:gradFill>
      </p:bgPr>
    </p:bg>
    <p:spTree>
      <p:nvGrpSpPr>
        <p:cNvPr id="1" name=""/>
        <p:cNvGrpSpPr/>
        <p:nvPr/>
      </p:nvGrpSpPr>
      <p:grpSpPr>
        <a:xfrm xmlns:a="http://schemas.openxmlformats.org/drawingml/2006/main"/>
      </p:grpSpPr>
      <p:sp>
        <p:nvSpPr>
          <p:cNvPr id="35" name="Rectangle 34">
            <a:extLst xmlns:a="http://schemas.openxmlformats.org/drawingml/2006/main">
              <a:ext uri="{FF2B5EF4-FFF2-40B4-BE49-F238E27FC236}">
                <a16:creationId xmlns:a16="http://schemas.microsoft.com/office/drawing/2014/main" id="{022A4CFD-40A4-8B66-618B-87B4893F9D3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82EF65C1-AFFD-536F-9EFF-FD5F12290F92}"/>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FF6B62"/>
                </a:solidFill>
                <a:latin typeface="Calibri"/>
                <a:ea typeface="Calibri"/>
                <a:cs typeface="Calibri"/>
              </a:defRPr>
            </a:pPr>
            <a:r>
              <a:rPr sz="1125" b="1">
                <a:solidFill>
                  <a:srgbClr val="FF6B62"/>
                </a:solidFill>
                <a:latin typeface="Calibri"/>
                <a:ea typeface="Calibri"/>
                <a:cs typeface="Calibri"/>
              </a:rPr>
              <a:t>CHAPTER 1 · INTRODUCTION</a:t>
            </a:r>
          </a:p>
        </p:txBody>
      </p:sp>
      <p:sp>
        <p:nvSpPr>
          <p:cNvPr id="3" name="Rectangle 2">
            <a:extLst xmlns:a="http://schemas.openxmlformats.org/drawingml/2006/main">
              <a:ext uri="{FF2B5EF4-FFF2-40B4-BE49-F238E27FC236}">
                <a16:creationId xmlns:a16="http://schemas.microsoft.com/office/drawing/2014/main" id="{26EA6DE7-EA48-6764-26AD-C551841E4538}"/>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F8F6FF"/>
                </a:solidFill>
                <a:latin typeface="Calibri"/>
                <a:ea typeface="Calibri"/>
                <a:cs typeface="Calibri"/>
              </a:defRPr>
            </a:pPr>
            <a:r>
              <a:rPr sz="2700" b="1">
                <a:solidFill>
                  <a:srgbClr val="F8F6FF"/>
                </a:solidFill>
                <a:latin typeface="Calibri"/>
                <a:ea typeface="Calibri"/>
                <a:cs typeface="Calibri"/>
              </a:rPr>
              <a:t>Objectives became more specific and measurable</a:t>
            </a:r>
          </a:p>
        </p:txBody>
      </p:sp>
      <p:sp>
        <p:nvSpPr>
          <p:cNvPr id="4" name="Rectangle 3">
            <a:extLst xmlns:a="http://schemas.openxmlformats.org/drawingml/2006/main">
              <a:ext uri="{FF2B5EF4-FFF2-40B4-BE49-F238E27FC236}">
                <a16:creationId xmlns:a16="http://schemas.microsoft.com/office/drawing/2014/main" id="{D5691F77-E71C-72DD-F84E-66844C5DC880}"/>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B8B0D4"/>
                </a:solidFill>
                <a:latin typeface="Calibri"/>
                <a:ea typeface="Calibri"/>
                <a:cs typeface="Calibri"/>
              </a:defRPr>
            </a:pPr>
            <a:r>
              <a:rPr sz="1350" b="0">
                <a:solidFill>
                  <a:srgbClr val="B8B0D4"/>
                </a:solidFill>
                <a:latin typeface="Calibri"/>
                <a:ea typeface="Calibri"/>
                <a:cs typeface="Calibri"/>
              </a:rPr>
              <a:t>The target population remained early-to-middle-stage dementia patients, while caregiver responsibilities became explicit.</a:t>
            </a:r>
          </a:p>
        </p:txBody>
      </p:sp>
      <p:sp>
        <p:nvSpPr>
          <p:cNvPr id="5" name="Rectangle: Rounded Corners 4">
            <a:extLst xmlns:a="http://schemas.openxmlformats.org/drawingml/2006/main">
              <a:ext uri="{FF2B5EF4-FFF2-40B4-BE49-F238E27FC236}">
                <a16:creationId xmlns:a16="http://schemas.microsoft.com/office/drawing/2014/main" id="{85E7B488-5F1D-0C74-71E7-D4F1787DF9F1}"/>
              </a:ext>
            </a:extLst>
          </p:cNvPr>
          <p:cNvSpPr>
            <a:spLocks xmlns:a="http://schemas.openxmlformats.org/drawingml/2006/main" noGrp="1"/>
          </p:cNvSpPr>
          <p:nvPr/>
        </p:nvSpPr>
        <p:spPr>
          <a:xfrm xmlns:a="http://schemas.openxmlformats.org/drawingml/2006/main">
            <a:off x="471488" y="1671638"/>
            <a:ext cx="3648710" cy="4171950"/>
          </a:xfrm>
          <a:prstGeom xmlns:a="http://schemas.openxmlformats.org/drawingml/2006/main" prst="roundRect">
            <a:avLst>
              <a:gd name="adj" fmla="val 3653"/>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6" name="Rectangle: Rounded Corners 5">
            <a:extLst xmlns:a="http://schemas.openxmlformats.org/drawingml/2006/main">
              <a:ext uri="{FF2B5EF4-FFF2-40B4-BE49-F238E27FC236}">
                <a16:creationId xmlns:a16="http://schemas.microsoft.com/office/drawing/2014/main" id="{75BDFBB8-5F36-E5C9-77D0-5CC616A25226}"/>
              </a:ext>
            </a:extLst>
          </p:cNvPr>
          <p:cNvSpPr>
            <a:spLocks xmlns:a="http://schemas.openxmlformats.org/drawingml/2006/main" noGrp="1"/>
          </p:cNvSpPr>
          <p:nvPr/>
        </p:nvSpPr>
        <p:spPr>
          <a:xfrm xmlns:a="http://schemas.openxmlformats.org/drawingml/2006/main">
            <a:off x="657225" y="1885950"/>
            <a:ext cx="1619250" cy="323850"/>
          </a:xfrm>
          <a:prstGeom xmlns:a="http://schemas.openxmlformats.org/drawingml/2006/main" prst="roundRect">
            <a:avLst>
              <a:gd name="adj" fmla="val 35294"/>
            </a:avLst>
          </a:prstGeom>
          <a:solidFill xmlns:a="http://schemas.openxmlformats.org/drawingml/2006/main">
            <a:srgbClr val="3A3160"/>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7" name="Rectangle 6">
            <a:extLst xmlns:a="http://schemas.openxmlformats.org/drawingml/2006/main">
              <a:ext uri="{FF2B5EF4-FFF2-40B4-BE49-F238E27FC236}">
                <a16:creationId xmlns:a16="http://schemas.microsoft.com/office/drawing/2014/main" id="{235C290B-D111-046D-AC15-49AF27F6992F}"/>
              </a:ext>
            </a:extLst>
          </p:cNvPr>
          <p:cNvSpPr>
            <a:spLocks xmlns:a="http://schemas.openxmlformats.org/drawingml/2006/main" noGrp="1"/>
          </p:cNvSpPr>
          <p:nvPr/>
        </p:nvSpPr>
        <p:spPr>
          <a:xfrm xmlns:a="http://schemas.openxmlformats.org/drawingml/2006/main">
            <a:off x="657225" y="18954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B8B0D4"/>
                </a:solidFill>
                <a:latin typeface="Calibri"/>
                <a:ea typeface="Calibri"/>
                <a:cs typeface="Calibri"/>
              </a:defRPr>
            </a:pPr>
            <a:r>
              <a:rPr sz="1125" b="1">
                <a:solidFill>
                  <a:srgbClr val="E7E4F0"/>
                </a:solidFill>
                <a:latin typeface="Calibri"/>
                <a:ea typeface="Calibri"/>
                <a:cs typeface="Calibri"/>
              </a:rPr>
              <a:t>EARLIER PROPOSAL</a:t>
            </a:r>
          </a:p>
        </p:txBody>
      </p:sp>
      <p:sp>
        <p:nvSpPr>
          <p:cNvPr id="8" name="Rectangle 7">
            <a:extLst xmlns:a="http://schemas.openxmlformats.org/drawingml/2006/main">
              <a:ext uri="{FF2B5EF4-FFF2-40B4-BE49-F238E27FC236}">
                <a16:creationId xmlns:a16="http://schemas.microsoft.com/office/drawing/2014/main" id="{A8B1920B-9E18-3141-7AB8-67C26AB75C64}"/>
              </a:ext>
            </a:extLst>
          </p:cNvPr>
          <p:cNvSpPr>
            <a:spLocks xmlns:a="http://schemas.openxmlformats.org/drawingml/2006/main" noGrp="1"/>
          </p:cNvSpPr>
          <p:nvPr/>
        </p:nvSpPr>
        <p:spPr>
          <a:xfrm xmlns:a="http://schemas.openxmlformats.org/drawingml/2006/main">
            <a:off x="676275" y="24003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8F87AC"/>
                </a:solidFill>
                <a:latin typeface="Calibri"/>
                <a:ea typeface="Calibri"/>
                <a:cs typeface="Calibri"/>
              </a:defRPr>
            </a:pPr>
            <a:r>
              <a:rPr sz="2250" b="1">
                <a:solidFill>
                  <a:srgbClr val="8F87AC"/>
                </a:solidFill>
                <a:latin typeface="Calibri"/>
                <a:ea typeface="Calibri"/>
                <a:cs typeface="Calibri"/>
              </a:rPr>
              <a:t>01</a:t>
            </a:r>
          </a:p>
        </p:txBody>
      </p:sp>
      <p:sp>
        <p:nvSpPr>
          <p:cNvPr id="9" name="Rectangle 8">
            <a:extLst xmlns:a="http://schemas.openxmlformats.org/drawingml/2006/main">
              <a:ext uri="{FF2B5EF4-FFF2-40B4-BE49-F238E27FC236}">
                <a16:creationId xmlns:a16="http://schemas.microsoft.com/office/drawing/2014/main" id="{06FC5460-0DD0-BB8D-68B8-C18A963B23E3}"/>
              </a:ext>
            </a:extLst>
          </p:cNvPr>
          <p:cNvSpPr>
            <a:spLocks xmlns:a="http://schemas.openxmlformats.org/drawingml/2006/main" noGrp="1"/>
          </p:cNvSpPr>
          <p:nvPr/>
        </p:nvSpPr>
        <p:spPr>
          <a:xfrm xmlns:a="http://schemas.openxmlformats.org/drawingml/2006/main">
            <a:off x="1362075" y="2409825"/>
            <a:ext cx="3886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01A99578-5AD3-124D-0FF7-0D0ED81B1A0A}"/>
              </a:ext>
            </a:extLst>
          </p:cNvPr>
          <p:cNvSpPr>
            <a:spLocks xmlns:a="http://schemas.openxmlformats.org/drawingml/2006/main" noGrp="1"/>
          </p:cNvSpPr>
          <p:nvPr/>
        </p:nvSpPr>
        <p:spPr>
          <a:xfrm xmlns:a="http://schemas.openxmlformats.org/drawingml/2006/main">
            <a:off x="981075" y="2693670"/>
            <a:ext cx="295084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Build a mobile app for tasks, medication, games and gamification</a:t>
            </a:r>
          </a:p>
        </p:txBody>
      </p:sp>
      <p:sp>
        <p:nvSpPr>
          <p:cNvPr id="11" name="Rectangle 10">
            <a:extLst xmlns:a="http://schemas.openxmlformats.org/drawingml/2006/main">
              <a:ext uri="{FF2B5EF4-FFF2-40B4-BE49-F238E27FC236}">
                <a16:creationId xmlns:a16="http://schemas.microsoft.com/office/drawing/2014/main" id="{11C64DD1-FB9A-FBDB-8DED-BA5CCA49484D}"/>
              </a:ext>
            </a:extLst>
          </p:cNvPr>
          <p:cNvSpPr>
            <a:spLocks xmlns:a="http://schemas.openxmlformats.org/drawingml/2006/main" noGrp="1"/>
          </p:cNvSpPr>
          <p:nvPr/>
        </p:nvSpPr>
        <p:spPr>
          <a:xfrm xmlns:a="http://schemas.openxmlformats.org/drawingml/2006/main">
            <a:off x="676275" y="33528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8F87AC"/>
                </a:solidFill>
                <a:latin typeface="Calibri"/>
                <a:ea typeface="Calibri"/>
                <a:cs typeface="Calibri"/>
              </a:defRPr>
            </a:pPr>
            <a:r>
              <a:rPr sz="2250" b="1">
                <a:solidFill>
                  <a:srgbClr val="8F87AC"/>
                </a:solidFill>
                <a:latin typeface="Calibri"/>
                <a:ea typeface="Calibri"/>
                <a:cs typeface="Calibri"/>
              </a:rPr>
              <a:t>02</a:t>
            </a:r>
          </a:p>
        </p:txBody>
      </p:sp>
      <p:sp>
        <p:nvSpPr>
          <p:cNvPr id="12" name="Rectangle 11">
            <a:extLst xmlns:a="http://schemas.openxmlformats.org/drawingml/2006/main">
              <a:ext uri="{FF2B5EF4-FFF2-40B4-BE49-F238E27FC236}">
                <a16:creationId xmlns:a16="http://schemas.microsoft.com/office/drawing/2014/main" id="{0B65D8E0-EE34-5365-6229-CD983C9AECC0}"/>
              </a:ext>
            </a:extLst>
          </p:cNvPr>
          <p:cNvSpPr>
            <a:spLocks xmlns:a="http://schemas.openxmlformats.org/drawingml/2006/main" noGrp="1"/>
          </p:cNvSpPr>
          <p:nvPr/>
        </p:nvSpPr>
        <p:spPr>
          <a:xfrm xmlns:a="http://schemas.openxmlformats.org/drawingml/2006/main">
            <a:off x="1362075" y="3362325"/>
            <a:ext cx="3886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7D0F5A0E-74BA-BA75-AFCC-B80443DDEC0F}"/>
              </a:ext>
            </a:extLst>
          </p:cNvPr>
          <p:cNvSpPr>
            <a:spLocks xmlns:a="http://schemas.openxmlformats.org/drawingml/2006/main" noGrp="1"/>
          </p:cNvSpPr>
          <p:nvPr/>
        </p:nvSpPr>
        <p:spPr>
          <a:xfrm xmlns:a="http://schemas.openxmlformats.org/drawingml/2006/main">
            <a:off x="903325" y="3685223"/>
            <a:ext cx="3886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Create real-time caregiver monitoring</a:t>
            </a:r>
          </a:p>
        </p:txBody>
      </p:sp>
      <p:sp>
        <p:nvSpPr>
          <p:cNvPr id="14" name="Rectangle 13">
            <a:extLst xmlns:a="http://schemas.openxmlformats.org/drawingml/2006/main">
              <a:ext uri="{FF2B5EF4-FFF2-40B4-BE49-F238E27FC236}">
                <a16:creationId xmlns:a16="http://schemas.microsoft.com/office/drawing/2014/main" id="{1E7E9EA6-F373-9034-5824-4FF448DF329F}"/>
              </a:ext>
            </a:extLst>
          </p:cNvPr>
          <p:cNvSpPr>
            <a:spLocks xmlns:a="http://schemas.openxmlformats.org/drawingml/2006/main" noGrp="1"/>
          </p:cNvSpPr>
          <p:nvPr/>
        </p:nvSpPr>
        <p:spPr>
          <a:xfrm xmlns:a="http://schemas.openxmlformats.org/drawingml/2006/main">
            <a:off x="676275" y="43053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8F87AC"/>
                </a:solidFill>
                <a:latin typeface="Calibri"/>
                <a:ea typeface="Calibri"/>
                <a:cs typeface="Calibri"/>
              </a:defRPr>
            </a:pPr>
            <a:r>
              <a:rPr sz="2250" b="1">
                <a:solidFill>
                  <a:srgbClr val="8F87AC"/>
                </a:solidFill>
                <a:latin typeface="Calibri"/>
                <a:ea typeface="Calibri"/>
                <a:cs typeface="Calibri"/>
              </a:rPr>
              <a:t>03</a:t>
            </a:r>
          </a:p>
        </p:txBody>
      </p:sp>
      <p:sp>
        <p:nvSpPr>
          <p:cNvPr id="15" name="Rectangle 14">
            <a:extLst xmlns:a="http://schemas.openxmlformats.org/drawingml/2006/main">
              <a:ext uri="{FF2B5EF4-FFF2-40B4-BE49-F238E27FC236}">
                <a16:creationId xmlns:a16="http://schemas.microsoft.com/office/drawing/2014/main" id="{F81FD785-7602-449C-92E2-F58A458B6CE1}"/>
              </a:ext>
            </a:extLst>
          </p:cNvPr>
          <p:cNvSpPr>
            <a:spLocks xmlns:a="http://schemas.openxmlformats.org/drawingml/2006/main" noGrp="1"/>
          </p:cNvSpPr>
          <p:nvPr/>
        </p:nvSpPr>
        <p:spPr>
          <a:xfrm xmlns:a="http://schemas.openxmlformats.org/drawingml/2006/main">
            <a:off x="1362075" y="4314825"/>
            <a:ext cx="3886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endParaRPr/>
          </a:p>
        </p:txBody>
      </p:sp>
      <p:sp>
        <p:nvSpPr>
          <p:cNvPr id="16" name="Rectangle 15">
            <a:extLst xmlns:a="http://schemas.openxmlformats.org/drawingml/2006/main">
              <a:ext uri="{FF2B5EF4-FFF2-40B4-BE49-F238E27FC236}">
                <a16:creationId xmlns:a16="http://schemas.microsoft.com/office/drawing/2014/main" id="{CFCF5A4C-946E-7A52-BFB7-8171752429E0}"/>
              </a:ext>
            </a:extLst>
          </p:cNvPr>
          <p:cNvSpPr>
            <a:spLocks xmlns:a="http://schemas.openxmlformats.org/drawingml/2006/main" noGrp="1"/>
          </p:cNvSpPr>
          <p:nvPr/>
        </p:nvSpPr>
        <p:spPr>
          <a:xfrm xmlns:a="http://schemas.openxmlformats.org/drawingml/2006/main">
            <a:off x="919796" y="4649152"/>
            <a:ext cx="2910524"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Evaluate UAT and achieve SUS ≥ 85</a:t>
            </a:r>
          </a:p>
        </p:txBody>
      </p:sp>
      <p:sp>
        <p:nvSpPr>
          <p:cNvPr id="17" name="Rectangle: Rounded Corners 16">
            <a:extLst xmlns:a="http://schemas.openxmlformats.org/drawingml/2006/main">
              <a:ext uri="{FF2B5EF4-FFF2-40B4-BE49-F238E27FC236}">
                <a16:creationId xmlns:a16="http://schemas.microsoft.com/office/drawing/2014/main" id="{F31CCB0B-12EC-B49D-5CB4-D1C73AE0726C}"/>
              </a:ext>
            </a:extLst>
          </p:cNvPr>
          <p:cNvSpPr>
            <a:spLocks xmlns:a="http://schemas.openxmlformats.org/drawingml/2006/main" noGrp="1"/>
          </p:cNvSpPr>
          <p:nvPr/>
        </p:nvSpPr>
        <p:spPr>
          <a:xfrm xmlns:a="http://schemas.openxmlformats.org/drawingml/2006/main">
            <a:off x="4236720" y="1671638"/>
            <a:ext cx="7385687" cy="4171950"/>
          </a:xfrm>
          <a:prstGeom xmlns:a="http://schemas.openxmlformats.org/drawingml/2006/main" prst="roundRect">
            <a:avLst>
              <a:gd name="adj" fmla="val 3653"/>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8" name="Rectangle: Rounded Corners 17">
            <a:extLst xmlns:a="http://schemas.openxmlformats.org/drawingml/2006/main">
              <a:ext uri="{FF2B5EF4-FFF2-40B4-BE49-F238E27FC236}">
                <a16:creationId xmlns:a16="http://schemas.microsoft.com/office/drawing/2014/main" id="{14AFF526-D3D5-7801-CDEA-5BB8B6F6A203}"/>
              </a:ext>
            </a:extLst>
          </p:cNvPr>
          <p:cNvSpPr>
            <a:spLocks xmlns:a="http://schemas.openxmlformats.org/drawingml/2006/main" noGrp="1"/>
          </p:cNvSpPr>
          <p:nvPr/>
        </p:nvSpPr>
        <p:spPr>
          <a:xfrm xmlns:a="http://schemas.openxmlformats.org/drawingml/2006/main">
            <a:off x="4474172" y="1801178"/>
            <a:ext cx="1710542" cy="323850"/>
          </a:xfrm>
          <a:prstGeom xmlns:a="http://schemas.openxmlformats.org/drawingml/2006/main" prst="roundRect">
            <a:avLst>
              <a:gd name="adj" fmla="val 35294"/>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9" name="Rectangle 18">
            <a:extLst xmlns:a="http://schemas.openxmlformats.org/drawingml/2006/main">
              <a:ext uri="{FF2B5EF4-FFF2-40B4-BE49-F238E27FC236}">
                <a16:creationId xmlns:a16="http://schemas.microsoft.com/office/drawing/2014/main" id="{A64A5340-B1C5-4468-A81B-66CAAB80DD7D}"/>
              </a:ext>
            </a:extLst>
          </p:cNvPr>
          <p:cNvSpPr>
            <a:spLocks xmlns:a="http://schemas.openxmlformats.org/drawingml/2006/main" noGrp="1"/>
          </p:cNvSpPr>
          <p:nvPr/>
        </p:nvSpPr>
        <p:spPr>
          <a:xfrm xmlns:a="http://schemas.openxmlformats.org/drawingml/2006/main">
            <a:off x="4474172" y="1810703"/>
            <a:ext cx="1710542"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F8F6FF"/>
                </a:solidFill>
                <a:latin typeface="Calibri"/>
                <a:ea typeface="Calibri"/>
                <a:cs typeface="Calibri"/>
              </a:defRPr>
            </a:pPr>
            <a:r>
              <a:rPr sz="1125" b="1">
                <a:solidFill>
                  <a:srgbClr val="F8F6FF"/>
                </a:solidFill>
                <a:latin typeface="Calibri"/>
                <a:ea typeface="Calibri"/>
                <a:cs typeface="Calibri"/>
              </a:rPr>
              <a:t>FINAL OBJECTIVES</a:t>
            </a:r>
          </a:p>
        </p:txBody>
      </p:sp>
      <p:sp>
        <p:nvSpPr>
          <p:cNvPr id="20" name="Rectangle 19">
            <a:extLst xmlns:a="http://schemas.openxmlformats.org/drawingml/2006/main">
              <a:ext uri="{FF2B5EF4-FFF2-40B4-BE49-F238E27FC236}">
                <a16:creationId xmlns:a16="http://schemas.microsoft.com/office/drawing/2014/main" id="{C0B3A80A-66D3-E05E-2597-DD13E949EC6E}"/>
              </a:ext>
            </a:extLst>
          </p:cNvPr>
          <p:cNvSpPr>
            <a:spLocks xmlns:a="http://schemas.openxmlformats.org/drawingml/2006/main" noGrp="1"/>
          </p:cNvSpPr>
          <p:nvPr/>
        </p:nvSpPr>
        <p:spPr>
          <a:xfrm xmlns:a="http://schemas.openxmlformats.org/drawingml/2006/main">
            <a:off x="4512271" y="2315528"/>
            <a:ext cx="643969"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FF6B62"/>
                </a:solidFill>
                <a:latin typeface="Calibri"/>
                <a:ea typeface="Calibri"/>
                <a:cs typeface="Calibri"/>
              </a:defRPr>
            </a:pPr>
            <a:r>
              <a:rPr sz="2250" b="1">
                <a:solidFill>
                  <a:srgbClr val="FF6B62"/>
                </a:solidFill>
                <a:latin typeface="Calibri"/>
                <a:ea typeface="Calibri"/>
                <a:cs typeface="Calibri"/>
              </a:rPr>
              <a:t>01</a:t>
            </a:r>
          </a:p>
        </p:txBody>
      </p:sp>
      <p:sp>
        <p:nvSpPr>
          <p:cNvPr id="21" name="Rectangle 20">
            <a:extLst xmlns:a="http://schemas.openxmlformats.org/drawingml/2006/main">
              <a:ext uri="{FF2B5EF4-FFF2-40B4-BE49-F238E27FC236}">
                <a16:creationId xmlns:a16="http://schemas.microsoft.com/office/drawing/2014/main" id="{E638572C-D4ED-4E4B-15CD-9D67DC2BBB29}"/>
              </a:ext>
            </a:extLst>
          </p:cNvPr>
          <p:cNvSpPr>
            <a:spLocks xmlns:a="http://schemas.openxmlformats.org/drawingml/2006/main" noGrp="1"/>
          </p:cNvSpPr>
          <p:nvPr/>
        </p:nvSpPr>
        <p:spPr>
          <a:xfrm xmlns:a="http://schemas.openxmlformats.org/drawingml/2006/main">
            <a:off x="5064721" y="2218372"/>
            <a:ext cx="6223954" cy="11344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F8F6FF"/>
                </a:solidFill>
                <a:latin typeface="Calibri"/>
                <a:ea typeface="Calibri"/>
                <a:cs typeface="Calibri"/>
              </a:defRPr>
            </a:pPr>
            <a:r>
              <a:rPr sz="1600" b="1"/>
              <a:t>To design and implement a mobile-based application for dementia patients and caregivers that integrates daily task and medication management, cognitive exercises, gamified features, and real-time patient activity monitoring to support patient engagement, routine adherence, and caregiver coordination.</a:t>
            </a:r>
            <a:endParaRPr sz="1600" b="1"/>
          </a:p>
          <a:p xmlns:a="http://schemas.openxmlformats.org/drawingml/2006/main">
            <a:pPr>
              <a:buNone/>
              <a:defRPr sz="1800" b="1">
                <a:solidFill>
                  <a:srgbClr val="F8F6FF"/>
                </a:solidFill>
                <a:latin typeface="Calibri"/>
                <a:ea typeface="Calibri"/>
                <a:cs typeface="Calibri"/>
              </a:defRPr>
            </a:pPr>
            <a:endParaRPr sz="1600" b="1">
              <a:solidFill>
                <a:srgbClr val="F8F6FF"/>
              </a:solidFill>
              <a:latin typeface="Calibri"/>
              <a:ea typeface="Calibri"/>
              <a:cs typeface="Calibri"/>
            </a:endParaRPr>
          </a:p>
        </p:txBody>
      </p:sp>
      <p:sp>
        <p:nvSpPr>
          <p:cNvPr id="23" name="Rectangle 22">
            <a:extLst xmlns:a="http://schemas.openxmlformats.org/drawingml/2006/main">
              <a:ext uri="{FF2B5EF4-FFF2-40B4-BE49-F238E27FC236}">
                <a16:creationId xmlns:a16="http://schemas.microsoft.com/office/drawing/2014/main" id="{49E9F3FC-A35A-F3CA-0C89-74F4CA2DFF5B}"/>
              </a:ext>
            </a:extLst>
          </p:cNvPr>
          <p:cNvSpPr>
            <a:spLocks xmlns:a="http://schemas.openxmlformats.org/drawingml/2006/main" noGrp="1"/>
          </p:cNvSpPr>
          <p:nvPr/>
        </p:nvSpPr>
        <p:spPr>
          <a:xfrm xmlns:a="http://schemas.openxmlformats.org/drawingml/2006/main">
            <a:off x="4516716" y="3401377"/>
            <a:ext cx="643969"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FF6B62"/>
                </a:solidFill>
                <a:latin typeface="Calibri"/>
                <a:ea typeface="Calibri"/>
                <a:cs typeface="Calibri"/>
              </a:defRPr>
            </a:pPr>
            <a:r>
              <a:rPr sz="2250" b="1">
                <a:solidFill>
                  <a:srgbClr val="FF6B62"/>
                </a:solidFill>
                <a:latin typeface="Calibri"/>
                <a:ea typeface="Calibri"/>
                <a:cs typeface="Calibri"/>
              </a:rPr>
              <a:t>02</a:t>
            </a:r>
          </a:p>
        </p:txBody>
      </p:sp>
      <p:sp>
        <p:nvSpPr>
          <p:cNvPr id="24" name="Rectangle 23">
            <a:extLst xmlns:a="http://schemas.openxmlformats.org/drawingml/2006/main">
              <a:ext uri="{FF2B5EF4-FFF2-40B4-BE49-F238E27FC236}">
                <a16:creationId xmlns:a16="http://schemas.microsoft.com/office/drawing/2014/main" id="{170EFBEB-D659-C9CD-C2E0-2326B95B14E7}"/>
              </a:ext>
            </a:extLst>
          </p:cNvPr>
          <p:cNvSpPr>
            <a:spLocks xmlns:a="http://schemas.openxmlformats.org/drawingml/2006/main" noGrp="1"/>
          </p:cNvSpPr>
          <p:nvPr/>
        </p:nvSpPr>
        <p:spPr>
          <a:xfrm xmlns:a="http://schemas.openxmlformats.org/drawingml/2006/main">
            <a:off x="5078533" y="3538060"/>
            <a:ext cx="6253164" cy="7896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F8F6FF"/>
                </a:solidFill>
                <a:latin typeface="Calibri"/>
                <a:ea typeface="Calibri"/>
                <a:cs typeface="Calibri"/>
              </a:defRPr>
            </a:pPr>
            <a:r>
              <a:rPr sz="1600" b="1"/>
              <a:t>To assess usability and user acceptance for the developed mobile application using User Acceptance Testing (UAT) along with the System Usability Scale (SUS), with a target usability score of at least 85%.</a:t>
            </a:r>
            <a:endParaRPr sz="1600" b="1">
              <a:solidFill>
                <a:srgbClr val="F8F6FF"/>
              </a:solidFill>
              <a:latin typeface="Calibri"/>
              <a:ea typeface="Calibri"/>
              <a:cs typeface="Calibri"/>
            </a:endParaRPr>
          </a:p>
        </p:txBody>
      </p:sp>
      <p:sp>
        <p:nvSpPr>
          <p:cNvPr id="26" name="Rectangle 25">
            <a:extLst xmlns:a="http://schemas.openxmlformats.org/drawingml/2006/main">
              <a:ext uri="{FF2B5EF4-FFF2-40B4-BE49-F238E27FC236}">
                <a16:creationId xmlns:a16="http://schemas.microsoft.com/office/drawing/2014/main" id="{C00F1DD7-5228-8274-7AF1-7A4677F0175C}"/>
              </a:ext>
            </a:extLst>
          </p:cNvPr>
          <p:cNvSpPr>
            <a:spLocks xmlns:a="http://schemas.openxmlformats.org/drawingml/2006/main" noGrp="1"/>
          </p:cNvSpPr>
          <p:nvPr/>
        </p:nvSpPr>
        <p:spPr>
          <a:xfrm xmlns:a="http://schemas.openxmlformats.org/drawingml/2006/main">
            <a:off x="4516716" y="4353877"/>
            <a:ext cx="643969"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FF6B62"/>
                </a:solidFill>
                <a:latin typeface="Calibri"/>
                <a:ea typeface="Calibri"/>
                <a:cs typeface="Calibri"/>
              </a:defRPr>
            </a:pPr>
            <a:r>
              <a:rPr sz="2250" b="1">
                <a:solidFill>
                  <a:srgbClr val="FF6B62"/>
                </a:solidFill>
                <a:latin typeface="Calibri"/>
                <a:ea typeface="Calibri"/>
                <a:cs typeface="Calibri"/>
              </a:rPr>
              <a:t>03</a:t>
            </a:r>
          </a:p>
        </p:txBody>
      </p:sp>
      <p:sp>
        <p:nvSpPr>
          <p:cNvPr id="27" name="Rectangle 26">
            <a:extLst xmlns:a="http://schemas.openxmlformats.org/drawingml/2006/main">
              <a:ext uri="{FF2B5EF4-FFF2-40B4-BE49-F238E27FC236}">
                <a16:creationId xmlns:a16="http://schemas.microsoft.com/office/drawing/2014/main" id="{2AD9D933-8BD9-1646-7532-B55E89FB8472}"/>
              </a:ext>
            </a:extLst>
          </p:cNvPr>
          <p:cNvSpPr>
            <a:spLocks xmlns:a="http://schemas.openxmlformats.org/drawingml/2006/main" noGrp="1"/>
          </p:cNvSpPr>
          <p:nvPr/>
        </p:nvSpPr>
        <p:spPr>
          <a:xfrm xmlns:a="http://schemas.openxmlformats.org/drawingml/2006/main">
            <a:off x="5039940" y="4351654"/>
            <a:ext cx="6086158" cy="14887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1">
                <a:solidFill>
                  <a:srgbClr val="F8F6FF"/>
                </a:solidFill>
                <a:latin typeface="Calibri"/>
                <a:ea typeface="Calibri"/>
                <a:cs typeface="Calibri"/>
              </a:defRPr>
            </a:pPr>
            <a:r>
              <a:rPr sz="1650"/>
              <a:t>To develop and technically validate a personalized adaptive cognitive exercise module that assigns games according to dementia type and stage, automatically adjusts each game’s difficulty based on the patient’s recent performance, and enables caregiver review and override to maintain an appropriate and achievable level of challenge</a:t>
            </a:r>
            <a:endParaRPr sz="1650">
              <a:solidFill>
                <a:srgbClr val="F8F6FF"/>
              </a:solidFill>
              <a:latin typeface="Calibri"/>
              <a:ea typeface="Calibri"/>
              <a:cs typeface="Calibri"/>
            </a:endParaRPr>
          </a:p>
        </p:txBody>
      </p:sp>
      <p:sp>
        <p:nvSpPr>
          <p:cNvPr id="29" name="Rectangle 28">
            <a:extLst xmlns:a="http://schemas.openxmlformats.org/drawingml/2006/main">
              <a:ext uri="{FF2B5EF4-FFF2-40B4-BE49-F238E27FC236}">
                <a16:creationId xmlns:a16="http://schemas.microsoft.com/office/drawing/2014/main" id="{E7392FAF-1117-76AC-AAE0-69F2CE0BC137}"/>
              </a:ext>
            </a:extLst>
          </p:cNvPr>
          <p:cNvSpPr>
            <a:spLocks xmlns:a="http://schemas.openxmlformats.org/drawingml/2006/main" noGrp="1"/>
          </p:cNvSpPr>
          <p:nvPr/>
        </p:nvSpPr>
        <p:spPr>
          <a:xfrm xmlns:a="http://schemas.openxmlformats.org/drawingml/2006/main">
            <a:off x="676275" y="54864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2ED9A4"/>
                </a:solidFill>
                <a:latin typeface="Calibri"/>
                <a:ea typeface="Calibri"/>
                <a:cs typeface="Calibri"/>
              </a:defRPr>
            </a:pPr>
            <a:r>
              <a:rPr sz="1050" b="1">
                <a:solidFill>
                  <a:srgbClr val="2ED9A4"/>
                </a:solidFill>
                <a:latin typeface="Calibri"/>
                <a:ea typeface="Calibri"/>
                <a:cs typeface="Calibri"/>
              </a:rPr>
              <a:t>PATIENT</a:t>
            </a:r>
          </a:p>
        </p:txBody>
      </p:sp>
      <p:sp>
        <p:nvSpPr>
          <p:cNvPr id="30" name="Rectangle 29">
            <a:extLst xmlns:a="http://schemas.openxmlformats.org/drawingml/2006/main">
              <a:ext uri="{FF2B5EF4-FFF2-40B4-BE49-F238E27FC236}">
                <a16:creationId xmlns:a16="http://schemas.microsoft.com/office/drawing/2014/main" id="{FE756074-5F75-84F4-5596-AF494518610B}"/>
              </a:ext>
            </a:extLst>
          </p:cNvPr>
          <p:cNvSpPr>
            <a:spLocks xmlns:a="http://schemas.openxmlformats.org/drawingml/2006/main" noGrp="1"/>
          </p:cNvSpPr>
          <p:nvPr/>
        </p:nvSpPr>
        <p:spPr>
          <a:xfrm xmlns:a="http://schemas.openxmlformats.org/drawingml/2006/main">
            <a:off x="1533525" y="5486400"/>
            <a:ext cx="3286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B8B0D4"/>
                </a:solidFill>
                <a:latin typeface="Calibri"/>
                <a:ea typeface="Calibri"/>
                <a:cs typeface="Calibri"/>
              </a:defRPr>
            </a:pPr>
            <a:r>
              <a:rPr sz="1050" b="0">
                <a:solidFill>
                  <a:srgbClr val="B8B0D4"/>
                </a:solidFill>
                <a:latin typeface="Calibri"/>
                <a:ea typeface="Calibri"/>
                <a:cs typeface="Calibri"/>
              </a:rPr>
              <a:t>Completes routines, games and rewards</a:t>
            </a:r>
          </a:p>
        </p:txBody>
      </p:sp>
      <p:sp>
        <p:nvSpPr>
          <p:cNvPr id="31" name="Rectangle 30">
            <a:extLst xmlns:a="http://schemas.openxmlformats.org/drawingml/2006/main">
              <a:ext uri="{FF2B5EF4-FFF2-40B4-BE49-F238E27FC236}">
                <a16:creationId xmlns:a16="http://schemas.microsoft.com/office/drawing/2014/main" id="{BB4F9E51-A278-6482-375A-B5BC66757740}"/>
              </a:ext>
            </a:extLst>
          </p:cNvPr>
          <p:cNvSpPr>
            <a:spLocks xmlns:a="http://schemas.openxmlformats.org/drawingml/2006/main" noGrp="1"/>
          </p:cNvSpPr>
          <p:nvPr/>
        </p:nvSpPr>
        <p:spPr>
          <a:xfrm xmlns:a="http://schemas.openxmlformats.org/drawingml/2006/main">
            <a:off x="4402416" y="5598477"/>
            <a:ext cx="1046449"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FFB020"/>
                </a:solidFill>
                <a:latin typeface="Calibri"/>
                <a:ea typeface="Calibri"/>
                <a:cs typeface="Calibri"/>
              </a:defRPr>
            </a:pPr>
            <a:r>
              <a:rPr sz="1050" b="1">
                <a:solidFill>
                  <a:srgbClr val="FFB020"/>
                </a:solidFill>
                <a:latin typeface="Calibri"/>
                <a:ea typeface="Calibri"/>
                <a:cs typeface="Calibri"/>
              </a:rPr>
              <a:t>CAREGIVER</a:t>
            </a:r>
          </a:p>
        </p:txBody>
      </p:sp>
      <p:sp>
        <p:nvSpPr>
          <p:cNvPr id="33" name="Rectangle 32">
            <a:extLst xmlns:a="http://schemas.openxmlformats.org/drawingml/2006/main">
              <a:ext uri="{FF2B5EF4-FFF2-40B4-BE49-F238E27FC236}">
                <a16:creationId xmlns:a16="http://schemas.microsoft.com/office/drawing/2014/main" id="{73513F75-9D6A-5221-E950-BA877472E9BA}"/>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a:solidFill>
                  <a:srgbClr val="8F87AC"/>
                </a:solidFill>
                <a:latin typeface="Calibri"/>
                <a:ea typeface="Calibri"/>
                <a:cs typeface="Calibri"/>
              </a:defRPr>
            </a:pPr>
            <a:r>
              <a:rPr sz="750" b="0">
                <a:solidFill>
                  <a:srgbClr val="8F87AC"/>
                </a:solidFill>
                <a:latin typeface="Calibri"/>
                <a:ea typeface="Calibri"/>
                <a:cs typeface="Calibri"/>
              </a:rPr>
              <a:t>Sources: earlier proposal pp. 16–17; final report pp. 25–27.</a:t>
            </a:r>
          </a:p>
        </p:txBody>
      </p:sp>
      <p:sp>
        <p:nvSpPr>
          <p:cNvPr id="34" name="Rectangle 33">
            <a:extLst xmlns:a="http://schemas.openxmlformats.org/drawingml/2006/main">
              <a:ext uri="{FF2B5EF4-FFF2-40B4-BE49-F238E27FC236}">
                <a16:creationId xmlns:a16="http://schemas.microsoft.com/office/drawing/2014/main" id="{B71B14D4-EA5A-70C1-D575-6BC9247440DB}"/>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1">
                <a:solidFill>
                  <a:srgbClr val="B8B0D4"/>
                </a:solidFill>
                <a:latin typeface="Calibri"/>
                <a:ea typeface="Calibri"/>
                <a:cs typeface="Calibri"/>
              </a:defRPr>
            </a:pPr>
            <a:r>
              <a:rPr sz="975" b="1">
                <a:solidFill>
                  <a:srgbClr val="B8B0D4"/>
                </a:solidFill>
                <a:latin typeface="Calibri"/>
                <a:ea typeface="Calibri"/>
                <a:cs typeface="Calibri"/>
              </a:rPr>
              <a:t>04</a:t>
            </a:r>
          </a:p>
        </p:txBody>
      </p:sp>
    </p:spTree>
    <p:extLst>
      <p:ext uri="{BB962C8B-B14F-4D97-AF65-F5344CB8AC3E}">
        <p14:creationId xmlns:p14="http://schemas.microsoft.com/office/powerpoint/2010/main" val="3206644102"/>
      </p:ext>
    </p:extLst>
  </p:cSld>
</p:sld>
</file>

<file path=ppt/slides/slide5.xml><?xml version="1.0" encoding="utf-8"?>
<p:sld xmlns:p="http://schemas.openxmlformats.org/presentationml/2006/main">
  <p:cSld>
    <p:bg>
      <p:bgPr>
        <a:gradFill xmlns:a="http://schemas.openxmlformats.org/drawingml/2006/main">
          <a:gsLst>
            <a:gs pos="0">
              <a:srgbClr val="120B27"/>
            </a:gs>
            <a:gs pos="52000">
              <a:srgbClr val="19112F"/>
            </a:gs>
            <a:gs pos="100000">
              <a:srgbClr val="24183F"/>
            </a:gs>
          </a:gsLst>
          <a:lin ang="8100000"/>
        </a:gradFill>
      </p:bgPr>
    </p:bg>
    <p:spTree>
      <p:nvGrpSpPr>
        <p:cNvPr id="1" name=""/>
        <p:cNvGrpSpPr/>
        <p:nvPr/>
      </p:nvGrpSpPr>
      <p:grpSpPr>
        <a:xfrm xmlns:a="http://schemas.openxmlformats.org/drawingml/2006/main"/>
      </p:grpSpPr>
      <p:sp>
        <p:nvSpPr>
          <p:cNvPr id="35" name="Rectangle 34">
            <a:extLst xmlns:a="http://schemas.openxmlformats.org/drawingml/2006/main">
              <a:ext uri="{FF2B5EF4-FFF2-40B4-BE49-F238E27FC236}">
                <a16:creationId xmlns:a16="http://schemas.microsoft.com/office/drawing/2014/main" id="{BB94A806-6F21-413E-B36F-01B2EF192BF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37081EDC-CBDD-4C1E-960B-08BA67E6B57B}"/>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FF6B62"/>
                </a:solidFill>
                <a:latin typeface="Calibri"/>
                <a:ea typeface="Calibri"/>
                <a:cs typeface="Calibri"/>
              </a:defRPr>
            </a:pPr>
            <a:r>
              <a:rPr sz="1125" b="1">
                <a:solidFill>
                  <a:srgbClr val="FF6B62"/>
                </a:solidFill>
                <a:latin typeface="Calibri"/>
                <a:ea typeface="Calibri"/>
                <a:cs typeface="Calibri"/>
              </a:rPr>
              <a:t>CHAPTER 2 · LITERATURE REVIEW</a:t>
            </a:r>
          </a:p>
        </p:txBody>
      </p:sp>
      <p:sp>
        <p:nvSpPr>
          <p:cNvPr id="3" name="Rectangle 2">
            <a:extLst xmlns:a="http://schemas.openxmlformats.org/drawingml/2006/main">
              <a:ext uri="{FF2B5EF4-FFF2-40B4-BE49-F238E27FC236}">
                <a16:creationId xmlns:a16="http://schemas.microsoft.com/office/drawing/2014/main" id="{2FFAB1A4-065D-45BB-880C-287E081C95AF}"/>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F8F6FF"/>
                </a:solidFill>
                <a:latin typeface="Calibri"/>
                <a:ea typeface="Calibri"/>
                <a:cs typeface="Calibri"/>
              </a:defRPr>
            </a:pPr>
            <a:r>
              <a:rPr sz="2700" b="1">
                <a:solidFill>
                  <a:srgbClr val="F8F6FF"/>
                </a:solidFill>
                <a:latin typeface="Calibri"/>
                <a:ea typeface="Calibri"/>
                <a:cs typeface="Calibri"/>
              </a:rPr>
              <a:t>Where the final features came from</a:t>
            </a:r>
          </a:p>
        </p:txBody>
      </p:sp>
      <p:sp>
        <p:nvSpPr>
          <p:cNvPr id="4" name="Rectangle 3">
            <a:extLst xmlns:a="http://schemas.openxmlformats.org/drawingml/2006/main">
              <a:ext uri="{FF2B5EF4-FFF2-40B4-BE49-F238E27FC236}">
                <a16:creationId xmlns:a16="http://schemas.microsoft.com/office/drawing/2014/main" id="{5BA3AE37-6BFD-4806-8305-DB0600812BF6}"/>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B8B0D4"/>
                </a:solidFill>
                <a:latin typeface="Calibri"/>
                <a:ea typeface="Calibri"/>
                <a:cs typeface="Calibri"/>
              </a:defRPr>
            </a:pPr>
            <a:r>
              <a:rPr sz="1350" b="0">
                <a:solidFill>
                  <a:srgbClr val="B8B0D4"/>
                </a:solidFill>
                <a:latin typeface="Calibri"/>
                <a:ea typeface="Calibri"/>
                <a:cs typeface="Calibri"/>
              </a:rPr>
              <a:t>Existing apps showed useful fragments; literature justified how those fragments should be adapted for dementia care.</a:t>
            </a:r>
          </a:p>
        </p:txBody>
      </p:sp>
      <p:sp>
        <p:nvSpPr>
          <p:cNvPr id="5" name="Rectangle 4">
            <a:extLst xmlns:a="http://schemas.openxmlformats.org/drawingml/2006/main">
              <a:ext uri="{FF2B5EF4-FFF2-40B4-BE49-F238E27FC236}">
                <a16:creationId xmlns:a16="http://schemas.microsoft.com/office/drawing/2014/main" id="{675F016D-EA15-4CD6-81BE-4E8EE6F995C6}"/>
              </a:ext>
            </a:extLst>
          </p:cNvPr>
          <p:cNvSpPr>
            <a:spLocks xmlns:a="http://schemas.openxmlformats.org/drawingml/2006/main" noGrp="1"/>
          </p:cNvSpPr>
          <p:nvPr/>
        </p:nvSpPr>
        <p:spPr>
          <a:xfrm xmlns:a="http://schemas.openxmlformats.org/drawingml/2006/main">
            <a:off x="666750" y="16764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FF6B62"/>
                </a:solidFill>
                <a:latin typeface="Calibri"/>
                <a:ea typeface="Calibri"/>
                <a:cs typeface="Calibri"/>
              </a:defRPr>
            </a:pPr>
            <a:r>
              <a:rPr sz="1050" b="1">
                <a:solidFill>
                  <a:srgbClr val="FF6B62"/>
                </a:solidFill>
                <a:latin typeface="Calibri"/>
                <a:ea typeface="Calibri"/>
                <a:cs typeface="Calibri"/>
              </a:rPr>
              <a:t>EVIDENCE / SOURCE</a:t>
            </a:r>
          </a:p>
        </p:txBody>
      </p:sp>
      <p:sp>
        <p:nvSpPr>
          <p:cNvPr id="6" name="Rectangle 5">
            <a:extLst xmlns:a="http://schemas.openxmlformats.org/drawingml/2006/main">
              <a:ext uri="{FF2B5EF4-FFF2-40B4-BE49-F238E27FC236}">
                <a16:creationId xmlns:a16="http://schemas.microsoft.com/office/drawing/2014/main" id="{03F6B7E7-699A-4A3D-975C-D9F7FF925D7D}"/>
              </a:ext>
            </a:extLst>
          </p:cNvPr>
          <p:cNvSpPr>
            <a:spLocks xmlns:a="http://schemas.openxmlformats.org/drawingml/2006/main" noGrp="1"/>
          </p:cNvSpPr>
          <p:nvPr/>
        </p:nvSpPr>
        <p:spPr>
          <a:xfrm xmlns:a="http://schemas.openxmlformats.org/drawingml/2006/main">
            <a:off x="3676650" y="167640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7C83FD"/>
                </a:solidFill>
                <a:latin typeface="Calibri"/>
                <a:ea typeface="Calibri"/>
                <a:cs typeface="Calibri"/>
              </a:defRPr>
            </a:pPr>
            <a:r>
              <a:rPr sz="1050" b="1">
                <a:solidFill>
                  <a:srgbClr val="7C83FD"/>
                </a:solidFill>
                <a:latin typeface="Calibri"/>
                <a:ea typeface="Calibri"/>
                <a:cs typeface="Calibri"/>
              </a:rPr>
              <a:t>DESIGN DECISION</a:t>
            </a:r>
          </a:p>
        </p:txBody>
      </p:sp>
      <p:sp>
        <p:nvSpPr>
          <p:cNvPr id="7" name="Rectangle 6">
            <a:extLst xmlns:a="http://schemas.openxmlformats.org/drawingml/2006/main">
              <a:ext uri="{FF2B5EF4-FFF2-40B4-BE49-F238E27FC236}">
                <a16:creationId xmlns:a16="http://schemas.microsoft.com/office/drawing/2014/main" id="{84193714-DA41-44E8-A0B3-0164023890F2}"/>
              </a:ext>
            </a:extLst>
          </p:cNvPr>
          <p:cNvSpPr>
            <a:spLocks xmlns:a="http://schemas.openxmlformats.org/drawingml/2006/main" noGrp="1"/>
          </p:cNvSpPr>
          <p:nvPr/>
        </p:nvSpPr>
        <p:spPr>
          <a:xfrm xmlns:a="http://schemas.openxmlformats.org/drawingml/2006/main">
            <a:off x="8115300" y="167640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2ED9A4"/>
                </a:solidFill>
                <a:latin typeface="Calibri"/>
                <a:ea typeface="Calibri"/>
                <a:cs typeface="Calibri"/>
              </a:defRPr>
            </a:pPr>
            <a:r>
              <a:rPr sz="1050" b="1">
                <a:solidFill>
                  <a:srgbClr val="2ED9A4"/>
                </a:solidFill>
                <a:latin typeface="Calibri"/>
                <a:ea typeface="Calibri"/>
                <a:cs typeface="Calibri"/>
              </a:rPr>
              <a:t>END-USER VALUE</a:t>
            </a:r>
          </a:p>
        </p:txBody>
      </p:sp>
      <p:sp>
        <p:nvSpPr>
          <p:cNvPr id="8" name="Rectangle: Rounded Corners 7">
            <a:extLst xmlns:a="http://schemas.openxmlformats.org/drawingml/2006/main">
              <a:ext uri="{FF2B5EF4-FFF2-40B4-BE49-F238E27FC236}">
                <a16:creationId xmlns:a16="http://schemas.microsoft.com/office/drawing/2014/main" id="{737862C9-EFCC-4EA0-AC46-5F6DA5589071}"/>
              </a:ext>
            </a:extLst>
          </p:cNvPr>
          <p:cNvSpPr>
            <a:spLocks xmlns:a="http://schemas.openxmlformats.org/drawingml/2006/main" noGrp="1"/>
          </p:cNvSpPr>
          <p:nvPr/>
        </p:nvSpPr>
        <p:spPr>
          <a:xfrm xmlns:a="http://schemas.openxmlformats.org/drawingml/2006/main">
            <a:off x="647700" y="2047875"/>
            <a:ext cx="10744200" cy="647700"/>
          </a:xfrm>
          <a:prstGeom xmlns:a="http://schemas.openxmlformats.org/drawingml/2006/main" prst="roundRect">
            <a:avLst>
              <a:gd name="adj" fmla="val 17647"/>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9689B60F-B148-4D81-A879-AAB8F9BCCEA6}"/>
              </a:ext>
            </a:extLst>
          </p:cNvPr>
          <p:cNvSpPr>
            <a:spLocks xmlns:a="http://schemas.openxmlformats.org/drawingml/2006/main" noGrp="1"/>
          </p:cNvSpPr>
          <p:nvPr/>
        </p:nvSpPr>
        <p:spPr>
          <a:xfrm xmlns:a="http://schemas.openxmlformats.org/drawingml/2006/main">
            <a:off x="819150" y="2143125"/>
            <a:ext cx="1123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1">
                <a:solidFill>
                  <a:srgbClr val="FF6B62"/>
                </a:solidFill>
                <a:latin typeface="Calibri"/>
                <a:ea typeface="Calibri"/>
                <a:cs typeface="Calibri"/>
              </a:defRPr>
            </a:pPr>
            <a:r>
              <a:rPr sz="975" b="1">
                <a:solidFill>
                  <a:srgbClr val="FF6B62"/>
                </a:solidFill>
                <a:latin typeface="Calibri"/>
                <a:ea typeface="Calibri"/>
                <a:cs typeface="Calibri"/>
              </a:rPr>
              <a:t>ROUTINES</a:t>
            </a:r>
          </a:p>
        </p:txBody>
      </p:sp>
      <p:sp>
        <p:nvSpPr>
          <p:cNvPr id="10" name="Rectangle 9">
            <a:extLst xmlns:a="http://schemas.openxmlformats.org/drawingml/2006/main">
              <a:ext uri="{FF2B5EF4-FFF2-40B4-BE49-F238E27FC236}">
                <a16:creationId xmlns:a16="http://schemas.microsoft.com/office/drawing/2014/main" id="{95AAABE0-7025-40B3-8744-542FE61327D0}"/>
              </a:ext>
            </a:extLst>
          </p:cNvPr>
          <p:cNvSpPr>
            <a:spLocks xmlns:a="http://schemas.openxmlformats.org/drawingml/2006/main" noGrp="1"/>
          </p:cNvSpPr>
          <p:nvPr/>
        </p:nvSpPr>
        <p:spPr>
          <a:xfrm xmlns:a="http://schemas.openxmlformats.org/drawingml/2006/main">
            <a:off x="819150" y="23431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B8B0D4"/>
                </a:solidFill>
                <a:latin typeface="Calibri"/>
                <a:ea typeface="Calibri"/>
                <a:cs typeface="Calibri"/>
              </a:defRPr>
            </a:pPr>
            <a:r>
              <a:rPr sz="1200" b="0">
                <a:solidFill>
                  <a:srgbClr val="E7E4F0"/>
                </a:solidFill>
                <a:latin typeface="Calibri"/>
                <a:ea typeface="Calibri"/>
                <a:cs typeface="Calibri"/>
              </a:rPr>
              <a:t>Elli Cares + reminder research</a:t>
            </a:r>
          </a:p>
        </p:txBody>
      </p:sp>
      <p:sp>
        <p:nvSpPr>
          <p:cNvPr id="11" name="Rectangle 10">
            <a:extLst xmlns:a="http://schemas.openxmlformats.org/drawingml/2006/main">
              <a:ext uri="{FF2B5EF4-FFF2-40B4-BE49-F238E27FC236}">
                <a16:creationId xmlns:a16="http://schemas.microsoft.com/office/drawing/2014/main" id="{B9D4A6CC-B390-4C0A-9F14-AA00A9553EB7}"/>
              </a:ext>
            </a:extLst>
          </p:cNvPr>
          <p:cNvSpPr>
            <a:spLocks xmlns:a="http://schemas.openxmlformats.org/drawingml/2006/main" noGrp="1"/>
          </p:cNvSpPr>
          <p:nvPr/>
        </p:nvSpPr>
        <p:spPr>
          <a:xfrm xmlns:a="http://schemas.openxmlformats.org/drawingml/2006/main">
            <a:off x="3676650" y="21907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1">
                <a:solidFill>
                  <a:srgbClr val="F8F6FF"/>
                </a:solidFill>
                <a:latin typeface="Calibri"/>
                <a:ea typeface="Calibri"/>
                <a:cs typeface="Calibri"/>
              </a:defRPr>
            </a:pPr>
            <a:r>
              <a:rPr sz="1200" b="1">
                <a:solidFill>
                  <a:srgbClr val="F8F6FF"/>
                </a:solidFill>
                <a:latin typeface="Calibri"/>
                <a:ea typeface="Calibri"/>
                <a:cs typeface="Calibri"/>
              </a:rPr>
              <a:t>Recurring tasks, medication dosage and alerts</a:t>
            </a:r>
          </a:p>
        </p:txBody>
      </p:sp>
      <p:sp>
        <p:nvSpPr>
          <p:cNvPr id="12" name="Rectangle 11">
            <a:extLst xmlns:a="http://schemas.openxmlformats.org/drawingml/2006/main">
              <a:ext uri="{FF2B5EF4-FFF2-40B4-BE49-F238E27FC236}">
                <a16:creationId xmlns:a16="http://schemas.microsoft.com/office/drawing/2014/main" id="{AED93DDA-0D10-4772-BB67-4FF97DA06C37}"/>
              </a:ext>
            </a:extLst>
          </p:cNvPr>
          <p:cNvSpPr>
            <a:spLocks xmlns:a="http://schemas.openxmlformats.org/drawingml/2006/main" noGrp="1"/>
          </p:cNvSpPr>
          <p:nvPr/>
        </p:nvSpPr>
        <p:spPr>
          <a:xfrm xmlns:a="http://schemas.openxmlformats.org/drawingml/2006/main">
            <a:off x="8115300" y="2181225"/>
            <a:ext cx="3028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B8B0D4"/>
                </a:solidFill>
                <a:latin typeface="Calibri"/>
                <a:ea typeface="Calibri"/>
                <a:cs typeface="Calibri"/>
              </a:defRPr>
            </a:pPr>
            <a:r>
              <a:rPr sz="1200" b="0">
                <a:solidFill>
                  <a:srgbClr val="E7E4F0"/>
                </a:solidFill>
                <a:latin typeface="Calibri"/>
                <a:ea typeface="Calibri"/>
                <a:cs typeface="Calibri"/>
              </a:rPr>
              <a:t>Supports adherence and reduces delayed caregiver awareness</a:t>
            </a:r>
          </a:p>
        </p:txBody>
      </p:sp>
      <p:sp>
        <p:nvSpPr>
          <p:cNvPr id="13" name="Rectangle: Rounded Corners 12">
            <a:extLst xmlns:a="http://schemas.openxmlformats.org/drawingml/2006/main">
              <a:ext uri="{FF2B5EF4-FFF2-40B4-BE49-F238E27FC236}">
                <a16:creationId xmlns:a16="http://schemas.microsoft.com/office/drawing/2014/main" id="{D9F4D01D-7DB7-41CB-9328-BAA3A5DDB6B8}"/>
              </a:ext>
            </a:extLst>
          </p:cNvPr>
          <p:cNvSpPr>
            <a:spLocks xmlns:a="http://schemas.openxmlformats.org/drawingml/2006/main" noGrp="1"/>
          </p:cNvSpPr>
          <p:nvPr/>
        </p:nvSpPr>
        <p:spPr>
          <a:xfrm xmlns:a="http://schemas.openxmlformats.org/drawingml/2006/main">
            <a:off x="647700" y="2847975"/>
            <a:ext cx="10744200" cy="647700"/>
          </a:xfrm>
          <a:prstGeom xmlns:a="http://schemas.openxmlformats.org/drawingml/2006/main" prst="roundRect">
            <a:avLst>
              <a:gd name="adj" fmla="val 17647"/>
            </a:avLst>
          </a:prstGeom>
          <a:solidFill xmlns:a="http://schemas.openxmlformats.org/drawingml/2006/main">
            <a:srgbClr val="3A316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BBCDE57A-B93F-492D-9ACA-608F9022ABCC}"/>
              </a:ext>
            </a:extLst>
          </p:cNvPr>
          <p:cNvSpPr>
            <a:spLocks xmlns:a="http://schemas.openxmlformats.org/drawingml/2006/main" noGrp="1"/>
          </p:cNvSpPr>
          <p:nvPr/>
        </p:nvSpPr>
        <p:spPr>
          <a:xfrm xmlns:a="http://schemas.openxmlformats.org/drawingml/2006/main">
            <a:off x="819150" y="2943225"/>
            <a:ext cx="1123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1">
                <a:solidFill>
                  <a:srgbClr val="FF6B62"/>
                </a:solidFill>
                <a:latin typeface="Calibri"/>
                <a:ea typeface="Calibri"/>
                <a:cs typeface="Calibri"/>
              </a:defRPr>
            </a:pPr>
            <a:r>
              <a:rPr sz="975" b="1">
                <a:solidFill>
                  <a:srgbClr val="FF6B62"/>
                </a:solidFill>
                <a:latin typeface="Calibri"/>
                <a:ea typeface="Calibri"/>
                <a:cs typeface="Calibri"/>
              </a:rPr>
              <a:t>COGNITION</a:t>
            </a:r>
          </a:p>
        </p:txBody>
      </p:sp>
      <p:sp>
        <p:nvSpPr>
          <p:cNvPr id="15" name="Rectangle 14">
            <a:extLst xmlns:a="http://schemas.openxmlformats.org/drawingml/2006/main">
              <a:ext uri="{FF2B5EF4-FFF2-40B4-BE49-F238E27FC236}">
                <a16:creationId xmlns:a16="http://schemas.microsoft.com/office/drawing/2014/main" id="{BC5793DB-E24A-4F07-9B9F-CE9E32F25183}"/>
              </a:ext>
            </a:extLst>
          </p:cNvPr>
          <p:cNvSpPr>
            <a:spLocks xmlns:a="http://schemas.openxmlformats.org/drawingml/2006/main" noGrp="1"/>
          </p:cNvSpPr>
          <p:nvPr/>
        </p:nvSpPr>
        <p:spPr>
          <a:xfrm xmlns:a="http://schemas.openxmlformats.org/drawingml/2006/main">
            <a:off x="819150" y="31432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B8B0D4"/>
                </a:solidFill>
                <a:latin typeface="Calibri"/>
                <a:ea typeface="Calibri"/>
                <a:cs typeface="Calibri"/>
              </a:defRPr>
            </a:pPr>
            <a:r>
              <a:rPr sz="1200" b="0">
                <a:solidFill>
                  <a:srgbClr val="E7E4F0"/>
                </a:solidFill>
                <a:latin typeface="Calibri"/>
                <a:ea typeface="Calibri"/>
                <a:cs typeface="Calibri"/>
              </a:rPr>
              <a:t>XDementia</a:t>
            </a:r>
            <a:r>
              <a:rPr sz="1200" b="0">
                <a:solidFill>
                  <a:srgbClr val="E7E4F0"/>
                </a:solidFill>
                <a:latin typeface="Calibri"/>
                <a:ea typeface="Calibri"/>
                <a:cs typeface="Calibri"/>
              </a:rPr>
              <a:t> + </a:t>
            </a:r>
            <a:r>
              <a:rPr sz="1200" b="0">
                <a:solidFill>
                  <a:srgbClr val="E7E4F0"/>
                </a:solidFill>
                <a:latin typeface="Calibri"/>
                <a:ea typeface="Calibri"/>
                <a:cs typeface="Calibri"/>
              </a:rPr>
              <a:t>BrainTrack</a:t>
            </a:r>
            <a:endParaRPr sz="1200" b="0">
              <a:solidFill>
                <a:srgbClr val="E7E4F0"/>
              </a:solidFill>
              <a:latin typeface="Calibri"/>
              <a:ea typeface="Calibri"/>
              <a:cs typeface="Calibri"/>
            </a:endParaRPr>
          </a:p>
        </p:txBody>
      </p:sp>
      <p:sp>
        <p:nvSpPr>
          <p:cNvPr id="16" name="Rectangle 15">
            <a:extLst xmlns:a="http://schemas.openxmlformats.org/drawingml/2006/main">
              <a:ext uri="{FF2B5EF4-FFF2-40B4-BE49-F238E27FC236}">
                <a16:creationId xmlns:a16="http://schemas.microsoft.com/office/drawing/2014/main" id="{3D32DDEA-24E9-4EB4-B89D-4C1BB45AEE50}"/>
              </a:ext>
            </a:extLst>
          </p:cNvPr>
          <p:cNvSpPr>
            <a:spLocks xmlns:a="http://schemas.openxmlformats.org/drawingml/2006/main" noGrp="1"/>
          </p:cNvSpPr>
          <p:nvPr/>
        </p:nvSpPr>
        <p:spPr>
          <a:xfrm xmlns:a="http://schemas.openxmlformats.org/drawingml/2006/main">
            <a:off x="3676650" y="29908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1">
                <a:solidFill>
                  <a:srgbClr val="F8F6FF"/>
                </a:solidFill>
                <a:latin typeface="Calibri"/>
                <a:ea typeface="Calibri"/>
                <a:cs typeface="Calibri"/>
              </a:defRPr>
            </a:pPr>
            <a:r>
              <a:rPr sz="1200" b="1">
                <a:solidFill>
                  <a:srgbClr val="F8F6FF"/>
                </a:solidFill>
                <a:latin typeface="Calibri"/>
                <a:ea typeface="Calibri"/>
                <a:cs typeface="Calibri"/>
              </a:rPr>
              <a:t>Accessible games, performance logging and visual feedback</a:t>
            </a:r>
          </a:p>
        </p:txBody>
      </p:sp>
      <p:sp>
        <p:nvSpPr>
          <p:cNvPr id="17" name="Rectangle 16">
            <a:extLst xmlns:a="http://schemas.openxmlformats.org/drawingml/2006/main">
              <a:ext uri="{FF2B5EF4-FFF2-40B4-BE49-F238E27FC236}">
                <a16:creationId xmlns:a16="http://schemas.microsoft.com/office/drawing/2014/main" id="{805FEB66-4801-4E84-AED7-9F0DDE5F967B}"/>
              </a:ext>
            </a:extLst>
          </p:cNvPr>
          <p:cNvSpPr>
            <a:spLocks xmlns:a="http://schemas.openxmlformats.org/drawingml/2006/main" noGrp="1"/>
          </p:cNvSpPr>
          <p:nvPr/>
        </p:nvSpPr>
        <p:spPr>
          <a:xfrm xmlns:a="http://schemas.openxmlformats.org/drawingml/2006/main">
            <a:off x="8115300" y="2981325"/>
            <a:ext cx="3028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B8B0D4"/>
                </a:solidFill>
                <a:latin typeface="Calibri"/>
                <a:ea typeface="Calibri"/>
                <a:cs typeface="Calibri"/>
              </a:defRPr>
            </a:pPr>
            <a:r>
              <a:rPr sz="1200" b="0">
                <a:solidFill>
                  <a:srgbClr val="E7E4F0"/>
                </a:solidFill>
                <a:latin typeface="Calibri"/>
                <a:ea typeface="Calibri"/>
                <a:cs typeface="Calibri"/>
              </a:rPr>
              <a:t>Encourages cognitive participation without a separate app</a:t>
            </a:r>
          </a:p>
        </p:txBody>
      </p:sp>
      <p:sp>
        <p:nvSpPr>
          <p:cNvPr id="18" name="Rectangle: Rounded Corners 17">
            <a:extLst xmlns:a="http://schemas.openxmlformats.org/drawingml/2006/main">
              <a:ext uri="{FF2B5EF4-FFF2-40B4-BE49-F238E27FC236}">
                <a16:creationId xmlns:a16="http://schemas.microsoft.com/office/drawing/2014/main" id="{0AEB7DEB-DB64-4632-90B7-9329E12F9628}"/>
              </a:ext>
            </a:extLst>
          </p:cNvPr>
          <p:cNvSpPr>
            <a:spLocks xmlns:a="http://schemas.openxmlformats.org/drawingml/2006/main" noGrp="1"/>
          </p:cNvSpPr>
          <p:nvPr/>
        </p:nvSpPr>
        <p:spPr>
          <a:xfrm xmlns:a="http://schemas.openxmlformats.org/drawingml/2006/main">
            <a:off x="666750" y="5334000"/>
            <a:ext cx="10744200" cy="647700"/>
          </a:xfrm>
          <a:prstGeom xmlns:a="http://schemas.openxmlformats.org/drawingml/2006/main" prst="roundRect">
            <a:avLst>
              <a:gd name="adj" fmla="val 17647"/>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9" name="Rectangle 18">
            <a:extLst xmlns:a="http://schemas.openxmlformats.org/drawingml/2006/main">
              <a:ext uri="{FF2B5EF4-FFF2-40B4-BE49-F238E27FC236}">
                <a16:creationId xmlns:a16="http://schemas.microsoft.com/office/drawing/2014/main" id="{78919A62-5CBA-4810-8FED-430462D617F3}"/>
              </a:ext>
            </a:extLst>
          </p:cNvPr>
          <p:cNvSpPr>
            <a:spLocks xmlns:a="http://schemas.openxmlformats.org/drawingml/2006/main" noGrp="1"/>
          </p:cNvSpPr>
          <p:nvPr/>
        </p:nvSpPr>
        <p:spPr>
          <a:xfrm xmlns:a="http://schemas.openxmlformats.org/drawingml/2006/main">
            <a:off x="838200" y="5429250"/>
            <a:ext cx="1123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1">
                <a:solidFill>
                  <a:srgbClr val="FF6B62"/>
                </a:solidFill>
                <a:latin typeface="Calibri"/>
                <a:ea typeface="Calibri"/>
                <a:cs typeface="Calibri"/>
              </a:defRPr>
            </a:pPr>
            <a:r>
              <a:rPr sz="975" b="1">
                <a:solidFill>
                  <a:srgbClr val="FF6B62"/>
                </a:solidFill>
                <a:latin typeface="Calibri"/>
                <a:ea typeface="Calibri"/>
                <a:cs typeface="Calibri"/>
              </a:rPr>
              <a:t>PERSONALISATION</a:t>
            </a:r>
          </a:p>
        </p:txBody>
      </p:sp>
      <p:sp>
        <p:nvSpPr>
          <p:cNvPr id="20" name="Rectangle 19">
            <a:extLst xmlns:a="http://schemas.openxmlformats.org/drawingml/2006/main">
              <a:ext uri="{FF2B5EF4-FFF2-40B4-BE49-F238E27FC236}">
                <a16:creationId xmlns:a16="http://schemas.microsoft.com/office/drawing/2014/main" id="{49506525-27DE-4C06-81F0-ABE8822528F0}"/>
              </a:ext>
            </a:extLst>
          </p:cNvPr>
          <p:cNvSpPr>
            <a:spLocks xmlns:a="http://schemas.openxmlformats.org/drawingml/2006/main" noGrp="1"/>
          </p:cNvSpPr>
          <p:nvPr/>
        </p:nvSpPr>
        <p:spPr>
          <a:xfrm xmlns:a="http://schemas.openxmlformats.org/drawingml/2006/main">
            <a:off x="838200" y="5629275"/>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B8B0D4"/>
                </a:solidFill>
                <a:latin typeface="Calibri"/>
                <a:ea typeface="Calibri"/>
                <a:cs typeface="Calibri"/>
              </a:defRPr>
            </a:pPr>
            <a:r>
              <a:rPr sz="1050" b="0">
                <a:solidFill>
                  <a:srgbClr val="E7E4F0"/>
                </a:solidFill>
                <a:latin typeface="Calibri"/>
                <a:ea typeface="Calibri"/>
                <a:cs typeface="Calibri"/>
              </a:rPr>
              <a:t>Research findings</a:t>
            </a:r>
            <a:endParaRPr sz="1050" b="0">
              <a:solidFill>
                <a:srgbClr val="E7E4F0"/>
              </a:solidFill>
              <a:latin typeface="Calibri"/>
              <a:ea typeface="Calibri"/>
              <a:cs typeface="Calibri"/>
            </a:endParaRPr>
          </a:p>
        </p:txBody>
      </p:sp>
      <p:sp>
        <p:nvSpPr>
          <p:cNvPr id="21" name="Rectangle 20">
            <a:extLst xmlns:a="http://schemas.openxmlformats.org/drawingml/2006/main">
              <a:ext uri="{FF2B5EF4-FFF2-40B4-BE49-F238E27FC236}">
                <a16:creationId xmlns:a16="http://schemas.microsoft.com/office/drawing/2014/main" id="{BF49FB21-2BEE-4230-9795-44DEFFDC34C7}"/>
              </a:ext>
            </a:extLst>
          </p:cNvPr>
          <p:cNvSpPr>
            <a:spLocks xmlns:a="http://schemas.openxmlformats.org/drawingml/2006/main" noGrp="1"/>
          </p:cNvSpPr>
          <p:nvPr/>
        </p:nvSpPr>
        <p:spPr>
          <a:xfrm xmlns:a="http://schemas.openxmlformats.org/drawingml/2006/main">
            <a:off x="3695700" y="5476875"/>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1">
                <a:solidFill>
                  <a:srgbClr val="F8F6FF"/>
                </a:solidFill>
                <a:latin typeface="Calibri"/>
                <a:ea typeface="Calibri"/>
                <a:cs typeface="Calibri"/>
              </a:defRPr>
            </a:pPr>
            <a:r>
              <a:rPr sz="1200" b="1">
                <a:solidFill>
                  <a:srgbClr val="F8F6FF"/>
                </a:solidFill>
                <a:latin typeface="Calibri"/>
                <a:ea typeface="Calibri"/>
                <a:cs typeface="Calibri"/>
              </a:rPr>
              <a:t>Type/stage routing and per-game adaptive difficulty</a:t>
            </a:r>
          </a:p>
        </p:txBody>
      </p:sp>
      <p:sp>
        <p:nvSpPr>
          <p:cNvPr id="22" name="Rectangle 21">
            <a:extLst xmlns:a="http://schemas.openxmlformats.org/drawingml/2006/main">
              <a:ext uri="{FF2B5EF4-FFF2-40B4-BE49-F238E27FC236}">
                <a16:creationId xmlns:a16="http://schemas.microsoft.com/office/drawing/2014/main" id="{5491A6DA-7B82-4AC7-9C98-A3AD56AD7BF8}"/>
              </a:ext>
            </a:extLst>
          </p:cNvPr>
          <p:cNvSpPr>
            <a:spLocks xmlns:a="http://schemas.openxmlformats.org/drawingml/2006/main" noGrp="1"/>
          </p:cNvSpPr>
          <p:nvPr/>
        </p:nvSpPr>
        <p:spPr>
          <a:xfrm xmlns:a="http://schemas.openxmlformats.org/drawingml/2006/main">
            <a:off x="8134350" y="5467350"/>
            <a:ext cx="3028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B8B0D4"/>
                </a:solidFill>
                <a:latin typeface="Calibri"/>
                <a:ea typeface="Calibri"/>
                <a:cs typeface="Calibri"/>
              </a:defRPr>
            </a:pPr>
            <a:r>
              <a:rPr sz="1200" b="0">
                <a:solidFill>
                  <a:srgbClr val="E7E4F0"/>
                </a:solidFill>
                <a:latin typeface="Calibri"/>
                <a:ea typeface="Calibri"/>
                <a:cs typeface="Calibri"/>
              </a:rPr>
              <a:t>Keeps challenge appropriate and avoids frustration</a:t>
            </a:r>
          </a:p>
        </p:txBody>
      </p:sp>
      <p:sp>
        <p:nvSpPr>
          <p:cNvPr id="23" name="Rectangle: Rounded Corners 22">
            <a:extLst xmlns:a="http://schemas.openxmlformats.org/drawingml/2006/main">
              <a:ext uri="{FF2B5EF4-FFF2-40B4-BE49-F238E27FC236}">
                <a16:creationId xmlns:a16="http://schemas.microsoft.com/office/drawing/2014/main" id="{B48AF2BD-8A70-4172-9BA0-B643DF94C3DA}"/>
              </a:ext>
            </a:extLst>
          </p:cNvPr>
          <p:cNvSpPr>
            <a:spLocks xmlns:a="http://schemas.openxmlformats.org/drawingml/2006/main" noGrp="1"/>
          </p:cNvSpPr>
          <p:nvPr/>
        </p:nvSpPr>
        <p:spPr>
          <a:xfrm xmlns:a="http://schemas.openxmlformats.org/drawingml/2006/main">
            <a:off x="647700" y="3667125"/>
            <a:ext cx="10744200" cy="647700"/>
          </a:xfrm>
          <a:prstGeom xmlns:a="http://schemas.openxmlformats.org/drawingml/2006/main" prst="roundRect">
            <a:avLst>
              <a:gd name="adj" fmla="val 17647"/>
            </a:avLst>
          </a:prstGeom>
          <a:solidFill xmlns:a="http://schemas.openxmlformats.org/drawingml/2006/main">
            <a:srgbClr val="3A316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24" name="Rectangle 23">
            <a:extLst xmlns:a="http://schemas.openxmlformats.org/drawingml/2006/main">
              <a:ext uri="{FF2B5EF4-FFF2-40B4-BE49-F238E27FC236}">
                <a16:creationId xmlns:a16="http://schemas.microsoft.com/office/drawing/2014/main" id="{858429B2-7128-4A65-B1DE-85AE35258745}"/>
              </a:ext>
            </a:extLst>
          </p:cNvPr>
          <p:cNvSpPr>
            <a:spLocks xmlns:a="http://schemas.openxmlformats.org/drawingml/2006/main" noGrp="1"/>
          </p:cNvSpPr>
          <p:nvPr/>
        </p:nvSpPr>
        <p:spPr>
          <a:xfrm xmlns:a="http://schemas.openxmlformats.org/drawingml/2006/main">
            <a:off x="819150" y="3762375"/>
            <a:ext cx="1123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1">
                <a:solidFill>
                  <a:srgbClr val="FF6B62"/>
                </a:solidFill>
                <a:latin typeface="Calibri"/>
                <a:ea typeface="Calibri"/>
                <a:cs typeface="Calibri"/>
              </a:defRPr>
            </a:pPr>
            <a:r>
              <a:rPr sz="975" b="1">
                <a:solidFill>
                  <a:srgbClr val="FF6B62"/>
                </a:solidFill>
                <a:latin typeface="Calibri"/>
                <a:ea typeface="Calibri"/>
                <a:cs typeface="Calibri"/>
              </a:rPr>
              <a:t>ACCESSIBILITY</a:t>
            </a:r>
          </a:p>
        </p:txBody>
      </p:sp>
      <p:sp>
        <p:nvSpPr>
          <p:cNvPr id="25" name="Rectangle 24">
            <a:extLst xmlns:a="http://schemas.openxmlformats.org/drawingml/2006/main">
              <a:ext uri="{FF2B5EF4-FFF2-40B4-BE49-F238E27FC236}">
                <a16:creationId xmlns:a16="http://schemas.microsoft.com/office/drawing/2014/main" id="{1034413A-EE8D-4937-AC97-E11CE15EF68B}"/>
              </a:ext>
            </a:extLst>
          </p:cNvPr>
          <p:cNvSpPr>
            <a:spLocks xmlns:a="http://schemas.openxmlformats.org/drawingml/2006/main" noGrp="1"/>
          </p:cNvSpPr>
          <p:nvPr/>
        </p:nvSpPr>
        <p:spPr>
          <a:xfrm xmlns:a="http://schemas.openxmlformats.org/drawingml/2006/main">
            <a:off x="819150" y="396240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B8B0D4"/>
                </a:solidFill>
                <a:latin typeface="Calibri"/>
                <a:ea typeface="Calibri"/>
                <a:cs typeface="Calibri"/>
              </a:defRPr>
            </a:pPr>
            <a:r>
              <a:rPr sz="1200" b="0">
                <a:solidFill>
                  <a:srgbClr val="E7E4F0"/>
                </a:solidFill>
                <a:latin typeface="Calibri"/>
                <a:ea typeface="Calibri"/>
                <a:cs typeface="Calibri"/>
              </a:rPr>
              <a:t>DEMIGNED principles + usability reviews</a:t>
            </a:r>
          </a:p>
        </p:txBody>
      </p:sp>
      <p:sp>
        <p:nvSpPr>
          <p:cNvPr id="26" name="Rectangle 25">
            <a:extLst xmlns:a="http://schemas.openxmlformats.org/drawingml/2006/main">
              <a:ext uri="{FF2B5EF4-FFF2-40B4-BE49-F238E27FC236}">
                <a16:creationId xmlns:a16="http://schemas.microsoft.com/office/drawing/2014/main" id="{5BA77E06-04DD-4242-80AE-828BBCDDD7E8}"/>
              </a:ext>
            </a:extLst>
          </p:cNvPr>
          <p:cNvSpPr>
            <a:spLocks xmlns:a="http://schemas.openxmlformats.org/drawingml/2006/main" noGrp="1"/>
          </p:cNvSpPr>
          <p:nvPr/>
        </p:nvSpPr>
        <p:spPr>
          <a:xfrm xmlns:a="http://schemas.openxmlformats.org/drawingml/2006/main">
            <a:off x="3676650" y="381000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1">
                <a:solidFill>
                  <a:srgbClr val="F8F6FF"/>
                </a:solidFill>
                <a:latin typeface="Calibri"/>
                <a:ea typeface="Calibri"/>
                <a:cs typeface="Calibri"/>
              </a:defRPr>
            </a:pPr>
            <a:r>
              <a:rPr sz="1200" b="1">
                <a:solidFill>
                  <a:srgbClr val="F8F6FF"/>
                </a:solidFill>
                <a:latin typeface="Calibri"/>
                <a:ea typeface="Calibri"/>
                <a:cs typeface="Calibri"/>
              </a:rPr>
              <a:t>Large targets, high contrast, role-specific navigation</a:t>
            </a:r>
          </a:p>
        </p:txBody>
      </p:sp>
      <p:sp>
        <p:nvSpPr>
          <p:cNvPr id="27" name="Rectangle 26">
            <a:extLst xmlns:a="http://schemas.openxmlformats.org/drawingml/2006/main">
              <a:ext uri="{FF2B5EF4-FFF2-40B4-BE49-F238E27FC236}">
                <a16:creationId xmlns:a16="http://schemas.microsoft.com/office/drawing/2014/main" id="{BFF272E5-7E41-4A2B-A5BA-55F1E61F9CE4}"/>
              </a:ext>
            </a:extLst>
          </p:cNvPr>
          <p:cNvSpPr>
            <a:spLocks xmlns:a="http://schemas.openxmlformats.org/drawingml/2006/main" noGrp="1"/>
          </p:cNvSpPr>
          <p:nvPr/>
        </p:nvSpPr>
        <p:spPr>
          <a:xfrm xmlns:a="http://schemas.openxmlformats.org/drawingml/2006/main">
            <a:off x="8115300" y="3800475"/>
            <a:ext cx="3028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B8B0D4"/>
                </a:solidFill>
                <a:latin typeface="Calibri"/>
                <a:ea typeface="Calibri"/>
                <a:cs typeface="Calibri"/>
              </a:defRPr>
            </a:pPr>
            <a:r>
              <a:rPr sz="1200" b="0">
                <a:solidFill>
                  <a:srgbClr val="E7E4F0"/>
                </a:solidFill>
                <a:latin typeface="Calibri"/>
                <a:ea typeface="Calibri"/>
                <a:cs typeface="Calibri"/>
              </a:rPr>
              <a:t>Reduces cognitive load and supports independent use</a:t>
            </a:r>
          </a:p>
        </p:txBody>
      </p:sp>
      <p:sp>
        <p:nvSpPr>
          <p:cNvPr id="28" name="Rectangle: Rounded Corners 27">
            <a:extLst xmlns:a="http://schemas.openxmlformats.org/drawingml/2006/main">
              <a:ext uri="{FF2B5EF4-FFF2-40B4-BE49-F238E27FC236}">
                <a16:creationId xmlns:a16="http://schemas.microsoft.com/office/drawing/2014/main" id="{635F4D94-5EBC-488A-9ACE-3B860B444D10}"/>
              </a:ext>
            </a:extLst>
          </p:cNvPr>
          <p:cNvSpPr>
            <a:spLocks xmlns:a="http://schemas.openxmlformats.org/drawingml/2006/main" noGrp="1"/>
          </p:cNvSpPr>
          <p:nvPr/>
        </p:nvSpPr>
        <p:spPr>
          <a:xfrm xmlns:a="http://schemas.openxmlformats.org/drawingml/2006/main">
            <a:off x="647700" y="4519613"/>
            <a:ext cx="10744200" cy="647700"/>
          </a:xfrm>
          <a:prstGeom xmlns:a="http://schemas.openxmlformats.org/drawingml/2006/main" prst="roundRect">
            <a:avLst>
              <a:gd name="adj" fmla="val 17647"/>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29" name="Rectangle 28">
            <a:extLst xmlns:a="http://schemas.openxmlformats.org/drawingml/2006/main">
              <a:ext uri="{FF2B5EF4-FFF2-40B4-BE49-F238E27FC236}">
                <a16:creationId xmlns:a16="http://schemas.microsoft.com/office/drawing/2014/main" id="{81E61F06-262E-45DC-99FF-8E1094C0AFEA}"/>
              </a:ext>
            </a:extLst>
          </p:cNvPr>
          <p:cNvSpPr>
            <a:spLocks xmlns:a="http://schemas.openxmlformats.org/drawingml/2006/main" noGrp="1"/>
          </p:cNvSpPr>
          <p:nvPr/>
        </p:nvSpPr>
        <p:spPr>
          <a:xfrm xmlns:a="http://schemas.openxmlformats.org/drawingml/2006/main">
            <a:off x="819150" y="4614863"/>
            <a:ext cx="1123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75" b="1">
                <a:solidFill>
                  <a:srgbClr val="FF6B62"/>
                </a:solidFill>
                <a:latin typeface="Calibri"/>
                <a:ea typeface="Calibri"/>
                <a:cs typeface="Calibri"/>
              </a:defRPr>
            </a:pPr>
            <a:r>
              <a:rPr sz="975" b="1">
                <a:solidFill>
                  <a:srgbClr val="FF6B62"/>
                </a:solidFill>
                <a:latin typeface="Calibri"/>
                <a:ea typeface="Calibri"/>
                <a:cs typeface="Calibri"/>
              </a:rPr>
              <a:t>MOTIVATION</a:t>
            </a:r>
          </a:p>
        </p:txBody>
      </p:sp>
      <p:sp>
        <p:nvSpPr>
          <p:cNvPr id="30" name="Rectangle 29">
            <a:extLst xmlns:a="http://schemas.openxmlformats.org/drawingml/2006/main">
              <a:ext uri="{FF2B5EF4-FFF2-40B4-BE49-F238E27FC236}">
                <a16:creationId xmlns:a16="http://schemas.microsoft.com/office/drawing/2014/main" id="{4685FBE4-0244-41E9-8B87-75E1833FFAC9}"/>
              </a:ext>
            </a:extLst>
          </p:cNvPr>
          <p:cNvSpPr>
            <a:spLocks xmlns:a="http://schemas.openxmlformats.org/drawingml/2006/main" noGrp="1"/>
          </p:cNvSpPr>
          <p:nvPr/>
        </p:nvSpPr>
        <p:spPr>
          <a:xfrm xmlns:a="http://schemas.openxmlformats.org/drawingml/2006/main">
            <a:off x="819150" y="4814888"/>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B8B0D4"/>
                </a:solidFill>
                <a:latin typeface="Calibri"/>
                <a:ea typeface="Calibri"/>
                <a:cs typeface="Calibri"/>
              </a:defRPr>
            </a:pPr>
            <a:r>
              <a:rPr sz="1200" b="0">
                <a:solidFill>
                  <a:srgbClr val="E7E4F0"/>
                </a:solidFill>
                <a:latin typeface="Calibri"/>
                <a:ea typeface="Calibri"/>
                <a:cs typeface="Calibri"/>
              </a:rPr>
              <a:t>Gamification evidence</a:t>
            </a:r>
          </a:p>
        </p:txBody>
      </p:sp>
      <p:sp>
        <p:nvSpPr>
          <p:cNvPr id="31" name="Rectangle 30">
            <a:extLst xmlns:a="http://schemas.openxmlformats.org/drawingml/2006/main">
              <a:ext uri="{FF2B5EF4-FFF2-40B4-BE49-F238E27FC236}">
                <a16:creationId xmlns:a16="http://schemas.microsoft.com/office/drawing/2014/main" id="{281EA793-61FD-45FA-A034-E5C93E379558}"/>
              </a:ext>
            </a:extLst>
          </p:cNvPr>
          <p:cNvSpPr>
            <a:spLocks xmlns:a="http://schemas.openxmlformats.org/drawingml/2006/main" noGrp="1"/>
          </p:cNvSpPr>
          <p:nvPr/>
        </p:nvSpPr>
        <p:spPr>
          <a:xfrm xmlns:a="http://schemas.openxmlformats.org/drawingml/2006/main">
            <a:off x="3676650" y="4662488"/>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1">
                <a:solidFill>
                  <a:srgbClr val="F8F6FF"/>
                </a:solidFill>
                <a:latin typeface="Calibri"/>
                <a:ea typeface="Calibri"/>
                <a:cs typeface="Calibri"/>
              </a:defRPr>
            </a:pPr>
            <a:r>
              <a:rPr sz="1200" b="1">
                <a:solidFill>
                  <a:srgbClr val="F8F6FF"/>
                </a:solidFill>
                <a:latin typeface="Calibri"/>
                <a:ea typeface="Calibri"/>
                <a:cs typeface="Calibri"/>
              </a:rPr>
              <a:t>Points, streaks, levels and unlockable reward games</a:t>
            </a:r>
          </a:p>
        </p:txBody>
      </p:sp>
      <p:sp>
        <p:nvSpPr>
          <p:cNvPr id="32" name="Rectangle 31">
            <a:extLst xmlns:a="http://schemas.openxmlformats.org/drawingml/2006/main">
              <a:ext uri="{FF2B5EF4-FFF2-40B4-BE49-F238E27FC236}">
                <a16:creationId xmlns:a16="http://schemas.microsoft.com/office/drawing/2014/main" id="{BE5430B9-394F-44EB-8647-725E48BF4C41}"/>
              </a:ext>
            </a:extLst>
          </p:cNvPr>
          <p:cNvSpPr>
            <a:spLocks xmlns:a="http://schemas.openxmlformats.org/drawingml/2006/main" noGrp="1"/>
          </p:cNvSpPr>
          <p:nvPr/>
        </p:nvSpPr>
        <p:spPr>
          <a:xfrm xmlns:a="http://schemas.openxmlformats.org/drawingml/2006/main">
            <a:off x="8115300" y="4652963"/>
            <a:ext cx="3028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0">
                <a:solidFill>
                  <a:srgbClr val="B8B0D4"/>
                </a:solidFill>
                <a:latin typeface="Calibri"/>
                <a:ea typeface="Calibri"/>
                <a:cs typeface="Calibri"/>
              </a:defRPr>
            </a:pPr>
            <a:r>
              <a:rPr sz="1125" b="0">
                <a:solidFill>
                  <a:srgbClr val="E7E4F0"/>
                </a:solidFill>
                <a:latin typeface="Calibri"/>
                <a:ea typeface="Calibri"/>
                <a:cs typeface="Calibri"/>
              </a:rPr>
              <a:t>Reinforces repeated participation in routines and games</a:t>
            </a:r>
          </a:p>
        </p:txBody>
      </p:sp>
      <p:sp>
        <p:nvSpPr>
          <p:cNvPr id="33" name="Rectangle 32">
            <a:extLst xmlns:a="http://schemas.openxmlformats.org/drawingml/2006/main">
              <a:ext uri="{FF2B5EF4-FFF2-40B4-BE49-F238E27FC236}">
                <a16:creationId xmlns:a16="http://schemas.microsoft.com/office/drawing/2014/main" id="{55FF3ACF-70DE-4E8D-BED0-3E701B22A07E}"/>
              </a:ext>
            </a:extLst>
          </p:cNvPr>
          <p:cNvSpPr>
            <a:spLocks xmlns:a="http://schemas.openxmlformats.org/drawingml/2006/main" noGrp="1"/>
          </p:cNvSpPr>
          <p:nvPr/>
        </p:nvSpPr>
        <p:spPr>
          <a:xfrm xmlns:a="http://schemas.openxmlformats.org/drawingml/2006/main">
            <a:off x="666750" y="6534150"/>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a:solidFill>
                  <a:srgbClr val="8F87AC"/>
                </a:solidFill>
                <a:latin typeface="Calibri"/>
                <a:ea typeface="Calibri"/>
                <a:cs typeface="Calibri"/>
              </a:defRPr>
            </a:pPr>
            <a:r>
              <a:rPr sz="750" b="0">
                <a:solidFill>
                  <a:srgbClr val="8F87AC"/>
                </a:solidFill>
                <a:latin typeface="Calibri"/>
                <a:ea typeface="Calibri"/>
                <a:cs typeface="Calibri"/>
              </a:rPr>
              <a:t>Sources: Final report Chapter 2; Lim &amp; Sharmeen (2018); Manera et al. (2017); Ortega Morán et al. (2024); Engelsma et al. (2024); Greysen et al. (2024).</a:t>
            </a:r>
          </a:p>
        </p:txBody>
      </p:sp>
      <p:sp>
        <p:nvSpPr>
          <p:cNvPr id="34" name="Rectangle 33">
            <a:extLst xmlns:a="http://schemas.openxmlformats.org/drawingml/2006/main">
              <a:ext uri="{FF2B5EF4-FFF2-40B4-BE49-F238E27FC236}">
                <a16:creationId xmlns:a16="http://schemas.microsoft.com/office/drawing/2014/main" id="{0AC71997-78E5-40C5-AFD2-F753FB461575}"/>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1">
                <a:solidFill>
                  <a:srgbClr val="B8B0D4"/>
                </a:solidFill>
                <a:latin typeface="Calibri"/>
                <a:ea typeface="Calibri"/>
                <a:cs typeface="Calibri"/>
              </a:defRPr>
            </a:pPr>
            <a:r>
              <a:rPr sz="975" b="1">
                <a:solidFill>
                  <a:srgbClr val="B8B0D4"/>
                </a:solidFill>
                <a:latin typeface="Calibri"/>
                <a:ea typeface="Calibri"/>
                <a:cs typeface="Calibri"/>
              </a:rPr>
              <a:t>05</a:t>
            </a:r>
          </a:p>
        </p:txBody>
      </p:sp>
    </p:spTree>
    <p:extLst>
      <p:ext uri="{BB962C8B-B14F-4D97-AF65-F5344CB8AC3E}">
        <p14:creationId xmlns:p14="http://schemas.microsoft.com/office/powerpoint/2010/main" val="802940282"/>
      </p:ext>
    </p:extLst>
  </p:cSld>
</p:sld>
</file>

<file path=ppt/slides/slide6.xml><?xml version="1.0" encoding="utf-8"?>
<p:sld xmlns:p="http://schemas.openxmlformats.org/presentationml/2006/main">
  <p:cSld>
    <p:bg>
      <p:bgPr>
        <a:gradFill xmlns:a="http://schemas.openxmlformats.org/drawingml/2006/main">
          <a:gsLst>
            <a:gs pos="0">
              <a:srgbClr val="120B27"/>
            </a:gs>
            <a:gs pos="52000">
              <a:srgbClr val="19112F"/>
            </a:gs>
            <a:gs pos="100000">
              <a:srgbClr val="24183F"/>
            </a:gs>
          </a:gsLst>
          <a:lin ang="8100000"/>
        </a:gra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82C4278A-CA4B-4A50-86F2-4A46F00B4F3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2C0EA33E-FE2E-45A7-8107-2B3DA25D664F}"/>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FF6B62"/>
                </a:solidFill>
                <a:latin typeface="Calibri"/>
                <a:ea typeface="Calibri"/>
                <a:cs typeface="Calibri"/>
              </a:defRPr>
            </a:pPr>
            <a:r>
              <a:rPr sz="1125" b="1">
                <a:solidFill>
                  <a:srgbClr val="FF6B62"/>
                </a:solidFill>
                <a:latin typeface="Calibri"/>
                <a:ea typeface="Calibri"/>
                <a:cs typeface="Calibri"/>
              </a:rPr>
              <a:t>CHAPTER 2 · LITERATURE REVIEW</a:t>
            </a:r>
          </a:p>
        </p:txBody>
      </p:sp>
      <p:sp>
        <p:nvSpPr>
          <p:cNvPr id="3" name="Rectangle 2">
            <a:extLst xmlns:a="http://schemas.openxmlformats.org/drawingml/2006/main">
              <a:ext uri="{FF2B5EF4-FFF2-40B4-BE49-F238E27FC236}">
                <a16:creationId xmlns:a16="http://schemas.microsoft.com/office/drawing/2014/main" id="{F58C6B95-002F-4881-A721-D205547984DA}"/>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F8F6FF"/>
                </a:solidFill>
                <a:latin typeface="Calibri"/>
                <a:ea typeface="Calibri"/>
                <a:cs typeface="Calibri"/>
              </a:defRPr>
            </a:pPr>
            <a:r>
              <a:rPr sz="2700" b="1">
                <a:solidFill>
                  <a:srgbClr val="F8F6FF"/>
                </a:solidFill>
                <a:latin typeface="Calibri"/>
                <a:ea typeface="Calibri"/>
                <a:cs typeface="Calibri"/>
              </a:rPr>
              <a:t>MindCare closes the gap between assistance and cognitive support</a:t>
            </a:r>
          </a:p>
        </p:txBody>
      </p:sp>
      <p:sp>
        <p:nvSpPr>
          <p:cNvPr id="4" name="Rectangle 3">
            <a:extLst xmlns:a="http://schemas.openxmlformats.org/drawingml/2006/main">
              <a:ext uri="{FF2B5EF4-FFF2-40B4-BE49-F238E27FC236}">
                <a16:creationId xmlns:a16="http://schemas.microsoft.com/office/drawing/2014/main" id="{929FBD02-02E0-48AC-8537-20E64E3C6A01}"/>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B8B0D4"/>
                </a:solidFill>
                <a:latin typeface="Calibri"/>
                <a:ea typeface="Calibri"/>
                <a:cs typeface="Calibri"/>
              </a:defRPr>
            </a:pPr>
            <a:r>
              <a:rPr sz="1350" b="0">
                <a:solidFill>
                  <a:srgbClr val="B8B0D4"/>
                </a:solidFill>
                <a:latin typeface="Calibri"/>
                <a:ea typeface="Calibri"/>
                <a:cs typeface="Calibri"/>
              </a:rPr>
              <a:t>No reviewed application combined the full caregiver workflow with personalised cognitive adaptation.</a:t>
            </a:r>
          </a:p>
        </p:txBody>
      </p:sp>
      <p:graphicFrame>
        <p:nvGraphicFramePr>
          <p:cNvPr id="14" name="Table 11"/>
          <p:cNvGraphicFramePr/>
          <p:nvPr/>
        </p:nvGraphicFramePr>
        <p:xfrm>
          <a:off xmlns:a="http://schemas.openxmlformats.org/drawingml/2006/main" x="647700" y="1619250"/>
          <a:ext xmlns:a="http://schemas.openxmlformats.org/drawingml/2006/main" cx="10744200" cy="4286249"/>
        </p:xfrm>
        <a:graphic xmlns:a="http://schemas.openxmlformats.org/drawingml/2006/main">
          <a:graphicData uri="http://schemas.openxmlformats.org/drawingml/2006/table">
            <a:tbl>
              <a:tblPr/>
              <a:tblGrid>
                <a:gridCol w="3524250"/>
                <a:gridCol w="1809750"/>
                <a:gridCol w="1809750"/>
                <a:gridCol w="1809750"/>
                <a:gridCol w="1790700"/>
              </a:tblGrid>
              <a:tr h="389659">
                <a:tc>
                  <a:txBody>
                    <a:bodyPr/>
                    <a:lstStyle/>
                    <a:p>
                      <a:pPr algn="ctr">
                        <a:buNone/>
                      </a:pPr>
                      <a:r>
                        <a:rPr sz="1200" b="1">
                          <a:solidFill>
                            <a:srgbClr val="F8F6FF"/>
                          </a:solidFill>
                          <a:latin typeface="Calibri"/>
                          <a:ea typeface="Calibri"/>
                          <a:cs typeface="Calibri"/>
                        </a:rPr>
                        <a:t>Feature</a:t>
                      </a:r>
                    </a:p>
                  </a:txBody>
                  <a:tcPr marL="76200" marR="76200" marT="47625" marB="47625" anchor="ctr">
                    <a:solidFill>
                      <a:srgbClr val="FF6B62"/>
                    </a:solidFill>
                  </a:tcPr>
                </a:tc>
                <a:tc>
                  <a:txBody>
                    <a:bodyPr/>
                    <a:lstStyle/>
                    <a:p>
                      <a:pPr algn="ctr">
                        <a:buNone/>
                      </a:pPr>
                      <a:r>
                        <a:rPr sz="1200" b="1">
                          <a:solidFill>
                            <a:srgbClr val="F8F6FF"/>
                          </a:solidFill>
                          <a:latin typeface="Calibri"/>
                          <a:ea typeface="Calibri"/>
                          <a:cs typeface="Calibri"/>
                        </a:rPr>
                        <a:t>Elli Cares</a:t>
                      </a:r>
                    </a:p>
                  </a:txBody>
                  <a:tcPr marL="76200" marR="76200" marT="47625" marB="47625" anchor="ctr">
                    <a:solidFill>
                      <a:srgbClr val="FF6B62"/>
                    </a:solidFill>
                  </a:tcPr>
                </a:tc>
                <a:tc>
                  <a:txBody>
                    <a:bodyPr/>
                    <a:lstStyle/>
                    <a:p>
                      <a:pPr algn="ctr">
                        <a:buNone/>
                      </a:pPr>
                      <a:r>
                        <a:rPr sz="1200" b="1">
                          <a:solidFill>
                            <a:srgbClr val="F8F6FF"/>
                          </a:solidFill>
                          <a:latin typeface="Calibri"/>
                          <a:ea typeface="Calibri"/>
                          <a:cs typeface="Calibri"/>
                        </a:rPr>
                        <a:t>XDementia</a:t>
                      </a:r>
                    </a:p>
                  </a:txBody>
                  <a:tcPr marL="76200" marR="76200" marT="47625" marB="47625" anchor="ctr">
                    <a:solidFill>
                      <a:srgbClr val="FF6B62"/>
                    </a:solidFill>
                  </a:tcPr>
                </a:tc>
                <a:tc>
                  <a:txBody>
                    <a:bodyPr/>
                    <a:lstStyle/>
                    <a:p>
                      <a:pPr algn="ctr">
                        <a:buNone/>
                      </a:pPr>
                      <a:r>
                        <a:rPr sz="1200" b="1">
                          <a:solidFill>
                            <a:srgbClr val="F8F6FF"/>
                          </a:solidFill>
                          <a:latin typeface="Calibri"/>
                          <a:ea typeface="Calibri"/>
                          <a:cs typeface="Calibri"/>
                        </a:rPr>
                        <a:t>BrainTrack</a:t>
                      </a:r>
                    </a:p>
                  </a:txBody>
                  <a:tcPr marL="76200" marR="76200" marT="47625" marB="47625" anchor="ctr">
                    <a:solidFill>
                      <a:srgbClr val="FF6B62"/>
                    </a:solidFill>
                  </a:tcPr>
                </a:tc>
                <a:tc>
                  <a:txBody>
                    <a:bodyPr/>
                    <a:lstStyle/>
                    <a:p>
                      <a:pPr algn="ctr">
                        <a:buNone/>
                      </a:pPr>
                      <a:r>
                        <a:rPr sz="1200" b="1">
                          <a:solidFill>
                            <a:srgbClr val="F8F6FF"/>
                          </a:solidFill>
                          <a:latin typeface="Calibri"/>
                          <a:ea typeface="Calibri"/>
                          <a:cs typeface="Calibri"/>
                        </a:rPr>
                        <a:t>MindCare</a:t>
                      </a:r>
                    </a:p>
                  </a:txBody>
                  <a:tcPr marL="76200" marR="76200" marT="47625" marB="47625" anchor="ctr">
                    <a:solidFill>
                      <a:srgbClr val="FF6B62"/>
                    </a:solidFill>
                  </a:tcPr>
                </a:tc>
              </a:tr>
              <a:tr h="389659">
                <a:tc>
                  <a:txBody>
                    <a:bodyPr/>
                    <a:lstStyle/>
                    <a:p>
                      <a:pPr algn="l">
                        <a:buNone/>
                      </a:pPr>
                      <a:r>
                        <a:rPr sz="1125" b="1">
                          <a:solidFill>
                            <a:srgbClr val="F8F6FF"/>
                          </a:solidFill>
                          <a:latin typeface="Calibri"/>
                          <a:ea typeface="Calibri"/>
                          <a:cs typeface="Calibri"/>
                        </a:rPr>
                        <a:t>Task &amp; medication reminders</a:t>
                      </a:r>
                    </a:p>
                  </a:txBody>
                  <a:tcPr marL="114300" marR="76200" marT="38100" marB="38100" anchor="ctr">
                    <a:solidFill>
                      <a:srgbClr val="3A3160"/>
                    </a:solidFill>
                  </a:tcPr>
                </a:tc>
                <a:tc>
                  <a:txBody>
                    <a:bodyPr/>
                    <a:lstStyle/>
                    <a:p>
                      <a:pPr algn="ctr">
                        <a:buNone/>
                      </a:pPr>
                      <a:r>
                        <a:rPr sz="1125">
                          <a:solidFill>
                            <a:srgbClr val="F8F6FF"/>
                          </a:solidFill>
                          <a:latin typeface="Calibri"/>
                          <a:ea typeface="Calibri"/>
                          <a:cs typeface="Calibri"/>
                        </a:rPr>
                        <a:t>Yes</a:t>
                      </a:r>
                    </a:p>
                  </a:txBody>
                  <a:tcPr marL="76200" marR="76200" marT="38100" marB="38100" anchor="ctr">
                    <a:solidFill>
                      <a:schemeClr val="tx2">
                        <a:lumMod val="50000"/>
                        <a:lumOff val="50000"/>
                      </a:schemeClr>
                    </a:solidFill>
                  </a:tcPr>
                </a:tc>
                <a:tc>
                  <a:txBody>
                    <a:bodyPr/>
                    <a:lstStyle/>
                    <a:p>
                      <a:pPr algn="ctr">
                        <a:buNone/>
                      </a:pP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buNone/>
                      </a:pP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buNone/>
                      </a:pPr>
                      <a:r>
                        <a:rPr sz="1125" b="1">
                          <a:solidFill>
                            <a:srgbClr val="2ED9A4"/>
                          </a:solidFill>
                          <a:latin typeface="Calibri"/>
                          <a:ea typeface="Calibri"/>
                          <a:cs typeface="Calibri"/>
                        </a:rPr>
                        <a:t>Yes</a:t>
                      </a:r>
                    </a:p>
                  </a:txBody>
                  <a:tcPr marL="76200" marR="76200" marT="38100" marB="38100" anchor="ctr">
                    <a:solidFill>
                      <a:srgbClr val="245A50"/>
                    </a:solidFill>
                  </a:tcPr>
                </a:tc>
              </a:tr>
              <a:tr h="389659">
                <a:tc>
                  <a:txBody>
                    <a:bodyPr/>
                    <a:lstStyle/>
                    <a:p>
                      <a:pPr algn="l">
                        <a:buNone/>
                      </a:pPr>
                      <a:r>
                        <a:rPr sz="1125" b="1">
                          <a:solidFill>
                            <a:srgbClr val="F8F6FF"/>
                          </a:solidFill>
                          <a:latin typeface="Calibri"/>
                          <a:ea typeface="Calibri"/>
                          <a:cs typeface="Calibri"/>
                        </a:rPr>
                        <a:t>Caregiver support</a:t>
                      </a:r>
                    </a:p>
                  </a:txBody>
                  <a:tcPr marL="114300" marR="76200" marT="38100" marB="38100" anchor="ctr">
                    <a:solidFill>
                      <a:srgbClr val="3A3160"/>
                    </a:solidFill>
                  </a:tcPr>
                </a:tc>
                <a:tc>
                  <a:txBody>
                    <a:bodyPr/>
                    <a:lstStyle/>
                    <a:p>
                      <a:pPr algn="ctr">
                        <a:buNone/>
                      </a:pPr>
                      <a:r>
                        <a:rPr sz="1125">
                          <a:solidFill>
                            <a:srgbClr val="F8F6FF"/>
                          </a:solidFill>
                          <a:latin typeface="Calibri"/>
                          <a:ea typeface="Calibri"/>
                          <a:cs typeface="Calibri"/>
                        </a:rPr>
                        <a:t>Yes</a:t>
                      </a:r>
                    </a:p>
                  </a:txBody>
                  <a:tcPr marL="76200" marR="76200" marT="38100" marB="38100" anchor="ctr">
                    <a:solidFill>
                      <a:schemeClr val="tx2">
                        <a:lumMod val="50000"/>
                        <a:lumOff val="50000"/>
                      </a:schemeClr>
                    </a:solidFill>
                  </a:tcPr>
                </a:tc>
                <a:tc>
                  <a:txBody>
                    <a:bodyPr/>
                    <a:lstStyle/>
                    <a:p>
                      <a:pPr algn="ctr">
                        <a:buNone/>
                      </a:pP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buNone/>
                      </a:pP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buNone/>
                      </a:pPr>
                      <a:r>
                        <a:rPr sz="1125" b="1">
                          <a:solidFill>
                            <a:srgbClr val="2ED9A4"/>
                          </a:solidFill>
                          <a:latin typeface="Calibri"/>
                          <a:ea typeface="Calibri"/>
                          <a:cs typeface="Calibri"/>
                        </a:rPr>
                        <a:t>Yes</a:t>
                      </a:r>
                    </a:p>
                  </a:txBody>
                  <a:tcPr marL="76200" marR="76200" marT="38100" marB="38100" anchor="ctr">
                    <a:solidFill>
                      <a:srgbClr val="245A50"/>
                    </a:solidFill>
                  </a:tcPr>
                </a:tc>
              </a:tr>
              <a:tr h="389659">
                <a:tc>
                  <a:txBody>
                    <a:bodyPr/>
                    <a:lstStyle/>
                    <a:p>
                      <a:pPr algn="l">
                        <a:buNone/>
                      </a:pPr>
                      <a:r>
                        <a:rPr sz="1125" b="1">
                          <a:solidFill>
                            <a:srgbClr val="F8F6FF"/>
                          </a:solidFill>
                          <a:latin typeface="Calibri"/>
                          <a:ea typeface="Calibri"/>
                          <a:cs typeface="Calibri"/>
                        </a:rPr>
                        <a:t>Recurring schedules</a:t>
                      </a:r>
                    </a:p>
                  </a:txBody>
                  <a:tcPr marL="114300" marR="76200" marT="38100" marB="38100" anchor="ctr">
                    <a:solidFill>
                      <a:srgbClr val="3A3160"/>
                    </a:solidFill>
                  </a:tcPr>
                </a:tc>
                <a:tc>
                  <a:txBody>
                    <a:bodyPr/>
                    <a:lstStyle/>
                    <a:p>
                      <a:pPr algn="ctr">
                        <a:buNone/>
                      </a:pPr>
                      <a:r>
                        <a:rPr sz="1125">
                          <a:solidFill>
                            <a:srgbClr val="F8F6FF"/>
                          </a:solidFill>
                          <a:latin typeface="Calibri"/>
                          <a:ea typeface="Calibri"/>
                          <a:cs typeface="Calibri"/>
                        </a:rPr>
                        <a:t>Yes</a:t>
                      </a:r>
                    </a:p>
                  </a:txBody>
                  <a:tcPr marL="76200" marR="76200" marT="38100" marB="38100" anchor="ctr">
                    <a:solidFill>
                      <a:schemeClr val="tx2">
                        <a:lumMod val="50000"/>
                        <a:lumOff val="50000"/>
                      </a:schemeClr>
                    </a:solidFill>
                  </a:tcPr>
                </a:tc>
                <a:tc>
                  <a:txBody>
                    <a:bodyPr/>
                    <a:lstStyle/>
                    <a:p>
                      <a:pPr algn="ctr">
                        <a:buNone/>
                      </a:pP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buNone/>
                      </a:pP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buNone/>
                      </a:pPr>
                      <a:r>
                        <a:rPr sz="1125" b="1">
                          <a:solidFill>
                            <a:srgbClr val="2ED9A4"/>
                          </a:solidFill>
                          <a:latin typeface="Calibri"/>
                          <a:ea typeface="Calibri"/>
                          <a:cs typeface="Calibri"/>
                        </a:rPr>
                        <a:t>Yes</a:t>
                      </a:r>
                    </a:p>
                  </a:txBody>
                  <a:tcPr marL="76200" marR="76200" marT="38100" marB="38100" anchor="ctr">
                    <a:solidFill>
                      <a:srgbClr val="245A50"/>
                    </a:solidFill>
                  </a:tcPr>
                </a:tc>
              </a:tr>
              <a:tr h="389659">
                <a:tc>
                  <a:txBody>
                    <a:bodyPr/>
                    <a:lstStyle/>
                    <a:p>
                      <a:pPr algn="l">
                        <a:buNone/>
                      </a:pPr>
                      <a:r>
                        <a:rPr sz="1125" b="1">
                          <a:solidFill>
                            <a:srgbClr val="F8F6FF"/>
                          </a:solidFill>
                          <a:latin typeface="Calibri"/>
                          <a:ea typeface="Calibri"/>
                          <a:cs typeface="Calibri"/>
                        </a:rPr>
                        <a:t>Cognitive games</a:t>
                      </a:r>
                    </a:p>
                  </a:txBody>
                  <a:tcPr marL="114300" marR="76200" marT="38100" marB="38100" anchor="ctr">
                    <a:solidFill>
                      <a:srgbClr val="3A3160"/>
                    </a:solidFill>
                  </a:tcPr>
                </a:tc>
                <a:tc>
                  <a:txBody>
                    <a:bodyPr/>
                    <a:lstStyle/>
                    <a:p>
                      <a:pPr algn="ctr">
                        <a:buNone/>
                      </a:pP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buNone/>
                      </a:pPr>
                      <a:r>
                        <a:rPr sz="1125">
                          <a:solidFill>
                            <a:srgbClr val="F8F6FF"/>
                          </a:solidFill>
                          <a:latin typeface="Calibri"/>
                          <a:ea typeface="Calibri"/>
                          <a:cs typeface="Calibri"/>
                        </a:rPr>
                        <a:t>Yes</a:t>
                      </a:r>
                    </a:p>
                  </a:txBody>
                  <a:tcPr marL="76200" marR="76200" marT="38100" marB="38100" anchor="ctr">
                    <a:solidFill>
                      <a:schemeClr val="tx2">
                        <a:lumMod val="75000"/>
                        <a:lumOff val="25000"/>
                      </a:schemeClr>
                    </a:solidFill>
                  </a:tcPr>
                </a:tc>
                <a:tc>
                  <a:txBody>
                    <a:bodyPr/>
                    <a:lstStyle/>
                    <a:p>
                      <a:pPr algn="ctr">
                        <a:buNone/>
                      </a:pPr>
                      <a:r>
                        <a:rPr sz="1125">
                          <a:solidFill>
                            <a:srgbClr val="F8F6FF"/>
                          </a:solidFill>
                          <a:latin typeface="Calibri"/>
                          <a:ea typeface="Calibri"/>
                          <a:cs typeface="Calibri"/>
                        </a:rPr>
                        <a:t>Yes</a:t>
                      </a:r>
                    </a:p>
                  </a:txBody>
                  <a:tcPr marL="76200" marR="76200" marT="38100" marB="38100" anchor="ctr">
                    <a:solidFill>
                      <a:schemeClr val="tx2">
                        <a:lumMod val="50000"/>
                        <a:lumOff val="50000"/>
                      </a:schemeClr>
                    </a:solidFill>
                  </a:tcPr>
                </a:tc>
                <a:tc>
                  <a:txBody>
                    <a:bodyPr/>
                    <a:lstStyle/>
                    <a:p>
                      <a:pPr algn="ctr">
                        <a:buNone/>
                      </a:pPr>
                      <a:r>
                        <a:rPr sz="1125" b="1">
                          <a:solidFill>
                            <a:srgbClr val="2ED9A4"/>
                          </a:solidFill>
                          <a:latin typeface="Calibri"/>
                          <a:ea typeface="Calibri"/>
                          <a:cs typeface="Calibri"/>
                        </a:rPr>
                        <a:t>Yes</a:t>
                      </a:r>
                    </a:p>
                  </a:txBody>
                  <a:tcPr marL="76200" marR="76200" marT="38100" marB="38100" anchor="ctr">
                    <a:solidFill>
                      <a:srgbClr val="245A50"/>
                    </a:solidFill>
                  </a:tcPr>
                </a:tc>
              </a:tr>
              <a:tr h="389659">
                <a:tc>
                  <a:txBody>
                    <a:bodyPr/>
                    <a:lstStyle/>
                    <a:p>
                      <a:pPr algn="l">
                        <a:buNone/>
                      </a:pPr>
                      <a:r>
                        <a:rPr sz="1125" b="1">
                          <a:solidFill>
                            <a:srgbClr val="F8F6FF"/>
                          </a:solidFill>
                          <a:latin typeface="Calibri"/>
                          <a:ea typeface="Calibri"/>
                          <a:cs typeface="Calibri"/>
                        </a:rPr>
                        <a:t>Adaptive game difficulty</a:t>
                      </a:r>
                    </a:p>
                  </a:txBody>
                  <a:tcPr marL="114300" marR="76200" marT="38100" marB="38100" anchor="ctr">
                    <a:solidFill>
                      <a:srgbClr val="3A3160"/>
                    </a:solidFill>
                  </a:tcPr>
                </a:tc>
                <a:tc>
                  <a:txBody>
                    <a:bodyPr/>
                    <a:lstStyle/>
                    <a:p>
                      <a:pPr algn="ctr">
                        <a:buNone/>
                      </a:pP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buNone/>
                      </a:pPr>
                      <a:r>
                        <a:rPr sz="1125">
                          <a:solidFill>
                            <a:srgbClr val="F8F6FF"/>
                          </a:solidFill>
                          <a:latin typeface="Calibri"/>
                          <a:ea typeface="Calibri"/>
                          <a:cs typeface="Calibri"/>
                        </a:rPr>
                        <a:t>Yes</a:t>
                      </a:r>
                    </a:p>
                  </a:txBody>
                  <a:tcPr marL="76200" marR="76200" marT="38100" marB="38100" anchor="ctr">
                    <a:solidFill>
                      <a:schemeClr val="tx2">
                        <a:lumMod val="75000"/>
                        <a:lumOff val="25000"/>
                      </a:schemeClr>
                    </a:solidFill>
                  </a:tcPr>
                </a:tc>
                <a:tc>
                  <a:txBody>
                    <a:bodyPr/>
                    <a:lstStyle/>
                    <a:p>
                      <a:pPr algn="ctr">
                        <a:buNone/>
                      </a:pP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buNone/>
                      </a:pPr>
                      <a:r>
                        <a:rPr sz="1125" b="1">
                          <a:solidFill>
                            <a:srgbClr val="2ED9A4"/>
                          </a:solidFill>
                          <a:latin typeface="Calibri"/>
                          <a:ea typeface="Calibri"/>
                          <a:cs typeface="Calibri"/>
                        </a:rPr>
                        <a:t>Yes</a:t>
                      </a:r>
                    </a:p>
                  </a:txBody>
                  <a:tcPr marL="76200" marR="76200" marT="38100" marB="38100" anchor="ctr">
                    <a:solidFill>
                      <a:srgbClr val="245A50"/>
                    </a:solidFill>
                  </a:tcPr>
                </a:tc>
              </a:tr>
              <a:tr h="389659">
                <a:tc>
                  <a:txBody>
                    <a:bodyPr/>
                    <a:lstStyle/>
                    <a:p>
                      <a:pPr algn="l">
                        <a:buNone/>
                      </a:pPr>
                      <a:r>
                        <a:rPr sz="1125" b="1">
                          <a:solidFill>
                            <a:srgbClr val="F8F6FF"/>
                          </a:solidFill>
                          <a:latin typeface="Calibri"/>
                          <a:ea typeface="Calibri"/>
                          <a:cs typeface="Calibri"/>
                        </a:rPr>
                        <a:t>Game performance statistics</a:t>
                      </a:r>
                    </a:p>
                  </a:txBody>
                  <a:tcPr marL="114300" marR="76200" marT="38100" marB="38100" anchor="ctr">
                    <a:solidFill>
                      <a:srgbClr val="3A3160"/>
                    </a:solidFill>
                  </a:tcPr>
                </a:tc>
                <a:tc>
                  <a:txBody>
                    <a:bodyPr/>
                    <a:lstStyle/>
                    <a:p>
                      <a:pPr algn="ctr">
                        <a:buNone/>
                      </a:pP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buNone/>
                      </a:pPr>
                      <a:r>
                        <a:rPr sz="1125">
                          <a:solidFill>
                            <a:srgbClr val="F8F6FF"/>
                          </a:solidFill>
                          <a:latin typeface="Calibri"/>
                          <a:ea typeface="Calibri"/>
                          <a:cs typeface="Calibri"/>
                        </a:rPr>
                        <a:t>Yes</a:t>
                      </a:r>
                    </a:p>
                  </a:txBody>
                  <a:tcPr marL="76200" marR="76200" marT="38100" marB="38100" anchor="ctr">
                    <a:solidFill>
                      <a:schemeClr val="tx2">
                        <a:lumMod val="75000"/>
                        <a:lumOff val="25000"/>
                      </a:schemeClr>
                    </a:solidFill>
                  </a:tcPr>
                </a:tc>
                <a:tc>
                  <a:txBody>
                    <a:bodyPr/>
                    <a:lstStyle/>
                    <a:p>
                      <a:pPr algn="ctr">
                        <a:buNone/>
                      </a:pPr>
                      <a:r>
                        <a:rPr sz="1125">
                          <a:solidFill>
                            <a:srgbClr val="F8F6FF"/>
                          </a:solidFill>
                          <a:latin typeface="Calibri"/>
                          <a:ea typeface="Calibri"/>
                          <a:cs typeface="Calibri"/>
                        </a:rPr>
                        <a:t>Yes</a:t>
                      </a:r>
                    </a:p>
                  </a:txBody>
                  <a:tcPr marL="76200" marR="76200" marT="38100" marB="38100" anchor="ctr">
                    <a:solidFill>
                      <a:schemeClr val="tx2">
                        <a:lumMod val="50000"/>
                        <a:lumOff val="50000"/>
                      </a:schemeClr>
                    </a:solidFill>
                  </a:tcPr>
                </a:tc>
                <a:tc>
                  <a:txBody>
                    <a:bodyPr/>
                    <a:lstStyle/>
                    <a:p>
                      <a:pPr algn="ctr">
                        <a:buNone/>
                      </a:pPr>
                      <a:r>
                        <a:rPr sz="1125" b="1">
                          <a:solidFill>
                            <a:srgbClr val="2ED9A4"/>
                          </a:solidFill>
                          <a:latin typeface="Calibri"/>
                          <a:ea typeface="Calibri"/>
                          <a:cs typeface="Calibri"/>
                        </a:rPr>
                        <a:t>Yes</a:t>
                      </a:r>
                    </a:p>
                  </a:txBody>
                  <a:tcPr marL="76200" marR="76200" marT="38100" marB="38100" anchor="ctr">
                    <a:solidFill>
                      <a:srgbClr val="245A50"/>
                    </a:solidFill>
                  </a:tcPr>
                </a:tc>
              </a:tr>
              <a:tr h="389659">
                <a:tc>
                  <a:txBody>
                    <a:bodyPr/>
                    <a:lstStyle/>
                    <a:p>
                      <a:pPr algn="l">
                        <a:buNone/>
                      </a:pPr>
                      <a:r>
                        <a:rPr sz="1125" b="1">
                          <a:solidFill>
                            <a:srgbClr val="F8F6FF"/>
                          </a:solidFill>
                          <a:latin typeface="Calibri"/>
                          <a:ea typeface="Calibri"/>
                          <a:cs typeface="Calibri"/>
                        </a:rPr>
                        <a:t>Type &amp; stage-specific games</a:t>
                      </a:r>
                    </a:p>
                  </a:txBody>
                  <a:tcPr marL="114300" marR="76200" marT="38100" marB="38100" anchor="ctr">
                    <a:solidFill>
                      <a:srgbClr val="3A3160"/>
                    </a:solidFill>
                  </a:tcPr>
                </a:tc>
                <a:tc>
                  <a:txBody>
                    <a:bodyPr/>
                    <a:lstStyle/>
                    <a:p>
                      <a:pPr algn="ctr">
                        <a:buNone/>
                      </a:pP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buNone/>
                      </a:pP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buNone/>
                      </a:pP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buNone/>
                      </a:pPr>
                      <a:r>
                        <a:rPr sz="1125" b="1">
                          <a:solidFill>
                            <a:srgbClr val="2ED9A4"/>
                          </a:solidFill>
                          <a:latin typeface="Calibri"/>
                          <a:ea typeface="Calibri"/>
                          <a:cs typeface="Calibri"/>
                        </a:rPr>
                        <a:t>Yes</a:t>
                      </a:r>
                    </a:p>
                  </a:txBody>
                  <a:tcPr marL="76200" marR="76200" marT="38100" marB="38100" anchor="ctr">
                    <a:solidFill>
                      <a:srgbClr val="245A50"/>
                    </a:solidFill>
                  </a:tcPr>
                </a:tc>
              </a:tr>
              <a:tr h="389659">
                <a:tc>
                  <a:txBody>
                    <a:bodyPr/>
                    <a:lstStyle/>
                    <a:p>
                      <a:pPr algn="l">
                        <a:buNone/>
                      </a:pPr>
                      <a:r>
                        <a:rPr sz="1125" b="1">
                          <a:solidFill>
                            <a:srgbClr val="F8F6FF"/>
                          </a:solidFill>
                          <a:latin typeface="Calibri"/>
                          <a:ea typeface="Calibri"/>
                          <a:cs typeface="Calibri"/>
                        </a:rPr>
                        <a:t>Caregiver override + history</a:t>
                      </a:r>
                    </a:p>
                  </a:txBody>
                  <a:tcPr marL="114300" marR="76200" marT="38100" marB="38100" anchor="ctr">
                    <a:solidFill>
                      <a:srgbClr val="3A3160"/>
                    </a:solidFill>
                  </a:tcPr>
                </a:tc>
                <a:tc>
                  <a:txBody>
                    <a:bodyPr/>
                    <a:lstStyle/>
                    <a:p>
                      <a:pPr algn="ctr">
                        <a:buNone/>
                      </a:pP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buNone/>
                      </a:pP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buNone/>
                      </a:pP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buNone/>
                      </a:pPr>
                      <a:r>
                        <a:rPr sz="1125" b="1">
                          <a:solidFill>
                            <a:srgbClr val="2ED9A4"/>
                          </a:solidFill>
                          <a:latin typeface="Calibri"/>
                          <a:ea typeface="Calibri"/>
                          <a:cs typeface="Calibri"/>
                        </a:rPr>
                        <a:t>Yes</a:t>
                      </a:r>
                    </a:p>
                  </a:txBody>
                  <a:tcPr marL="76200" marR="76200" marT="38100" marB="38100" anchor="ctr">
                    <a:solidFill>
                      <a:srgbClr val="245A50"/>
                    </a:solidFill>
                  </a:tcPr>
                </a:tc>
              </a:tr>
              <a:tr h="389659">
                <a:tc>
                  <a:txBody>
                    <a:bodyPr/>
                    <a:lstStyle/>
                    <a:p>
                      <a:pPr algn="l">
                        <a:buNone/>
                      </a:pPr>
                      <a:r>
                        <a:rPr sz="1125" b="1">
                          <a:solidFill>
                            <a:srgbClr val="F8F6FF"/>
                          </a:solidFill>
                          <a:latin typeface="Calibri"/>
                          <a:ea typeface="Calibri"/>
                          <a:cs typeface="Calibri"/>
                        </a:rPr>
                        <a:t>Risk / attention indicator</a:t>
                      </a:r>
                    </a:p>
                  </a:txBody>
                  <a:tcPr marL="114300" marR="76200" marT="38100" marB="38100" anchor="ctr">
                    <a:solidFill>
                      <a:srgbClr val="3A3160"/>
                    </a:solidFill>
                  </a:tcPr>
                </a:tc>
                <a:tc>
                  <a:txBody>
                    <a:bodyPr/>
                    <a:lstStyle/>
                    <a:p>
                      <a:pPr algn="ctr">
                        <a:buNone/>
                      </a:pP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buNone/>
                      </a:pP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buNone/>
                      </a:pP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buNone/>
                      </a:pPr>
                      <a:r>
                        <a:rPr sz="1125" b="1">
                          <a:solidFill>
                            <a:srgbClr val="2ED9A4"/>
                          </a:solidFill>
                          <a:latin typeface="Calibri"/>
                          <a:ea typeface="Calibri"/>
                          <a:cs typeface="Calibri"/>
                        </a:rPr>
                        <a:t>Yes</a:t>
                      </a:r>
                    </a:p>
                  </a:txBody>
                  <a:tcPr marL="76200" marR="76200" marT="38100" marB="38100" anchor="ctr">
                    <a:solidFill>
                      <a:srgbClr val="245A50"/>
                    </a:solidFill>
                  </a:tcPr>
                </a:tc>
              </a:tr>
              <a:tr h="389659">
                <a:tc>
                  <a:txBody>
                    <a:bodyPr/>
                    <a:lstStyle/>
                    <a:p>
                      <a:pPr algn="l">
                        <a:buNone/>
                      </a:pPr>
                      <a:r>
                        <a:rPr sz="1125" b="1">
                          <a:solidFill>
                            <a:srgbClr val="F8F6FF"/>
                          </a:solidFill>
                          <a:latin typeface="Calibri"/>
                          <a:ea typeface="Calibri"/>
                          <a:cs typeface="Calibri"/>
                        </a:rPr>
                        <a:t>Unlockable reward games</a:t>
                      </a:r>
                    </a:p>
                  </a:txBody>
                  <a:tcPr marL="114300" marR="76200" marT="38100" marB="38100" anchor="ctr">
                    <a:solidFill>
                      <a:srgbClr val="3A3160"/>
                    </a:solidFill>
                  </a:tcPr>
                </a:tc>
                <a:tc>
                  <a:txBody>
                    <a:bodyPr/>
                    <a:lstStyle/>
                    <a:p>
                      <a:pPr algn="ctr">
                        <a:buNone/>
                      </a:pP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buNone/>
                      </a:pP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buNone/>
                      </a:pP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buNone/>
                      </a:pPr>
                      <a:r>
                        <a:rPr sz="1125" b="1">
                          <a:solidFill>
                            <a:srgbClr val="2ED9A4"/>
                          </a:solidFill>
                          <a:latin typeface="Calibri"/>
                          <a:ea typeface="Calibri"/>
                          <a:cs typeface="Calibri"/>
                        </a:rPr>
                        <a:t>Yes</a:t>
                      </a:r>
                    </a:p>
                  </a:txBody>
                  <a:tcPr marL="76200" marR="76200" marT="38100" marB="38100" anchor="ctr">
                    <a:solidFill>
                      <a:srgbClr val="245A50"/>
                    </a:solidFill>
                  </a:tcPr>
                </a:tc>
              </a:tr>
            </a:tbl>
          </a:graphicData>
        </a:graphic>
      </p:graphicFrame>
      <p:sp>
        <p:nvSpPr>
          <p:cNvPr id="6" name="Rectangle 5">
            <a:extLst xmlns:a="http://schemas.openxmlformats.org/drawingml/2006/main">
              <a:ext uri="{FF2B5EF4-FFF2-40B4-BE49-F238E27FC236}">
                <a16:creationId xmlns:a16="http://schemas.microsoft.com/office/drawing/2014/main" id="{801ED659-8A3C-4367-BD89-EB98E7F6A5A1}"/>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a:solidFill>
                  <a:srgbClr val="8F87AC"/>
                </a:solidFill>
                <a:latin typeface="Calibri"/>
                <a:ea typeface="Calibri"/>
                <a:cs typeface="Calibri"/>
              </a:defRPr>
            </a:pPr>
            <a:r>
              <a:rPr sz="750" b="0">
                <a:solidFill>
                  <a:srgbClr val="8F87AC"/>
                </a:solidFill>
                <a:latin typeface="Calibri"/>
                <a:ea typeface="Calibri"/>
                <a:cs typeface="Calibri"/>
              </a:rPr>
              <a:t>Source: Final report Table 2.10, pp. 36–37 (condensed to presentation-critical features).</a:t>
            </a:r>
          </a:p>
        </p:txBody>
      </p:sp>
      <p:sp>
        <p:nvSpPr>
          <p:cNvPr id="7" name="Rectangle 6">
            <a:extLst xmlns:a="http://schemas.openxmlformats.org/drawingml/2006/main">
              <a:ext uri="{FF2B5EF4-FFF2-40B4-BE49-F238E27FC236}">
                <a16:creationId xmlns:a16="http://schemas.microsoft.com/office/drawing/2014/main" id="{B6AC364E-918D-418C-938A-B19421700C7F}"/>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1">
                <a:solidFill>
                  <a:srgbClr val="B8B0D4"/>
                </a:solidFill>
                <a:latin typeface="Calibri"/>
                <a:ea typeface="Calibri"/>
                <a:cs typeface="Calibri"/>
              </a:defRPr>
            </a:pPr>
            <a:r>
              <a:rPr sz="975" b="1">
                <a:solidFill>
                  <a:srgbClr val="B8B0D4"/>
                </a:solidFill>
                <a:latin typeface="Calibri"/>
                <a:ea typeface="Calibri"/>
                <a:cs typeface="Calibri"/>
              </a:rPr>
              <a:t>06</a:t>
            </a:r>
          </a:p>
        </p:txBody>
      </p:sp>
    </p:spTree>
    <p:extLst>
      <p:ext uri="{BB962C8B-B14F-4D97-AF65-F5344CB8AC3E}">
        <p14:creationId xmlns:p14="http://schemas.microsoft.com/office/powerpoint/2010/main" val="1716358704"/>
      </p:ext>
    </p:extLst>
  </p:cSld>
</p:sld>
</file>

<file path=ppt/slides/slide7.xml><?xml version="1.0" encoding="utf-8"?>
<p:sld xmlns:p="http://schemas.openxmlformats.org/presentationml/2006/main">
  <p:cSld>
    <p:bg>
      <p:bgPr>
        <a:gradFill xmlns:a="http://schemas.openxmlformats.org/drawingml/2006/main">
          <a:gsLst>
            <a:gs pos="0">
              <a:srgbClr val="120B27"/>
            </a:gs>
            <a:gs pos="52000">
              <a:srgbClr val="19112F"/>
            </a:gs>
            <a:gs pos="100000">
              <a:srgbClr val="24183F"/>
            </a:gs>
          </a:gsLst>
          <a:lin ang="8100000"/>
        </a:gradFill>
      </p:bgPr>
    </p:bg>
    <p:spTree>
      <p:nvGrpSpPr>
        <p:cNvPr id="1" name=""/>
        <p:cNvGrpSpPr/>
        <p:nvPr/>
      </p:nvGrpSpPr>
      <p:grpSpPr>
        <a:xfrm xmlns:a="http://schemas.openxmlformats.org/drawingml/2006/main"/>
      </p:grpSpPr>
      <p:sp>
        <p:nvSpPr>
          <p:cNvPr id="38" name="Rectangle 37">
            <a:extLst xmlns:a="http://schemas.openxmlformats.org/drawingml/2006/main">
              <a:ext uri="{FF2B5EF4-FFF2-40B4-BE49-F238E27FC236}">
                <a16:creationId xmlns:a16="http://schemas.microsoft.com/office/drawing/2014/main" id="{13FE7160-4E25-4081-A0C0-ABB6411E4A5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7" name="Rectangle 36">
            <a:extLst xmlns:a="http://schemas.openxmlformats.org/drawingml/2006/main">
              <a:ext uri="{FF2B5EF4-FFF2-40B4-BE49-F238E27FC236}">
                <a16:creationId xmlns:a16="http://schemas.microsoft.com/office/drawing/2014/main" id="{A8A65F18-72B6-40CC-B34C-F1D2CCC237D2}"/>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1">
                <a:solidFill>
                  <a:srgbClr val="B8B0D4"/>
                </a:solidFill>
                <a:latin typeface="Calibri"/>
                <a:ea typeface="Calibri"/>
                <a:cs typeface="Calibri"/>
              </a:defRPr>
            </a:pPr>
            <a:r>
              <a:rPr sz="975" b="1">
                <a:solidFill>
                  <a:srgbClr val="B8B0D4"/>
                </a:solidFill>
                <a:latin typeface="Calibri"/>
                <a:ea typeface="Calibri"/>
                <a:cs typeface="Calibri"/>
              </a:rPr>
              <a:t>07</a:t>
            </a:r>
          </a:p>
        </p:txBody>
      </p:sp>
      <p:sp>
        <p:nvSpPr>
          <p:cNvPr id="112" name="Rectangle 111">
            <a:extLst xmlns:a="http://schemas.openxmlformats.org/drawingml/2006/main">
              <a:ext uri="{FF2B5EF4-FFF2-40B4-BE49-F238E27FC236}">
                <a16:creationId xmlns:a16="http://schemas.microsoft.com/office/drawing/2014/main" id="{A790C9C6-2E32-2FD8-0B50-D574054FBE2C}"/>
              </a:ext>
            </a:extLst>
          </p:cNvPr>
          <p:cNvSpPr>
            <a:spLocks xmlns:a="http://schemas.openxmlformats.org/drawingml/2006/main" noGrp="1"/>
          </p:cNvSpPr>
          <p:nvPr/>
        </p:nvSpPr>
        <p:spPr>
          <a:xfrm xmlns:a="http://schemas.openxmlformats.org/drawingml/2006/main">
            <a:off x="685800" y="4762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FF6B62"/>
                </a:solidFill>
                <a:latin typeface="Calibri"/>
                <a:ea typeface="Calibri"/>
                <a:cs typeface="Calibri"/>
              </a:defRPr>
            </a:pPr>
            <a:r>
              <a:rPr sz="1125" b="1">
                <a:solidFill>
                  <a:srgbClr val="FF6B62"/>
                </a:solidFill>
                <a:latin typeface="Calibri"/>
                <a:ea typeface="Calibri"/>
                <a:cs typeface="Calibri"/>
              </a:rPr>
              <a:t>CHAPTER 3 · METHODOLOGY</a:t>
            </a:r>
          </a:p>
        </p:txBody>
      </p:sp>
      <p:sp>
        <p:nvSpPr>
          <p:cNvPr id="114" name="Rectangle 113">
            <a:extLst xmlns:a="http://schemas.openxmlformats.org/drawingml/2006/main">
              <a:ext uri="{FF2B5EF4-FFF2-40B4-BE49-F238E27FC236}">
                <a16:creationId xmlns:a16="http://schemas.microsoft.com/office/drawing/2014/main" id="{92CA2015-D0FA-3785-56CF-1FF5A83C42DB}"/>
              </a:ext>
            </a:extLst>
          </p:cNvPr>
          <p:cNvSpPr>
            <a:spLocks xmlns:a="http://schemas.openxmlformats.org/drawingml/2006/main" noGrp="1"/>
          </p:cNvSpPr>
          <p:nvPr/>
        </p:nvSpPr>
        <p:spPr>
          <a:xfrm xmlns:a="http://schemas.openxmlformats.org/drawingml/2006/main">
            <a:off x="685800" y="7715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F8F6FF"/>
                </a:solidFill>
                <a:latin typeface="Calibri"/>
                <a:ea typeface="Calibri"/>
                <a:cs typeface="Calibri"/>
              </a:defRPr>
            </a:pPr>
            <a:r>
              <a:rPr sz="2700" b="1">
                <a:solidFill>
                  <a:srgbClr val="F8F6FF"/>
                </a:solidFill>
                <a:latin typeface="Calibri"/>
                <a:ea typeface="Calibri"/>
                <a:cs typeface="Calibri"/>
              </a:rPr>
              <a:t>Prototyping model across the project</a:t>
            </a:r>
          </a:p>
        </p:txBody>
      </p:sp>
      <p:sp>
        <p:nvSpPr>
          <p:cNvPr id="116" name="Rectangle 115">
            <a:extLst xmlns:a="http://schemas.openxmlformats.org/drawingml/2006/main">
              <a:ext uri="{FF2B5EF4-FFF2-40B4-BE49-F238E27FC236}">
                <a16:creationId xmlns:a16="http://schemas.microsoft.com/office/drawing/2014/main" id="{A9A75F9B-9977-08D0-E3A3-73F88DCF8976}"/>
              </a:ext>
            </a:extLst>
          </p:cNvPr>
          <p:cNvSpPr>
            <a:spLocks xmlns:a="http://schemas.openxmlformats.org/drawingml/2006/main" noGrp="1"/>
          </p:cNvSpPr>
          <p:nvPr/>
        </p:nvSpPr>
        <p:spPr>
          <a:xfrm xmlns:a="http://schemas.openxmlformats.org/drawingml/2006/main">
            <a:off x="704850" y="12954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B8B0D4"/>
                </a:solidFill>
                <a:latin typeface="Calibri"/>
                <a:ea typeface="Calibri"/>
                <a:cs typeface="Calibri"/>
              </a:defRPr>
            </a:pPr>
            <a:r>
              <a:rPr sz="1350" b="0">
                <a:solidFill>
                  <a:srgbClr val="B8B0D4"/>
                </a:solidFill>
                <a:latin typeface="Calibri"/>
                <a:ea typeface="Calibri"/>
                <a:cs typeface="Calibri"/>
              </a:rPr>
              <a:t>Each project phase applied a prototyping activity, from FYP I research to final validation.</a:t>
            </a:r>
          </a:p>
        </p:txBody>
      </p:sp>
      <p:sp>
        <p:nvSpPr>
          <p:cNvPr id="118" name="Rectangle 117">
            <a:extLst xmlns:a="http://schemas.openxmlformats.org/drawingml/2006/main">
              <a:ext uri="{FF2B5EF4-FFF2-40B4-BE49-F238E27FC236}">
                <a16:creationId xmlns:a16="http://schemas.microsoft.com/office/drawing/2014/main" id="{5AEDF004-6176-B703-8D76-E59C4015223A}"/>
              </a:ext>
            </a:extLst>
          </p:cNvPr>
          <p:cNvSpPr>
            <a:spLocks xmlns:a="http://schemas.openxmlformats.org/drawingml/2006/main" noGrp="1"/>
          </p:cNvSpPr>
          <p:nvPr/>
        </p:nvSpPr>
        <p:spPr>
          <a:xfrm xmlns:a="http://schemas.openxmlformats.org/drawingml/2006/main">
            <a:off x="1257300" y="2924175"/>
            <a:ext cx="9982200" cy="47625"/>
          </a:xfrm>
          <a:prstGeom xmlns:a="http://schemas.openxmlformats.org/drawingml/2006/main" prst="rect">
            <a:avLst/>
          </a:prstGeom>
          <a:solidFill xmlns:a="http://schemas.openxmlformats.org/drawingml/2006/main">
            <a:srgbClr val="3A3160"/>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20" name="Rectangle 119">
            <a:extLst xmlns:a="http://schemas.openxmlformats.org/drawingml/2006/main">
              <a:ext uri="{FF2B5EF4-FFF2-40B4-BE49-F238E27FC236}">
                <a16:creationId xmlns:a16="http://schemas.microsoft.com/office/drawing/2014/main" id="{25054486-CF7C-F0EF-F676-2E1A5FD4C024}"/>
              </a:ext>
            </a:extLst>
          </p:cNvPr>
          <p:cNvSpPr>
            <a:spLocks xmlns:a="http://schemas.openxmlformats.org/drawingml/2006/main" noGrp="1"/>
          </p:cNvSpPr>
          <p:nvPr/>
        </p:nvSpPr>
        <p:spPr>
          <a:xfrm xmlns:a="http://schemas.openxmlformats.org/drawingml/2006/main">
            <a:off x="704850" y="1962150"/>
            <a:ext cx="1790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75" b="1">
                <a:solidFill>
                  <a:srgbClr val="7C83FD"/>
                </a:solidFill>
                <a:latin typeface="Calibri"/>
                <a:ea typeface="Calibri"/>
                <a:cs typeface="Calibri"/>
              </a:defRPr>
            </a:pPr>
            <a:r>
              <a:rPr sz="975" b="1">
                <a:solidFill>
                  <a:srgbClr val="7C83FD"/>
                </a:solidFill>
                <a:latin typeface="Calibri"/>
                <a:ea typeface="Calibri"/>
                <a:cs typeface="Calibri"/>
              </a:rPr>
              <a:t>FYP I</a:t>
            </a:r>
          </a:p>
        </p:txBody>
      </p:sp>
      <p:sp>
        <p:nvSpPr>
          <p:cNvPr id="122" name="Oval 121">
            <a:extLst xmlns:a="http://schemas.openxmlformats.org/drawingml/2006/main">
              <a:ext uri="{FF2B5EF4-FFF2-40B4-BE49-F238E27FC236}">
                <a16:creationId xmlns:a16="http://schemas.microsoft.com/office/drawing/2014/main" id="{D7D95E45-83FC-70F1-F922-BDBCAB1D8963}"/>
              </a:ext>
            </a:extLst>
          </p:cNvPr>
          <p:cNvSpPr>
            <a:spLocks xmlns:a="http://schemas.openxmlformats.org/drawingml/2006/main" noGrp="1"/>
          </p:cNvSpPr>
          <p:nvPr/>
        </p:nvSpPr>
        <p:spPr>
          <a:xfrm xmlns:a="http://schemas.openxmlformats.org/drawingml/2006/main">
            <a:off x="1257300" y="2609850"/>
            <a:ext cx="685800" cy="685800"/>
          </a:xfrm>
          <a:prstGeom xmlns:a="http://schemas.openxmlformats.org/drawingml/2006/main" prst="ellipse">
            <a:avLst/>
          </a:prstGeom>
          <a:solidFill xmlns:a="http://schemas.openxmlformats.org/drawingml/2006/main">
            <a:srgbClr val="3A316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24" name="Rectangle 123">
            <a:extLst xmlns:a="http://schemas.openxmlformats.org/drawingml/2006/main">
              <a:ext uri="{FF2B5EF4-FFF2-40B4-BE49-F238E27FC236}">
                <a16:creationId xmlns:a16="http://schemas.microsoft.com/office/drawing/2014/main" id="{523DC8B6-7060-732B-37DB-666AAA092988}"/>
              </a:ext>
            </a:extLst>
          </p:cNvPr>
          <p:cNvSpPr>
            <a:spLocks xmlns:a="http://schemas.openxmlformats.org/drawingml/2006/main" noGrp="1"/>
          </p:cNvSpPr>
          <p:nvPr/>
        </p:nvSpPr>
        <p:spPr>
          <a:xfrm xmlns:a="http://schemas.openxmlformats.org/drawingml/2006/main">
            <a:off x="1257300" y="2781300"/>
            <a:ext cx="68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725" b="1">
                <a:solidFill>
                  <a:srgbClr val="F8F6FF"/>
                </a:solidFill>
                <a:latin typeface="Calibri"/>
                <a:ea typeface="Calibri"/>
                <a:cs typeface="Calibri"/>
              </a:defRPr>
            </a:pPr>
            <a:r>
              <a:rPr sz="1725" b="1">
                <a:solidFill>
                  <a:srgbClr val="F8F6FF"/>
                </a:solidFill>
                <a:latin typeface="Calibri"/>
                <a:ea typeface="Calibri"/>
                <a:cs typeface="Calibri"/>
              </a:rPr>
              <a:t>01</a:t>
            </a:r>
          </a:p>
        </p:txBody>
      </p:sp>
      <p:sp>
        <p:nvSpPr>
          <p:cNvPr id="126" name="Rectangle 125">
            <a:extLst xmlns:a="http://schemas.openxmlformats.org/drawingml/2006/main">
              <a:ext uri="{FF2B5EF4-FFF2-40B4-BE49-F238E27FC236}">
                <a16:creationId xmlns:a16="http://schemas.microsoft.com/office/drawing/2014/main" id="{1E78E924-8FBA-8A10-6CE8-24B277CEB028}"/>
              </a:ext>
            </a:extLst>
          </p:cNvPr>
          <p:cNvSpPr>
            <a:spLocks xmlns:a="http://schemas.openxmlformats.org/drawingml/2006/main" noGrp="1"/>
          </p:cNvSpPr>
          <p:nvPr/>
        </p:nvSpPr>
        <p:spPr>
          <a:xfrm xmlns:a="http://schemas.openxmlformats.org/drawingml/2006/main">
            <a:off x="704850" y="3467100"/>
            <a:ext cx="1790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F8F6FF"/>
                </a:solidFill>
                <a:latin typeface="Calibri"/>
                <a:ea typeface="Calibri"/>
                <a:cs typeface="Calibri"/>
              </a:defRPr>
            </a:pPr>
            <a:r>
              <a:rPr sz="1575" b="1">
                <a:solidFill>
                  <a:srgbClr val="F8F6FF"/>
                </a:solidFill>
                <a:latin typeface="Calibri"/>
                <a:ea typeface="Calibri"/>
                <a:cs typeface="Calibri"/>
              </a:rPr>
              <a:t>Understand</a:t>
            </a:r>
          </a:p>
        </p:txBody>
      </p:sp>
      <p:sp>
        <p:nvSpPr>
          <p:cNvPr id="128" name="Rectangle 127">
            <a:extLst xmlns:a="http://schemas.openxmlformats.org/drawingml/2006/main">
              <a:ext uri="{FF2B5EF4-FFF2-40B4-BE49-F238E27FC236}">
                <a16:creationId xmlns:a16="http://schemas.microsoft.com/office/drawing/2014/main" id="{8848988F-E2E0-177F-B784-5B83994D3575}"/>
              </a:ext>
            </a:extLst>
          </p:cNvPr>
          <p:cNvSpPr>
            <a:spLocks xmlns:a="http://schemas.openxmlformats.org/drawingml/2006/main" noGrp="1"/>
          </p:cNvSpPr>
          <p:nvPr/>
        </p:nvSpPr>
        <p:spPr>
          <a:xfrm xmlns:a="http://schemas.openxmlformats.org/drawingml/2006/main">
            <a:off x="628650" y="3914775"/>
            <a:ext cx="1943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0">
                <a:solidFill>
                  <a:srgbClr val="B8B0D4"/>
                </a:solidFill>
                <a:latin typeface="Calibri"/>
                <a:ea typeface="Calibri"/>
                <a:cs typeface="Calibri"/>
              </a:defRPr>
            </a:pPr>
            <a:r>
              <a:rPr sz="1125" b="0">
                <a:solidFill>
                  <a:srgbClr val="B8B0D4"/>
                </a:solidFill>
                <a:latin typeface="Calibri"/>
                <a:ea typeface="Calibri"/>
                <a:cs typeface="Calibri"/>
              </a:rPr>
              <a:t>Problems, literature, scope and requirements</a:t>
            </a:r>
          </a:p>
        </p:txBody>
      </p:sp>
      <p:sp>
        <p:nvSpPr>
          <p:cNvPr id="130" name="Rectangle 129">
            <a:extLst xmlns:a="http://schemas.openxmlformats.org/drawingml/2006/main">
              <a:ext uri="{FF2B5EF4-FFF2-40B4-BE49-F238E27FC236}">
                <a16:creationId xmlns:a16="http://schemas.microsoft.com/office/drawing/2014/main" id="{A7D864C9-F0A5-6D31-AA98-0FF11C80E89D}"/>
              </a:ext>
            </a:extLst>
          </p:cNvPr>
          <p:cNvSpPr>
            <a:spLocks xmlns:a="http://schemas.openxmlformats.org/drawingml/2006/main" noGrp="1"/>
          </p:cNvSpPr>
          <p:nvPr/>
        </p:nvSpPr>
        <p:spPr>
          <a:xfrm xmlns:a="http://schemas.openxmlformats.org/drawingml/2006/main">
            <a:off x="3028950" y="1962150"/>
            <a:ext cx="1790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75" b="1">
                <a:solidFill>
                  <a:srgbClr val="7C83FD"/>
                </a:solidFill>
                <a:latin typeface="Calibri"/>
                <a:ea typeface="Calibri"/>
                <a:cs typeface="Calibri"/>
              </a:defRPr>
            </a:pPr>
            <a:r>
              <a:rPr sz="975" b="1">
                <a:solidFill>
                  <a:srgbClr val="7C83FD"/>
                </a:solidFill>
                <a:latin typeface="Calibri"/>
                <a:ea typeface="Calibri"/>
                <a:cs typeface="Calibri"/>
              </a:rPr>
              <a:t>ITERATION 1</a:t>
            </a:r>
          </a:p>
        </p:txBody>
      </p:sp>
      <p:sp>
        <p:nvSpPr>
          <p:cNvPr id="132" name="Oval 131">
            <a:extLst xmlns:a="http://schemas.openxmlformats.org/drawingml/2006/main">
              <a:ext uri="{FF2B5EF4-FFF2-40B4-BE49-F238E27FC236}">
                <a16:creationId xmlns:a16="http://schemas.microsoft.com/office/drawing/2014/main" id="{093931EF-539D-CBFE-9452-D81532E1317B}"/>
              </a:ext>
            </a:extLst>
          </p:cNvPr>
          <p:cNvSpPr>
            <a:spLocks xmlns:a="http://schemas.openxmlformats.org/drawingml/2006/main" noGrp="1"/>
          </p:cNvSpPr>
          <p:nvPr/>
        </p:nvSpPr>
        <p:spPr>
          <a:xfrm xmlns:a="http://schemas.openxmlformats.org/drawingml/2006/main">
            <a:off x="3581400" y="2609850"/>
            <a:ext cx="685800" cy="685800"/>
          </a:xfrm>
          <a:prstGeom xmlns:a="http://schemas.openxmlformats.org/drawingml/2006/main" prst="ellipse">
            <a:avLst/>
          </a:prstGeom>
          <a:solidFill xmlns:a="http://schemas.openxmlformats.org/drawingml/2006/main">
            <a:srgbClr val="3A316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34" name="Rectangle 133">
            <a:extLst xmlns:a="http://schemas.openxmlformats.org/drawingml/2006/main">
              <a:ext uri="{FF2B5EF4-FFF2-40B4-BE49-F238E27FC236}">
                <a16:creationId xmlns:a16="http://schemas.microsoft.com/office/drawing/2014/main" id="{AFAE2CC7-61E3-EC43-9F6D-5297DE153E1D}"/>
              </a:ext>
            </a:extLst>
          </p:cNvPr>
          <p:cNvSpPr>
            <a:spLocks xmlns:a="http://schemas.openxmlformats.org/drawingml/2006/main" noGrp="1"/>
          </p:cNvSpPr>
          <p:nvPr/>
        </p:nvSpPr>
        <p:spPr>
          <a:xfrm xmlns:a="http://schemas.openxmlformats.org/drawingml/2006/main">
            <a:off x="3581400" y="2781300"/>
            <a:ext cx="68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725" b="1">
                <a:solidFill>
                  <a:srgbClr val="F8F6FF"/>
                </a:solidFill>
                <a:latin typeface="Calibri"/>
                <a:ea typeface="Calibri"/>
                <a:cs typeface="Calibri"/>
              </a:defRPr>
            </a:pPr>
            <a:r>
              <a:rPr sz="1725" b="1">
                <a:solidFill>
                  <a:srgbClr val="F8F6FF"/>
                </a:solidFill>
                <a:latin typeface="Calibri"/>
                <a:ea typeface="Calibri"/>
                <a:cs typeface="Calibri"/>
              </a:rPr>
              <a:t>02</a:t>
            </a:r>
          </a:p>
        </p:txBody>
      </p:sp>
      <p:sp>
        <p:nvSpPr>
          <p:cNvPr id="136" name="Rectangle 135">
            <a:extLst xmlns:a="http://schemas.openxmlformats.org/drawingml/2006/main">
              <a:ext uri="{FF2B5EF4-FFF2-40B4-BE49-F238E27FC236}">
                <a16:creationId xmlns:a16="http://schemas.microsoft.com/office/drawing/2014/main" id="{EF0B29BA-68A3-0C1C-8165-4FF5880DB3D9}"/>
              </a:ext>
            </a:extLst>
          </p:cNvPr>
          <p:cNvSpPr>
            <a:spLocks xmlns:a="http://schemas.openxmlformats.org/drawingml/2006/main" noGrp="1"/>
          </p:cNvSpPr>
          <p:nvPr/>
        </p:nvSpPr>
        <p:spPr>
          <a:xfrm xmlns:a="http://schemas.openxmlformats.org/drawingml/2006/main">
            <a:off x="3028950" y="3467100"/>
            <a:ext cx="1790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F8F6FF"/>
                </a:solidFill>
                <a:latin typeface="Calibri"/>
                <a:ea typeface="Calibri"/>
                <a:cs typeface="Calibri"/>
              </a:defRPr>
            </a:pPr>
            <a:r>
              <a:rPr sz="1575" b="1">
                <a:solidFill>
                  <a:srgbClr val="F8F6FF"/>
                </a:solidFill>
                <a:latin typeface="Calibri"/>
                <a:ea typeface="Calibri"/>
                <a:cs typeface="Calibri"/>
              </a:rPr>
              <a:t>Prototype</a:t>
            </a:r>
          </a:p>
        </p:txBody>
      </p:sp>
      <p:sp>
        <p:nvSpPr>
          <p:cNvPr id="138" name="Rectangle 137">
            <a:extLst xmlns:a="http://schemas.openxmlformats.org/drawingml/2006/main">
              <a:ext uri="{FF2B5EF4-FFF2-40B4-BE49-F238E27FC236}">
                <a16:creationId xmlns:a16="http://schemas.microsoft.com/office/drawing/2014/main" id="{29E049BC-C67A-FBD5-4164-0CFE478CF365}"/>
              </a:ext>
            </a:extLst>
          </p:cNvPr>
          <p:cNvSpPr>
            <a:spLocks xmlns:a="http://schemas.openxmlformats.org/drawingml/2006/main" noGrp="1"/>
          </p:cNvSpPr>
          <p:nvPr/>
        </p:nvSpPr>
        <p:spPr>
          <a:xfrm xmlns:a="http://schemas.openxmlformats.org/drawingml/2006/main">
            <a:off x="2952750" y="3914775"/>
            <a:ext cx="1943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0">
                <a:solidFill>
                  <a:srgbClr val="B8B0D4"/>
                </a:solidFill>
                <a:latin typeface="Calibri"/>
                <a:ea typeface="Calibri"/>
                <a:cs typeface="Calibri"/>
              </a:defRPr>
            </a:pPr>
            <a:r>
              <a:rPr sz="1125" b="0">
                <a:solidFill>
                  <a:srgbClr val="B8B0D4"/>
                </a:solidFill>
                <a:latin typeface="Calibri"/>
                <a:ea typeface="Calibri"/>
                <a:cs typeface="Calibri"/>
              </a:rPr>
              <a:t>Low- and high-fidelity interfaces and workflows</a:t>
            </a:r>
          </a:p>
        </p:txBody>
      </p:sp>
      <p:sp>
        <p:nvSpPr>
          <p:cNvPr id="140" name="Rectangle 139">
            <a:extLst xmlns:a="http://schemas.openxmlformats.org/drawingml/2006/main">
              <a:ext uri="{FF2B5EF4-FFF2-40B4-BE49-F238E27FC236}">
                <a16:creationId xmlns:a16="http://schemas.microsoft.com/office/drawing/2014/main" id="{1F3E8FB9-4A81-FD9A-8751-603C433F619A}"/>
              </a:ext>
            </a:extLst>
          </p:cNvPr>
          <p:cNvSpPr>
            <a:spLocks xmlns:a="http://schemas.openxmlformats.org/drawingml/2006/main" noGrp="1"/>
          </p:cNvSpPr>
          <p:nvPr/>
        </p:nvSpPr>
        <p:spPr>
          <a:xfrm xmlns:a="http://schemas.openxmlformats.org/drawingml/2006/main">
            <a:off x="5353050" y="1962150"/>
            <a:ext cx="1790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75" b="1">
                <a:solidFill>
                  <a:srgbClr val="7C83FD"/>
                </a:solidFill>
                <a:latin typeface="Calibri"/>
                <a:ea typeface="Calibri"/>
                <a:cs typeface="Calibri"/>
              </a:defRPr>
            </a:pPr>
            <a:r>
              <a:rPr sz="975" b="1">
                <a:solidFill>
                  <a:srgbClr val="7C83FD"/>
                </a:solidFill>
                <a:latin typeface="Calibri"/>
                <a:ea typeface="Calibri"/>
                <a:cs typeface="Calibri"/>
              </a:rPr>
              <a:t>ITERATION 2</a:t>
            </a:r>
          </a:p>
        </p:txBody>
      </p:sp>
      <p:sp>
        <p:nvSpPr>
          <p:cNvPr id="142" name="Oval 141">
            <a:extLst xmlns:a="http://schemas.openxmlformats.org/drawingml/2006/main">
              <a:ext uri="{FF2B5EF4-FFF2-40B4-BE49-F238E27FC236}">
                <a16:creationId xmlns:a16="http://schemas.microsoft.com/office/drawing/2014/main" id="{FDAA69A0-54A2-7A0D-B548-F396983114A6}"/>
              </a:ext>
            </a:extLst>
          </p:cNvPr>
          <p:cNvSpPr>
            <a:spLocks xmlns:a="http://schemas.openxmlformats.org/drawingml/2006/main" noGrp="1"/>
          </p:cNvSpPr>
          <p:nvPr/>
        </p:nvSpPr>
        <p:spPr>
          <a:xfrm xmlns:a="http://schemas.openxmlformats.org/drawingml/2006/main">
            <a:off x="5905500" y="2609850"/>
            <a:ext cx="685800" cy="685800"/>
          </a:xfrm>
          <a:prstGeom xmlns:a="http://schemas.openxmlformats.org/drawingml/2006/main" prst="ellipse">
            <a:avLst/>
          </a:prstGeom>
          <a:solidFill xmlns:a="http://schemas.openxmlformats.org/drawingml/2006/main">
            <a:srgbClr val="3A316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44" name="Rectangle 143">
            <a:extLst xmlns:a="http://schemas.openxmlformats.org/drawingml/2006/main">
              <a:ext uri="{FF2B5EF4-FFF2-40B4-BE49-F238E27FC236}">
                <a16:creationId xmlns:a16="http://schemas.microsoft.com/office/drawing/2014/main" id="{BBED969D-4D50-5D89-F30F-16F1C782932C}"/>
              </a:ext>
            </a:extLst>
          </p:cNvPr>
          <p:cNvSpPr>
            <a:spLocks xmlns:a="http://schemas.openxmlformats.org/drawingml/2006/main" noGrp="1"/>
          </p:cNvSpPr>
          <p:nvPr/>
        </p:nvSpPr>
        <p:spPr>
          <a:xfrm xmlns:a="http://schemas.openxmlformats.org/drawingml/2006/main">
            <a:off x="5905500" y="2781300"/>
            <a:ext cx="68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725" b="1">
                <a:solidFill>
                  <a:srgbClr val="F8F6FF"/>
                </a:solidFill>
                <a:latin typeface="Calibri"/>
                <a:ea typeface="Calibri"/>
                <a:cs typeface="Calibri"/>
              </a:defRPr>
            </a:pPr>
            <a:r>
              <a:rPr sz="1725" b="1">
                <a:solidFill>
                  <a:srgbClr val="F8F6FF"/>
                </a:solidFill>
                <a:latin typeface="Calibri"/>
                <a:ea typeface="Calibri"/>
                <a:cs typeface="Calibri"/>
              </a:rPr>
              <a:t>03</a:t>
            </a:r>
          </a:p>
        </p:txBody>
      </p:sp>
      <p:sp>
        <p:nvSpPr>
          <p:cNvPr id="146" name="Rectangle 145">
            <a:extLst xmlns:a="http://schemas.openxmlformats.org/drawingml/2006/main">
              <a:ext uri="{FF2B5EF4-FFF2-40B4-BE49-F238E27FC236}">
                <a16:creationId xmlns:a16="http://schemas.microsoft.com/office/drawing/2014/main" id="{A234BCCF-0EAB-D8DC-1808-8798B99B14D1}"/>
              </a:ext>
            </a:extLst>
          </p:cNvPr>
          <p:cNvSpPr>
            <a:spLocks xmlns:a="http://schemas.openxmlformats.org/drawingml/2006/main" noGrp="1"/>
          </p:cNvSpPr>
          <p:nvPr/>
        </p:nvSpPr>
        <p:spPr>
          <a:xfrm xmlns:a="http://schemas.openxmlformats.org/drawingml/2006/main">
            <a:off x="5353050" y="3467100"/>
            <a:ext cx="1790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F8F6FF"/>
                </a:solidFill>
                <a:latin typeface="Calibri"/>
                <a:ea typeface="Calibri"/>
                <a:cs typeface="Calibri"/>
              </a:defRPr>
            </a:pPr>
            <a:r>
              <a:rPr sz="1575" b="1">
                <a:solidFill>
                  <a:srgbClr val="F8F6FF"/>
                </a:solidFill>
                <a:latin typeface="Calibri"/>
                <a:ea typeface="Calibri"/>
                <a:cs typeface="Calibri"/>
              </a:rPr>
              <a:t>Evaluate &amp; build</a:t>
            </a:r>
          </a:p>
        </p:txBody>
      </p:sp>
      <p:sp>
        <p:nvSpPr>
          <p:cNvPr id="148" name="Rectangle 147">
            <a:extLst xmlns:a="http://schemas.openxmlformats.org/drawingml/2006/main">
              <a:ext uri="{FF2B5EF4-FFF2-40B4-BE49-F238E27FC236}">
                <a16:creationId xmlns:a16="http://schemas.microsoft.com/office/drawing/2014/main" id="{CEF01B2A-4F3F-1AA7-1B98-64400E384600}"/>
              </a:ext>
            </a:extLst>
          </p:cNvPr>
          <p:cNvSpPr>
            <a:spLocks xmlns:a="http://schemas.openxmlformats.org/drawingml/2006/main" noGrp="1"/>
          </p:cNvSpPr>
          <p:nvPr/>
        </p:nvSpPr>
        <p:spPr>
          <a:xfrm xmlns:a="http://schemas.openxmlformats.org/drawingml/2006/main">
            <a:off x="5276850" y="3914775"/>
            <a:ext cx="1943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0">
                <a:solidFill>
                  <a:srgbClr val="B8B0D4"/>
                </a:solidFill>
                <a:latin typeface="Calibri"/>
                <a:ea typeface="Calibri"/>
                <a:cs typeface="Calibri"/>
              </a:defRPr>
            </a:pPr>
            <a:r>
              <a:rPr sz="1125" b="0">
                <a:solidFill>
                  <a:srgbClr val="B8B0D4"/>
                </a:solidFill>
                <a:latin typeface="Calibri"/>
                <a:ea typeface="Calibri"/>
                <a:cs typeface="Calibri"/>
              </a:rPr>
              <a:t>Feedback guided authentication, patients, tasks and notifications</a:t>
            </a:r>
          </a:p>
        </p:txBody>
      </p:sp>
      <p:sp>
        <p:nvSpPr>
          <p:cNvPr id="150" name="Rectangle 149">
            <a:extLst xmlns:a="http://schemas.openxmlformats.org/drawingml/2006/main">
              <a:ext uri="{FF2B5EF4-FFF2-40B4-BE49-F238E27FC236}">
                <a16:creationId xmlns:a16="http://schemas.microsoft.com/office/drawing/2014/main" id="{AB86A03A-29BE-DF5F-63AA-67978E80E93C}"/>
              </a:ext>
            </a:extLst>
          </p:cNvPr>
          <p:cNvSpPr>
            <a:spLocks xmlns:a="http://schemas.openxmlformats.org/drawingml/2006/main" noGrp="1"/>
          </p:cNvSpPr>
          <p:nvPr/>
        </p:nvSpPr>
        <p:spPr>
          <a:xfrm xmlns:a="http://schemas.openxmlformats.org/drawingml/2006/main">
            <a:off x="7677150" y="1962150"/>
            <a:ext cx="1790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75" b="1">
                <a:solidFill>
                  <a:srgbClr val="7C83FD"/>
                </a:solidFill>
                <a:latin typeface="Calibri"/>
                <a:ea typeface="Calibri"/>
                <a:cs typeface="Calibri"/>
              </a:defRPr>
            </a:pPr>
            <a:r>
              <a:rPr sz="975" b="1">
                <a:solidFill>
                  <a:srgbClr val="7C83FD"/>
                </a:solidFill>
                <a:latin typeface="Calibri"/>
                <a:ea typeface="Calibri"/>
                <a:cs typeface="Calibri"/>
              </a:rPr>
              <a:t>FYP II</a:t>
            </a:r>
          </a:p>
        </p:txBody>
      </p:sp>
      <p:sp>
        <p:nvSpPr>
          <p:cNvPr id="152" name="Oval 151">
            <a:extLst xmlns:a="http://schemas.openxmlformats.org/drawingml/2006/main">
              <a:ext uri="{FF2B5EF4-FFF2-40B4-BE49-F238E27FC236}">
                <a16:creationId xmlns:a16="http://schemas.microsoft.com/office/drawing/2014/main" id="{BB8FB5D8-1517-A78C-0123-568A225603CD}"/>
              </a:ext>
            </a:extLst>
          </p:cNvPr>
          <p:cNvSpPr>
            <a:spLocks xmlns:a="http://schemas.openxmlformats.org/drawingml/2006/main" noGrp="1"/>
          </p:cNvSpPr>
          <p:nvPr/>
        </p:nvSpPr>
        <p:spPr>
          <a:xfrm xmlns:a="http://schemas.openxmlformats.org/drawingml/2006/main">
            <a:off x="8229600" y="2609850"/>
            <a:ext cx="685800" cy="685800"/>
          </a:xfrm>
          <a:prstGeom xmlns:a="http://schemas.openxmlformats.org/drawingml/2006/main" prst="ellipse">
            <a:avLst/>
          </a:prstGeom>
          <a:solidFill xmlns:a="http://schemas.openxmlformats.org/drawingml/2006/main">
            <a:srgbClr val="3A316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54" name="Rectangle 153">
            <a:extLst xmlns:a="http://schemas.openxmlformats.org/drawingml/2006/main">
              <a:ext uri="{FF2B5EF4-FFF2-40B4-BE49-F238E27FC236}">
                <a16:creationId xmlns:a16="http://schemas.microsoft.com/office/drawing/2014/main" id="{60C35829-5BBE-9AFE-3B0B-FF6DE8C74A73}"/>
              </a:ext>
            </a:extLst>
          </p:cNvPr>
          <p:cNvSpPr>
            <a:spLocks xmlns:a="http://schemas.openxmlformats.org/drawingml/2006/main" noGrp="1"/>
          </p:cNvSpPr>
          <p:nvPr/>
        </p:nvSpPr>
        <p:spPr>
          <a:xfrm xmlns:a="http://schemas.openxmlformats.org/drawingml/2006/main">
            <a:off x="8229600" y="2781300"/>
            <a:ext cx="68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725" b="1">
                <a:solidFill>
                  <a:srgbClr val="F8F6FF"/>
                </a:solidFill>
                <a:latin typeface="Calibri"/>
                <a:ea typeface="Calibri"/>
                <a:cs typeface="Calibri"/>
              </a:defRPr>
            </a:pPr>
            <a:r>
              <a:rPr sz="1725" b="1">
                <a:solidFill>
                  <a:srgbClr val="F8F6FF"/>
                </a:solidFill>
                <a:latin typeface="Calibri"/>
                <a:ea typeface="Calibri"/>
                <a:cs typeface="Calibri"/>
              </a:rPr>
              <a:t>04</a:t>
            </a:r>
          </a:p>
        </p:txBody>
      </p:sp>
      <p:sp>
        <p:nvSpPr>
          <p:cNvPr id="156" name="Rectangle 155">
            <a:extLst xmlns:a="http://schemas.openxmlformats.org/drawingml/2006/main">
              <a:ext uri="{FF2B5EF4-FFF2-40B4-BE49-F238E27FC236}">
                <a16:creationId xmlns:a16="http://schemas.microsoft.com/office/drawing/2014/main" id="{4580056B-B897-0667-5B1A-3F4B469AE58F}"/>
              </a:ext>
            </a:extLst>
          </p:cNvPr>
          <p:cNvSpPr>
            <a:spLocks xmlns:a="http://schemas.openxmlformats.org/drawingml/2006/main" noGrp="1"/>
          </p:cNvSpPr>
          <p:nvPr/>
        </p:nvSpPr>
        <p:spPr>
          <a:xfrm xmlns:a="http://schemas.openxmlformats.org/drawingml/2006/main">
            <a:off x="7677150" y="3467100"/>
            <a:ext cx="1790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F8F6FF"/>
                </a:solidFill>
                <a:latin typeface="Calibri"/>
                <a:ea typeface="Calibri"/>
                <a:cs typeface="Calibri"/>
              </a:defRPr>
            </a:pPr>
            <a:r>
              <a:rPr sz="1575" b="1">
                <a:solidFill>
                  <a:srgbClr val="F8F6FF"/>
                </a:solidFill>
                <a:latin typeface="Calibri"/>
                <a:ea typeface="Calibri"/>
                <a:cs typeface="Calibri"/>
              </a:rPr>
              <a:t>Refine</a:t>
            </a:r>
          </a:p>
        </p:txBody>
      </p:sp>
      <p:sp>
        <p:nvSpPr>
          <p:cNvPr id="158" name="Rectangle 157">
            <a:extLst xmlns:a="http://schemas.openxmlformats.org/drawingml/2006/main">
              <a:ext uri="{FF2B5EF4-FFF2-40B4-BE49-F238E27FC236}">
                <a16:creationId xmlns:a16="http://schemas.microsoft.com/office/drawing/2014/main" id="{5A4E10F8-15F3-A147-E26A-F086E0E92306}"/>
              </a:ext>
            </a:extLst>
          </p:cNvPr>
          <p:cNvSpPr>
            <a:spLocks xmlns:a="http://schemas.openxmlformats.org/drawingml/2006/main" noGrp="1"/>
          </p:cNvSpPr>
          <p:nvPr/>
        </p:nvSpPr>
        <p:spPr>
          <a:xfrm xmlns:a="http://schemas.openxmlformats.org/drawingml/2006/main">
            <a:off x="7600950" y="3914775"/>
            <a:ext cx="1943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0">
                <a:solidFill>
                  <a:srgbClr val="B8B0D4"/>
                </a:solidFill>
                <a:latin typeface="Calibri"/>
                <a:ea typeface="Calibri"/>
                <a:cs typeface="Calibri"/>
              </a:defRPr>
            </a:pPr>
            <a:r>
              <a:rPr sz="1125" b="0">
                <a:solidFill>
                  <a:srgbClr val="B8B0D4"/>
                </a:solidFill>
                <a:latin typeface="Calibri"/>
                <a:ea typeface="Calibri"/>
                <a:cs typeface="Calibri"/>
              </a:rPr>
              <a:t>Personalised games, adaptive difficulty, analytics, risk and rewards</a:t>
            </a:r>
          </a:p>
        </p:txBody>
      </p:sp>
      <p:sp>
        <p:nvSpPr>
          <p:cNvPr id="160" name="Rectangle 159">
            <a:extLst xmlns:a="http://schemas.openxmlformats.org/drawingml/2006/main">
              <a:ext uri="{FF2B5EF4-FFF2-40B4-BE49-F238E27FC236}">
                <a16:creationId xmlns:a16="http://schemas.microsoft.com/office/drawing/2014/main" id="{D557451D-E5DE-775F-97A3-FD8D48066886}"/>
              </a:ext>
            </a:extLst>
          </p:cNvPr>
          <p:cNvSpPr>
            <a:spLocks xmlns:a="http://schemas.openxmlformats.org/drawingml/2006/main" noGrp="1"/>
          </p:cNvSpPr>
          <p:nvPr/>
        </p:nvSpPr>
        <p:spPr>
          <a:xfrm xmlns:a="http://schemas.openxmlformats.org/drawingml/2006/main">
            <a:off x="10001250" y="1962150"/>
            <a:ext cx="1790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75" b="1">
                <a:solidFill>
                  <a:srgbClr val="FF6B62"/>
                </a:solidFill>
                <a:latin typeface="Calibri"/>
                <a:ea typeface="Calibri"/>
                <a:cs typeface="Calibri"/>
              </a:defRPr>
            </a:pPr>
            <a:r>
              <a:rPr sz="975" b="1">
                <a:solidFill>
                  <a:srgbClr val="FF6B62"/>
                </a:solidFill>
                <a:latin typeface="Calibri"/>
                <a:ea typeface="Calibri"/>
                <a:cs typeface="Calibri"/>
              </a:rPr>
              <a:t>FINAL</a:t>
            </a:r>
          </a:p>
        </p:txBody>
      </p:sp>
      <p:sp>
        <p:nvSpPr>
          <p:cNvPr id="162" name="Oval 161">
            <a:extLst xmlns:a="http://schemas.openxmlformats.org/drawingml/2006/main">
              <a:ext uri="{FF2B5EF4-FFF2-40B4-BE49-F238E27FC236}">
                <a16:creationId xmlns:a16="http://schemas.microsoft.com/office/drawing/2014/main" id="{2717F912-48AE-DB73-F135-0FBACB3C6831}"/>
              </a:ext>
            </a:extLst>
          </p:cNvPr>
          <p:cNvSpPr>
            <a:spLocks xmlns:a="http://schemas.openxmlformats.org/drawingml/2006/main" noGrp="1"/>
          </p:cNvSpPr>
          <p:nvPr/>
        </p:nvSpPr>
        <p:spPr>
          <a:xfrm xmlns:a="http://schemas.openxmlformats.org/drawingml/2006/main">
            <a:off x="10553700" y="2609850"/>
            <a:ext cx="685800" cy="685800"/>
          </a:xfrm>
          <a:prstGeom xmlns:a="http://schemas.openxmlformats.org/drawingml/2006/main" prst="ellipse">
            <a:avLst/>
          </a:prstGeom>
          <a:solidFill xmlns:a="http://schemas.openxmlformats.org/drawingml/2006/main">
            <a:srgbClr val="FF6B62"/>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64" name="Rectangle 163">
            <a:extLst xmlns:a="http://schemas.openxmlformats.org/drawingml/2006/main">
              <a:ext uri="{FF2B5EF4-FFF2-40B4-BE49-F238E27FC236}">
                <a16:creationId xmlns:a16="http://schemas.microsoft.com/office/drawing/2014/main" id="{DAE68769-E5D7-4C84-A309-2427BD1B6D58}"/>
              </a:ext>
            </a:extLst>
          </p:cNvPr>
          <p:cNvSpPr>
            <a:spLocks xmlns:a="http://schemas.openxmlformats.org/drawingml/2006/main" noGrp="1"/>
          </p:cNvSpPr>
          <p:nvPr/>
        </p:nvSpPr>
        <p:spPr>
          <a:xfrm xmlns:a="http://schemas.openxmlformats.org/drawingml/2006/main">
            <a:off x="10553700" y="2781300"/>
            <a:ext cx="68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725" b="1">
                <a:solidFill>
                  <a:srgbClr val="F8F6FF"/>
                </a:solidFill>
                <a:latin typeface="Calibri"/>
                <a:ea typeface="Calibri"/>
                <a:cs typeface="Calibri"/>
              </a:defRPr>
            </a:pPr>
            <a:r>
              <a:rPr sz="1725" b="1">
                <a:solidFill>
                  <a:srgbClr val="F8F6FF"/>
                </a:solidFill>
                <a:latin typeface="Calibri"/>
                <a:ea typeface="Calibri"/>
                <a:cs typeface="Calibri"/>
              </a:rPr>
              <a:t>05</a:t>
            </a:r>
          </a:p>
        </p:txBody>
      </p:sp>
      <p:sp>
        <p:nvSpPr>
          <p:cNvPr id="166" name="Rectangle 165">
            <a:extLst xmlns:a="http://schemas.openxmlformats.org/drawingml/2006/main">
              <a:ext uri="{FF2B5EF4-FFF2-40B4-BE49-F238E27FC236}">
                <a16:creationId xmlns:a16="http://schemas.microsoft.com/office/drawing/2014/main" id="{ADF2D944-7A7E-707D-6A4A-0F4833050B7A}"/>
              </a:ext>
            </a:extLst>
          </p:cNvPr>
          <p:cNvSpPr>
            <a:spLocks xmlns:a="http://schemas.openxmlformats.org/drawingml/2006/main" noGrp="1"/>
          </p:cNvSpPr>
          <p:nvPr/>
        </p:nvSpPr>
        <p:spPr>
          <a:xfrm xmlns:a="http://schemas.openxmlformats.org/drawingml/2006/main">
            <a:off x="10001250" y="3467100"/>
            <a:ext cx="1790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F8F6FF"/>
                </a:solidFill>
                <a:latin typeface="Calibri"/>
                <a:ea typeface="Calibri"/>
                <a:cs typeface="Calibri"/>
              </a:defRPr>
            </a:pPr>
            <a:r>
              <a:rPr sz="1575" b="1">
                <a:solidFill>
                  <a:srgbClr val="F8F6FF"/>
                </a:solidFill>
                <a:latin typeface="Calibri"/>
                <a:ea typeface="Calibri"/>
                <a:cs typeface="Calibri"/>
              </a:rPr>
              <a:t>Validate</a:t>
            </a:r>
          </a:p>
        </p:txBody>
      </p:sp>
      <p:sp>
        <p:nvSpPr>
          <p:cNvPr id="168" name="Rectangle 167">
            <a:extLst xmlns:a="http://schemas.openxmlformats.org/drawingml/2006/main">
              <a:ext uri="{FF2B5EF4-FFF2-40B4-BE49-F238E27FC236}">
                <a16:creationId xmlns:a16="http://schemas.microsoft.com/office/drawing/2014/main" id="{472767DB-9287-5392-F62E-455D5EE5FE45}"/>
              </a:ext>
            </a:extLst>
          </p:cNvPr>
          <p:cNvSpPr>
            <a:spLocks xmlns:a="http://schemas.openxmlformats.org/drawingml/2006/main" noGrp="1"/>
          </p:cNvSpPr>
          <p:nvPr/>
        </p:nvSpPr>
        <p:spPr>
          <a:xfrm xmlns:a="http://schemas.openxmlformats.org/drawingml/2006/main">
            <a:off x="9925050" y="3914775"/>
            <a:ext cx="1943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0">
                <a:solidFill>
                  <a:srgbClr val="B8B0D4"/>
                </a:solidFill>
                <a:latin typeface="Calibri"/>
                <a:ea typeface="Calibri"/>
                <a:cs typeface="Calibri"/>
              </a:defRPr>
            </a:pPr>
            <a:r>
              <a:rPr sz="1125" b="0">
                <a:solidFill>
                  <a:srgbClr val="B8B0D4"/>
                </a:solidFill>
                <a:latin typeface="Calibri"/>
                <a:ea typeface="Calibri"/>
                <a:cs typeface="Calibri"/>
              </a:rPr>
              <a:t>Formal testing and final project deliverables</a:t>
            </a:r>
          </a:p>
        </p:txBody>
      </p:sp>
      <p:sp>
        <p:nvSpPr>
          <p:cNvPr id="170" name="Rectangle: Rounded Corners 169">
            <a:extLst xmlns:a="http://schemas.openxmlformats.org/drawingml/2006/main">
              <a:ext uri="{FF2B5EF4-FFF2-40B4-BE49-F238E27FC236}">
                <a16:creationId xmlns:a16="http://schemas.microsoft.com/office/drawing/2014/main" id="{8DE1487A-1460-9900-98AA-B868EB05DED0}"/>
              </a:ext>
            </a:extLst>
          </p:cNvPr>
          <p:cNvSpPr>
            <a:spLocks xmlns:a="http://schemas.openxmlformats.org/drawingml/2006/main" noGrp="1"/>
          </p:cNvSpPr>
          <p:nvPr/>
        </p:nvSpPr>
        <p:spPr>
          <a:xfrm xmlns:a="http://schemas.openxmlformats.org/drawingml/2006/main">
            <a:off x="1409700" y="5105400"/>
            <a:ext cx="9677400" cy="742950"/>
          </a:xfrm>
          <a:prstGeom xmlns:a="http://schemas.openxmlformats.org/drawingml/2006/main" prst="roundRect">
            <a:avLst>
              <a:gd name="adj" fmla="val 15385"/>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72" name="Rectangle 171">
            <a:extLst xmlns:a="http://schemas.openxmlformats.org/drawingml/2006/main">
              <a:ext uri="{FF2B5EF4-FFF2-40B4-BE49-F238E27FC236}">
                <a16:creationId xmlns:a16="http://schemas.microsoft.com/office/drawing/2014/main" id="{232DEFF6-B3AA-AB67-7AEA-E06419D9755F}"/>
              </a:ext>
            </a:extLst>
          </p:cNvPr>
          <p:cNvSpPr>
            <a:spLocks xmlns:a="http://schemas.openxmlformats.org/drawingml/2006/main" noGrp="1"/>
          </p:cNvSpPr>
          <p:nvPr/>
        </p:nvSpPr>
        <p:spPr>
          <a:xfrm xmlns:a="http://schemas.openxmlformats.org/drawingml/2006/main">
            <a:off x="1676400" y="52959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FF6B62"/>
                </a:solidFill>
                <a:latin typeface="Calibri"/>
                <a:ea typeface="Calibri"/>
                <a:cs typeface="Calibri"/>
              </a:defRPr>
            </a:pPr>
            <a:r>
              <a:rPr sz="1350" b="1">
                <a:solidFill>
                  <a:srgbClr val="FF6B62"/>
                </a:solidFill>
                <a:latin typeface="Calibri"/>
                <a:ea typeface="Calibri"/>
                <a:cs typeface="Calibri"/>
              </a:rPr>
              <a:t>FYP II expansion</a:t>
            </a:r>
          </a:p>
        </p:txBody>
      </p:sp>
      <p:sp>
        <p:nvSpPr>
          <p:cNvPr id="174" name="Rectangle 173">
            <a:extLst xmlns:a="http://schemas.openxmlformats.org/drawingml/2006/main">
              <a:ext uri="{FF2B5EF4-FFF2-40B4-BE49-F238E27FC236}">
                <a16:creationId xmlns:a16="http://schemas.microsoft.com/office/drawing/2014/main" id="{21A72094-A2E6-9DBF-23DE-DE2C81660C61}"/>
              </a:ext>
            </a:extLst>
          </p:cNvPr>
          <p:cNvSpPr>
            <a:spLocks xmlns:a="http://schemas.openxmlformats.org/drawingml/2006/main" noGrp="1"/>
          </p:cNvSpPr>
          <p:nvPr/>
        </p:nvSpPr>
        <p:spPr>
          <a:xfrm xmlns:a="http://schemas.openxmlformats.org/drawingml/2006/main">
            <a:off x="3486150" y="5238750"/>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B8B0D4"/>
                </a:solidFill>
                <a:latin typeface="Calibri"/>
                <a:ea typeface="Calibri"/>
                <a:cs typeface="Calibri"/>
              </a:defRPr>
            </a:pPr>
            <a:r>
              <a:rPr sz="1275" b="0">
                <a:solidFill>
                  <a:srgbClr val="B8B0D4"/>
                </a:solidFill>
                <a:latin typeface="Calibri"/>
                <a:ea typeface="Calibri"/>
                <a:cs typeface="Calibri"/>
              </a:rPr>
              <a:t>Feedback expanded MindCare from a basic prototype into a personalised care workflow with adaptive games, analytics, risk monitoring and rewards.</a:t>
            </a:r>
          </a:p>
        </p:txBody>
      </p:sp>
      <p:sp>
        <p:nvSpPr>
          <p:cNvPr id="176" name="Rectangle 175">
            <a:extLst xmlns:a="http://schemas.openxmlformats.org/drawingml/2006/main">
              <a:ext uri="{FF2B5EF4-FFF2-40B4-BE49-F238E27FC236}">
                <a16:creationId xmlns:a16="http://schemas.microsoft.com/office/drawing/2014/main" id="{F2575357-1AE5-17CE-03C1-95E2C76A5088}"/>
              </a:ext>
            </a:extLst>
          </p:cNvPr>
          <p:cNvSpPr>
            <a:spLocks xmlns:a="http://schemas.openxmlformats.org/drawingml/2006/main" noGrp="1"/>
          </p:cNvSpPr>
          <p:nvPr/>
        </p:nvSpPr>
        <p:spPr>
          <a:xfrm xmlns:a="http://schemas.openxmlformats.org/drawingml/2006/main">
            <a:off x="685800" y="66960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a:solidFill>
                  <a:srgbClr val="8F87AC"/>
                </a:solidFill>
                <a:latin typeface="Calibri"/>
                <a:ea typeface="Calibri"/>
                <a:cs typeface="Calibri"/>
              </a:defRPr>
            </a:pPr>
            <a:r>
              <a:rPr sz="750" b="0">
                <a:solidFill>
                  <a:srgbClr val="8F87AC"/>
                </a:solidFill>
                <a:latin typeface="Calibri"/>
                <a:ea typeface="Calibri"/>
                <a:cs typeface="Calibri"/>
              </a:rPr>
              <a:t>Sources: Final report Chapter 3, pp. 38–40; WBS, pp. 42–47.</a:t>
            </a:r>
          </a:p>
        </p:txBody>
      </p:sp>
      <p:sp>
        <p:nvSpPr>
          <p:cNvPr id="178" name="Rectangle 177">
            <a:extLst xmlns:a="http://schemas.openxmlformats.org/drawingml/2006/main">
              <a:ext uri="{FF2B5EF4-FFF2-40B4-BE49-F238E27FC236}">
                <a16:creationId xmlns:a16="http://schemas.microsoft.com/office/drawing/2014/main" id="{B3D1C624-AA9F-9FB5-41CA-6ED3E56E7D61}"/>
              </a:ext>
            </a:extLst>
          </p:cNvPr>
          <p:cNvSpPr>
            <a:spLocks xmlns:a="http://schemas.openxmlformats.org/drawingml/2006/main" noGrp="1"/>
          </p:cNvSpPr>
          <p:nvPr/>
        </p:nvSpPr>
        <p:spPr>
          <a:xfrm xmlns:a="http://schemas.openxmlformats.org/drawingml/2006/main">
            <a:off x="11430000" y="66484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1">
                <a:solidFill>
                  <a:srgbClr val="B8B0D4"/>
                </a:solidFill>
                <a:latin typeface="Calibri"/>
                <a:ea typeface="Calibri"/>
                <a:cs typeface="Calibri"/>
              </a:defRPr>
            </a:pPr>
            <a:r>
              <a:rPr sz="975" b="1">
                <a:solidFill>
                  <a:srgbClr val="B8B0D4"/>
                </a:solidFill>
                <a:latin typeface="Calibri"/>
                <a:ea typeface="Calibri"/>
                <a:cs typeface="Calibri"/>
              </a:rPr>
              <a:t>07</a:t>
            </a:r>
          </a:p>
        </p:txBody>
      </p:sp>
    </p:spTree>
    <p:extLst>
      <p:ext uri="{BB962C8B-B14F-4D97-AF65-F5344CB8AC3E}">
        <p14:creationId xmlns:p14="http://schemas.microsoft.com/office/powerpoint/2010/main" val="1665924436"/>
      </p:ext>
    </p:extLst>
  </p:cSld>
</p:sld>
</file>

<file path=ppt/slides/slide8.xml><?xml version="1.0" encoding="utf-8"?>
<p:sld xmlns:p="http://schemas.openxmlformats.org/presentationml/2006/main">
  <p:cSld>
    <p:bg>
      <p:bgPr>
        <a:gradFill xmlns:a="http://schemas.openxmlformats.org/drawingml/2006/main">
          <a:gsLst>
            <a:gs pos="0">
              <a:srgbClr val="120B27"/>
            </a:gs>
            <a:gs pos="52000">
              <a:srgbClr val="19112F"/>
            </a:gs>
            <a:gs pos="100000">
              <a:srgbClr val="24183F"/>
            </a:gs>
          </a:gsLst>
          <a:lin ang="8100000"/>
        </a:gradFill>
      </p:bgPr>
    </p:bg>
    <p:spTree>
      <p:nvGrpSpPr>
        <p:cNvPr id="1" name=""/>
        <p:cNvGrpSpPr/>
        <p:nvPr/>
      </p:nvGrpSpPr>
      <p:grpSpPr>
        <a:xfrm xmlns:a="http://schemas.openxmlformats.org/drawingml/2006/main"/>
      </p:grpSpPr>
      <p:sp>
        <p:nvSpPr>
          <p:cNvPr id="31" name="Rectangle 30">
            <a:extLst xmlns:a="http://schemas.openxmlformats.org/drawingml/2006/main">
              <a:ext uri="{FF2B5EF4-FFF2-40B4-BE49-F238E27FC236}">
                <a16:creationId xmlns:a16="http://schemas.microsoft.com/office/drawing/2014/main" id="{569677B4-9AC8-45A1-AB8E-09D196C6F3D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96E0C09F-A5FA-432F-9338-EAAA72BEECBA}"/>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FF6B62"/>
                </a:solidFill>
                <a:latin typeface="Calibri"/>
                <a:ea typeface="Calibri"/>
                <a:cs typeface="Calibri"/>
              </a:defRPr>
            </a:pPr>
            <a:r>
              <a:rPr sz="1125" b="1">
                <a:solidFill>
                  <a:srgbClr val="FF6B62"/>
                </a:solidFill>
                <a:latin typeface="Calibri"/>
                <a:ea typeface="Calibri"/>
                <a:cs typeface="Calibri"/>
              </a:rPr>
              <a:t>CHAPTER 4 · REQUIREMENTS</a:t>
            </a:r>
          </a:p>
        </p:txBody>
      </p:sp>
      <p:sp>
        <p:nvSpPr>
          <p:cNvPr id="3" name="Rectangle 2">
            <a:extLst xmlns:a="http://schemas.openxmlformats.org/drawingml/2006/main">
              <a:ext uri="{FF2B5EF4-FFF2-40B4-BE49-F238E27FC236}">
                <a16:creationId xmlns:a16="http://schemas.microsoft.com/office/drawing/2014/main" id="{CABC733A-8853-44A5-BE91-39CF1A8F1A70}"/>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F8F6FF"/>
                </a:solidFill>
                <a:latin typeface="Calibri"/>
                <a:ea typeface="Calibri"/>
                <a:cs typeface="Calibri"/>
              </a:defRPr>
            </a:pPr>
            <a:r>
              <a:rPr sz="2700" b="1">
                <a:solidFill>
                  <a:srgbClr val="F8F6FF"/>
                </a:solidFill>
                <a:latin typeface="Calibri"/>
                <a:ea typeface="Calibri"/>
                <a:cs typeface="Calibri"/>
              </a:rPr>
              <a:t>Functional requirements expanded from 9 to 33</a:t>
            </a:r>
          </a:p>
        </p:txBody>
      </p:sp>
      <p:sp>
        <p:nvSpPr>
          <p:cNvPr id="4" name="Rectangle 3">
            <a:extLst xmlns:a="http://schemas.openxmlformats.org/drawingml/2006/main">
              <a:ext uri="{FF2B5EF4-FFF2-40B4-BE49-F238E27FC236}">
                <a16:creationId xmlns:a16="http://schemas.microsoft.com/office/drawing/2014/main" id="{FB425E8F-40CD-47FB-8DED-6012A7CC0274}"/>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B8B0D4"/>
                </a:solidFill>
                <a:latin typeface="Calibri"/>
                <a:ea typeface="Calibri"/>
                <a:cs typeface="Calibri"/>
              </a:defRPr>
            </a:pPr>
            <a:r>
              <a:rPr sz="1350" b="0">
                <a:solidFill>
                  <a:srgbClr val="B8B0D4"/>
                </a:solidFill>
                <a:latin typeface="Calibri"/>
                <a:ea typeface="Calibri"/>
                <a:cs typeface="Calibri"/>
              </a:rPr>
              <a:t>The final list converted broad expectations into testable, role-specific behaviour.</a:t>
            </a:r>
          </a:p>
        </p:txBody>
      </p:sp>
      <p:sp>
        <p:nvSpPr>
          <p:cNvPr id="5" name="Rectangle 4">
            <a:extLst xmlns:a="http://schemas.openxmlformats.org/drawingml/2006/main">
              <a:ext uri="{FF2B5EF4-FFF2-40B4-BE49-F238E27FC236}">
                <a16:creationId xmlns:a16="http://schemas.microsoft.com/office/drawing/2014/main" id="{3AAE3E9A-DDA7-4139-9CA2-A83B2C33D173}"/>
              </a:ext>
            </a:extLst>
          </p:cNvPr>
          <p:cNvSpPr>
            <a:spLocks xmlns:a="http://schemas.openxmlformats.org/drawingml/2006/main" noGrp="1"/>
          </p:cNvSpPr>
          <p:nvPr/>
        </p:nvSpPr>
        <p:spPr>
          <a:xfrm xmlns:a="http://schemas.openxmlformats.org/drawingml/2006/main">
            <a:off x="781050" y="181927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B8B0D4"/>
                </a:solidFill>
                <a:latin typeface="Calibri"/>
                <a:ea typeface="Calibri"/>
                <a:cs typeface="Calibri"/>
              </a:defRPr>
            </a:pPr>
            <a:r>
              <a:rPr sz="1125" b="1">
                <a:solidFill>
                  <a:srgbClr val="B8B0D4"/>
                </a:solidFill>
                <a:latin typeface="Calibri"/>
                <a:ea typeface="Calibri"/>
                <a:cs typeface="Calibri"/>
              </a:rPr>
              <a:t>EARLIER</a:t>
            </a:r>
          </a:p>
        </p:txBody>
      </p:sp>
      <p:sp>
        <p:nvSpPr>
          <p:cNvPr id="6" name="Rectangle 5">
            <a:extLst xmlns:a="http://schemas.openxmlformats.org/drawingml/2006/main">
              <a:ext uri="{FF2B5EF4-FFF2-40B4-BE49-F238E27FC236}">
                <a16:creationId xmlns:a16="http://schemas.microsoft.com/office/drawing/2014/main" id="{8803F137-C785-4C57-82EB-3CB72D4AE43E}"/>
              </a:ext>
            </a:extLst>
          </p:cNvPr>
          <p:cNvSpPr>
            <a:spLocks xmlns:a="http://schemas.openxmlformats.org/drawingml/2006/main" noGrp="1"/>
          </p:cNvSpPr>
          <p:nvPr/>
        </p:nvSpPr>
        <p:spPr>
          <a:xfrm xmlns:a="http://schemas.openxmlformats.org/drawingml/2006/main">
            <a:off x="762000" y="2076450"/>
            <a:ext cx="2000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850" b="1">
                <a:solidFill>
                  <a:srgbClr val="8F87AC"/>
                </a:solidFill>
                <a:latin typeface="Calibri"/>
                <a:ea typeface="Calibri"/>
                <a:cs typeface="Calibri"/>
              </a:defRPr>
            </a:pPr>
            <a:r>
              <a:rPr sz="5850" b="1">
                <a:solidFill>
                  <a:srgbClr val="8F87AC"/>
                </a:solidFill>
                <a:latin typeface="Calibri"/>
                <a:ea typeface="Calibri"/>
                <a:cs typeface="Calibri"/>
              </a:rPr>
              <a:t>9</a:t>
            </a:r>
          </a:p>
        </p:txBody>
      </p:sp>
      <p:sp>
        <p:nvSpPr>
          <p:cNvPr id="7" name="Rectangle 6">
            <a:extLst xmlns:a="http://schemas.openxmlformats.org/drawingml/2006/main">
              <a:ext uri="{FF2B5EF4-FFF2-40B4-BE49-F238E27FC236}">
                <a16:creationId xmlns:a16="http://schemas.microsoft.com/office/drawing/2014/main" id="{B44F6494-27AC-4750-AAFD-E88502834956}"/>
              </a:ext>
            </a:extLst>
          </p:cNvPr>
          <p:cNvSpPr>
            <a:spLocks xmlns:a="http://schemas.openxmlformats.org/drawingml/2006/main" noGrp="1"/>
          </p:cNvSpPr>
          <p:nvPr/>
        </p:nvSpPr>
        <p:spPr>
          <a:xfrm xmlns:a="http://schemas.openxmlformats.org/drawingml/2006/main">
            <a:off x="781050" y="294322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F8F6FF"/>
                </a:solidFill>
                <a:latin typeface="Calibri"/>
                <a:ea typeface="Calibri"/>
                <a:cs typeface="Calibri"/>
              </a:defRPr>
            </a:pPr>
            <a:r>
              <a:rPr sz="1575" b="1">
                <a:solidFill>
                  <a:srgbClr val="F8F6FF"/>
                </a:solidFill>
                <a:latin typeface="Calibri"/>
                <a:ea typeface="Calibri"/>
                <a:cs typeface="Calibri"/>
              </a:rPr>
              <a:t>General statements</a:t>
            </a:r>
          </a:p>
        </p:txBody>
      </p:sp>
      <p:sp>
        <p:nvSpPr>
          <p:cNvPr id="8" name="Rectangle 7">
            <a:extLst xmlns:a="http://schemas.openxmlformats.org/drawingml/2006/main">
              <a:ext uri="{FF2B5EF4-FFF2-40B4-BE49-F238E27FC236}">
                <a16:creationId xmlns:a16="http://schemas.microsoft.com/office/drawing/2014/main" id="{2A8AD7DA-00E7-49B4-A973-1C0292C91CCD}"/>
              </a:ext>
            </a:extLst>
          </p:cNvPr>
          <p:cNvSpPr>
            <a:spLocks xmlns:a="http://schemas.openxmlformats.org/drawingml/2006/main" noGrp="1"/>
          </p:cNvSpPr>
          <p:nvPr/>
        </p:nvSpPr>
        <p:spPr>
          <a:xfrm xmlns:a="http://schemas.openxmlformats.org/drawingml/2006/main">
            <a:off x="781050" y="3362325"/>
            <a:ext cx="295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B8B0D4"/>
                </a:solidFill>
                <a:latin typeface="Calibri"/>
                <a:ea typeface="Calibri"/>
                <a:cs typeface="Calibri"/>
              </a:defRPr>
            </a:pPr>
            <a:r>
              <a:rPr sz="1275" b="0">
                <a:solidFill>
                  <a:srgbClr val="B8B0D4"/>
                </a:solidFill>
                <a:latin typeface="Calibri"/>
                <a:ea typeface="Calibri"/>
                <a:cs typeface="Calibri"/>
              </a:rPr>
              <a:t>Authentication, dashboard, status, notification, games, streaks and basic caregiver monitoring.</a:t>
            </a:r>
          </a:p>
        </p:txBody>
      </p:sp>
      <p:sp>
        <p:nvSpPr>
          <p:cNvPr id="9" name="Rectangle 8">
            <a:extLst xmlns:a="http://schemas.openxmlformats.org/drawingml/2006/main">
              <a:ext uri="{FF2B5EF4-FFF2-40B4-BE49-F238E27FC236}">
                <a16:creationId xmlns:a16="http://schemas.microsoft.com/office/drawing/2014/main" id="{C5A7DCFD-2F34-44D4-BB19-4002D111D424}"/>
              </a:ext>
            </a:extLst>
          </p:cNvPr>
          <p:cNvSpPr>
            <a:spLocks xmlns:a="http://schemas.openxmlformats.org/drawingml/2006/main" noGrp="1"/>
          </p:cNvSpPr>
          <p:nvPr/>
        </p:nvSpPr>
        <p:spPr>
          <a:xfrm xmlns:a="http://schemas.openxmlformats.org/drawingml/2006/main">
            <a:off x="3905250" y="2609850"/>
            <a:ext cx="838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4350" b="1">
                <a:solidFill>
                  <a:srgbClr val="FF6B62"/>
                </a:solidFill>
                <a:latin typeface="Calibri"/>
                <a:ea typeface="Calibri"/>
                <a:cs typeface="Calibri"/>
              </a:defRPr>
            </a:pPr>
            <a:r>
              <a:rPr sz="4350" b="1">
                <a:solidFill>
                  <a:srgbClr val="FF6B62"/>
                </a:solidFill>
                <a:latin typeface="Calibri"/>
                <a:ea typeface="Calibri"/>
                <a:cs typeface="Calibri"/>
              </a:rPr>
              <a:t>→</a:t>
            </a:r>
          </a:p>
        </p:txBody>
      </p:sp>
      <p:sp>
        <p:nvSpPr>
          <p:cNvPr id="10" name="Rectangle 9">
            <a:extLst xmlns:a="http://schemas.openxmlformats.org/drawingml/2006/main">
              <a:ext uri="{FF2B5EF4-FFF2-40B4-BE49-F238E27FC236}">
                <a16:creationId xmlns:a16="http://schemas.microsoft.com/office/drawing/2014/main" id="{AD2CAEBF-4E74-4FDF-A561-DFE6D8F1BF8B}"/>
              </a:ext>
            </a:extLst>
          </p:cNvPr>
          <p:cNvSpPr>
            <a:spLocks xmlns:a="http://schemas.openxmlformats.org/drawingml/2006/main" noGrp="1"/>
          </p:cNvSpPr>
          <p:nvPr/>
        </p:nvSpPr>
        <p:spPr>
          <a:xfrm xmlns:a="http://schemas.openxmlformats.org/drawingml/2006/main">
            <a:off x="5029200" y="1819275"/>
            <a:ext cx="152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FF6B62"/>
                </a:solidFill>
                <a:latin typeface="Calibri"/>
                <a:ea typeface="Calibri"/>
                <a:cs typeface="Calibri"/>
              </a:defRPr>
            </a:pPr>
            <a:r>
              <a:rPr sz="1125" b="1">
                <a:solidFill>
                  <a:srgbClr val="FF6B62"/>
                </a:solidFill>
                <a:latin typeface="Calibri"/>
                <a:ea typeface="Calibri"/>
                <a:cs typeface="Calibri"/>
              </a:rPr>
              <a:t>FINAL</a:t>
            </a:r>
          </a:p>
        </p:txBody>
      </p:sp>
      <p:sp>
        <p:nvSpPr>
          <p:cNvPr id="11" name="Rectangle 10">
            <a:extLst xmlns:a="http://schemas.openxmlformats.org/drawingml/2006/main">
              <a:ext uri="{FF2B5EF4-FFF2-40B4-BE49-F238E27FC236}">
                <a16:creationId xmlns:a16="http://schemas.microsoft.com/office/drawing/2014/main" id="{C79B18B3-FC7B-4E1C-8178-0A7311F76501}"/>
              </a:ext>
            </a:extLst>
          </p:cNvPr>
          <p:cNvSpPr>
            <a:spLocks xmlns:a="http://schemas.openxmlformats.org/drawingml/2006/main" noGrp="1"/>
          </p:cNvSpPr>
          <p:nvPr/>
        </p:nvSpPr>
        <p:spPr>
          <a:xfrm xmlns:a="http://schemas.openxmlformats.org/drawingml/2006/main">
            <a:off x="5010150" y="2076450"/>
            <a:ext cx="219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850" b="1">
                <a:solidFill>
                  <a:srgbClr val="FF6B62"/>
                </a:solidFill>
                <a:latin typeface="Calibri"/>
                <a:ea typeface="Calibri"/>
                <a:cs typeface="Calibri"/>
              </a:defRPr>
            </a:pPr>
            <a:r>
              <a:rPr sz="5850" b="1">
                <a:solidFill>
                  <a:srgbClr val="FF6B62"/>
                </a:solidFill>
                <a:latin typeface="Calibri"/>
                <a:ea typeface="Calibri"/>
                <a:cs typeface="Calibri"/>
              </a:rPr>
              <a:t>33</a:t>
            </a:r>
          </a:p>
        </p:txBody>
      </p:sp>
      <p:sp>
        <p:nvSpPr>
          <p:cNvPr id="12" name="Rectangle 11">
            <a:extLst xmlns:a="http://schemas.openxmlformats.org/drawingml/2006/main">
              <a:ext uri="{FF2B5EF4-FFF2-40B4-BE49-F238E27FC236}">
                <a16:creationId xmlns:a16="http://schemas.microsoft.com/office/drawing/2014/main" id="{AD7540EF-A0DA-48A6-9765-268B133F544D}"/>
              </a:ext>
            </a:extLst>
          </p:cNvPr>
          <p:cNvSpPr>
            <a:spLocks xmlns:a="http://schemas.openxmlformats.org/drawingml/2006/main" noGrp="1"/>
          </p:cNvSpPr>
          <p:nvPr/>
        </p:nvSpPr>
        <p:spPr>
          <a:xfrm xmlns:a="http://schemas.openxmlformats.org/drawingml/2006/main">
            <a:off x="5029200" y="294322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F8F6FF"/>
                </a:solidFill>
                <a:latin typeface="Calibri"/>
                <a:ea typeface="Calibri"/>
                <a:cs typeface="Calibri"/>
              </a:defRPr>
            </a:pPr>
            <a:r>
              <a:rPr sz="1575" b="1">
                <a:solidFill>
                  <a:srgbClr val="F8F6FF"/>
                </a:solidFill>
                <a:latin typeface="Calibri"/>
                <a:ea typeface="Calibri"/>
                <a:cs typeface="Calibri"/>
              </a:rPr>
              <a:t>Traceable requirements</a:t>
            </a:r>
          </a:p>
        </p:txBody>
      </p:sp>
      <p:sp>
        <p:nvSpPr>
          <p:cNvPr id="13" name="Rectangle 12">
            <a:extLst xmlns:a="http://schemas.openxmlformats.org/drawingml/2006/main">
              <a:ext uri="{FF2B5EF4-FFF2-40B4-BE49-F238E27FC236}">
                <a16:creationId xmlns:a16="http://schemas.microsoft.com/office/drawing/2014/main" id="{30A79A3D-8FC8-4208-9D6E-5302AE36BE21}"/>
              </a:ext>
            </a:extLst>
          </p:cNvPr>
          <p:cNvSpPr>
            <a:spLocks xmlns:a="http://schemas.openxmlformats.org/drawingml/2006/main" noGrp="1"/>
          </p:cNvSpPr>
          <p:nvPr/>
        </p:nvSpPr>
        <p:spPr>
          <a:xfrm xmlns:a="http://schemas.openxmlformats.org/drawingml/2006/main">
            <a:off x="5029200" y="3362325"/>
            <a:ext cx="3095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B8B0D4"/>
                </a:solidFill>
                <a:latin typeface="Calibri"/>
                <a:ea typeface="Calibri"/>
                <a:cs typeface="Calibri"/>
              </a:defRPr>
            </a:pPr>
            <a:r>
              <a:rPr sz="1275" b="0">
                <a:solidFill>
                  <a:srgbClr val="B8B0D4"/>
                </a:solidFill>
                <a:latin typeface="Calibri"/>
                <a:ea typeface="Calibri"/>
                <a:cs typeface="Calibri"/>
              </a:rPr>
              <a:t>Each requirement has an FR ID, module and role, enabling direct mapping into unit, integration, system and acceptance tests.</a:t>
            </a:r>
          </a:p>
        </p:txBody>
      </p:sp>
      <p:sp>
        <p:nvSpPr>
          <p:cNvPr id="14" name="Rectangle: Rounded Corners 13">
            <a:extLst xmlns:a="http://schemas.openxmlformats.org/drawingml/2006/main">
              <a:ext uri="{FF2B5EF4-FFF2-40B4-BE49-F238E27FC236}">
                <a16:creationId xmlns:a16="http://schemas.microsoft.com/office/drawing/2014/main" id="{28DB8A88-6A2B-4570-9518-420F950D7E23}"/>
              </a:ext>
            </a:extLst>
          </p:cNvPr>
          <p:cNvSpPr>
            <a:spLocks xmlns:a="http://schemas.openxmlformats.org/drawingml/2006/main" noGrp="1"/>
          </p:cNvSpPr>
          <p:nvPr/>
        </p:nvSpPr>
        <p:spPr>
          <a:xfrm xmlns:a="http://schemas.openxmlformats.org/drawingml/2006/main">
            <a:off x="8477250" y="1809750"/>
            <a:ext cx="2857500" cy="3429000"/>
          </a:xfrm>
          <a:prstGeom xmlns:a="http://schemas.openxmlformats.org/drawingml/2006/main" prst="roundRect">
            <a:avLst>
              <a:gd name="adj" fmla="val 5333"/>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6BFBEE45-9E4E-42AA-B241-6D3917F73D41}"/>
              </a:ext>
            </a:extLst>
          </p:cNvPr>
          <p:cNvSpPr>
            <a:spLocks xmlns:a="http://schemas.openxmlformats.org/drawingml/2006/main" noGrp="1"/>
          </p:cNvSpPr>
          <p:nvPr/>
        </p:nvSpPr>
        <p:spPr>
          <a:xfrm xmlns:a="http://schemas.openxmlformats.org/drawingml/2006/main">
            <a:off x="8724900" y="2057400"/>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7C83FD"/>
                </a:solidFill>
                <a:latin typeface="Calibri"/>
                <a:ea typeface="Calibri"/>
                <a:cs typeface="Calibri"/>
              </a:defRPr>
            </a:pPr>
            <a:r>
              <a:rPr sz="1050" b="1">
                <a:solidFill>
                  <a:srgbClr val="7C83FD"/>
                </a:solidFill>
                <a:latin typeface="Calibri"/>
                <a:ea typeface="Calibri"/>
                <a:cs typeface="Calibri"/>
              </a:rPr>
              <a:t>FR01–04</a:t>
            </a:r>
          </a:p>
        </p:txBody>
      </p:sp>
      <p:sp>
        <p:nvSpPr>
          <p:cNvPr id="16" name="Rectangle 15">
            <a:extLst xmlns:a="http://schemas.openxmlformats.org/drawingml/2006/main">
              <a:ext uri="{FF2B5EF4-FFF2-40B4-BE49-F238E27FC236}">
                <a16:creationId xmlns:a16="http://schemas.microsoft.com/office/drawing/2014/main" id="{95CF6479-E49C-49D4-BABB-92586382C0E5}"/>
              </a:ext>
            </a:extLst>
          </p:cNvPr>
          <p:cNvSpPr>
            <a:spLocks xmlns:a="http://schemas.openxmlformats.org/drawingml/2006/main" noGrp="1"/>
          </p:cNvSpPr>
          <p:nvPr/>
        </p:nvSpPr>
        <p:spPr>
          <a:xfrm xmlns:a="http://schemas.openxmlformats.org/drawingml/2006/main">
            <a:off x="9582150" y="20574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a:solidFill>
                  <a:srgbClr val="F8F6FF"/>
                </a:solidFill>
                <a:latin typeface="Calibri"/>
                <a:ea typeface="Calibri"/>
                <a:cs typeface="Calibri"/>
              </a:defRPr>
            </a:pPr>
            <a:r>
              <a:rPr sz="1200" b="0">
                <a:solidFill>
                  <a:srgbClr val="F8F6FF"/>
                </a:solidFill>
                <a:latin typeface="Calibri"/>
                <a:ea typeface="Calibri"/>
                <a:cs typeface="Calibri"/>
              </a:rPr>
              <a:t>Access &amp; settings</a:t>
            </a:r>
          </a:p>
        </p:txBody>
      </p:sp>
      <p:sp>
        <p:nvSpPr>
          <p:cNvPr id="17" name="Rectangle 16">
            <a:extLst xmlns:a="http://schemas.openxmlformats.org/drawingml/2006/main">
              <a:ext uri="{FF2B5EF4-FFF2-40B4-BE49-F238E27FC236}">
                <a16:creationId xmlns:a16="http://schemas.microsoft.com/office/drawing/2014/main" id="{45FAA414-B3CB-4C10-AF53-8059FAC4AB5F}"/>
              </a:ext>
            </a:extLst>
          </p:cNvPr>
          <p:cNvSpPr>
            <a:spLocks xmlns:a="http://schemas.openxmlformats.org/drawingml/2006/main" noGrp="1"/>
          </p:cNvSpPr>
          <p:nvPr/>
        </p:nvSpPr>
        <p:spPr>
          <a:xfrm xmlns:a="http://schemas.openxmlformats.org/drawingml/2006/main">
            <a:off x="8724900" y="2533650"/>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7C83FD"/>
                </a:solidFill>
                <a:latin typeface="Calibri"/>
                <a:ea typeface="Calibri"/>
                <a:cs typeface="Calibri"/>
              </a:defRPr>
            </a:pPr>
            <a:r>
              <a:rPr sz="1050" b="1">
                <a:solidFill>
                  <a:srgbClr val="7C83FD"/>
                </a:solidFill>
                <a:latin typeface="Calibri"/>
                <a:ea typeface="Calibri"/>
                <a:cs typeface="Calibri"/>
              </a:rPr>
              <a:t>FR05–07</a:t>
            </a:r>
          </a:p>
        </p:txBody>
      </p:sp>
      <p:sp>
        <p:nvSpPr>
          <p:cNvPr id="18" name="Rectangle 17">
            <a:extLst xmlns:a="http://schemas.openxmlformats.org/drawingml/2006/main">
              <a:ext uri="{FF2B5EF4-FFF2-40B4-BE49-F238E27FC236}">
                <a16:creationId xmlns:a16="http://schemas.microsoft.com/office/drawing/2014/main" id="{42EF799A-7E59-429D-8D37-FE9BE293C124}"/>
              </a:ext>
            </a:extLst>
          </p:cNvPr>
          <p:cNvSpPr>
            <a:spLocks xmlns:a="http://schemas.openxmlformats.org/drawingml/2006/main" noGrp="1"/>
          </p:cNvSpPr>
          <p:nvPr/>
        </p:nvSpPr>
        <p:spPr>
          <a:xfrm xmlns:a="http://schemas.openxmlformats.org/drawingml/2006/main">
            <a:off x="9582150" y="253365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a:solidFill>
                  <a:srgbClr val="F8F6FF"/>
                </a:solidFill>
                <a:latin typeface="Calibri"/>
                <a:ea typeface="Calibri"/>
                <a:cs typeface="Calibri"/>
              </a:defRPr>
            </a:pPr>
            <a:r>
              <a:rPr sz="1200" b="0">
                <a:solidFill>
                  <a:srgbClr val="F8F6FF"/>
                </a:solidFill>
                <a:latin typeface="Calibri"/>
                <a:ea typeface="Calibri"/>
                <a:cs typeface="Calibri"/>
              </a:rPr>
              <a:t>Cognitive &amp; adaptive</a:t>
            </a:r>
          </a:p>
        </p:txBody>
      </p:sp>
      <p:sp>
        <p:nvSpPr>
          <p:cNvPr id="19" name="Rectangle 18">
            <a:extLst xmlns:a="http://schemas.openxmlformats.org/drawingml/2006/main">
              <a:ext uri="{FF2B5EF4-FFF2-40B4-BE49-F238E27FC236}">
                <a16:creationId xmlns:a16="http://schemas.microsoft.com/office/drawing/2014/main" id="{43AF2CE6-B384-4A1A-ADCB-112FB5EDD003}"/>
              </a:ext>
            </a:extLst>
          </p:cNvPr>
          <p:cNvSpPr>
            <a:spLocks xmlns:a="http://schemas.openxmlformats.org/drawingml/2006/main" noGrp="1"/>
          </p:cNvSpPr>
          <p:nvPr/>
        </p:nvSpPr>
        <p:spPr>
          <a:xfrm xmlns:a="http://schemas.openxmlformats.org/drawingml/2006/main">
            <a:off x="8724900" y="3009900"/>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7C83FD"/>
                </a:solidFill>
                <a:latin typeface="Calibri"/>
                <a:ea typeface="Calibri"/>
                <a:cs typeface="Calibri"/>
              </a:defRPr>
            </a:pPr>
            <a:r>
              <a:rPr sz="1050" b="1">
                <a:solidFill>
                  <a:srgbClr val="7C83FD"/>
                </a:solidFill>
                <a:latin typeface="Calibri"/>
                <a:ea typeface="Calibri"/>
                <a:cs typeface="Calibri"/>
              </a:rPr>
              <a:t>FR08–12</a:t>
            </a:r>
          </a:p>
        </p:txBody>
      </p:sp>
      <p:sp>
        <p:nvSpPr>
          <p:cNvPr id="20" name="Rectangle 19">
            <a:extLst xmlns:a="http://schemas.openxmlformats.org/drawingml/2006/main">
              <a:ext uri="{FF2B5EF4-FFF2-40B4-BE49-F238E27FC236}">
                <a16:creationId xmlns:a16="http://schemas.microsoft.com/office/drawing/2014/main" id="{F1C85FED-8991-4A71-8909-CA86DF5941A4}"/>
              </a:ext>
            </a:extLst>
          </p:cNvPr>
          <p:cNvSpPr>
            <a:spLocks xmlns:a="http://schemas.openxmlformats.org/drawingml/2006/main" noGrp="1"/>
          </p:cNvSpPr>
          <p:nvPr/>
        </p:nvSpPr>
        <p:spPr>
          <a:xfrm xmlns:a="http://schemas.openxmlformats.org/drawingml/2006/main">
            <a:off x="9582150" y="30099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a:solidFill>
                  <a:srgbClr val="F8F6FF"/>
                </a:solidFill>
                <a:latin typeface="Calibri"/>
                <a:ea typeface="Calibri"/>
                <a:cs typeface="Calibri"/>
              </a:defRPr>
            </a:pPr>
            <a:r>
              <a:rPr sz="1200" b="0">
                <a:solidFill>
                  <a:srgbClr val="F8F6FF"/>
                </a:solidFill>
                <a:latin typeface="Calibri"/>
                <a:ea typeface="Calibri"/>
                <a:cs typeface="Calibri"/>
              </a:rPr>
              <a:t>Gamification</a:t>
            </a:r>
          </a:p>
        </p:txBody>
      </p:sp>
      <p:sp>
        <p:nvSpPr>
          <p:cNvPr id="21" name="Rectangle 20">
            <a:extLst xmlns:a="http://schemas.openxmlformats.org/drawingml/2006/main">
              <a:ext uri="{FF2B5EF4-FFF2-40B4-BE49-F238E27FC236}">
                <a16:creationId xmlns:a16="http://schemas.microsoft.com/office/drawing/2014/main" id="{3E315ED7-10DA-4FEC-AFD9-EFC333ADB83E}"/>
              </a:ext>
            </a:extLst>
          </p:cNvPr>
          <p:cNvSpPr>
            <a:spLocks xmlns:a="http://schemas.openxmlformats.org/drawingml/2006/main" noGrp="1"/>
          </p:cNvSpPr>
          <p:nvPr/>
        </p:nvSpPr>
        <p:spPr>
          <a:xfrm xmlns:a="http://schemas.openxmlformats.org/drawingml/2006/main">
            <a:off x="8724900" y="3486150"/>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7C83FD"/>
                </a:solidFill>
                <a:latin typeface="Calibri"/>
                <a:ea typeface="Calibri"/>
                <a:cs typeface="Calibri"/>
              </a:defRPr>
            </a:pPr>
            <a:r>
              <a:rPr sz="1050" b="1">
                <a:solidFill>
                  <a:srgbClr val="7C83FD"/>
                </a:solidFill>
                <a:latin typeface="Calibri"/>
                <a:ea typeface="Calibri"/>
                <a:cs typeface="Calibri"/>
              </a:rPr>
              <a:t>FR13–17</a:t>
            </a:r>
          </a:p>
        </p:txBody>
      </p:sp>
      <p:sp>
        <p:nvSpPr>
          <p:cNvPr id="22" name="Rectangle 21">
            <a:extLst xmlns:a="http://schemas.openxmlformats.org/drawingml/2006/main">
              <a:ext uri="{FF2B5EF4-FFF2-40B4-BE49-F238E27FC236}">
                <a16:creationId xmlns:a16="http://schemas.microsoft.com/office/drawing/2014/main" id="{7E85B0E7-F16B-4B9B-96FF-D78BBA131920}"/>
              </a:ext>
            </a:extLst>
          </p:cNvPr>
          <p:cNvSpPr>
            <a:spLocks xmlns:a="http://schemas.openxmlformats.org/drawingml/2006/main" noGrp="1"/>
          </p:cNvSpPr>
          <p:nvPr/>
        </p:nvSpPr>
        <p:spPr>
          <a:xfrm xmlns:a="http://schemas.openxmlformats.org/drawingml/2006/main">
            <a:off x="9582150" y="348615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a:solidFill>
                  <a:srgbClr val="F8F6FF"/>
                </a:solidFill>
                <a:latin typeface="Calibri"/>
                <a:ea typeface="Calibri"/>
                <a:cs typeface="Calibri"/>
              </a:defRPr>
            </a:pPr>
            <a:r>
              <a:rPr sz="1200" b="0">
                <a:solidFill>
                  <a:srgbClr val="F8F6FF"/>
                </a:solidFill>
                <a:latin typeface="Calibri"/>
                <a:ea typeface="Calibri"/>
                <a:cs typeface="Calibri"/>
              </a:rPr>
              <a:t>Patient management</a:t>
            </a:r>
          </a:p>
        </p:txBody>
      </p:sp>
      <p:sp>
        <p:nvSpPr>
          <p:cNvPr id="23" name="Rectangle 22">
            <a:extLst xmlns:a="http://schemas.openxmlformats.org/drawingml/2006/main">
              <a:ext uri="{FF2B5EF4-FFF2-40B4-BE49-F238E27FC236}">
                <a16:creationId xmlns:a16="http://schemas.microsoft.com/office/drawing/2014/main" id="{B3A95DFC-E560-4589-AE4C-EF215B385230}"/>
              </a:ext>
            </a:extLst>
          </p:cNvPr>
          <p:cNvSpPr>
            <a:spLocks xmlns:a="http://schemas.openxmlformats.org/drawingml/2006/main" noGrp="1"/>
          </p:cNvSpPr>
          <p:nvPr/>
        </p:nvSpPr>
        <p:spPr>
          <a:xfrm xmlns:a="http://schemas.openxmlformats.org/drawingml/2006/main">
            <a:off x="8724900" y="3962400"/>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FF6B62"/>
                </a:solidFill>
                <a:latin typeface="Calibri"/>
                <a:ea typeface="Calibri"/>
                <a:cs typeface="Calibri"/>
              </a:defRPr>
            </a:pPr>
            <a:r>
              <a:rPr sz="1050" b="1">
                <a:solidFill>
                  <a:srgbClr val="FF6B62"/>
                </a:solidFill>
                <a:latin typeface="Calibri"/>
                <a:ea typeface="Calibri"/>
                <a:cs typeface="Calibri"/>
              </a:rPr>
              <a:t>FR18–31</a:t>
            </a:r>
          </a:p>
        </p:txBody>
      </p:sp>
      <p:sp>
        <p:nvSpPr>
          <p:cNvPr id="24" name="Rectangle 23">
            <a:extLst xmlns:a="http://schemas.openxmlformats.org/drawingml/2006/main">
              <a:ext uri="{FF2B5EF4-FFF2-40B4-BE49-F238E27FC236}">
                <a16:creationId xmlns:a16="http://schemas.microsoft.com/office/drawing/2014/main" id="{087A4378-1552-4EA3-8C3E-E35942DF59EC}"/>
              </a:ext>
            </a:extLst>
          </p:cNvPr>
          <p:cNvSpPr>
            <a:spLocks xmlns:a="http://schemas.openxmlformats.org/drawingml/2006/main" noGrp="1"/>
          </p:cNvSpPr>
          <p:nvPr/>
        </p:nvSpPr>
        <p:spPr>
          <a:xfrm xmlns:a="http://schemas.openxmlformats.org/drawingml/2006/main">
            <a:off x="9582150" y="39624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a:solidFill>
                  <a:srgbClr val="F8F6FF"/>
                </a:solidFill>
                <a:latin typeface="Calibri"/>
                <a:ea typeface="Calibri"/>
                <a:cs typeface="Calibri"/>
              </a:defRPr>
            </a:pPr>
            <a:r>
              <a:rPr sz="1200" b="0">
                <a:solidFill>
                  <a:srgbClr val="F8F6FF"/>
                </a:solidFill>
                <a:latin typeface="Calibri"/>
                <a:ea typeface="Calibri"/>
                <a:cs typeface="Calibri"/>
              </a:rPr>
              <a:t>Tasks &amp; reminders</a:t>
            </a:r>
          </a:p>
        </p:txBody>
      </p:sp>
      <p:sp>
        <p:nvSpPr>
          <p:cNvPr id="25" name="Rectangle 24">
            <a:extLst xmlns:a="http://schemas.openxmlformats.org/drawingml/2006/main">
              <a:ext uri="{FF2B5EF4-FFF2-40B4-BE49-F238E27FC236}">
                <a16:creationId xmlns:a16="http://schemas.microsoft.com/office/drawing/2014/main" id="{4DC85704-2181-4CCA-8F12-5C4F952E9F8D}"/>
              </a:ext>
            </a:extLst>
          </p:cNvPr>
          <p:cNvSpPr>
            <a:spLocks xmlns:a="http://schemas.openxmlformats.org/drawingml/2006/main" noGrp="1"/>
          </p:cNvSpPr>
          <p:nvPr/>
        </p:nvSpPr>
        <p:spPr>
          <a:xfrm xmlns:a="http://schemas.openxmlformats.org/drawingml/2006/main">
            <a:off x="8724900" y="4438650"/>
            <a:ext cx="819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7C83FD"/>
                </a:solidFill>
                <a:latin typeface="Calibri"/>
                <a:ea typeface="Calibri"/>
                <a:cs typeface="Calibri"/>
              </a:defRPr>
            </a:pPr>
            <a:r>
              <a:rPr sz="1050" b="1">
                <a:solidFill>
                  <a:srgbClr val="7C83FD"/>
                </a:solidFill>
                <a:latin typeface="Calibri"/>
                <a:ea typeface="Calibri"/>
                <a:cs typeface="Calibri"/>
              </a:rPr>
              <a:t>FR32–33</a:t>
            </a:r>
          </a:p>
        </p:txBody>
      </p:sp>
      <p:sp>
        <p:nvSpPr>
          <p:cNvPr id="26" name="Rectangle 25">
            <a:extLst xmlns:a="http://schemas.openxmlformats.org/drawingml/2006/main">
              <a:ext uri="{FF2B5EF4-FFF2-40B4-BE49-F238E27FC236}">
                <a16:creationId xmlns:a16="http://schemas.microsoft.com/office/drawing/2014/main" id="{A28EA6E8-3AC3-4D5D-B6C4-CFC4926DAE63}"/>
              </a:ext>
            </a:extLst>
          </p:cNvPr>
          <p:cNvSpPr>
            <a:spLocks xmlns:a="http://schemas.openxmlformats.org/drawingml/2006/main" noGrp="1"/>
          </p:cNvSpPr>
          <p:nvPr/>
        </p:nvSpPr>
        <p:spPr>
          <a:xfrm xmlns:a="http://schemas.openxmlformats.org/drawingml/2006/main">
            <a:off x="9582150" y="443865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a:solidFill>
                  <a:srgbClr val="F8F6FF"/>
                </a:solidFill>
                <a:latin typeface="Calibri"/>
                <a:ea typeface="Calibri"/>
                <a:cs typeface="Calibri"/>
              </a:defRPr>
            </a:pPr>
            <a:r>
              <a:rPr sz="1200" b="0">
                <a:solidFill>
                  <a:srgbClr val="F8F6FF"/>
                </a:solidFill>
                <a:latin typeface="Calibri"/>
                <a:ea typeface="Calibri"/>
                <a:cs typeface="Calibri"/>
              </a:rPr>
              <a:t>Monitoring &amp; analytics</a:t>
            </a:r>
          </a:p>
        </p:txBody>
      </p:sp>
      <p:sp>
        <p:nvSpPr>
          <p:cNvPr id="27" name="Rectangle: Rounded Corners 26">
            <a:extLst xmlns:a="http://schemas.openxmlformats.org/drawingml/2006/main">
              <a:ext uri="{FF2B5EF4-FFF2-40B4-BE49-F238E27FC236}">
                <a16:creationId xmlns:a16="http://schemas.microsoft.com/office/drawing/2014/main" id="{0C23578E-6E31-4EEE-AA2B-F1901168ED80}"/>
              </a:ext>
            </a:extLst>
          </p:cNvPr>
          <p:cNvSpPr>
            <a:spLocks xmlns:a="http://schemas.openxmlformats.org/drawingml/2006/main" noGrp="1"/>
          </p:cNvSpPr>
          <p:nvPr/>
        </p:nvSpPr>
        <p:spPr>
          <a:xfrm xmlns:a="http://schemas.openxmlformats.org/drawingml/2006/main">
            <a:off x="9048750" y="4781550"/>
            <a:ext cx="1695450" cy="323850"/>
          </a:xfrm>
          <a:prstGeom xmlns:a="http://schemas.openxmlformats.org/drawingml/2006/main" prst="roundRect">
            <a:avLst>
              <a:gd name="adj" fmla="val 35294"/>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8" name="Rectangle 27">
            <a:extLst xmlns:a="http://schemas.openxmlformats.org/drawingml/2006/main">
              <a:ext uri="{FF2B5EF4-FFF2-40B4-BE49-F238E27FC236}">
                <a16:creationId xmlns:a16="http://schemas.microsoft.com/office/drawing/2014/main" id="{DB6173CD-6152-4A2F-BDC7-28B480A66376}"/>
              </a:ext>
            </a:extLst>
          </p:cNvPr>
          <p:cNvSpPr>
            <a:spLocks xmlns:a="http://schemas.openxmlformats.org/drawingml/2006/main" noGrp="1"/>
          </p:cNvSpPr>
          <p:nvPr/>
        </p:nvSpPr>
        <p:spPr>
          <a:xfrm xmlns:a="http://schemas.openxmlformats.org/drawingml/2006/main">
            <a:off x="9048750" y="4791075"/>
            <a:ext cx="169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F8F6FF"/>
                </a:solidFill>
                <a:latin typeface="Calibri"/>
                <a:ea typeface="Calibri"/>
                <a:cs typeface="Calibri"/>
              </a:defRPr>
            </a:pPr>
            <a:r>
              <a:rPr sz="1125" b="1">
                <a:solidFill>
                  <a:srgbClr val="F8F6FF"/>
                </a:solidFill>
                <a:latin typeface="Calibri"/>
                <a:ea typeface="Calibri"/>
                <a:cs typeface="Calibri"/>
              </a:rPr>
              <a:t>6 MODULES</a:t>
            </a:r>
          </a:p>
        </p:txBody>
      </p:sp>
      <p:sp>
        <p:nvSpPr>
          <p:cNvPr id="29" name="Rectangle 28">
            <a:extLst xmlns:a="http://schemas.openxmlformats.org/drawingml/2006/main">
              <a:ext uri="{FF2B5EF4-FFF2-40B4-BE49-F238E27FC236}">
                <a16:creationId xmlns:a16="http://schemas.microsoft.com/office/drawing/2014/main" id="{A14D3314-A778-4315-9450-8BEFFB3CC1F0}"/>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a:solidFill>
                  <a:srgbClr val="8F87AC"/>
                </a:solidFill>
                <a:latin typeface="Calibri"/>
                <a:ea typeface="Calibri"/>
                <a:cs typeface="Calibri"/>
              </a:defRPr>
            </a:pPr>
            <a:r>
              <a:rPr sz="750" b="0">
                <a:solidFill>
                  <a:srgbClr val="8F87AC"/>
                </a:solidFill>
                <a:latin typeface="Calibri"/>
                <a:ea typeface="Calibri"/>
                <a:cs typeface="Calibri"/>
              </a:rPr>
              <a:t>Sources: earlier proposal pp. 44–45; final report Table 4.1, pp. 51–54.</a:t>
            </a:r>
          </a:p>
        </p:txBody>
      </p:sp>
      <p:sp>
        <p:nvSpPr>
          <p:cNvPr id="30" name="Rectangle 29">
            <a:extLst xmlns:a="http://schemas.openxmlformats.org/drawingml/2006/main">
              <a:ext uri="{FF2B5EF4-FFF2-40B4-BE49-F238E27FC236}">
                <a16:creationId xmlns:a16="http://schemas.microsoft.com/office/drawing/2014/main" id="{3D2F8F27-3FED-43E3-BD3B-FB52FC293124}"/>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1">
                <a:solidFill>
                  <a:srgbClr val="B8B0D4"/>
                </a:solidFill>
                <a:latin typeface="Calibri"/>
                <a:ea typeface="Calibri"/>
                <a:cs typeface="Calibri"/>
              </a:defRPr>
            </a:pPr>
            <a:r>
              <a:rPr sz="975" b="1">
                <a:solidFill>
                  <a:srgbClr val="B8B0D4"/>
                </a:solidFill>
                <a:latin typeface="Calibri"/>
                <a:ea typeface="Calibri"/>
                <a:cs typeface="Calibri"/>
              </a:rPr>
              <a:t>09</a:t>
            </a:r>
          </a:p>
        </p:txBody>
      </p:sp>
    </p:spTree>
    <p:extLst>
      <p:ext uri="{BB962C8B-B14F-4D97-AF65-F5344CB8AC3E}">
        <p14:creationId xmlns:p14="http://schemas.microsoft.com/office/powerpoint/2010/main" val="1575141233"/>
      </p:ext>
    </p:extLst>
  </p:cSld>
</p:sld>
</file>

<file path=ppt/slides/slide9.xml><?xml version="1.0" encoding="utf-8"?>
<p:sld xmlns:p="http://schemas.openxmlformats.org/presentationml/2006/main">
  <p:cSld>
    <p:bg>
      <p:bgPr>
        <a:gradFill xmlns:a="http://schemas.openxmlformats.org/drawingml/2006/main">
          <a:gsLst>
            <a:gs pos="0">
              <a:srgbClr val="120B27"/>
            </a:gs>
            <a:gs pos="52000">
              <a:srgbClr val="19112F"/>
            </a:gs>
            <a:gs pos="100000">
              <a:srgbClr val="24183F"/>
            </a:gs>
          </a:gsLst>
          <a:lin ang="8100000"/>
        </a:gradFill>
      </p:bgPr>
    </p:bg>
    <p:spTree>
      <p:nvGrpSpPr>
        <p:cNvPr id="1" name=""/>
        <p:cNvGrpSpPr/>
        <p:nvPr/>
      </p:nvGrpSpPr>
      <p:grpSpPr>
        <a:xfrm xmlns:a="http://schemas.openxmlformats.org/drawingml/2006/main"/>
      </p:grpSpPr>
      <p:sp>
        <p:nvSpPr>
          <p:cNvPr id="31" name="Rectangle 30">
            <a:extLst xmlns:a="http://schemas.openxmlformats.org/drawingml/2006/main">
              <a:ext uri="{FF2B5EF4-FFF2-40B4-BE49-F238E27FC236}">
                <a16:creationId xmlns:a16="http://schemas.microsoft.com/office/drawing/2014/main" id="{E0391DB6-8A08-4C94-8E44-4774ED22FE0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3D91574A-79C4-4D82-BA70-2004E6231A9D}"/>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FF6B62"/>
                </a:solidFill>
                <a:latin typeface="Calibri"/>
                <a:ea typeface="Calibri"/>
                <a:cs typeface="Calibri"/>
              </a:defRPr>
            </a:pPr>
            <a:r>
              <a:rPr sz="1125" b="1">
                <a:solidFill>
                  <a:srgbClr val="FF6B62"/>
                </a:solidFill>
                <a:latin typeface="Calibri"/>
                <a:ea typeface="Calibri"/>
                <a:cs typeface="Calibri"/>
              </a:rPr>
              <a:t>CHAPTER 4 · REQUIREMENTS</a:t>
            </a:r>
          </a:p>
        </p:txBody>
      </p:sp>
      <p:sp>
        <p:nvSpPr>
          <p:cNvPr id="3" name="Rectangle 2">
            <a:extLst xmlns:a="http://schemas.openxmlformats.org/drawingml/2006/main">
              <a:ext uri="{FF2B5EF4-FFF2-40B4-BE49-F238E27FC236}">
                <a16:creationId xmlns:a16="http://schemas.microsoft.com/office/drawing/2014/main" id="{7AB6A1E6-CEBE-44BE-B9C8-592CB616211B}"/>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F8F6FF"/>
                </a:solidFill>
                <a:latin typeface="Calibri"/>
                <a:ea typeface="Calibri"/>
                <a:cs typeface="Calibri"/>
              </a:defRPr>
            </a:pPr>
            <a:r>
              <a:rPr sz="2700" b="1">
                <a:solidFill>
                  <a:srgbClr val="F8F6FF"/>
                </a:solidFill>
                <a:latin typeface="Calibri"/>
                <a:ea typeface="Calibri"/>
                <a:cs typeface="Calibri"/>
              </a:rPr>
              <a:t>New capabilities added during development</a:t>
            </a:r>
          </a:p>
        </p:txBody>
      </p:sp>
      <p:sp>
        <p:nvSpPr>
          <p:cNvPr id="4" name="Rectangle 3">
            <a:extLst xmlns:a="http://schemas.openxmlformats.org/drawingml/2006/main">
              <a:ext uri="{FF2B5EF4-FFF2-40B4-BE49-F238E27FC236}">
                <a16:creationId xmlns:a16="http://schemas.microsoft.com/office/drawing/2014/main" id="{C9C08F07-24F3-4148-BB3A-4543EAEE5126}"/>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B8B0D4"/>
                </a:solidFill>
                <a:latin typeface="Calibri"/>
                <a:ea typeface="Calibri"/>
                <a:cs typeface="Calibri"/>
              </a:defRPr>
            </a:pPr>
            <a:r>
              <a:rPr sz="1350" b="0">
                <a:solidFill>
                  <a:srgbClr val="B8B0D4"/>
                </a:solidFill>
                <a:latin typeface="Calibri"/>
                <a:ea typeface="Calibri"/>
                <a:cs typeface="Calibri"/>
              </a:rPr>
              <a:t>These additions account for most of the change between the original proposal and the completed system.</a:t>
            </a:r>
          </a:p>
        </p:txBody>
      </p:sp>
      <p:sp>
        <p:nvSpPr>
          <p:cNvPr id="5" name="Rectangle: Rounded Corners 4">
            <a:extLst xmlns:a="http://schemas.openxmlformats.org/drawingml/2006/main">
              <a:ext uri="{FF2B5EF4-FFF2-40B4-BE49-F238E27FC236}">
                <a16:creationId xmlns:a16="http://schemas.microsoft.com/office/drawing/2014/main" id="{EBA7F65E-B5FA-4F9B-888E-537D84124442}"/>
              </a:ext>
            </a:extLst>
          </p:cNvPr>
          <p:cNvSpPr>
            <a:spLocks xmlns:a="http://schemas.openxmlformats.org/drawingml/2006/main" noGrp="1"/>
          </p:cNvSpPr>
          <p:nvPr/>
        </p:nvSpPr>
        <p:spPr>
          <a:xfrm xmlns:a="http://schemas.openxmlformats.org/drawingml/2006/main">
            <a:off x="685800" y="1695450"/>
            <a:ext cx="5219700" cy="1162050"/>
          </a:xfrm>
          <a:prstGeom xmlns:a="http://schemas.openxmlformats.org/drawingml/2006/main" prst="roundRect">
            <a:avLst>
              <a:gd name="adj" fmla="val 9836"/>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4D03C2E7-11FE-47DB-95C0-D1024A548DFE}"/>
              </a:ext>
            </a:extLst>
          </p:cNvPr>
          <p:cNvSpPr>
            <a:spLocks xmlns:a="http://schemas.openxmlformats.org/drawingml/2006/main" noGrp="1"/>
          </p:cNvSpPr>
          <p:nvPr/>
        </p:nvSpPr>
        <p:spPr>
          <a:xfrm xmlns:a="http://schemas.openxmlformats.org/drawingml/2006/main">
            <a:off x="895350" y="1876425"/>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6B62"/>
                </a:solidFill>
                <a:latin typeface="Calibri"/>
                <a:ea typeface="Calibri"/>
                <a:cs typeface="Calibri"/>
              </a:defRPr>
            </a:pPr>
            <a:r>
              <a:rPr sz="2025" b="1">
                <a:solidFill>
                  <a:srgbClr val="FF6B62"/>
                </a:solidFill>
                <a:latin typeface="Calibri"/>
                <a:ea typeface="Calibri"/>
                <a:cs typeface="Calibri"/>
              </a:rPr>
              <a:t>01</a:t>
            </a:r>
          </a:p>
        </p:txBody>
      </p:sp>
      <p:sp>
        <p:nvSpPr>
          <p:cNvPr id="7" name="Rectangle 6">
            <a:extLst xmlns:a="http://schemas.openxmlformats.org/drawingml/2006/main">
              <a:ext uri="{FF2B5EF4-FFF2-40B4-BE49-F238E27FC236}">
                <a16:creationId xmlns:a16="http://schemas.microsoft.com/office/drawing/2014/main" id="{00F0F9CA-F45C-4381-9094-5545E24204FE}"/>
              </a:ext>
            </a:extLst>
          </p:cNvPr>
          <p:cNvSpPr>
            <a:spLocks xmlns:a="http://schemas.openxmlformats.org/drawingml/2006/main" noGrp="1"/>
          </p:cNvSpPr>
          <p:nvPr/>
        </p:nvSpPr>
        <p:spPr>
          <a:xfrm xmlns:a="http://schemas.openxmlformats.org/drawingml/2006/main">
            <a:off x="1466850" y="1847850"/>
            <a:ext cx="4095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F8F6FF"/>
                </a:solidFill>
                <a:latin typeface="Calibri"/>
                <a:ea typeface="Calibri"/>
                <a:cs typeface="Calibri"/>
              </a:defRPr>
            </a:pPr>
            <a:r>
              <a:rPr sz="1650" b="1">
                <a:solidFill>
                  <a:srgbClr val="F8F6FF"/>
                </a:solidFill>
                <a:latin typeface="Calibri"/>
                <a:ea typeface="Calibri"/>
                <a:cs typeface="Calibri"/>
              </a:rPr>
              <a:t>Complete recurrence</a:t>
            </a:r>
          </a:p>
        </p:txBody>
      </p:sp>
      <p:sp>
        <p:nvSpPr>
          <p:cNvPr id="8" name="Rectangle 7">
            <a:extLst xmlns:a="http://schemas.openxmlformats.org/drawingml/2006/main">
              <a:ext uri="{FF2B5EF4-FFF2-40B4-BE49-F238E27FC236}">
                <a16:creationId xmlns:a16="http://schemas.microsoft.com/office/drawing/2014/main" id="{2F43C685-FF5E-4103-9A29-102EACADB5E3}"/>
              </a:ext>
            </a:extLst>
          </p:cNvPr>
          <p:cNvSpPr>
            <a:spLocks xmlns:a="http://schemas.openxmlformats.org/drawingml/2006/main" noGrp="1"/>
          </p:cNvSpPr>
          <p:nvPr/>
        </p:nvSpPr>
        <p:spPr>
          <a:xfrm xmlns:a="http://schemas.openxmlformats.org/drawingml/2006/main">
            <a:off x="1466850" y="2209800"/>
            <a:ext cx="4114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a:solidFill>
                  <a:srgbClr val="B8B0D4"/>
                </a:solidFill>
                <a:latin typeface="Calibri"/>
                <a:ea typeface="Calibri"/>
                <a:cs typeface="Calibri"/>
              </a:defRPr>
            </a:pPr>
            <a:r>
              <a:rPr sz="1200" b="0">
                <a:solidFill>
                  <a:srgbClr val="B8B0D4"/>
                </a:solidFill>
                <a:latin typeface="Calibri"/>
                <a:ea typeface="Calibri"/>
                <a:cs typeface="Calibri"/>
              </a:rPr>
              <a:t>Daily, weekly, monthly, yearly and custom schedules; occurrence-specific status.</a:t>
            </a:r>
          </a:p>
        </p:txBody>
      </p:sp>
      <p:sp>
        <p:nvSpPr>
          <p:cNvPr id="9" name="Rectangle: Rounded Corners 8">
            <a:extLst xmlns:a="http://schemas.openxmlformats.org/drawingml/2006/main">
              <a:ext uri="{FF2B5EF4-FFF2-40B4-BE49-F238E27FC236}">
                <a16:creationId xmlns:a16="http://schemas.microsoft.com/office/drawing/2014/main" id="{99722691-F8DA-4096-BA94-6B5A06B3B474}"/>
              </a:ext>
            </a:extLst>
          </p:cNvPr>
          <p:cNvSpPr>
            <a:spLocks xmlns:a="http://schemas.openxmlformats.org/drawingml/2006/main" noGrp="1"/>
          </p:cNvSpPr>
          <p:nvPr/>
        </p:nvSpPr>
        <p:spPr>
          <a:xfrm xmlns:a="http://schemas.openxmlformats.org/drawingml/2006/main">
            <a:off x="6229350" y="1695450"/>
            <a:ext cx="5219700" cy="1162050"/>
          </a:xfrm>
          <a:prstGeom xmlns:a="http://schemas.openxmlformats.org/drawingml/2006/main" prst="roundRect">
            <a:avLst>
              <a:gd name="adj" fmla="val 9836"/>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3B9FDE3E-96A6-47C4-8DA5-AD8D4745D86E}"/>
              </a:ext>
            </a:extLst>
          </p:cNvPr>
          <p:cNvSpPr>
            <a:spLocks xmlns:a="http://schemas.openxmlformats.org/drawingml/2006/main" noGrp="1"/>
          </p:cNvSpPr>
          <p:nvPr/>
        </p:nvSpPr>
        <p:spPr>
          <a:xfrm xmlns:a="http://schemas.openxmlformats.org/drawingml/2006/main">
            <a:off x="6438900" y="1876425"/>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6B62"/>
                </a:solidFill>
                <a:latin typeface="Calibri"/>
                <a:ea typeface="Calibri"/>
                <a:cs typeface="Calibri"/>
              </a:defRPr>
            </a:pPr>
            <a:r>
              <a:rPr sz="2025" b="1">
                <a:solidFill>
                  <a:srgbClr val="FF6B62"/>
                </a:solidFill>
                <a:latin typeface="Calibri"/>
                <a:ea typeface="Calibri"/>
                <a:cs typeface="Calibri"/>
              </a:rPr>
              <a:t>02</a:t>
            </a:r>
          </a:p>
        </p:txBody>
      </p:sp>
      <p:sp>
        <p:nvSpPr>
          <p:cNvPr id="11" name="Rectangle 10">
            <a:extLst xmlns:a="http://schemas.openxmlformats.org/drawingml/2006/main">
              <a:ext uri="{FF2B5EF4-FFF2-40B4-BE49-F238E27FC236}">
                <a16:creationId xmlns:a16="http://schemas.microsoft.com/office/drawing/2014/main" id="{67DE921D-94C5-44D4-BB3E-AE85F953D948}"/>
              </a:ext>
            </a:extLst>
          </p:cNvPr>
          <p:cNvSpPr>
            <a:spLocks xmlns:a="http://schemas.openxmlformats.org/drawingml/2006/main" noGrp="1"/>
          </p:cNvSpPr>
          <p:nvPr/>
        </p:nvSpPr>
        <p:spPr>
          <a:xfrm xmlns:a="http://schemas.openxmlformats.org/drawingml/2006/main">
            <a:off x="7010400" y="1847850"/>
            <a:ext cx="4095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F8F6FF"/>
                </a:solidFill>
                <a:latin typeface="Calibri"/>
                <a:ea typeface="Calibri"/>
                <a:cs typeface="Calibri"/>
              </a:defRPr>
            </a:pPr>
            <a:r>
              <a:rPr sz="1650" b="1">
                <a:solidFill>
                  <a:srgbClr val="F8F6FF"/>
                </a:solidFill>
                <a:latin typeface="Calibri"/>
                <a:ea typeface="Calibri"/>
                <a:cs typeface="Calibri"/>
              </a:rPr>
              <a:t>Responsive reminders</a:t>
            </a:r>
          </a:p>
        </p:txBody>
      </p:sp>
      <p:sp>
        <p:nvSpPr>
          <p:cNvPr id="12" name="Rectangle 11">
            <a:extLst xmlns:a="http://schemas.openxmlformats.org/drawingml/2006/main">
              <a:ext uri="{FF2B5EF4-FFF2-40B4-BE49-F238E27FC236}">
                <a16:creationId xmlns:a16="http://schemas.microsoft.com/office/drawing/2014/main" id="{8F19B15F-E555-48EE-81E1-F909059E5CA8}"/>
              </a:ext>
            </a:extLst>
          </p:cNvPr>
          <p:cNvSpPr>
            <a:spLocks xmlns:a="http://schemas.openxmlformats.org/drawingml/2006/main" noGrp="1"/>
          </p:cNvSpPr>
          <p:nvPr/>
        </p:nvSpPr>
        <p:spPr>
          <a:xfrm xmlns:a="http://schemas.openxmlformats.org/drawingml/2006/main">
            <a:off x="7010400" y="2209800"/>
            <a:ext cx="4114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a:solidFill>
                  <a:srgbClr val="B8B0D4"/>
                </a:solidFill>
                <a:latin typeface="Calibri"/>
                <a:ea typeface="Calibri"/>
                <a:cs typeface="Calibri"/>
              </a:defRPr>
            </a:pPr>
            <a:r>
              <a:rPr sz="1200" b="0">
                <a:solidFill>
                  <a:srgbClr val="B8B0D4"/>
                </a:solidFill>
                <a:latin typeface="Calibri"/>
                <a:ea typeface="Calibri"/>
                <a:cs typeface="Calibri"/>
              </a:rPr>
              <a:t>5–15 minute repetition, sound, Complete/Missed actions and automatic missed handling.</a:t>
            </a:r>
          </a:p>
        </p:txBody>
      </p:sp>
      <p:sp>
        <p:nvSpPr>
          <p:cNvPr id="13" name="Rectangle: Rounded Corners 12">
            <a:extLst xmlns:a="http://schemas.openxmlformats.org/drawingml/2006/main">
              <a:ext uri="{FF2B5EF4-FFF2-40B4-BE49-F238E27FC236}">
                <a16:creationId xmlns:a16="http://schemas.microsoft.com/office/drawing/2014/main" id="{C92F52CA-0AAB-4B9D-87F4-2941FC5815E3}"/>
              </a:ext>
            </a:extLst>
          </p:cNvPr>
          <p:cNvSpPr>
            <a:spLocks xmlns:a="http://schemas.openxmlformats.org/drawingml/2006/main" noGrp="1"/>
          </p:cNvSpPr>
          <p:nvPr/>
        </p:nvSpPr>
        <p:spPr>
          <a:xfrm xmlns:a="http://schemas.openxmlformats.org/drawingml/2006/main">
            <a:off x="685800" y="3105150"/>
            <a:ext cx="5219700" cy="1162050"/>
          </a:xfrm>
          <a:prstGeom xmlns:a="http://schemas.openxmlformats.org/drawingml/2006/main" prst="roundRect">
            <a:avLst>
              <a:gd name="adj" fmla="val 9836"/>
            </a:avLst>
          </a:prstGeom>
          <a:solidFill xmlns:a="http://schemas.openxmlformats.org/drawingml/2006/main">
            <a:srgbClr val="3A316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B4344EFB-2A43-4DB1-BE98-89535CA94E5D}"/>
              </a:ext>
            </a:extLst>
          </p:cNvPr>
          <p:cNvSpPr>
            <a:spLocks xmlns:a="http://schemas.openxmlformats.org/drawingml/2006/main" noGrp="1"/>
          </p:cNvSpPr>
          <p:nvPr/>
        </p:nvSpPr>
        <p:spPr>
          <a:xfrm xmlns:a="http://schemas.openxmlformats.org/drawingml/2006/main">
            <a:off x="895350" y="3286125"/>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6B62"/>
                </a:solidFill>
                <a:latin typeface="Calibri"/>
                <a:ea typeface="Calibri"/>
                <a:cs typeface="Calibri"/>
              </a:defRPr>
            </a:pPr>
            <a:r>
              <a:rPr sz="2025" b="1">
                <a:solidFill>
                  <a:srgbClr val="FF6B62"/>
                </a:solidFill>
                <a:latin typeface="Calibri"/>
                <a:ea typeface="Calibri"/>
                <a:cs typeface="Calibri"/>
              </a:rPr>
              <a:t>03</a:t>
            </a:r>
          </a:p>
        </p:txBody>
      </p:sp>
      <p:sp>
        <p:nvSpPr>
          <p:cNvPr id="15" name="Rectangle 14">
            <a:extLst xmlns:a="http://schemas.openxmlformats.org/drawingml/2006/main">
              <a:ext uri="{FF2B5EF4-FFF2-40B4-BE49-F238E27FC236}">
                <a16:creationId xmlns:a16="http://schemas.microsoft.com/office/drawing/2014/main" id="{8635822D-E7A1-42A9-A0E8-4D3E74AAD26C}"/>
              </a:ext>
            </a:extLst>
          </p:cNvPr>
          <p:cNvSpPr>
            <a:spLocks xmlns:a="http://schemas.openxmlformats.org/drawingml/2006/main" noGrp="1"/>
          </p:cNvSpPr>
          <p:nvPr/>
        </p:nvSpPr>
        <p:spPr>
          <a:xfrm xmlns:a="http://schemas.openxmlformats.org/drawingml/2006/main">
            <a:off x="1466850" y="3257550"/>
            <a:ext cx="4095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F8F6FF"/>
                </a:solidFill>
                <a:latin typeface="Calibri"/>
                <a:ea typeface="Calibri"/>
                <a:cs typeface="Calibri"/>
              </a:defRPr>
            </a:pPr>
            <a:r>
              <a:rPr sz="1650" b="1">
                <a:solidFill>
                  <a:srgbClr val="F8F6FF"/>
                </a:solidFill>
                <a:latin typeface="Calibri"/>
                <a:ea typeface="Calibri"/>
                <a:cs typeface="Calibri"/>
              </a:rPr>
              <a:t>Personalised</a:t>
            </a:r>
            <a:r>
              <a:rPr sz="1650" b="1">
                <a:solidFill>
                  <a:srgbClr val="F8F6FF"/>
                </a:solidFill>
                <a:latin typeface="Calibri"/>
                <a:ea typeface="Calibri"/>
                <a:cs typeface="Calibri"/>
              </a:rPr>
              <a:t> games</a:t>
            </a:r>
          </a:p>
        </p:txBody>
      </p:sp>
      <p:sp>
        <p:nvSpPr>
          <p:cNvPr id="16" name="Rectangle 15">
            <a:extLst xmlns:a="http://schemas.openxmlformats.org/drawingml/2006/main">
              <a:ext uri="{FF2B5EF4-FFF2-40B4-BE49-F238E27FC236}">
                <a16:creationId xmlns:a16="http://schemas.microsoft.com/office/drawing/2014/main" id="{0D9FF465-5F73-403E-A8D8-4ED17D10C610}"/>
              </a:ext>
            </a:extLst>
          </p:cNvPr>
          <p:cNvSpPr>
            <a:spLocks xmlns:a="http://schemas.openxmlformats.org/drawingml/2006/main" noGrp="1"/>
          </p:cNvSpPr>
          <p:nvPr/>
        </p:nvSpPr>
        <p:spPr>
          <a:xfrm xmlns:a="http://schemas.openxmlformats.org/drawingml/2006/main">
            <a:off x="1466850" y="3619500"/>
            <a:ext cx="4114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a:solidFill>
                  <a:srgbClr val="B8B0D4"/>
                </a:solidFill>
                <a:latin typeface="Calibri"/>
                <a:ea typeface="Calibri"/>
                <a:cs typeface="Calibri"/>
              </a:defRPr>
            </a:pPr>
            <a:r>
              <a:rPr sz="1200" b="0">
                <a:solidFill>
                  <a:srgbClr val="B8B0D4"/>
                </a:solidFill>
                <a:latin typeface="Calibri"/>
                <a:ea typeface="Calibri"/>
                <a:cs typeface="Calibri"/>
              </a:rPr>
              <a:t>Four type-and-stage game sets with supportive errorless guidance.</a:t>
            </a:r>
          </a:p>
        </p:txBody>
      </p:sp>
      <p:sp>
        <p:nvSpPr>
          <p:cNvPr id="17" name="Rectangle: Rounded Corners 16">
            <a:extLst xmlns:a="http://schemas.openxmlformats.org/drawingml/2006/main">
              <a:ext uri="{FF2B5EF4-FFF2-40B4-BE49-F238E27FC236}">
                <a16:creationId xmlns:a16="http://schemas.microsoft.com/office/drawing/2014/main" id="{620DC822-4928-4048-98B7-463803E161CF}"/>
              </a:ext>
            </a:extLst>
          </p:cNvPr>
          <p:cNvSpPr>
            <a:spLocks xmlns:a="http://schemas.openxmlformats.org/drawingml/2006/main" noGrp="1"/>
          </p:cNvSpPr>
          <p:nvPr/>
        </p:nvSpPr>
        <p:spPr>
          <a:xfrm xmlns:a="http://schemas.openxmlformats.org/drawingml/2006/main">
            <a:off x="6229350" y="3105150"/>
            <a:ext cx="5219700" cy="1162050"/>
          </a:xfrm>
          <a:prstGeom xmlns:a="http://schemas.openxmlformats.org/drawingml/2006/main" prst="roundRect">
            <a:avLst>
              <a:gd name="adj" fmla="val 9836"/>
            </a:avLst>
          </a:prstGeom>
          <a:solidFill xmlns:a="http://schemas.openxmlformats.org/drawingml/2006/main">
            <a:srgbClr val="3A316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3D86345C-2D0F-4882-B84F-5F328ED1FC69}"/>
              </a:ext>
            </a:extLst>
          </p:cNvPr>
          <p:cNvSpPr>
            <a:spLocks xmlns:a="http://schemas.openxmlformats.org/drawingml/2006/main" noGrp="1"/>
          </p:cNvSpPr>
          <p:nvPr/>
        </p:nvSpPr>
        <p:spPr>
          <a:xfrm xmlns:a="http://schemas.openxmlformats.org/drawingml/2006/main">
            <a:off x="6438900" y="3286125"/>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6B62"/>
                </a:solidFill>
                <a:latin typeface="Calibri"/>
                <a:ea typeface="Calibri"/>
                <a:cs typeface="Calibri"/>
              </a:defRPr>
            </a:pPr>
            <a:r>
              <a:rPr sz="2025" b="1">
                <a:solidFill>
                  <a:srgbClr val="FF6B62"/>
                </a:solidFill>
                <a:latin typeface="Calibri"/>
                <a:ea typeface="Calibri"/>
                <a:cs typeface="Calibri"/>
              </a:rPr>
              <a:t>04</a:t>
            </a:r>
          </a:p>
        </p:txBody>
      </p:sp>
      <p:sp>
        <p:nvSpPr>
          <p:cNvPr id="19" name="Rectangle 18">
            <a:extLst xmlns:a="http://schemas.openxmlformats.org/drawingml/2006/main">
              <a:ext uri="{FF2B5EF4-FFF2-40B4-BE49-F238E27FC236}">
                <a16:creationId xmlns:a16="http://schemas.microsoft.com/office/drawing/2014/main" id="{F975B479-8455-4943-BECB-0FF8B1ABFA1D}"/>
              </a:ext>
            </a:extLst>
          </p:cNvPr>
          <p:cNvSpPr>
            <a:spLocks xmlns:a="http://schemas.openxmlformats.org/drawingml/2006/main" noGrp="1"/>
          </p:cNvSpPr>
          <p:nvPr/>
        </p:nvSpPr>
        <p:spPr>
          <a:xfrm xmlns:a="http://schemas.openxmlformats.org/drawingml/2006/main">
            <a:off x="7010400" y="3257550"/>
            <a:ext cx="4095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F8F6FF"/>
                </a:solidFill>
                <a:latin typeface="Calibri"/>
                <a:ea typeface="Calibri"/>
                <a:cs typeface="Calibri"/>
              </a:defRPr>
            </a:pPr>
            <a:r>
              <a:rPr sz="1650" b="1">
                <a:solidFill>
                  <a:srgbClr val="F8F6FF"/>
                </a:solidFill>
                <a:latin typeface="Calibri"/>
                <a:ea typeface="Calibri"/>
                <a:cs typeface="Calibri"/>
              </a:rPr>
              <a:t>Adaptive difficulty</a:t>
            </a:r>
          </a:p>
        </p:txBody>
      </p:sp>
      <p:sp>
        <p:nvSpPr>
          <p:cNvPr id="20" name="Rectangle 19">
            <a:extLst xmlns:a="http://schemas.openxmlformats.org/drawingml/2006/main">
              <a:ext uri="{FF2B5EF4-FFF2-40B4-BE49-F238E27FC236}">
                <a16:creationId xmlns:a16="http://schemas.microsoft.com/office/drawing/2014/main" id="{32ECF3CF-7F21-4178-8A46-E01FB3661387}"/>
              </a:ext>
            </a:extLst>
          </p:cNvPr>
          <p:cNvSpPr>
            <a:spLocks xmlns:a="http://schemas.openxmlformats.org/drawingml/2006/main" noGrp="1"/>
          </p:cNvSpPr>
          <p:nvPr/>
        </p:nvSpPr>
        <p:spPr>
          <a:xfrm xmlns:a="http://schemas.openxmlformats.org/drawingml/2006/main">
            <a:off x="7010400" y="3619500"/>
            <a:ext cx="4114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a:solidFill>
                  <a:srgbClr val="B8B0D4"/>
                </a:solidFill>
                <a:latin typeface="Calibri"/>
                <a:ea typeface="Calibri"/>
                <a:cs typeface="Calibri"/>
              </a:defRPr>
            </a:pPr>
            <a:r>
              <a:rPr sz="1200" b="0">
                <a:solidFill>
                  <a:srgbClr val="B8B0D4"/>
                </a:solidFill>
                <a:latin typeface="Calibri"/>
                <a:ea typeface="Calibri"/>
                <a:cs typeface="Calibri"/>
              </a:rPr>
              <a:t>Per-game promotion/demotion, caregiver override, freeze/resume and audit history.</a:t>
            </a:r>
          </a:p>
        </p:txBody>
      </p:sp>
      <p:sp>
        <p:nvSpPr>
          <p:cNvPr id="21" name="Rectangle: Rounded Corners 20">
            <a:extLst xmlns:a="http://schemas.openxmlformats.org/drawingml/2006/main">
              <a:ext uri="{FF2B5EF4-FFF2-40B4-BE49-F238E27FC236}">
                <a16:creationId xmlns:a16="http://schemas.microsoft.com/office/drawing/2014/main" id="{81C60E1C-543F-4C78-BD49-1C25E202E1C2}"/>
              </a:ext>
            </a:extLst>
          </p:cNvPr>
          <p:cNvSpPr>
            <a:spLocks xmlns:a="http://schemas.openxmlformats.org/drawingml/2006/main" noGrp="1"/>
          </p:cNvSpPr>
          <p:nvPr/>
        </p:nvSpPr>
        <p:spPr>
          <a:xfrm xmlns:a="http://schemas.openxmlformats.org/drawingml/2006/main">
            <a:off x="685800" y="4514850"/>
            <a:ext cx="5219700" cy="1162050"/>
          </a:xfrm>
          <a:prstGeom xmlns:a="http://schemas.openxmlformats.org/drawingml/2006/main" prst="roundRect">
            <a:avLst>
              <a:gd name="adj" fmla="val 9836"/>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22" name="Rectangle 21">
            <a:extLst xmlns:a="http://schemas.openxmlformats.org/drawingml/2006/main">
              <a:ext uri="{FF2B5EF4-FFF2-40B4-BE49-F238E27FC236}">
                <a16:creationId xmlns:a16="http://schemas.microsoft.com/office/drawing/2014/main" id="{87B96BE1-0ED8-4711-9074-40CF3E0A9933}"/>
              </a:ext>
            </a:extLst>
          </p:cNvPr>
          <p:cNvSpPr>
            <a:spLocks xmlns:a="http://schemas.openxmlformats.org/drawingml/2006/main" noGrp="1"/>
          </p:cNvSpPr>
          <p:nvPr/>
        </p:nvSpPr>
        <p:spPr>
          <a:xfrm xmlns:a="http://schemas.openxmlformats.org/drawingml/2006/main">
            <a:off x="895350" y="4695825"/>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6B62"/>
                </a:solidFill>
                <a:latin typeface="Calibri"/>
                <a:ea typeface="Calibri"/>
                <a:cs typeface="Calibri"/>
              </a:defRPr>
            </a:pPr>
            <a:r>
              <a:rPr sz="2025" b="1">
                <a:solidFill>
                  <a:srgbClr val="FF6B62"/>
                </a:solidFill>
                <a:latin typeface="Calibri"/>
                <a:ea typeface="Calibri"/>
                <a:cs typeface="Calibri"/>
              </a:rPr>
              <a:t>05</a:t>
            </a:r>
          </a:p>
        </p:txBody>
      </p:sp>
      <p:sp>
        <p:nvSpPr>
          <p:cNvPr id="23" name="Rectangle 22">
            <a:extLst xmlns:a="http://schemas.openxmlformats.org/drawingml/2006/main">
              <a:ext uri="{FF2B5EF4-FFF2-40B4-BE49-F238E27FC236}">
                <a16:creationId xmlns:a16="http://schemas.microsoft.com/office/drawing/2014/main" id="{23C24C3F-4827-4B0B-860D-62F147D02CC2}"/>
              </a:ext>
            </a:extLst>
          </p:cNvPr>
          <p:cNvSpPr>
            <a:spLocks xmlns:a="http://schemas.openxmlformats.org/drawingml/2006/main" noGrp="1"/>
          </p:cNvSpPr>
          <p:nvPr/>
        </p:nvSpPr>
        <p:spPr>
          <a:xfrm xmlns:a="http://schemas.openxmlformats.org/drawingml/2006/main">
            <a:off x="1466850" y="4667250"/>
            <a:ext cx="4095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F8F6FF"/>
                </a:solidFill>
                <a:latin typeface="Calibri"/>
                <a:ea typeface="Calibri"/>
                <a:cs typeface="Calibri"/>
              </a:defRPr>
            </a:pPr>
            <a:r>
              <a:rPr sz="1650" b="1">
                <a:solidFill>
                  <a:srgbClr val="F8F6FF"/>
                </a:solidFill>
                <a:latin typeface="Calibri"/>
                <a:ea typeface="Calibri"/>
                <a:cs typeface="Calibri"/>
              </a:rPr>
              <a:t>Monitoring depth</a:t>
            </a:r>
          </a:p>
        </p:txBody>
      </p:sp>
      <p:sp>
        <p:nvSpPr>
          <p:cNvPr id="24" name="Rectangle 23">
            <a:extLst xmlns:a="http://schemas.openxmlformats.org/drawingml/2006/main">
              <a:ext uri="{FF2B5EF4-FFF2-40B4-BE49-F238E27FC236}">
                <a16:creationId xmlns:a16="http://schemas.microsoft.com/office/drawing/2014/main" id="{36AE45BF-1AFE-40A6-AC73-D5EE3550456C}"/>
              </a:ext>
            </a:extLst>
          </p:cNvPr>
          <p:cNvSpPr>
            <a:spLocks xmlns:a="http://schemas.openxmlformats.org/drawingml/2006/main" noGrp="1"/>
          </p:cNvSpPr>
          <p:nvPr/>
        </p:nvSpPr>
        <p:spPr>
          <a:xfrm xmlns:a="http://schemas.openxmlformats.org/drawingml/2006/main">
            <a:off x="1466850" y="5029200"/>
            <a:ext cx="4114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a:solidFill>
                  <a:srgbClr val="B8B0D4"/>
                </a:solidFill>
                <a:latin typeface="Calibri"/>
                <a:ea typeface="Calibri"/>
                <a:cs typeface="Calibri"/>
              </a:defRPr>
            </a:pPr>
            <a:r>
              <a:rPr sz="1200" b="0">
                <a:solidFill>
                  <a:srgbClr val="B8B0D4"/>
                </a:solidFill>
                <a:latin typeface="Calibri"/>
                <a:ea typeface="Calibri"/>
                <a:cs typeface="Calibri"/>
              </a:rPr>
              <a:t>Period analytics, trends, rankings, hint use and graded caregiver risk signals.</a:t>
            </a:r>
          </a:p>
        </p:txBody>
      </p:sp>
      <p:sp>
        <p:nvSpPr>
          <p:cNvPr id="25" name="Rectangle: Rounded Corners 24">
            <a:extLst xmlns:a="http://schemas.openxmlformats.org/drawingml/2006/main">
              <a:ext uri="{FF2B5EF4-FFF2-40B4-BE49-F238E27FC236}">
                <a16:creationId xmlns:a16="http://schemas.microsoft.com/office/drawing/2014/main" id="{4E2E4847-313C-4394-8FC5-3B50C314D2A9}"/>
              </a:ext>
            </a:extLst>
          </p:cNvPr>
          <p:cNvSpPr>
            <a:spLocks xmlns:a="http://schemas.openxmlformats.org/drawingml/2006/main" noGrp="1"/>
          </p:cNvSpPr>
          <p:nvPr/>
        </p:nvSpPr>
        <p:spPr>
          <a:xfrm xmlns:a="http://schemas.openxmlformats.org/drawingml/2006/main">
            <a:off x="6229350" y="4514850"/>
            <a:ext cx="5219700" cy="1162050"/>
          </a:xfrm>
          <a:prstGeom xmlns:a="http://schemas.openxmlformats.org/drawingml/2006/main" prst="roundRect">
            <a:avLst>
              <a:gd name="adj" fmla="val 9836"/>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26" name="Rectangle 25">
            <a:extLst xmlns:a="http://schemas.openxmlformats.org/drawingml/2006/main">
              <a:ext uri="{FF2B5EF4-FFF2-40B4-BE49-F238E27FC236}">
                <a16:creationId xmlns:a16="http://schemas.microsoft.com/office/drawing/2014/main" id="{176E4847-4BD4-4135-8C1D-2ADB5FCEE5AA}"/>
              </a:ext>
            </a:extLst>
          </p:cNvPr>
          <p:cNvSpPr>
            <a:spLocks xmlns:a="http://schemas.openxmlformats.org/drawingml/2006/main" noGrp="1"/>
          </p:cNvSpPr>
          <p:nvPr/>
        </p:nvSpPr>
        <p:spPr>
          <a:xfrm xmlns:a="http://schemas.openxmlformats.org/drawingml/2006/main">
            <a:off x="6438900" y="4695825"/>
            <a:ext cx="514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F6B62"/>
                </a:solidFill>
                <a:latin typeface="Calibri"/>
                <a:ea typeface="Calibri"/>
                <a:cs typeface="Calibri"/>
              </a:defRPr>
            </a:pPr>
            <a:r>
              <a:rPr sz="2025" b="1">
                <a:solidFill>
                  <a:srgbClr val="FF6B62"/>
                </a:solidFill>
                <a:latin typeface="Calibri"/>
                <a:ea typeface="Calibri"/>
                <a:cs typeface="Calibri"/>
              </a:rPr>
              <a:t>06</a:t>
            </a:r>
          </a:p>
        </p:txBody>
      </p:sp>
      <p:sp>
        <p:nvSpPr>
          <p:cNvPr id="27" name="Rectangle 26">
            <a:extLst xmlns:a="http://schemas.openxmlformats.org/drawingml/2006/main">
              <a:ext uri="{FF2B5EF4-FFF2-40B4-BE49-F238E27FC236}">
                <a16:creationId xmlns:a16="http://schemas.microsoft.com/office/drawing/2014/main" id="{9EF88F2F-DD80-4F31-BDDF-A05C9FEB49A4}"/>
              </a:ext>
            </a:extLst>
          </p:cNvPr>
          <p:cNvSpPr>
            <a:spLocks xmlns:a="http://schemas.openxmlformats.org/drawingml/2006/main" noGrp="1"/>
          </p:cNvSpPr>
          <p:nvPr/>
        </p:nvSpPr>
        <p:spPr>
          <a:xfrm xmlns:a="http://schemas.openxmlformats.org/drawingml/2006/main">
            <a:off x="7010400" y="4667250"/>
            <a:ext cx="4095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F8F6FF"/>
                </a:solidFill>
                <a:latin typeface="Calibri"/>
                <a:ea typeface="Calibri"/>
                <a:cs typeface="Calibri"/>
              </a:defRPr>
            </a:pPr>
            <a:r>
              <a:rPr sz="1650" b="1">
                <a:solidFill>
                  <a:srgbClr val="F8F6FF"/>
                </a:solidFill>
                <a:latin typeface="Calibri"/>
                <a:ea typeface="Calibri"/>
                <a:cs typeface="Calibri"/>
              </a:rPr>
              <a:t>Reward pathway</a:t>
            </a:r>
          </a:p>
        </p:txBody>
      </p:sp>
      <p:sp>
        <p:nvSpPr>
          <p:cNvPr id="28" name="Rectangle 27">
            <a:extLst xmlns:a="http://schemas.openxmlformats.org/drawingml/2006/main">
              <a:ext uri="{FF2B5EF4-FFF2-40B4-BE49-F238E27FC236}">
                <a16:creationId xmlns:a16="http://schemas.microsoft.com/office/drawing/2014/main" id="{239F2AA5-1092-4C5A-9CDD-4E191C008CF9}"/>
              </a:ext>
            </a:extLst>
          </p:cNvPr>
          <p:cNvSpPr>
            <a:spLocks xmlns:a="http://schemas.openxmlformats.org/drawingml/2006/main" noGrp="1"/>
          </p:cNvSpPr>
          <p:nvPr/>
        </p:nvSpPr>
        <p:spPr>
          <a:xfrm xmlns:a="http://schemas.openxmlformats.org/drawingml/2006/main">
            <a:off x="7010400" y="5029200"/>
            <a:ext cx="4114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a:solidFill>
                  <a:srgbClr val="B8B0D4"/>
                </a:solidFill>
                <a:latin typeface="Calibri"/>
                <a:ea typeface="Calibri"/>
                <a:cs typeface="Calibri"/>
              </a:defRPr>
            </a:pPr>
            <a:r>
              <a:rPr sz="1200" b="0">
                <a:solidFill>
                  <a:srgbClr val="B8B0D4"/>
                </a:solidFill>
                <a:latin typeface="Calibri"/>
                <a:ea typeface="Calibri"/>
                <a:cs typeface="Calibri"/>
              </a:rPr>
              <a:t>Daily streak cycle, shared points, levels and points-unlocked Just for Fun games.</a:t>
            </a:r>
          </a:p>
        </p:txBody>
      </p:sp>
      <p:sp>
        <p:nvSpPr>
          <p:cNvPr id="29" name="Rectangle 28">
            <a:extLst xmlns:a="http://schemas.openxmlformats.org/drawingml/2006/main">
              <a:ext uri="{FF2B5EF4-FFF2-40B4-BE49-F238E27FC236}">
                <a16:creationId xmlns:a16="http://schemas.microsoft.com/office/drawing/2014/main" id="{67B926DB-443E-41B1-B21E-D2F51E49C891}"/>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a:solidFill>
                  <a:srgbClr val="8F87AC"/>
                </a:solidFill>
                <a:latin typeface="Calibri"/>
                <a:ea typeface="Calibri"/>
                <a:cs typeface="Calibri"/>
              </a:defRPr>
            </a:pPr>
            <a:r>
              <a:rPr sz="750" b="0">
                <a:solidFill>
                  <a:srgbClr val="8F87AC"/>
                </a:solidFill>
                <a:latin typeface="Calibri"/>
                <a:ea typeface="Calibri"/>
                <a:cs typeface="Calibri"/>
              </a:rPr>
              <a:t>Source: Final report Table 4.1 and Chapter 6.</a:t>
            </a:r>
          </a:p>
        </p:txBody>
      </p:sp>
      <p:sp>
        <p:nvSpPr>
          <p:cNvPr id="30" name="Rectangle 29">
            <a:extLst xmlns:a="http://schemas.openxmlformats.org/drawingml/2006/main">
              <a:ext uri="{FF2B5EF4-FFF2-40B4-BE49-F238E27FC236}">
                <a16:creationId xmlns:a16="http://schemas.microsoft.com/office/drawing/2014/main" id="{14455D75-38CD-4C33-A8D1-7DE293FC7E46}"/>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1">
                <a:solidFill>
                  <a:srgbClr val="B8B0D4"/>
                </a:solidFill>
                <a:latin typeface="Calibri"/>
                <a:ea typeface="Calibri"/>
                <a:cs typeface="Calibri"/>
              </a:defRPr>
            </a:pPr>
            <a:r>
              <a:rPr sz="975" b="1">
                <a:solidFill>
                  <a:srgbClr val="B8B0D4"/>
                </a:solidFill>
                <a:latin typeface="Calibri"/>
                <a:ea typeface="Calibri"/>
                <a:cs typeface="Calibri"/>
              </a:rPr>
              <a:t>10</a:t>
            </a:r>
          </a:p>
        </p:txBody>
      </p:sp>
    </p:spTree>
    <p:extLst>
      <p:ext uri="{BB962C8B-B14F-4D97-AF65-F5344CB8AC3E}">
        <p14:creationId xmlns:p14="http://schemas.microsoft.com/office/powerpoint/2010/main" val="147087013"/>
      </p:ext>
    </p:extLst>
  </p:cSld>
</p:sld>
</file>

<file path=ppt/slides/slide10.xml><?xml version="1.0" encoding="utf-8"?>
<p:sld xmlns:p="http://schemas.openxmlformats.org/presentationml/2006/main">
  <p:cSld>
    <p:bg>
      <p:bgPr>
        <a:gradFill xmlns:a="http://schemas.openxmlformats.org/drawingml/2006/main">
          <a:gsLst>
            <a:gs pos="0">
              <a:srgbClr val="120B27"/>
            </a:gs>
            <a:gs pos="52000">
              <a:srgbClr val="19112F"/>
            </a:gs>
            <a:gs pos="100000">
              <a:srgbClr val="24183F"/>
            </a:gs>
          </a:gsLst>
          <a:lin ang="8100000"/>
        </a:gra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FC78D171-871A-455C-AFE4-9796BFF736D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1D49B7C2-17A8-4BD9-84DF-2AA1D78A56AC}"/>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FF6B62"/>
                </a:solidFill>
                <a:latin typeface="Calibri"/>
                <a:ea typeface="Calibri"/>
                <a:cs typeface="Calibri"/>
              </a:defRPr>
            </a:pPr>
            <a:r>
              <a:rPr sz="1125" b="1">
                <a:solidFill>
                  <a:srgbClr val="FF6B62"/>
                </a:solidFill>
                <a:latin typeface="Calibri"/>
                <a:ea typeface="Calibri"/>
                <a:cs typeface="Calibri"/>
              </a:rPr>
              <a:t>CHAPTER 4 · REQUIREMENTS</a:t>
            </a:r>
          </a:p>
        </p:txBody>
      </p:sp>
      <p:sp>
        <p:nvSpPr>
          <p:cNvPr id="3" name="Rectangle 2">
            <a:extLst xmlns:a="http://schemas.openxmlformats.org/drawingml/2006/main">
              <a:ext uri="{FF2B5EF4-FFF2-40B4-BE49-F238E27FC236}">
                <a16:creationId xmlns:a16="http://schemas.microsoft.com/office/drawing/2014/main" id="{34A3CC78-54BA-483A-9438-8BDFB9787121}"/>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F8F6FF"/>
                </a:solidFill>
                <a:latin typeface="Calibri"/>
                <a:ea typeface="Calibri"/>
                <a:cs typeface="Calibri"/>
              </a:defRPr>
            </a:pPr>
            <a:r>
              <a:rPr sz="2700" b="1">
                <a:solidFill>
                  <a:srgbClr val="F8F6FF"/>
                </a:solidFill>
                <a:latin typeface="Calibri"/>
                <a:ea typeface="Calibri"/>
                <a:cs typeface="Calibri"/>
              </a:rPr>
              <a:t>Updated use-case diagram</a:t>
            </a:r>
          </a:p>
        </p:txBody>
      </p:sp>
      <p:sp>
        <p:nvSpPr>
          <p:cNvPr id="9" name="Rectangle 8">
            <a:extLst xmlns:a="http://schemas.openxmlformats.org/drawingml/2006/main">
              <a:ext uri="{FF2B5EF4-FFF2-40B4-BE49-F238E27FC236}">
                <a16:creationId xmlns:a16="http://schemas.microsoft.com/office/drawing/2014/main" id="{F3B9250B-589C-44F8-8799-37AE5977E00F}"/>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1">
                <a:solidFill>
                  <a:srgbClr val="B8B0D4"/>
                </a:solidFill>
                <a:latin typeface="Calibri"/>
                <a:ea typeface="Calibri"/>
                <a:cs typeface="Calibri"/>
              </a:defRPr>
            </a:pPr>
            <a:r>
              <a:rPr sz="975" b="1">
                <a:solidFill>
                  <a:srgbClr val="B8B0D4"/>
                </a:solidFill>
                <a:latin typeface="Calibri"/>
                <a:ea typeface="Calibri"/>
                <a:cs typeface="Calibri"/>
              </a:rPr>
              <a:t>11</a:t>
            </a:r>
          </a:p>
        </p:txBody>
      </p:sp>
      <p:pic>
        <p:nvPicPr>
          <p:cNvPr id="16" name="Picture 4"/>
          <p:cNvPicPr>
            <a:picLocks xmlns:a="http://schemas.openxmlformats.org/drawingml/2006/main" noChangeAspect="1"/>
          </p:cNvPicPr>
          <p:nvPr/>
        </p:nvPicPr>
        <p:blipFill>
          <a:blip xmlns:r="http://schemas.openxmlformats.org/officeDocument/2006/relationships" xmlns:a="http://schemas.openxmlformats.org/drawingml/2006/main" r:embed="R685b9516c2cf4027"/>
          <a:srcRect xmlns:a="http://schemas.openxmlformats.org/drawingml/2006/main" l="0" t="0" r="4003" b="17192"/>
          <a:stretch xmlns:a="http://schemas.openxmlformats.org/drawingml/2006/main">
            <a:fillRect l="0" t="0" r="0" b="0"/>
          </a:stretch>
        </p:blipFill>
        <p:spPr>
          <a:xfrm xmlns:a="http://schemas.openxmlformats.org/drawingml/2006/main">
            <a:off x="5715000" y="381000"/>
            <a:ext cx="5715000" cy="6096000"/>
          </a:xfrm>
          <a:prstGeom xmlns:a="http://schemas.openxmlformats.org/drawingml/2006/main" prst="roundRect">
            <a:avLst>
              <a:gd name="adj" fmla="val 2000"/>
            </a:avLst>
          </a:prstGeom>
        </p:spPr>
      </p:pic>
    </p:spTree>
    <p:extLst>
      <p:ext uri="{BB962C8B-B14F-4D97-AF65-F5344CB8AC3E}">
        <p14:creationId xmlns:p14="http://schemas.microsoft.com/office/powerpoint/2010/main" val="206687666"/>
      </p:ext>
    </p:extLst>
  </p:cSld>
</p:sld>
</file>

<file path=ppt/slides/slide11.xml><?xml version="1.0" encoding="utf-8"?>
<p:sld xmlns:p="http://schemas.openxmlformats.org/presentationml/2006/main">
  <p:cSld>
    <p:bg>
      <p:bgPr>
        <a:gradFill xmlns:a="http://schemas.openxmlformats.org/drawingml/2006/main">
          <a:gsLst>
            <a:gs pos="0">
              <a:srgbClr val="120B27"/>
            </a:gs>
            <a:gs pos="52000">
              <a:srgbClr val="19112F"/>
            </a:gs>
            <a:gs pos="100000">
              <a:srgbClr val="24183F"/>
            </a:gs>
          </a:gsLst>
          <a:lin ang="8100000"/>
        </a:gra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0DC2A1C2-D345-3269-38BA-633616F07EE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0BB0F03E-F280-6163-C7F6-A582C8C95F74}"/>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FF6B62"/>
                </a:solidFill>
                <a:latin typeface="Calibri"/>
                <a:ea typeface="Calibri"/>
                <a:cs typeface="Calibri"/>
              </a:defRPr>
            </a:pPr>
            <a:r>
              <a:rPr sz="1125" b="1">
                <a:solidFill>
                  <a:srgbClr val="FF6B62"/>
                </a:solidFill>
                <a:latin typeface="Calibri"/>
                <a:ea typeface="Calibri"/>
                <a:cs typeface="Calibri"/>
              </a:rPr>
              <a:t>CHAPTER 5 · SYSTEM DESIGN</a:t>
            </a:r>
          </a:p>
        </p:txBody>
      </p:sp>
      <p:sp>
        <p:nvSpPr>
          <p:cNvPr id="3" name="Rectangle 2">
            <a:extLst xmlns:a="http://schemas.openxmlformats.org/drawingml/2006/main">
              <a:ext uri="{FF2B5EF4-FFF2-40B4-BE49-F238E27FC236}">
                <a16:creationId xmlns:a16="http://schemas.microsoft.com/office/drawing/2014/main" id="{867DCD2C-3EEC-69E5-3CB9-F319D6C564DA}"/>
              </a:ext>
            </a:extLst>
          </p:cNvPr>
          <p:cNvSpPr>
            <a:spLocks xmlns:a="http://schemas.openxmlformats.org/drawingml/2006/main" noGrp="1"/>
          </p:cNvSpPr>
          <p:nvPr/>
        </p:nvSpPr>
        <p:spPr>
          <a:xfrm xmlns:a="http://schemas.openxmlformats.org/drawingml/2006/main">
            <a:off x="533400" y="619125"/>
            <a:ext cx="4847863"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F8F6FF"/>
                </a:solidFill>
                <a:latin typeface="Calibri"/>
                <a:ea typeface="Calibri"/>
                <a:cs typeface="Calibri"/>
              </a:defRPr>
            </a:pPr>
            <a:r>
              <a:rPr sz="2700" b="1">
                <a:solidFill>
                  <a:srgbClr val="F8F6FF"/>
                </a:solidFill>
                <a:latin typeface="Calibri"/>
                <a:ea typeface="Calibri"/>
                <a:cs typeface="Calibri"/>
              </a:rPr>
              <a:t>Architecture and data design</a:t>
            </a:r>
          </a:p>
        </p:txBody>
      </p:sp>
      <p:sp>
        <p:nvSpPr>
          <p:cNvPr id="11" name="Rectangle 10">
            <a:extLst xmlns:a="http://schemas.openxmlformats.org/drawingml/2006/main">
              <a:ext uri="{FF2B5EF4-FFF2-40B4-BE49-F238E27FC236}">
                <a16:creationId xmlns:a16="http://schemas.microsoft.com/office/drawing/2014/main" id="{58049A20-B88D-57A2-FF0B-822997D70F1F}"/>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1">
                <a:solidFill>
                  <a:srgbClr val="B8B0D4"/>
                </a:solidFill>
                <a:latin typeface="Calibri"/>
                <a:ea typeface="Calibri"/>
                <a:cs typeface="Calibri"/>
              </a:defRPr>
            </a:pPr>
            <a:r>
              <a:rPr sz="975" b="1">
                <a:solidFill>
                  <a:srgbClr val="B8B0D4"/>
                </a:solidFill>
                <a:latin typeface="Calibri"/>
                <a:ea typeface="Calibri"/>
                <a:cs typeface="Calibri"/>
              </a:rPr>
              <a:t>12</a:t>
            </a:r>
          </a:p>
        </p:txBody>
      </p:sp>
      <p:pic>
        <p:nvPicPr>
          <p:cNvPr id="18" name="Picture 13"/>
          <p:cNvPicPr>
            <a:picLocks xmlns:a="http://schemas.openxmlformats.org/drawingml/2006/main" noChangeAspect="1"/>
          </p:cNvPicPr>
          <p:nvPr/>
        </p:nvPicPr>
        <p:blipFill>
          <a:blip xmlns:r="http://schemas.openxmlformats.org/officeDocument/2006/relationships" xmlns:a="http://schemas.openxmlformats.org/drawingml/2006/main" r:embed="R3bbcf93e16a548a8"/>
          <a:srcRect xmlns:a="http://schemas.openxmlformats.org/drawingml/2006/main" l="0" t="0" r="0" b="0"/>
          <a:stretch xmlns:a="http://schemas.openxmlformats.org/drawingml/2006/main">
            <a:fillRect l="0" t="0" r="0" b="0"/>
          </a:stretch>
        </p:blipFill>
        <p:spPr>
          <a:xfrm xmlns:a="http://schemas.openxmlformats.org/drawingml/2006/main">
            <a:off x="742950" y="1238250"/>
            <a:ext cx="10706100" cy="5429250"/>
          </a:xfrm>
          <a:prstGeom xmlns:a="http://schemas.openxmlformats.org/drawingml/2006/main" prst="roundRect">
            <a:avLst>
              <a:gd name="adj" fmla="val 2105"/>
            </a:avLst>
          </a:prstGeom>
          <a:ln xmlns:a="http://schemas.openxmlformats.org/drawingml/2006/main">
            <a:noFill/>
          </a:ln>
        </p:spPr>
      </p:pic>
    </p:spTree>
    <p:extLst>
      <p:ext uri="{BB962C8B-B14F-4D97-AF65-F5344CB8AC3E}">
        <p14:creationId xmlns:p14="http://schemas.microsoft.com/office/powerpoint/2010/main" val="1581313162"/>
      </p:ext>
    </p:extLst>
  </p:cSld>
</p:sld>
</file>

<file path=ppt/slides/slide12.xml><?xml version="1.0" encoding="utf-8"?>
<p:sld xmlns:p="http://schemas.openxmlformats.org/presentationml/2006/main">
  <p:cSld>
    <p:bg>
      <p:bgPr>
        <a:gradFill xmlns:a="http://schemas.openxmlformats.org/drawingml/2006/main">
          <a:gsLst>
            <a:gs pos="0">
              <a:srgbClr val="120B27"/>
            </a:gs>
            <a:gs pos="52000">
              <a:srgbClr val="19112F"/>
            </a:gs>
            <a:gs pos="100000">
              <a:srgbClr val="24183F"/>
            </a:gs>
          </a:gsLst>
          <a:lin ang="8100000"/>
        </a:gra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5506F3E9-A204-489B-B6B3-B4E9AA889B1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626CB439-980C-44FD-8132-A0C2560834C9}"/>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FF6B62"/>
                </a:solidFill>
                <a:latin typeface="Calibri"/>
                <a:ea typeface="Calibri"/>
                <a:cs typeface="Calibri"/>
              </a:defRPr>
            </a:pPr>
            <a:r>
              <a:rPr sz="1125" b="1">
                <a:solidFill>
                  <a:srgbClr val="FF6B62"/>
                </a:solidFill>
                <a:latin typeface="Calibri"/>
                <a:ea typeface="Calibri"/>
                <a:cs typeface="Calibri"/>
              </a:rPr>
              <a:t>CHAPTER 5 · SYSTEM DESIGN</a:t>
            </a:r>
          </a:p>
        </p:txBody>
      </p:sp>
      <p:sp>
        <p:nvSpPr>
          <p:cNvPr id="3" name="Rectangle 2">
            <a:extLst xmlns:a="http://schemas.openxmlformats.org/drawingml/2006/main">
              <a:ext uri="{FF2B5EF4-FFF2-40B4-BE49-F238E27FC236}">
                <a16:creationId xmlns:a16="http://schemas.microsoft.com/office/drawing/2014/main" id="{9CA7360A-1876-44AD-B131-368C0B9726D7}"/>
              </a:ext>
            </a:extLst>
          </p:cNvPr>
          <p:cNvSpPr>
            <a:spLocks xmlns:a="http://schemas.openxmlformats.org/drawingml/2006/main" noGrp="1"/>
          </p:cNvSpPr>
          <p:nvPr/>
        </p:nvSpPr>
        <p:spPr>
          <a:xfrm xmlns:a="http://schemas.openxmlformats.org/drawingml/2006/main">
            <a:off x="533400" y="619125"/>
            <a:ext cx="6642904"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F8F6FF"/>
                </a:solidFill>
                <a:latin typeface="Calibri"/>
                <a:ea typeface="Calibri"/>
                <a:cs typeface="Calibri"/>
              </a:defRPr>
            </a:pPr>
            <a:r>
              <a:rPr sz="2700" b="1">
                <a:solidFill>
                  <a:srgbClr val="F8F6FF"/>
                </a:solidFill>
                <a:latin typeface="Calibri"/>
                <a:ea typeface="Calibri"/>
                <a:cs typeface="Calibri"/>
              </a:rPr>
              <a:t>Architecture and data design</a:t>
            </a:r>
          </a:p>
        </p:txBody>
      </p:sp>
      <p:sp>
        <p:nvSpPr>
          <p:cNvPr id="11" name="Rectangle 10">
            <a:extLst xmlns:a="http://schemas.openxmlformats.org/drawingml/2006/main">
              <a:ext uri="{FF2B5EF4-FFF2-40B4-BE49-F238E27FC236}">
                <a16:creationId xmlns:a16="http://schemas.microsoft.com/office/drawing/2014/main" id="{756EF76F-1A2D-4C68-917C-7962FC29F0DE}"/>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1">
                <a:solidFill>
                  <a:srgbClr val="B8B0D4"/>
                </a:solidFill>
                <a:latin typeface="Calibri"/>
                <a:ea typeface="Calibri"/>
                <a:cs typeface="Calibri"/>
              </a:defRPr>
            </a:pPr>
            <a:r>
              <a:rPr sz="975" b="1">
                <a:solidFill>
                  <a:srgbClr val="B8B0D4"/>
                </a:solidFill>
                <a:latin typeface="Calibri"/>
                <a:ea typeface="Calibri"/>
                <a:cs typeface="Calibri"/>
              </a:rPr>
              <a:t>12</a:t>
            </a:r>
          </a:p>
        </p:txBody>
      </p:sp>
      <p:pic>
        <p:nvPicPr>
          <p:cNvPr id="18" name="Picture 12"/>
          <p:cNvPicPr>
            <a:picLocks xmlns:a="http://schemas.openxmlformats.org/drawingml/2006/main" noChangeAspect="1"/>
          </p:cNvPicPr>
          <p:nvPr/>
        </p:nvPicPr>
        <p:blipFill>
          <a:blip xmlns:r="http://schemas.openxmlformats.org/officeDocument/2006/relationships" xmlns:a="http://schemas.openxmlformats.org/drawingml/2006/main" r:embed="Rb6acc7c7ec7c4670"/>
          <a:srcRect xmlns:a="http://schemas.openxmlformats.org/drawingml/2006/main" l="0" t="0" r="0" b="0"/>
          <a:stretch xmlns:a="http://schemas.openxmlformats.org/drawingml/2006/main">
            <a:fillRect l="0" t="0" r="0" b="0"/>
          </a:stretch>
        </p:blipFill>
        <p:spPr>
          <a:xfrm xmlns:a="http://schemas.openxmlformats.org/drawingml/2006/main">
            <a:off x="457200" y="1123950"/>
            <a:ext cx="10953750" cy="5600700"/>
          </a:xfrm>
          <a:prstGeom xmlns:a="http://schemas.openxmlformats.org/drawingml/2006/main" prst="roundRect">
            <a:avLst>
              <a:gd name="adj" fmla="val 2041"/>
            </a:avLst>
          </a:prstGeom>
          <a:ln xmlns:a="http://schemas.openxmlformats.org/drawingml/2006/main">
            <a:noFill/>
          </a:ln>
        </p:spPr>
      </p:pic>
    </p:spTree>
    <p:extLst>
      <p:ext uri="{BB962C8B-B14F-4D97-AF65-F5344CB8AC3E}">
        <p14:creationId xmlns:p14="http://schemas.microsoft.com/office/powerpoint/2010/main" val="1059993718"/>
      </p:ext>
    </p:extLst>
  </p:cSld>
</p:sld>
</file>

<file path=ppt/slides/slide13.xml><?xml version="1.0" encoding="utf-8"?>
<p:sld xmlns:p="http://schemas.openxmlformats.org/presentationml/2006/main">
  <p:cSld>
    <p:bg>
      <p:bgPr>
        <a:gradFill xmlns:a="http://schemas.openxmlformats.org/drawingml/2006/main">
          <a:gsLst>
            <a:gs pos="0">
              <a:srgbClr val="120B27"/>
            </a:gs>
            <a:gs pos="52000">
              <a:srgbClr val="19112F"/>
            </a:gs>
            <a:gs pos="100000">
              <a:srgbClr val="24183F"/>
            </a:gs>
          </a:gsLst>
          <a:lin ang="8100000"/>
        </a:gra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B256F6D5-7D8D-484E-8BFB-A642649EF04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F4D758B9-1C98-4EFA-8408-56F01EA27F60}"/>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FF6B62"/>
                </a:solidFill>
                <a:latin typeface="Calibri"/>
                <a:ea typeface="Calibri"/>
                <a:cs typeface="Calibri"/>
              </a:defRPr>
            </a:pPr>
            <a:r>
              <a:rPr sz="1125" b="1">
                <a:solidFill>
                  <a:srgbClr val="FF6B62"/>
                </a:solidFill>
                <a:latin typeface="Calibri"/>
                <a:ea typeface="Calibri"/>
                <a:cs typeface="Calibri"/>
              </a:rPr>
              <a:t>CHAPTER 6 · IMPLEMENTATION</a:t>
            </a:r>
          </a:p>
        </p:txBody>
      </p:sp>
      <p:sp>
        <p:nvSpPr>
          <p:cNvPr id="3" name="Rectangle 2">
            <a:extLst xmlns:a="http://schemas.openxmlformats.org/drawingml/2006/main">
              <a:ext uri="{FF2B5EF4-FFF2-40B4-BE49-F238E27FC236}">
                <a16:creationId xmlns:a16="http://schemas.microsoft.com/office/drawing/2014/main" id="{1F26F069-69B0-4386-AA7A-0A4E01139F9B}"/>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F8F6FF"/>
                </a:solidFill>
                <a:latin typeface="Calibri"/>
                <a:ea typeface="Calibri"/>
                <a:cs typeface="Calibri"/>
              </a:defRPr>
            </a:pPr>
            <a:r>
              <a:rPr sz="2700" b="1">
                <a:solidFill>
                  <a:srgbClr val="F8F6FF"/>
                </a:solidFill>
                <a:latin typeface="Calibri"/>
                <a:ea typeface="Calibri"/>
                <a:cs typeface="Calibri"/>
              </a:rPr>
              <a:t>The final interface connected both roles</a:t>
            </a:r>
          </a:p>
        </p:txBody>
      </p:sp>
      <p:sp>
        <p:nvSpPr>
          <p:cNvPr id="5" name="Rectangle: Rounded Corners 4">
            <a:extLst xmlns:a="http://schemas.openxmlformats.org/drawingml/2006/main">
              <a:ext uri="{FF2B5EF4-FFF2-40B4-BE49-F238E27FC236}">
                <a16:creationId xmlns:a16="http://schemas.microsoft.com/office/drawing/2014/main" id="{709FB9DF-208E-4EC1-B1D4-B83303678295}"/>
              </a:ext>
            </a:extLst>
          </p:cNvPr>
          <p:cNvSpPr>
            <a:spLocks xmlns:a="http://schemas.openxmlformats.org/drawingml/2006/main" noGrp="1"/>
          </p:cNvSpPr>
          <p:nvPr/>
        </p:nvSpPr>
        <p:spPr>
          <a:xfrm xmlns:a="http://schemas.openxmlformats.org/drawingml/2006/main">
            <a:off x="666750" y="1828800"/>
            <a:ext cx="4857750" cy="4248150"/>
          </a:xfrm>
          <a:prstGeom xmlns:a="http://schemas.openxmlformats.org/drawingml/2006/main" prst="roundRect">
            <a:avLst>
              <a:gd name="adj" fmla="val 3587"/>
            </a:avLst>
          </a:prstGeom>
          <a:solidFill xmlns:a="http://schemas.openxmlformats.org/drawingml/2006/main">
            <a:srgbClr val="100B22"/>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6" name="Rectangle: Rounded Corners 5">
            <a:extLst xmlns:a="http://schemas.openxmlformats.org/drawingml/2006/main">
              <a:ext uri="{FF2B5EF4-FFF2-40B4-BE49-F238E27FC236}">
                <a16:creationId xmlns:a16="http://schemas.microsoft.com/office/drawing/2014/main" id="{29975B6A-BC17-42F5-82DA-365BBDBD40AC}"/>
              </a:ext>
            </a:extLst>
          </p:cNvPr>
          <p:cNvSpPr>
            <a:spLocks xmlns:a="http://schemas.openxmlformats.org/drawingml/2006/main" noGrp="1"/>
          </p:cNvSpPr>
          <p:nvPr/>
        </p:nvSpPr>
        <p:spPr>
          <a:xfrm xmlns:a="http://schemas.openxmlformats.org/drawingml/2006/main">
            <a:off x="552450" y="1695450"/>
            <a:ext cx="4933950" cy="4324350"/>
          </a:xfrm>
          <a:prstGeom xmlns:a="http://schemas.openxmlformats.org/drawingml/2006/main" prst="roundRect">
            <a:avLst>
              <a:gd name="adj" fmla="val 3524"/>
            </a:avLst>
          </a:prstGeom>
          <a:solidFill xmlns:a="http://schemas.openxmlformats.org/drawingml/2006/main">
            <a:srgbClr val="3A316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pic>
        <p:nvPicPr>
          <p:cNvPr id="25" name="Picture 22"/>
          <p:cNvPicPr>
            <a:picLocks xmlns:a="http://schemas.openxmlformats.org/drawingml/2006/main" noChangeAspect="1"/>
          </p:cNvPicPr>
          <p:nvPr/>
        </p:nvPicPr>
        <p:blipFill>
          <a:blip xmlns:r="http://schemas.openxmlformats.org/officeDocument/2006/relationships" xmlns:a="http://schemas.openxmlformats.org/drawingml/2006/main" r:embed="Rcac7c8c4aa45498d"/>
          <a:stretch xmlns:a="http://schemas.openxmlformats.org/drawingml/2006/main"/>
        </p:blipFill>
        <p:spPr>
          <a:xfrm xmlns:a="http://schemas.openxmlformats.org/drawingml/2006/main">
            <a:off x="1003797" y="1733550"/>
            <a:ext cx="4031255" cy="4248150"/>
          </a:xfrm>
          <a:prstGeom xmlns:a="http://schemas.openxmlformats.org/drawingml/2006/main" prst="roundRect">
            <a:avLst>
              <a:gd name="adj" fmla="val 2835"/>
            </a:avLst>
          </a:prstGeom>
        </p:spPr>
      </p:pic>
      <p:sp>
        <p:nvSpPr>
          <p:cNvPr id="8" name="Rectangle: Rounded Corners 7">
            <a:extLst xmlns:a="http://schemas.openxmlformats.org/drawingml/2006/main">
              <a:ext uri="{FF2B5EF4-FFF2-40B4-BE49-F238E27FC236}">
                <a16:creationId xmlns:a16="http://schemas.microsoft.com/office/drawing/2014/main" id="{2C58D1A5-40E2-488E-AD93-1FFDF80D4B17}"/>
              </a:ext>
            </a:extLst>
          </p:cNvPr>
          <p:cNvSpPr>
            <a:spLocks xmlns:a="http://schemas.openxmlformats.org/drawingml/2006/main" noGrp="1"/>
          </p:cNvSpPr>
          <p:nvPr/>
        </p:nvSpPr>
        <p:spPr>
          <a:xfrm xmlns:a="http://schemas.openxmlformats.org/drawingml/2006/main">
            <a:off x="5886450" y="1828800"/>
            <a:ext cx="5676900" cy="4248150"/>
          </a:xfrm>
          <a:prstGeom xmlns:a="http://schemas.openxmlformats.org/drawingml/2006/main" prst="roundRect">
            <a:avLst>
              <a:gd name="adj" fmla="val 3587"/>
            </a:avLst>
          </a:prstGeom>
          <a:solidFill xmlns:a="http://schemas.openxmlformats.org/drawingml/2006/main">
            <a:srgbClr val="100B22"/>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9" name="Rectangle: Rounded Corners 8">
            <a:extLst xmlns:a="http://schemas.openxmlformats.org/drawingml/2006/main">
              <a:ext uri="{FF2B5EF4-FFF2-40B4-BE49-F238E27FC236}">
                <a16:creationId xmlns:a16="http://schemas.microsoft.com/office/drawing/2014/main" id="{AEC8BCE6-E5DD-4118-B729-E98C0AD54579}"/>
              </a:ext>
            </a:extLst>
          </p:cNvPr>
          <p:cNvSpPr>
            <a:spLocks xmlns:a="http://schemas.openxmlformats.org/drawingml/2006/main" noGrp="1"/>
          </p:cNvSpPr>
          <p:nvPr/>
        </p:nvSpPr>
        <p:spPr>
          <a:xfrm xmlns:a="http://schemas.openxmlformats.org/drawingml/2006/main">
            <a:off x="5772150" y="1695450"/>
            <a:ext cx="5753100" cy="4324350"/>
          </a:xfrm>
          <a:prstGeom xmlns:a="http://schemas.openxmlformats.org/drawingml/2006/main" prst="roundRect">
            <a:avLst>
              <a:gd name="adj" fmla="val 3524"/>
            </a:avLst>
          </a:prstGeom>
          <a:solidFill xmlns:a="http://schemas.openxmlformats.org/drawingml/2006/main">
            <a:srgbClr val="3A316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pic>
        <p:nvPicPr>
          <p:cNvPr id="28" name="Picture 25"/>
          <p:cNvPicPr>
            <a:picLocks xmlns:a="http://schemas.openxmlformats.org/drawingml/2006/main" noChangeAspect="1"/>
          </p:cNvPicPr>
          <p:nvPr/>
        </p:nvPicPr>
        <p:blipFill>
          <a:blip xmlns:r="http://schemas.openxmlformats.org/officeDocument/2006/relationships" xmlns:a="http://schemas.openxmlformats.org/drawingml/2006/main" r:embed="R744dd85cf80a4973"/>
          <a:stretch xmlns:a="http://schemas.openxmlformats.org/drawingml/2006/main"/>
        </p:blipFill>
        <p:spPr>
          <a:xfrm xmlns:a="http://schemas.openxmlformats.org/drawingml/2006/main">
            <a:off x="6379389" y="1733550"/>
            <a:ext cx="4538622" cy="4248150"/>
          </a:xfrm>
          <a:prstGeom xmlns:a="http://schemas.openxmlformats.org/drawingml/2006/main" prst="roundRect">
            <a:avLst>
              <a:gd name="adj" fmla="val 2691"/>
            </a:avLst>
          </a:prstGeom>
        </p:spPr>
      </p:pic>
      <p:sp>
        <p:nvSpPr>
          <p:cNvPr id="11" name="Rectangle: Rounded Corners 10">
            <a:extLst xmlns:a="http://schemas.openxmlformats.org/drawingml/2006/main">
              <a:ext uri="{FF2B5EF4-FFF2-40B4-BE49-F238E27FC236}">
                <a16:creationId xmlns:a16="http://schemas.microsoft.com/office/drawing/2014/main" id="{8CCE7D0A-7145-499E-8801-828A546DBFCB}"/>
              </a:ext>
            </a:extLst>
          </p:cNvPr>
          <p:cNvSpPr>
            <a:spLocks xmlns:a="http://schemas.openxmlformats.org/drawingml/2006/main" noGrp="1"/>
          </p:cNvSpPr>
          <p:nvPr/>
        </p:nvSpPr>
        <p:spPr>
          <a:xfrm xmlns:a="http://schemas.openxmlformats.org/drawingml/2006/main">
            <a:off x="1371600" y="5638800"/>
            <a:ext cx="3295650" cy="323850"/>
          </a:xfrm>
          <a:prstGeom xmlns:a="http://schemas.openxmlformats.org/drawingml/2006/main" prst="roundRect">
            <a:avLst>
              <a:gd name="adj" fmla="val 35294"/>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BB88E9FA-3409-4458-8DE9-BB3913C38171}"/>
              </a:ext>
            </a:extLst>
          </p:cNvPr>
          <p:cNvSpPr>
            <a:spLocks xmlns:a="http://schemas.openxmlformats.org/drawingml/2006/main" noGrp="1"/>
          </p:cNvSpPr>
          <p:nvPr/>
        </p:nvSpPr>
        <p:spPr>
          <a:xfrm xmlns:a="http://schemas.openxmlformats.org/drawingml/2006/main">
            <a:off x="1371600" y="5648325"/>
            <a:ext cx="3295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F8F6FF"/>
                </a:solidFill>
                <a:latin typeface="Calibri"/>
                <a:ea typeface="Calibri"/>
                <a:cs typeface="Calibri"/>
              </a:defRPr>
            </a:pPr>
            <a:r>
              <a:rPr sz="1125" b="1">
                <a:solidFill>
                  <a:srgbClr val="F8F6FF"/>
                </a:solidFill>
                <a:latin typeface="Calibri"/>
                <a:ea typeface="Calibri"/>
                <a:cs typeface="Calibri"/>
              </a:rPr>
              <a:t>CAREGIVER + PATIENT DASHBOARDS</a:t>
            </a:r>
          </a:p>
        </p:txBody>
      </p:sp>
      <p:sp>
        <p:nvSpPr>
          <p:cNvPr id="13" name="Rectangle: Rounded Corners 12">
            <a:extLst xmlns:a="http://schemas.openxmlformats.org/drawingml/2006/main">
              <a:ext uri="{FF2B5EF4-FFF2-40B4-BE49-F238E27FC236}">
                <a16:creationId xmlns:a16="http://schemas.microsoft.com/office/drawing/2014/main" id="{43FD9D9B-4DA2-4E8D-BAA4-65514A50361F}"/>
              </a:ext>
            </a:extLst>
          </p:cNvPr>
          <p:cNvSpPr>
            <a:spLocks xmlns:a="http://schemas.openxmlformats.org/drawingml/2006/main" noGrp="1"/>
          </p:cNvSpPr>
          <p:nvPr/>
        </p:nvSpPr>
        <p:spPr>
          <a:xfrm xmlns:a="http://schemas.openxmlformats.org/drawingml/2006/main">
            <a:off x="7162800" y="5638800"/>
            <a:ext cx="2952750" cy="323850"/>
          </a:xfrm>
          <a:prstGeom xmlns:a="http://schemas.openxmlformats.org/drawingml/2006/main" prst="roundRect">
            <a:avLst>
              <a:gd name="adj" fmla="val 35294"/>
            </a:avLst>
          </a:prstGeom>
          <a:solidFill xmlns:a="http://schemas.openxmlformats.org/drawingml/2006/main">
            <a:srgbClr val="7C83F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98FDA718-BF2A-440D-9035-1236C4FB2798}"/>
              </a:ext>
            </a:extLst>
          </p:cNvPr>
          <p:cNvSpPr>
            <a:spLocks xmlns:a="http://schemas.openxmlformats.org/drawingml/2006/main" noGrp="1"/>
          </p:cNvSpPr>
          <p:nvPr/>
        </p:nvSpPr>
        <p:spPr>
          <a:xfrm xmlns:a="http://schemas.openxmlformats.org/drawingml/2006/main">
            <a:off x="7162800" y="564832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F8F6FF"/>
                </a:solidFill>
                <a:latin typeface="Calibri"/>
                <a:ea typeface="Calibri"/>
                <a:cs typeface="Calibri"/>
              </a:defRPr>
            </a:pPr>
            <a:r>
              <a:rPr sz="1125" b="1">
                <a:solidFill>
                  <a:srgbClr val="F8F6FF"/>
                </a:solidFill>
                <a:latin typeface="Calibri"/>
                <a:ea typeface="Calibri"/>
                <a:cs typeface="Calibri"/>
              </a:rPr>
              <a:t>PERSONALISED GAME SETS</a:t>
            </a:r>
          </a:p>
        </p:txBody>
      </p:sp>
      <p:sp>
        <p:nvSpPr>
          <p:cNvPr id="15" name="Rectangle 14">
            <a:extLst xmlns:a="http://schemas.openxmlformats.org/drawingml/2006/main">
              <a:ext uri="{FF2B5EF4-FFF2-40B4-BE49-F238E27FC236}">
                <a16:creationId xmlns:a16="http://schemas.microsoft.com/office/drawing/2014/main" id="{8A801347-DDCF-497C-984F-12AE82AECAB7}"/>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a:solidFill>
                  <a:srgbClr val="8F87AC"/>
                </a:solidFill>
                <a:latin typeface="Calibri"/>
                <a:ea typeface="Calibri"/>
                <a:cs typeface="Calibri"/>
              </a:defRPr>
            </a:pPr>
            <a:r>
              <a:rPr sz="750" b="0">
                <a:solidFill>
                  <a:srgbClr val="8F87AC"/>
                </a:solidFill>
                <a:latin typeface="Calibri"/>
                <a:ea typeface="Calibri"/>
                <a:cs typeface="Calibri"/>
              </a:rPr>
              <a:t>Source: Final report Figures 6.6 and 6.19.</a:t>
            </a:r>
          </a:p>
        </p:txBody>
      </p:sp>
      <p:sp>
        <p:nvSpPr>
          <p:cNvPr id="16" name="Rectangle 15">
            <a:extLst xmlns:a="http://schemas.openxmlformats.org/drawingml/2006/main">
              <a:ext uri="{FF2B5EF4-FFF2-40B4-BE49-F238E27FC236}">
                <a16:creationId xmlns:a16="http://schemas.microsoft.com/office/drawing/2014/main" id="{7A90DC46-2013-4563-93C7-7F4826295C9F}"/>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1">
                <a:solidFill>
                  <a:srgbClr val="B8B0D4"/>
                </a:solidFill>
                <a:latin typeface="Calibri"/>
                <a:ea typeface="Calibri"/>
                <a:cs typeface="Calibri"/>
              </a:defRPr>
            </a:pPr>
            <a:r>
              <a:rPr sz="975" b="1">
                <a:solidFill>
                  <a:srgbClr val="B8B0D4"/>
                </a:solidFill>
                <a:latin typeface="Calibri"/>
                <a:ea typeface="Calibri"/>
                <a:cs typeface="Calibri"/>
              </a:rPr>
              <a:t>13</a:t>
            </a:r>
          </a:p>
        </p:txBody>
      </p:sp>
    </p:spTree>
    <p:extLst>
      <p:ext uri="{BB962C8B-B14F-4D97-AF65-F5344CB8AC3E}">
        <p14:creationId xmlns:p14="http://schemas.microsoft.com/office/powerpoint/2010/main" val="1418631631"/>
      </p:ext>
    </p:extLst>
  </p:cSld>
</p:sld>
</file>

<file path=ppt/slides/slide14.xml><?xml version="1.0" encoding="utf-8"?>
<p:sld xmlns:p="http://schemas.openxmlformats.org/presentationml/2006/main">
  <p:cSld>
    <p:bg>
      <p:bgPr>
        <a:gradFill xmlns:a="http://schemas.openxmlformats.org/drawingml/2006/main">
          <a:gsLst>
            <a:gs pos="0">
              <a:srgbClr val="120B27"/>
            </a:gs>
            <a:gs pos="52000">
              <a:srgbClr val="19112F"/>
            </a:gs>
            <a:gs pos="100000">
              <a:srgbClr val="24183F"/>
            </a:gs>
          </a:gsLst>
          <a:lin ang="8100000"/>
        </a:gradFill>
      </p:bgPr>
    </p:bg>
    <p:spTree>
      <p:nvGrpSpPr>
        <p:cNvPr id="1" name=""/>
        <p:cNvGrpSpPr/>
        <p:nvPr/>
      </p:nvGrpSpPr>
      <p:grpSpPr>
        <a:xfrm xmlns:a="http://schemas.openxmlformats.org/drawingml/2006/main"/>
      </p:grpSpPr>
      <p:sp>
        <p:nvSpPr>
          <p:cNvPr id="25" name="Rectangle 24">
            <a:extLst xmlns:a="http://schemas.openxmlformats.org/drawingml/2006/main">
              <a:ext uri="{FF2B5EF4-FFF2-40B4-BE49-F238E27FC236}">
                <a16:creationId xmlns:a16="http://schemas.microsoft.com/office/drawing/2014/main" id="{8A58C70A-5485-4449-938E-BB20D4F3564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EC49A63-38AD-4CF2-8E56-956671ADF2E6}"/>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FF6B62"/>
                </a:solidFill>
                <a:latin typeface="Calibri"/>
                <a:ea typeface="Calibri"/>
                <a:cs typeface="Calibri"/>
              </a:defRPr>
            </a:pPr>
            <a:r>
              <a:rPr sz="1125" b="1">
                <a:solidFill>
                  <a:srgbClr val="FF6B62"/>
                </a:solidFill>
                <a:latin typeface="Calibri"/>
                <a:ea typeface="Calibri"/>
                <a:cs typeface="Calibri"/>
              </a:rPr>
              <a:t>CHAPTER 7 · SYSTEM TESTING</a:t>
            </a:r>
          </a:p>
        </p:txBody>
      </p:sp>
      <p:sp>
        <p:nvSpPr>
          <p:cNvPr id="3" name="Rectangle 2">
            <a:extLst xmlns:a="http://schemas.openxmlformats.org/drawingml/2006/main">
              <a:ext uri="{FF2B5EF4-FFF2-40B4-BE49-F238E27FC236}">
                <a16:creationId xmlns:a16="http://schemas.microsoft.com/office/drawing/2014/main" id="{3CC95ECD-17E6-40F0-ABFB-2D3971E2B53D}"/>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F8F6FF"/>
                </a:solidFill>
                <a:latin typeface="Calibri"/>
                <a:ea typeface="Calibri"/>
                <a:cs typeface="Calibri"/>
              </a:defRPr>
            </a:pPr>
            <a:r>
              <a:rPr sz="2700" b="1">
                <a:solidFill>
                  <a:srgbClr val="F8F6FF"/>
                </a:solidFill>
                <a:latin typeface="Calibri"/>
                <a:ea typeface="Calibri"/>
                <a:cs typeface="Calibri"/>
              </a:rPr>
              <a:t>Testing covered logic, integration, workflows and acceptance</a:t>
            </a:r>
          </a:p>
        </p:txBody>
      </p:sp>
      <p:sp>
        <p:nvSpPr>
          <p:cNvPr id="4" name="Rectangle 3">
            <a:extLst xmlns:a="http://schemas.openxmlformats.org/drawingml/2006/main">
              <a:ext uri="{FF2B5EF4-FFF2-40B4-BE49-F238E27FC236}">
                <a16:creationId xmlns:a16="http://schemas.microsoft.com/office/drawing/2014/main" id="{CADE07A5-2E37-4E69-9827-AD16927BC2AB}"/>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B8B0D4"/>
                </a:solidFill>
                <a:latin typeface="Calibri"/>
                <a:ea typeface="Calibri"/>
                <a:cs typeface="Calibri"/>
              </a:defRPr>
            </a:pPr>
            <a:r>
              <a:rPr sz="1350" b="0">
                <a:solidFill>
                  <a:srgbClr val="B8B0D4"/>
                </a:solidFill>
                <a:latin typeface="Calibri"/>
                <a:ea typeface="Calibri"/>
                <a:cs typeface="Calibri"/>
              </a:rPr>
              <a:t>The final report documented tests from isolated functions through complete caregiver and patient journeys.</a:t>
            </a:r>
          </a:p>
        </p:txBody>
      </p:sp>
      <p:sp>
        <p:nvSpPr>
          <p:cNvPr id="5" name="Rectangle: Rounded Corners 4">
            <a:extLst xmlns:a="http://schemas.openxmlformats.org/drawingml/2006/main">
              <a:ext uri="{FF2B5EF4-FFF2-40B4-BE49-F238E27FC236}">
                <a16:creationId xmlns:a16="http://schemas.microsoft.com/office/drawing/2014/main" id="{109CD618-C0ED-4BC4-A975-98268313FD01}"/>
              </a:ext>
            </a:extLst>
          </p:cNvPr>
          <p:cNvSpPr>
            <a:spLocks xmlns:a="http://schemas.openxmlformats.org/drawingml/2006/main" noGrp="1"/>
          </p:cNvSpPr>
          <p:nvPr/>
        </p:nvSpPr>
        <p:spPr>
          <a:xfrm xmlns:a="http://schemas.openxmlformats.org/drawingml/2006/main">
            <a:off x="685800" y="2000250"/>
            <a:ext cx="2419350" cy="2857500"/>
          </a:xfrm>
          <a:prstGeom xmlns:a="http://schemas.openxmlformats.org/drawingml/2006/main" prst="roundRect">
            <a:avLst>
              <a:gd name="adj" fmla="val 6299"/>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64F8E58D-FE80-48DB-AB3F-E285448BDC45}"/>
              </a:ext>
            </a:extLst>
          </p:cNvPr>
          <p:cNvSpPr>
            <a:spLocks xmlns:a="http://schemas.openxmlformats.org/drawingml/2006/main" noGrp="1"/>
          </p:cNvSpPr>
          <p:nvPr/>
        </p:nvSpPr>
        <p:spPr>
          <a:xfrm xmlns:a="http://schemas.openxmlformats.org/drawingml/2006/main">
            <a:off x="876300" y="2266950"/>
            <a:ext cx="2038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4350" b="1">
                <a:solidFill>
                  <a:srgbClr val="7C83FD"/>
                </a:solidFill>
                <a:latin typeface="Calibri"/>
                <a:ea typeface="Calibri"/>
                <a:cs typeface="Calibri"/>
              </a:defRPr>
            </a:pPr>
            <a:r>
              <a:rPr sz="4350" b="1">
                <a:solidFill>
                  <a:srgbClr val="7C83FD"/>
                </a:solidFill>
                <a:latin typeface="Calibri"/>
                <a:ea typeface="Calibri"/>
                <a:cs typeface="Calibri"/>
              </a:rPr>
              <a:t>14</a:t>
            </a:r>
          </a:p>
        </p:txBody>
      </p:sp>
      <p:sp>
        <p:nvSpPr>
          <p:cNvPr id="7" name="Rectangle 6">
            <a:extLst xmlns:a="http://schemas.openxmlformats.org/drawingml/2006/main">
              <a:ext uri="{FF2B5EF4-FFF2-40B4-BE49-F238E27FC236}">
                <a16:creationId xmlns:a16="http://schemas.microsoft.com/office/drawing/2014/main" id="{2C8204B9-8BCA-4494-814A-F6C7C8B39C1A}"/>
              </a:ext>
            </a:extLst>
          </p:cNvPr>
          <p:cNvSpPr>
            <a:spLocks xmlns:a="http://schemas.openxmlformats.org/drawingml/2006/main" noGrp="1"/>
          </p:cNvSpPr>
          <p:nvPr/>
        </p:nvSpPr>
        <p:spPr>
          <a:xfrm xmlns:a="http://schemas.openxmlformats.org/drawingml/2006/main">
            <a:off x="876300" y="31051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F8F6FF"/>
                </a:solidFill>
                <a:latin typeface="Calibri"/>
                <a:ea typeface="Calibri"/>
                <a:cs typeface="Calibri"/>
              </a:defRPr>
            </a:pPr>
            <a:r>
              <a:rPr sz="1275" b="1">
                <a:solidFill>
                  <a:srgbClr val="F8F6FF"/>
                </a:solidFill>
                <a:latin typeface="Calibri"/>
                <a:ea typeface="Calibri"/>
                <a:cs typeface="Calibri"/>
              </a:rPr>
              <a:t>UNIT CASES</a:t>
            </a:r>
          </a:p>
        </p:txBody>
      </p:sp>
      <p:sp>
        <p:nvSpPr>
          <p:cNvPr id="8" name="Rectangle 7">
            <a:extLst xmlns:a="http://schemas.openxmlformats.org/drawingml/2006/main">
              <a:ext uri="{FF2B5EF4-FFF2-40B4-BE49-F238E27FC236}">
                <a16:creationId xmlns:a16="http://schemas.microsoft.com/office/drawing/2014/main" id="{27BB72AA-5F4F-49D1-A230-63E43F81FD91}"/>
              </a:ext>
            </a:extLst>
          </p:cNvPr>
          <p:cNvSpPr>
            <a:spLocks xmlns:a="http://schemas.openxmlformats.org/drawingml/2006/main" noGrp="1"/>
          </p:cNvSpPr>
          <p:nvPr/>
        </p:nvSpPr>
        <p:spPr>
          <a:xfrm xmlns:a="http://schemas.openxmlformats.org/drawingml/2006/main">
            <a:off x="923925" y="3638550"/>
            <a:ext cx="19431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0">
                <a:solidFill>
                  <a:srgbClr val="B8B0D4"/>
                </a:solidFill>
                <a:latin typeface="Calibri"/>
                <a:ea typeface="Calibri"/>
                <a:cs typeface="Calibri"/>
              </a:defRPr>
            </a:pPr>
            <a:r>
              <a:rPr sz="1125" b="0">
                <a:solidFill>
                  <a:srgbClr val="B8B0D4"/>
                </a:solidFill>
                <a:latin typeface="Calibri"/>
                <a:ea typeface="Calibri"/>
                <a:cs typeface="Calibri"/>
              </a:rPr>
              <a:t>Authentication, recurrence, game calculations, gamification and risk rules</a:t>
            </a:r>
          </a:p>
        </p:txBody>
      </p:sp>
      <p:sp>
        <p:nvSpPr>
          <p:cNvPr id="9" name="Rectangle: Rounded Corners 8">
            <a:extLst xmlns:a="http://schemas.openxmlformats.org/drawingml/2006/main">
              <a:ext uri="{FF2B5EF4-FFF2-40B4-BE49-F238E27FC236}">
                <a16:creationId xmlns:a16="http://schemas.microsoft.com/office/drawing/2014/main" id="{C824233E-96BF-48F3-BD09-78953292EBB5}"/>
              </a:ext>
            </a:extLst>
          </p:cNvPr>
          <p:cNvSpPr>
            <a:spLocks xmlns:a="http://schemas.openxmlformats.org/drawingml/2006/main" noGrp="1"/>
          </p:cNvSpPr>
          <p:nvPr/>
        </p:nvSpPr>
        <p:spPr>
          <a:xfrm xmlns:a="http://schemas.openxmlformats.org/drawingml/2006/main">
            <a:off x="3448050" y="2000250"/>
            <a:ext cx="2419350" cy="2857500"/>
          </a:xfrm>
          <a:prstGeom xmlns:a="http://schemas.openxmlformats.org/drawingml/2006/main" prst="roundRect">
            <a:avLst>
              <a:gd name="adj" fmla="val 6299"/>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CCE542F3-11CD-46C4-8D08-D09E6F2C6F45}"/>
              </a:ext>
            </a:extLst>
          </p:cNvPr>
          <p:cNvSpPr>
            <a:spLocks xmlns:a="http://schemas.openxmlformats.org/drawingml/2006/main" noGrp="1"/>
          </p:cNvSpPr>
          <p:nvPr/>
        </p:nvSpPr>
        <p:spPr>
          <a:xfrm xmlns:a="http://schemas.openxmlformats.org/drawingml/2006/main">
            <a:off x="3638550" y="2266950"/>
            <a:ext cx="2038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4350" b="1">
                <a:solidFill>
                  <a:srgbClr val="7C83FD"/>
                </a:solidFill>
                <a:latin typeface="Calibri"/>
                <a:ea typeface="Calibri"/>
                <a:cs typeface="Calibri"/>
              </a:defRPr>
            </a:pPr>
            <a:r>
              <a:rPr sz="4350" b="1">
                <a:solidFill>
                  <a:srgbClr val="7C83FD"/>
                </a:solidFill>
                <a:latin typeface="Calibri"/>
                <a:ea typeface="Calibri"/>
                <a:cs typeface="Calibri"/>
              </a:rPr>
              <a:t>9</a:t>
            </a:r>
          </a:p>
        </p:txBody>
      </p:sp>
      <p:sp>
        <p:nvSpPr>
          <p:cNvPr id="11" name="Rectangle 10">
            <a:extLst xmlns:a="http://schemas.openxmlformats.org/drawingml/2006/main">
              <a:ext uri="{FF2B5EF4-FFF2-40B4-BE49-F238E27FC236}">
                <a16:creationId xmlns:a16="http://schemas.microsoft.com/office/drawing/2014/main" id="{21953A33-FF37-4F4A-B4B5-18B3B0DC1672}"/>
              </a:ext>
            </a:extLst>
          </p:cNvPr>
          <p:cNvSpPr>
            <a:spLocks xmlns:a="http://schemas.openxmlformats.org/drawingml/2006/main" noGrp="1"/>
          </p:cNvSpPr>
          <p:nvPr/>
        </p:nvSpPr>
        <p:spPr>
          <a:xfrm xmlns:a="http://schemas.openxmlformats.org/drawingml/2006/main">
            <a:off x="3638550" y="31051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F8F6FF"/>
                </a:solidFill>
                <a:latin typeface="Calibri"/>
                <a:ea typeface="Calibri"/>
                <a:cs typeface="Calibri"/>
              </a:defRPr>
            </a:pPr>
            <a:r>
              <a:rPr sz="1275" b="1">
                <a:solidFill>
                  <a:srgbClr val="F8F6FF"/>
                </a:solidFill>
                <a:latin typeface="Calibri"/>
                <a:ea typeface="Calibri"/>
                <a:cs typeface="Calibri"/>
              </a:rPr>
              <a:t>INTEGRATION FLOWS</a:t>
            </a:r>
          </a:p>
        </p:txBody>
      </p:sp>
      <p:sp>
        <p:nvSpPr>
          <p:cNvPr id="12" name="Rectangle 11">
            <a:extLst xmlns:a="http://schemas.openxmlformats.org/drawingml/2006/main">
              <a:ext uri="{FF2B5EF4-FFF2-40B4-BE49-F238E27FC236}">
                <a16:creationId xmlns:a16="http://schemas.microsoft.com/office/drawing/2014/main" id="{125EDA2E-CE28-4722-BF88-DD52F7B59AF8}"/>
              </a:ext>
            </a:extLst>
          </p:cNvPr>
          <p:cNvSpPr>
            <a:spLocks xmlns:a="http://schemas.openxmlformats.org/drawingml/2006/main" noGrp="1"/>
          </p:cNvSpPr>
          <p:nvPr/>
        </p:nvSpPr>
        <p:spPr>
          <a:xfrm xmlns:a="http://schemas.openxmlformats.org/drawingml/2006/main">
            <a:off x="3686175" y="3638550"/>
            <a:ext cx="19431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0">
                <a:solidFill>
                  <a:srgbClr val="B8B0D4"/>
                </a:solidFill>
                <a:latin typeface="Calibri"/>
                <a:ea typeface="Calibri"/>
                <a:cs typeface="Calibri"/>
              </a:defRPr>
            </a:pPr>
            <a:r>
              <a:rPr sz="1125" b="0">
                <a:solidFill>
                  <a:srgbClr val="B8B0D4"/>
                </a:solidFill>
                <a:latin typeface="Calibri"/>
                <a:ea typeface="Calibri"/>
                <a:cs typeface="Calibri"/>
              </a:rPr>
              <a:t>Cross-module task, notification, game, analytics and risk interactions</a:t>
            </a:r>
          </a:p>
        </p:txBody>
      </p:sp>
      <p:sp>
        <p:nvSpPr>
          <p:cNvPr id="13" name="Rectangle: Rounded Corners 12">
            <a:extLst xmlns:a="http://schemas.openxmlformats.org/drawingml/2006/main">
              <a:ext uri="{FF2B5EF4-FFF2-40B4-BE49-F238E27FC236}">
                <a16:creationId xmlns:a16="http://schemas.microsoft.com/office/drawing/2014/main" id="{B0B8A017-0674-495C-B55A-3950929F3D7C}"/>
              </a:ext>
            </a:extLst>
          </p:cNvPr>
          <p:cNvSpPr>
            <a:spLocks xmlns:a="http://schemas.openxmlformats.org/drawingml/2006/main" noGrp="1"/>
          </p:cNvSpPr>
          <p:nvPr/>
        </p:nvSpPr>
        <p:spPr>
          <a:xfrm xmlns:a="http://schemas.openxmlformats.org/drawingml/2006/main">
            <a:off x="6210300" y="2000250"/>
            <a:ext cx="2419350" cy="2857500"/>
          </a:xfrm>
          <a:prstGeom xmlns:a="http://schemas.openxmlformats.org/drawingml/2006/main" prst="roundRect">
            <a:avLst>
              <a:gd name="adj" fmla="val 6299"/>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71A8EC87-109D-40FC-B0CD-FC4E29679E56}"/>
              </a:ext>
            </a:extLst>
          </p:cNvPr>
          <p:cNvSpPr>
            <a:spLocks xmlns:a="http://schemas.openxmlformats.org/drawingml/2006/main" noGrp="1"/>
          </p:cNvSpPr>
          <p:nvPr/>
        </p:nvSpPr>
        <p:spPr>
          <a:xfrm xmlns:a="http://schemas.openxmlformats.org/drawingml/2006/main">
            <a:off x="6400800" y="2266950"/>
            <a:ext cx="2038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4350" b="1">
                <a:solidFill>
                  <a:srgbClr val="7C83FD"/>
                </a:solidFill>
                <a:latin typeface="Calibri"/>
                <a:ea typeface="Calibri"/>
                <a:cs typeface="Calibri"/>
              </a:defRPr>
            </a:pPr>
            <a:r>
              <a:rPr sz="4350" b="1">
                <a:solidFill>
                  <a:srgbClr val="7C83FD"/>
                </a:solidFill>
                <a:latin typeface="Calibri"/>
                <a:ea typeface="Calibri"/>
                <a:cs typeface="Calibri"/>
              </a:rPr>
              <a:t>17</a:t>
            </a:r>
          </a:p>
        </p:txBody>
      </p:sp>
      <p:sp>
        <p:nvSpPr>
          <p:cNvPr id="15" name="Rectangle 14">
            <a:extLst xmlns:a="http://schemas.openxmlformats.org/drawingml/2006/main">
              <a:ext uri="{FF2B5EF4-FFF2-40B4-BE49-F238E27FC236}">
                <a16:creationId xmlns:a16="http://schemas.microsoft.com/office/drawing/2014/main" id="{2F8DE065-F2EB-4D4F-B6D7-ACE810D781AB}"/>
              </a:ext>
            </a:extLst>
          </p:cNvPr>
          <p:cNvSpPr>
            <a:spLocks xmlns:a="http://schemas.openxmlformats.org/drawingml/2006/main" noGrp="1"/>
          </p:cNvSpPr>
          <p:nvPr/>
        </p:nvSpPr>
        <p:spPr>
          <a:xfrm xmlns:a="http://schemas.openxmlformats.org/drawingml/2006/main">
            <a:off x="6400800" y="31051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F8F6FF"/>
                </a:solidFill>
                <a:latin typeface="Calibri"/>
                <a:ea typeface="Calibri"/>
                <a:cs typeface="Calibri"/>
              </a:defRPr>
            </a:pPr>
            <a:r>
              <a:rPr sz="1275" b="1">
                <a:solidFill>
                  <a:srgbClr val="F8F6FF"/>
                </a:solidFill>
                <a:latin typeface="Calibri"/>
                <a:ea typeface="Calibri"/>
                <a:cs typeface="Calibri"/>
              </a:rPr>
              <a:t>SYSTEM SCENARIOS</a:t>
            </a:r>
          </a:p>
        </p:txBody>
      </p:sp>
      <p:sp>
        <p:nvSpPr>
          <p:cNvPr id="16" name="Rectangle 15">
            <a:extLst xmlns:a="http://schemas.openxmlformats.org/drawingml/2006/main">
              <a:ext uri="{FF2B5EF4-FFF2-40B4-BE49-F238E27FC236}">
                <a16:creationId xmlns:a16="http://schemas.microsoft.com/office/drawing/2014/main" id="{9CDDCEAD-0A1D-4B9E-AE0D-8D73B51E73C5}"/>
              </a:ext>
            </a:extLst>
          </p:cNvPr>
          <p:cNvSpPr>
            <a:spLocks xmlns:a="http://schemas.openxmlformats.org/drawingml/2006/main" noGrp="1"/>
          </p:cNvSpPr>
          <p:nvPr/>
        </p:nvSpPr>
        <p:spPr>
          <a:xfrm xmlns:a="http://schemas.openxmlformats.org/drawingml/2006/main">
            <a:off x="6448425" y="3638550"/>
            <a:ext cx="19431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0">
                <a:solidFill>
                  <a:srgbClr val="B8B0D4"/>
                </a:solidFill>
                <a:latin typeface="Calibri"/>
                <a:ea typeface="Calibri"/>
                <a:cs typeface="Calibri"/>
              </a:defRPr>
            </a:pPr>
            <a:r>
              <a:rPr sz="1125" b="0">
                <a:solidFill>
                  <a:srgbClr val="B8B0D4"/>
                </a:solidFill>
                <a:latin typeface="Calibri"/>
                <a:ea typeface="Calibri"/>
                <a:cs typeface="Calibri"/>
              </a:rPr>
              <a:t>End-to-end caregiver and patient workflows</a:t>
            </a:r>
          </a:p>
        </p:txBody>
      </p:sp>
      <p:sp>
        <p:nvSpPr>
          <p:cNvPr id="17" name="Rectangle: Rounded Corners 16">
            <a:extLst xmlns:a="http://schemas.openxmlformats.org/drawingml/2006/main">
              <a:ext uri="{FF2B5EF4-FFF2-40B4-BE49-F238E27FC236}">
                <a16:creationId xmlns:a16="http://schemas.microsoft.com/office/drawing/2014/main" id="{6A2364AC-35D0-4B29-93D8-099CC96C71F2}"/>
              </a:ext>
            </a:extLst>
          </p:cNvPr>
          <p:cNvSpPr>
            <a:spLocks xmlns:a="http://schemas.openxmlformats.org/drawingml/2006/main" noGrp="1"/>
          </p:cNvSpPr>
          <p:nvPr/>
        </p:nvSpPr>
        <p:spPr>
          <a:xfrm xmlns:a="http://schemas.openxmlformats.org/drawingml/2006/main">
            <a:off x="8972550" y="2000250"/>
            <a:ext cx="2419350" cy="2857500"/>
          </a:xfrm>
          <a:prstGeom xmlns:a="http://schemas.openxmlformats.org/drawingml/2006/main" prst="roundRect">
            <a:avLst>
              <a:gd name="adj" fmla="val 6299"/>
            </a:avLst>
          </a:prstGeom>
          <a:solidFill xmlns:a="http://schemas.openxmlformats.org/drawingml/2006/main">
            <a:srgbClr val="3A316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FAE137F0-D08E-4E1F-91B4-B6F4DD9CE67D}"/>
              </a:ext>
            </a:extLst>
          </p:cNvPr>
          <p:cNvSpPr>
            <a:spLocks xmlns:a="http://schemas.openxmlformats.org/drawingml/2006/main" noGrp="1"/>
          </p:cNvSpPr>
          <p:nvPr/>
        </p:nvSpPr>
        <p:spPr>
          <a:xfrm xmlns:a="http://schemas.openxmlformats.org/drawingml/2006/main">
            <a:off x="9163050" y="2266950"/>
            <a:ext cx="20383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4350" b="1">
                <a:solidFill>
                  <a:srgbClr val="FF6B62"/>
                </a:solidFill>
                <a:latin typeface="Calibri"/>
                <a:ea typeface="Calibri"/>
                <a:cs typeface="Calibri"/>
              </a:defRPr>
            </a:pPr>
            <a:r>
              <a:rPr sz="4350" b="1">
                <a:solidFill>
                  <a:srgbClr val="FF6B62"/>
                </a:solidFill>
                <a:latin typeface="Calibri"/>
                <a:ea typeface="Calibri"/>
                <a:cs typeface="Calibri"/>
              </a:rPr>
              <a:t>34</a:t>
            </a:r>
          </a:p>
        </p:txBody>
      </p:sp>
      <p:sp>
        <p:nvSpPr>
          <p:cNvPr id="19" name="Rectangle 18">
            <a:extLst xmlns:a="http://schemas.openxmlformats.org/drawingml/2006/main">
              <a:ext uri="{FF2B5EF4-FFF2-40B4-BE49-F238E27FC236}">
                <a16:creationId xmlns:a16="http://schemas.microsoft.com/office/drawing/2014/main" id="{6B4B1924-94F7-4FEF-BEFE-0A7CD4D46F9B}"/>
              </a:ext>
            </a:extLst>
          </p:cNvPr>
          <p:cNvSpPr>
            <a:spLocks xmlns:a="http://schemas.openxmlformats.org/drawingml/2006/main" noGrp="1"/>
          </p:cNvSpPr>
          <p:nvPr/>
        </p:nvSpPr>
        <p:spPr>
          <a:xfrm xmlns:a="http://schemas.openxmlformats.org/drawingml/2006/main">
            <a:off x="9163050" y="31051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b="1">
                <a:solidFill>
                  <a:srgbClr val="F8F6FF"/>
                </a:solidFill>
                <a:latin typeface="Calibri"/>
                <a:ea typeface="Calibri"/>
                <a:cs typeface="Calibri"/>
              </a:defRPr>
            </a:pPr>
            <a:r>
              <a:rPr sz="1275" b="1">
                <a:solidFill>
                  <a:srgbClr val="F8F6FF"/>
                </a:solidFill>
                <a:latin typeface="Calibri"/>
                <a:ea typeface="Calibri"/>
                <a:cs typeface="Calibri"/>
              </a:rPr>
              <a:t>UAT CASES</a:t>
            </a:r>
          </a:p>
        </p:txBody>
      </p:sp>
      <p:sp>
        <p:nvSpPr>
          <p:cNvPr id="20" name="Rectangle 19">
            <a:extLst xmlns:a="http://schemas.openxmlformats.org/drawingml/2006/main">
              <a:ext uri="{FF2B5EF4-FFF2-40B4-BE49-F238E27FC236}">
                <a16:creationId xmlns:a16="http://schemas.microsoft.com/office/drawing/2014/main" id="{D2775534-0B0E-4417-9186-30F955CEA25F}"/>
              </a:ext>
            </a:extLst>
          </p:cNvPr>
          <p:cNvSpPr>
            <a:spLocks xmlns:a="http://schemas.openxmlformats.org/drawingml/2006/main" noGrp="1"/>
          </p:cNvSpPr>
          <p:nvPr/>
        </p:nvSpPr>
        <p:spPr>
          <a:xfrm xmlns:a="http://schemas.openxmlformats.org/drawingml/2006/main">
            <a:off x="9210675" y="3638550"/>
            <a:ext cx="19431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0">
                <a:solidFill>
                  <a:srgbClr val="B8B0D4"/>
                </a:solidFill>
                <a:latin typeface="Calibri"/>
                <a:ea typeface="Calibri"/>
                <a:cs typeface="Calibri"/>
              </a:defRPr>
            </a:pPr>
            <a:r>
              <a:rPr sz="1125" b="0">
                <a:solidFill>
                  <a:srgbClr val="B8B0D4"/>
                </a:solidFill>
                <a:latin typeface="Calibri"/>
                <a:ea typeface="Calibri"/>
                <a:cs typeface="Calibri"/>
              </a:rPr>
              <a:t>19 caregiver + 15 patient acceptance checks</a:t>
            </a:r>
          </a:p>
        </p:txBody>
      </p:sp>
      <p:sp>
        <p:nvSpPr>
          <p:cNvPr id="21" name="Rectangle 20">
            <a:extLst xmlns:a="http://schemas.openxmlformats.org/drawingml/2006/main">
              <a:ext uri="{FF2B5EF4-FFF2-40B4-BE49-F238E27FC236}">
                <a16:creationId xmlns:a16="http://schemas.microsoft.com/office/drawing/2014/main" id="{A65993F4-D846-40F4-AFAF-BB5AEC15AE63}"/>
              </a:ext>
            </a:extLst>
          </p:cNvPr>
          <p:cNvSpPr>
            <a:spLocks xmlns:a="http://schemas.openxmlformats.org/drawingml/2006/main" noGrp="1"/>
          </p:cNvSpPr>
          <p:nvPr/>
        </p:nvSpPr>
        <p:spPr>
          <a:xfrm xmlns:a="http://schemas.openxmlformats.org/drawingml/2006/main">
            <a:off x="685800" y="525780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1">
                <a:solidFill>
                  <a:srgbClr val="FF6B62"/>
                </a:solidFill>
                <a:latin typeface="Calibri"/>
                <a:ea typeface="Calibri"/>
                <a:cs typeface="Calibri"/>
              </a:defRPr>
            </a:pPr>
            <a:r>
              <a:rPr sz="1200" b="1">
                <a:solidFill>
                  <a:srgbClr val="FF6B62"/>
                </a:solidFill>
                <a:latin typeface="Calibri"/>
                <a:ea typeface="Calibri"/>
                <a:cs typeface="Calibri"/>
              </a:rPr>
              <a:t>Testing focus</a:t>
            </a:r>
          </a:p>
        </p:txBody>
      </p:sp>
      <p:sp>
        <p:nvSpPr>
          <p:cNvPr id="22" name="Rectangle 21">
            <a:extLst xmlns:a="http://schemas.openxmlformats.org/drawingml/2006/main">
              <a:ext uri="{FF2B5EF4-FFF2-40B4-BE49-F238E27FC236}">
                <a16:creationId xmlns:a16="http://schemas.microsoft.com/office/drawing/2014/main" id="{98D262CB-323D-4ECB-A799-742B60C823CD}"/>
              </a:ext>
            </a:extLst>
          </p:cNvPr>
          <p:cNvSpPr>
            <a:spLocks xmlns:a="http://schemas.openxmlformats.org/drawingml/2006/main" noGrp="1"/>
          </p:cNvSpPr>
          <p:nvPr/>
        </p:nvSpPr>
        <p:spPr>
          <a:xfrm xmlns:a="http://schemas.openxmlformats.org/drawingml/2006/main">
            <a:off x="2114550" y="5219700"/>
            <a:ext cx="885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B8B0D4"/>
                </a:solidFill>
                <a:latin typeface="Calibri"/>
                <a:ea typeface="Calibri"/>
                <a:cs typeface="Calibri"/>
              </a:defRPr>
            </a:pPr>
            <a:r>
              <a:rPr sz="1350" b="0">
                <a:solidFill>
                  <a:srgbClr val="B8B0D4"/>
                </a:solidFill>
                <a:latin typeface="Calibri"/>
                <a:ea typeface="Calibri"/>
                <a:cs typeface="Calibri"/>
              </a:rPr>
              <a:t>The most important checks followed the full chains: recurrence → reminder → status → points/progress, and game session → adaptive difficulty → statistics/history.</a:t>
            </a:r>
          </a:p>
        </p:txBody>
      </p:sp>
      <p:sp>
        <p:nvSpPr>
          <p:cNvPr id="23" name="Rectangle 22">
            <a:extLst xmlns:a="http://schemas.openxmlformats.org/drawingml/2006/main">
              <a:ext uri="{FF2B5EF4-FFF2-40B4-BE49-F238E27FC236}">
                <a16:creationId xmlns:a16="http://schemas.microsoft.com/office/drawing/2014/main" id="{F71B20CD-DD93-4BFE-BD4B-DBBEC106E3B4}"/>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a:solidFill>
                  <a:srgbClr val="8F87AC"/>
                </a:solidFill>
                <a:latin typeface="Calibri"/>
                <a:ea typeface="Calibri"/>
                <a:cs typeface="Calibri"/>
              </a:defRPr>
            </a:pPr>
            <a:r>
              <a:rPr sz="750" b="0">
                <a:solidFill>
                  <a:srgbClr val="8F87AC"/>
                </a:solidFill>
                <a:latin typeface="Calibri"/>
                <a:ea typeface="Calibri"/>
                <a:cs typeface="Calibri"/>
              </a:rPr>
              <a:t>Source: Final report Chapter 7, Tables 7.1–7.9.</a:t>
            </a:r>
          </a:p>
        </p:txBody>
      </p:sp>
      <p:sp>
        <p:nvSpPr>
          <p:cNvPr id="24" name="Rectangle 23">
            <a:extLst xmlns:a="http://schemas.openxmlformats.org/drawingml/2006/main">
              <a:ext uri="{FF2B5EF4-FFF2-40B4-BE49-F238E27FC236}">
                <a16:creationId xmlns:a16="http://schemas.microsoft.com/office/drawing/2014/main" id="{D296AC48-3C73-4E75-81F2-759EA2CB06E0}"/>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1">
                <a:solidFill>
                  <a:srgbClr val="B8B0D4"/>
                </a:solidFill>
                <a:latin typeface="Calibri"/>
                <a:ea typeface="Calibri"/>
                <a:cs typeface="Calibri"/>
              </a:defRPr>
            </a:pPr>
            <a:r>
              <a:rPr sz="975" b="1">
                <a:solidFill>
                  <a:srgbClr val="B8B0D4"/>
                </a:solidFill>
                <a:latin typeface="Calibri"/>
                <a:ea typeface="Calibri"/>
                <a:cs typeface="Calibri"/>
              </a:rPr>
              <a:t>16</a:t>
            </a:r>
          </a:p>
        </p:txBody>
      </p:sp>
    </p:spTree>
    <p:extLst>
      <p:ext uri="{BB962C8B-B14F-4D97-AF65-F5344CB8AC3E}">
        <p14:creationId xmlns:p14="http://schemas.microsoft.com/office/powerpoint/2010/main" val="1696835390"/>
      </p:ext>
    </p:extLst>
  </p:cSld>
</p:sld>
</file>

<file path=ppt/slides/slide15.xml><?xml version="1.0" encoding="utf-8"?>
<p:sld xmlns:p="http://schemas.openxmlformats.org/presentationml/2006/main">
  <p:cSld>
    <p:bg>
      <p:bgPr>
        <a:gradFill xmlns:a="http://schemas.openxmlformats.org/drawingml/2006/main">
          <a:gsLst>
            <a:gs pos="0">
              <a:srgbClr val="120B27"/>
            </a:gs>
            <a:gs pos="52000">
              <a:srgbClr val="19112F"/>
            </a:gs>
            <a:gs pos="100000">
              <a:srgbClr val="24183F"/>
            </a:gs>
          </a:gsLst>
          <a:lin ang="8100000"/>
        </a:gradFill>
      </p:bgPr>
    </p:bg>
    <p:spTree>
      <p:nvGrpSpPr>
        <p:cNvPr id="1" name=""/>
        <p:cNvGrpSpPr/>
        <p:nvPr/>
      </p:nvGrpSpPr>
      <p:grpSpPr>
        <a:xfrm xmlns:a="http://schemas.openxmlformats.org/drawingml/2006/main"/>
      </p:grpSpPr>
      <p:sp>
        <p:nvSpPr>
          <p:cNvPr id="32" name="Rectangle 31">
            <a:extLst xmlns:a="http://schemas.openxmlformats.org/drawingml/2006/main">
              <a:ext uri="{FF2B5EF4-FFF2-40B4-BE49-F238E27FC236}">
                <a16:creationId xmlns:a16="http://schemas.microsoft.com/office/drawing/2014/main" id="{1BFB731E-FC8C-4B4D-825E-725E308BA82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F39CDD43-C721-4DE8-926E-33D3D49E8B60}"/>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FF6B62"/>
                </a:solidFill>
                <a:latin typeface="Calibri"/>
                <a:ea typeface="Calibri"/>
                <a:cs typeface="Calibri"/>
              </a:defRPr>
            </a:pPr>
            <a:r>
              <a:rPr sz="1125" b="1">
                <a:solidFill>
                  <a:srgbClr val="FF6B62"/>
                </a:solidFill>
                <a:latin typeface="Calibri"/>
                <a:ea typeface="Calibri"/>
                <a:cs typeface="Calibri"/>
              </a:rPr>
              <a:t>CHAPTER 7 · SYSTEM TESTING</a:t>
            </a:r>
          </a:p>
        </p:txBody>
      </p:sp>
      <p:sp>
        <p:nvSpPr>
          <p:cNvPr id="3" name="Rectangle 2">
            <a:extLst xmlns:a="http://schemas.openxmlformats.org/drawingml/2006/main">
              <a:ext uri="{FF2B5EF4-FFF2-40B4-BE49-F238E27FC236}">
                <a16:creationId xmlns:a16="http://schemas.microsoft.com/office/drawing/2014/main" id="{B2A2E42C-F674-4F95-93FC-80BA1EE3AED1}"/>
              </a:ext>
            </a:extLst>
          </p:cNvPr>
          <p:cNvSpPr>
            <a:spLocks xmlns:a="http://schemas.openxmlformats.org/drawingml/2006/main" noGrp="1"/>
          </p:cNvSpPr>
          <p:nvPr/>
        </p:nvSpPr>
        <p:spPr>
          <a:xfrm xmlns:a="http://schemas.openxmlformats.org/drawingml/2006/main">
            <a:off x="533400" y="619125"/>
            <a:ext cx="5562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F8F6FF"/>
                </a:solidFill>
                <a:latin typeface="Calibri"/>
                <a:ea typeface="Calibri"/>
                <a:cs typeface="Calibri"/>
              </a:defRPr>
            </a:pPr>
            <a:r>
              <a:rPr sz="2700" b="1">
                <a:solidFill>
                  <a:srgbClr val="F8F6FF"/>
                </a:solidFill>
                <a:latin typeface="Calibri"/>
                <a:ea typeface="Calibri"/>
                <a:cs typeface="Calibri"/>
              </a:rPr>
              <a:t>All 34 user-acceptance cases passed</a:t>
            </a:r>
          </a:p>
        </p:txBody>
      </p:sp>
      <p:sp>
        <p:nvSpPr>
          <p:cNvPr id="4" name="Rectangle 3">
            <a:extLst xmlns:a="http://schemas.openxmlformats.org/drawingml/2006/main">
              <a:ext uri="{FF2B5EF4-FFF2-40B4-BE49-F238E27FC236}">
                <a16:creationId xmlns:a16="http://schemas.microsoft.com/office/drawing/2014/main" id="{CFAC9C22-2D1A-4EBE-88F6-6CEF825DB55A}"/>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B8B0D4"/>
                </a:solidFill>
                <a:latin typeface="Calibri"/>
                <a:ea typeface="Calibri"/>
                <a:cs typeface="Calibri"/>
              </a:defRPr>
            </a:pPr>
            <a:r>
              <a:rPr sz="1350" b="0">
                <a:solidFill>
                  <a:srgbClr val="B8B0D4"/>
                </a:solidFill>
                <a:latin typeface="Calibri"/>
                <a:ea typeface="Calibri"/>
                <a:cs typeface="Calibri"/>
              </a:rPr>
              <a:t>Both roles accepted the workflows relevant to their responsibilities.</a:t>
            </a:r>
          </a:p>
        </p:txBody>
      </p:sp>
      <p:sp>
        <p:nvSpPr>
          <p:cNvPr id="5" name="Rectangle: Rounded Corners 4">
            <a:extLst xmlns:a="http://schemas.openxmlformats.org/drawingml/2006/main">
              <a:ext uri="{FF2B5EF4-FFF2-40B4-BE49-F238E27FC236}">
                <a16:creationId xmlns:a16="http://schemas.microsoft.com/office/drawing/2014/main" id="{4E934F4B-2DE6-413F-B065-0CCDC72B2845}"/>
              </a:ext>
            </a:extLst>
          </p:cNvPr>
          <p:cNvSpPr>
            <a:spLocks xmlns:a="http://schemas.openxmlformats.org/drawingml/2006/main" noGrp="1"/>
          </p:cNvSpPr>
          <p:nvPr/>
        </p:nvSpPr>
        <p:spPr>
          <a:xfrm xmlns:a="http://schemas.openxmlformats.org/drawingml/2006/main">
            <a:off x="685800" y="1866900"/>
            <a:ext cx="3143250" cy="1009650"/>
          </a:xfrm>
          <a:prstGeom xmlns:a="http://schemas.openxmlformats.org/drawingml/2006/main" prst="roundRect">
            <a:avLst>
              <a:gd name="adj" fmla="val 11321"/>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6" name="Rectangle: Rounded Corners 5">
            <a:extLst xmlns:a="http://schemas.openxmlformats.org/drawingml/2006/main">
              <a:ext uri="{FF2B5EF4-FFF2-40B4-BE49-F238E27FC236}">
                <a16:creationId xmlns:a16="http://schemas.microsoft.com/office/drawing/2014/main" id="{0666BBB3-9E1E-4779-808D-BE2C2D5300D2}"/>
              </a:ext>
            </a:extLst>
          </p:cNvPr>
          <p:cNvSpPr>
            <a:spLocks xmlns:a="http://schemas.openxmlformats.org/drawingml/2006/main" noGrp="1"/>
          </p:cNvSpPr>
          <p:nvPr/>
        </p:nvSpPr>
        <p:spPr>
          <a:xfrm xmlns:a="http://schemas.openxmlformats.org/drawingml/2006/main">
            <a:off x="857250" y="2038350"/>
            <a:ext cx="457200" cy="76200"/>
          </a:xfrm>
          <a:prstGeom xmlns:a="http://schemas.openxmlformats.org/drawingml/2006/main" prst="roundRect">
            <a:avLst>
              <a:gd name="adj" fmla="val 50000"/>
            </a:avLst>
          </a:prstGeom>
          <a:solidFill xmlns:a="http://schemas.openxmlformats.org/drawingml/2006/main">
            <a:srgbClr val="FFB020"/>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7" name="Rectangle 6">
            <a:extLst xmlns:a="http://schemas.openxmlformats.org/drawingml/2006/main">
              <a:ext uri="{FF2B5EF4-FFF2-40B4-BE49-F238E27FC236}">
                <a16:creationId xmlns:a16="http://schemas.microsoft.com/office/drawing/2014/main" id="{4F233212-1AB6-4B6A-8C75-39984E10B882}"/>
              </a:ext>
            </a:extLst>
          </p:cNvPr>
          <p:cNvSpPr>
            <a:spLocks xmlns:a="http://schemas.openxmlformats.org/drawingml/2006/main" noGrp="1"/>
          </p:cNvSpPr>
          <p:nvPr/>
        </p:nvSpPr>
        <p:spPr>
          <a:xfrm xmlns:a="http://schemas.openxmlformats.org/drawingml/2006/main">
            <a:off x="857250" y="2162175"/>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F8F6FF"/>
                </a:solidFill>
                <a:latin typeface="Calibri"/>
                <a:ea typeface="Calibri"/>
                <a:cs typeface="Calibri"/>
              </a:defRPr>
            </a:pPr>
            <a:r>
              <a:rPr sz="2550" b="1">
                <a:solidFill>
                  <a:srgbClr val="F8F6FF"/>
                </a:solidFill>
                <a:latin typeface="Calibri"/>
                <a:ea typeface="Calibri"/>
                <a:cs typeface="Calibri"/>
              </a:rPr>
              <a:t>19 / 19</a:t>
            </a:r>
          </a:p>
        </p:txBody>
      </p:sp>
      <p:sp>
        <p:nvSpPr>
          <p:cNvPr id="8" name="Rectangle 7">
            <a:extLst xmlns:a="http://schemas.openxmlformats.org/drawingml/2006/main">
              <a:ext uri="{FF2B5EF4-FFF2-40B4-BE49-F238E27FC236}">
                <a16:creationId xmlns:a16="http://schemas.microsoft.com/office/drawing/2014/main" id="{33501E4B-0EB8-45AF-A68C-C84E2908B3F3}"/>
              </a:ext>
            </a:extLst>
          </p:cNvPr>
          <p:cNvSpPr>
            <a:spLocks xmlns:a="http://schemas.openxmlformats.org/drawingml/2006/main" noGrp="1"/>
          </p:cNvSpPr>
          <p:nvPr/>
        </p:nvSpPr>
        <p:spPr>
          <a:xfrm xmlns:a="http://schemas.openxmlformats.org/drawingml/2006/main">
            <a:off x="857250" y="2590800"/>
            <a:ext cx="2800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B8B0D4"/>
                </a:solidFill>
                <a:latin typeface="Calibri"/>
                <a:ea typeface="Calibri"/>
                <a:cs typeface="Calibri"/>
              </a:defRPr>
            </a:pPr>
            <a:r>
              <a:rPr sz="1050" b="0">
                <a:solidFill>
                  <a:srgbClr val="B8B0D4"/>
                </a:solidFill>
                <a:latin typeface="Calibri"/>
                <a:ea typeface="Calibri"/>
                <a:cs typeface="Calibri"/>
              </a:rPr>
              <a:t>caregiver acceptance cases passed</a:t>
            </a:r>
          </a:p>
        </p:txBody>
      </p:sp>
      <p:sp>
        <p:nvSpPr>
          <p:cNvPr id="9" name="Rectangle: Rounded Corners 8">
            <a:extLst xmlns:a="http://schemas.openxmlformats.org/drawingml/2006/main">
              <a:ext uri="{FF2B5EF4-FFF2-40B4-BE49-F238E27FC236}">
                <a16:creationId xmlns:a16="http://schemas.microsoft.com/office/drawing/2014/main" id="{55AE9F65-A984-4B00-9BCF-FB3B734FB856}"/>
              </a:ext>
            </a:extLst>
          </p:cNvPr>
          <p:cNvSpPr>
            <a:spLocks xmlns:a="http://schemas.openxmlformats.org/drawingml/2006/main" noGrp="1"/>
          </p:cNvSpPr>
          <p:nvPr/>
        </p:nvSpPr>
        <p:spPr>
          <a:xfrm xmlns:a="http://schemas.openxmlformats.org/drawingml/2006/main">
            <a:off x="4095750" y="1866900"/>
            <a:ext cx="3143250" cy="1009650"/>
          </a:xfrm>
          <a:prstGeom xmlns:a="http://schemas.openxmlformats.org/drawingml/2006/main" prst="roundRect">
            <a:avLst>
              <a:gd name="adj" fmla="val 11321"/>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0" name="Rectangle: Rounded Corners 9">
            <a:extLst xmlns:a="http://schemas.openxmlformats.org/drawingml/2006/main">
              <a:ext uri="{FF2B5EF4-FFF2-40B4-BE49-F238E27FC236}">
                <a16:creationId xmlns:a16="http://schemas.microsoft.com/office/drawing/2014/main" id="{4B495D57-5DF7-4FEB-A06C-5132A87D74A2}"/>
              </a:ext>
            </a:extLst>
          </p:cNvPr>
          <p:cNvSpPr>
            <a:spLocks xmlns:a="http://schemas.openxmlformats.org/drawingml/2006/main" noGrp="1"/>
          </p:cNvSpPr>
          <p:nvPr/>
        </p:nvSpPr>
        <p:spPr>
          <a:xfrm xmlns:a="http://schemas.openxmlformats.org/drawingml/2006/main">
            <a:off x="4267200" y="2038350"/>
            <a:ext cx="457200" cy="76200"/>
          </a:xfrm>
          <a:prstGeom xmlns:a="http://schemas.openxmlformats.org/drawingml/2006/main" prst="roundRect">
            <a:avLst>
              <a:gd name="adj" fmla="val 50000"/>
            </a:avLst>
          </a:prstGeom>
          <a:solidFill xmlns:a="http://schemas.openxmlformats.org/drawingml/2006/main">
            <a:srgbClr val="2ED9A4"/>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1" name="Rectangle 10">
            <a:extLst xmlns:a="http://schemas.openxmlformats.org/drawingml/2006/main">
              <a:ext uri="{FF2B5EF4-FFF2-40B4-BE49-F238E27FC236}">
                <a16:creationId xmlns:a16="http://schemas.microsoft.com/office/drawing/2014/main" id="{BA8C0E66-E5B4-4DEB-87DF-2C2D3D0CB68E}"/>
              </a:ext>
            </a:extLst>
          </p:cNvPr>
          <p:cNvSpPr>
            <a:spLocks xmlns:a="http://schemas.openxmlformats.org/drawingml/2006/main" noGrp="1"/>
          </p:cNvSpPr>
          <p:nvPr/>
        </p:nvSpPr>
        <p:spPr>
          <a:xfrm xmlns:a="http://schemas.openxmlformats.org/drawingml/2006/main">
            <a:off x="4267200" y="2162175"/>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F8F6FF"/>
                </a:solidFill>
                <a:latin typeface="Calibri"/>
                <a:ea typeface="Calibri"/>
                <a:cs typeface="Calibri"/>
              </a:defRPr>
            </a:pPr>
            <a:r>
              <a:rPr sz="2550" b="1">
                <a:solidFill>
                  <a:srgbClr val="F8F6FF"/>
                </a:solidFill>
                <a:latin typeface="Calibri"/>
                <a:ea typeface="Calibri"/>
                <a:cs typeface="Calibri"/>
              </a:rPr>
              <a:t>15 / 15</a:t>
            </a:r>
          </a:p>
        </p:txBody>
      </p:sp>
      <p:sp>
        <p:nvSpPr>
          <p:cNvPr id="12" name="Rectangle 11">
            <a:extLst xmlns:a="http://schemas.openxmlformats.org/drawingml/2006/main">
              <a:ext uri="{FF2B5EF4-FFF2-40B4-BE49-F238E27FC236}">
                <a16:creationId xmlns:a16="http://schemas.microsoft.com/office/drawing/2014/main" id="{3D10AA29-8F07-44A4-9B23-0143C6F759FD}"/>
              </a:ext>
            </a:extLst>
          </p:cNvPr>
          <p:cNvSpPr>
            <a:spLocks xmlns:a="http://schemas.openxmlformats.org/drawingml/2006/main" noGrp="1"/>
          </p:cNvSpPr>
          <p:nvPr/>
        </p:nvSpPr>
        <p:spPr>
          <a:xfrm xmlns:a="http://schemas.openxmlformats.org/drawingml/2006/main">
            <a:off x="4267200" y="2590800"/>
            <a:ext cx="2800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B8B0D4"/>
                </a:solidFill>
                <a:latin typeface="Calibri"/>
                <a:ea typeface="Calibri"/>
                <a:cs typeface="Calibri"/>
              </a:defRPr>
            </a:pPr>
            <a:r>
              <a:rPr sz="1050" b="0">
                <a:solidFill>
                  <a:srgbClr val="B8B0D4"/>
                </a:solidFill>
                <a:latin typeface="Calibri"/>
                <a:ea typeface="Calibri"/>
                <a:cs typeface="Calibri"/>
              </a:rPr>
              <a:t>patient acceptance cases passed</a:t>
            </a:r>
          </a:p>
        </p:txBody>
      </p:sp>
      <p:sp>
        <p:nvSpPr>
          <p:cNvPr id="13" name="Rectangle: Rounded Corners 12">
            <a:extLst xmlns:a="http://schemas.openxmlformats.org/drawingml/2006/main">
              <a:ext uri="{FF2B5EF4-FFF2-40B4-BE49-F238E27FC236}">
                <a16:creationId xmlns:a16="http://schemas.microsoft.com/office/drawing/2014/main" id="{F88934E4-C35C-4BDD-A194-272A267D2B0E}"/>
              </a:ext>
            </a:extLst>
          </p:cNvPr>
          <p:cNvSpPr>
            <a:spLocks xmlns:a="http://schemas.openxmlformats.org/drawingml/2006/main" noGrp="1"/>
          </p:cNvSpPr>
          <p:nvPr/>
        </p:nvSpPr>
        <p:spPr>
          <a:xfrm xmlns:a="http://schemas.openxmlformats.org/drawingml/2006/main">
            <a:off x="7505700" y="1866900"/>
            <a:ext cx="3143250" cy="1009650"/>
          </a:xfrm>
          <a:prstGeom xmlns:a="http://schemas.openxmlformats.org/drawingml/2006/main" prst="roundRect">
            <a:avLst>
              <a:gd name="adj" fmla="val 11321"/>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4" name="Rectangle: Rounded Corners 13">
            <a:extLst xmlns:a="http://schemas.openxmlformats.org/drawingml/2006/main">
              <a:ext uri="{FF2B5EF4-FFF2-40B4-BE49-F238E27FC236}">
                <a16:creationId xmlns:a16="http://schemas.microsoft.com/office/drawing/2014/main" id="{F8509A4A-C2A4-4712-B812-C317E465E7AB}"/>
              </a:ext>
            </a:extLst>
          </p:cNvPr>
          <p:cNvSpPr>
            <a:spLocks xmlns:a="http://schemas.openxmlformats.org/drawingml/2006/main" noGrp="1"/>
          </p:cNvSpPr>
          <p:nvPr/>
        </p:nvSpPr>
        <p:spPr>
          <a:xfrm xmlns:a="http://schemas.openxmlformats.org/drawingml/2006/main">
            <a:off x="7677150" y="2038350"/>
            <a:ext cx="457200" cy="76200"/>
          </a:xfrm>
          <a:prstGeom xmlns:a="http://schemas.openxmlformats.org/drawingml/2006/main" prst="roundRect">
            <a:avLst>
              <a:gd name="adj" fmla="val 50000"/>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203EAE49-9CE7-4CC3-A339-669AD23BFF2D}"/>
              </a:ext>
            </a:extLst>
          </p:cNvPr>
          <p:cNvSpPr>
            <a:spLocks xmlns:a="http://schemas.openxmlformats.org/drawingml/2006/main" noGrp="1"/>
          </p:cNvSpPr>
          <p:nvPr/>
        </p:nvSpPr>
        <p:spPr>
          <a:xfrm xmlns:a="http://schemas.openxmlformats.org/drawingml/2006/main">
            <a:off x="7677150" y="2162175"/>
            <a:ext cx="2800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F8F6FF"/>
                </a:solidFill>
                <a:latin typeface="Calibri"/>
                <a:ea typeface="Calibri"/>
                <a:cs typeface="Calibri"/>
              </a:defRPr>
            </a:pPr>
            <a:r>
              <a:rPr sz="2550" b="1">
                <a:solidFill>
                  <a:srgbClr val="F8F6FF"/>
                </a:solidFill>
                <a:latin typeface="Calibri"/>
                <a:ea typeface="Calibri"/>
                <a:cs typeface="Calibri"/>
              </a:rPr>
              <a:t>100%</a:t>
            </a:r>
          </a:p>
        </p:txBody>
      </p:sp>
      <p:sp>
        <p:nvSpPr>
          <p:cNvPr id="16" name="Rectangle 15">
            <a:extLst xmlns:a="http://schemas.openxmlformats.org/drawingml/2006/main">
              <a:ext uri="{FF2B5EF4-FFF2-40B4-BE49-F238E27FC236}">
                <a16:creationId xmlns:a16="http://schemas.microsoft.com/office/drawing/2014/main" id="{79951A91-A0C9-43D7-8E3A-57B506FCE7BD}"/>
              </a:ext>
            </a:extLst>
          </p:cNvPr>
          <p:cNvSpPr>
            <a:spLocks xmlns:a="http://schemas.openxmlformats.org/drawingml/2006/main" noGrp="1"/>
          </p:cNvSpPr>
          <p:nvPr/>
        </p:nvSpPr>
        <p:spPr>
          <a:xfrm xmlns:a="http://schemas.openxmlformats.org/drawingml/2006/main">
            <a:off x="7677150" y="2590800"/>
            <a:ext cx="2800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0">
                <a:solidFill>
                  <a:srgbClr val="B8B0D4"/>
                </a:solidFill>
                <a:latin typeface="Calibri"/>
                <a:ea typeface="Calibri"/>
                <a:cs typeface="Calibri"/>
              </a:defRPr>
            </a:pPr>
            <a:r>
              <a:rPr sz="1050" b="0">
                <a:solidFill>
                  <a:srgbClr val="B8B0D4"/>
                </a:solidFill>
                <a:latin typeface="Calibri"/>
                <a:ea typeface="Calibri"/>
                <a:cs typeface="Calibri"/>
              </a:rPr>
              <a:t>overall UAT pass rate</a:t>
            </a:r>
          </a:p>
        </p:txBody>
      </p:sp>
      <p:sp>
        <p:nvSpPr>
          <p:cNvPr id="17" name="Rectangle: Rounded Corners 16">
            <a:extLst xmlns:a="http://schemas.openxmlformats.org/drawingml/2006/main">
              <a:ext uri="{FF2B5EF4-FFF2-40B4-BE49-F238E27FC236}">
                <a16:creationId xmlns:a16="http://schemas.microsoft.com/office/drawing/2014/main" id="{455201CE-F9C1-44EE-86FE-44A218B4D99A}"/>
              </a:ext>
            </a:extLst>
          </p:cNvPr>
          <p:cNvSpPr>
            <a:spLocks xmlns:a="http://schemas.openxmlformats.org/drawingml/2006/main" noGrp="1"/>
          </p:cNvSpPr>
          <p:nvPr/>
        </p:nvSpPr>
        <p:spPr>
          <a:xfrm xmlns:a="http://schemas.openxmlformats.org/drawingml/2006/main">
            <a:off x="685800" y="3238500"/>
            <a:ext cx="9963150" cy="2114550"/>
          </a:xfrm>
          <a:prstGeom xmlns:a="http://schemas.openxmlformats.org/drawingml/2006/main" prst="roundRect">
            <a:avLst>
              <a:gd name="adj" fmla="val 7207"/>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C076F6A4-087F-4A5A-956D-A79F8515657F}"/>
              </a:ext>
            </a:extLst>
          </p:cNvPr>
          <p:cNvSpPr>
            <a:spLocks xmlns:a="http://schemas.openxmlformats.org/drawingml/2006/main" noGrp="1"/>
          </p:cNvSpPr>
          <p:nvPr/>
        </p:nvSpPr>
        <p:spPr>
          <a:xfrm xmlns:a="http://schemas.openxmlformats.org/drawingml/2006/main">
            <a:off x="952500" y="349567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1">
                <a:solidFill>
                  <a:srgbClr val="2ED9A4"/>
                </a:solidFill>
                <a:latin typeface="Calibri"/>
                <a:ea typeface="Calibri"/>
                <a:cs typeface="Calibri"/>
              </a:defRPr>
            </a:pPr>
            <a:r>
              <a:rPr sz="1500" b="1">
                <a:solidFill>
                  <a:srgbClr val="2ED9A4"/>
                </a:solidFill>
                <a:latin typeface="Calibri"/>
                <a:ea typeface="Calibri"/>
                <a:cs typeface="Calibri"/>
              </a:rPr>
              <a:t>✓</a:t>
            </a:r>
          </a:p>
        </p:txBody>
      </p:sp>
      <p:sp>
        <p:nvSpPr>
          <p:cNvPr id="19" name="Rectangle 18">
            <a:extLst xmlns:a="http://schemas.openxmlformats.org/drawingml/2006/main">
              <a:ext uri="{FF2B5EF4-FFF2-40B4-BE49-F238E27FC236}">
                <a16:creationId xmlns:a16="http://schemas.microsoft.com/office/drawing/2014/main" id="{FE2FA0D4-02FC-4A95-82F6-C467753ADCCA}"/>
              </a:ext>
            </a:extLst>
          </p:cNvPr>
          <p:cNvSpPr>
            <a:spLocks xmlns:a="http://schemas.openxmlformats.org/drawingml/2006/main" noGrp="1"/>
          </p:cNvSpPr>
          <p:nvPr/>
        </p:nvSpPr>
        <p:spPr>
          <a:xfrm xmlns:a="http://schemas.openxmlformats.org/drawingml/2006/main">
            <a:off x="1390650" y="349567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F8F6FF"/>
                </a:solidFill>
                <a:latin typeface="Calibri"/>
                <a:ea typeface="Calibri"/>
                <a:cs typeface="Calibri"/>
              </a:defRPr>
            </a:pPr>
            <a:r>
              <a:rPr sz="1275" b="1">
                <a:solidFill>
                  <a:srgbClr val="F8F6FF"/>
                </a:solidFill>
                <a:latin typeface="Calibri"/>
                <a:ea typeface="Calibri"/>
                <a:cs typeface="Calibri"/>
              </a:rPr>
              <a:t>Role separation</a:t>
            </a:r>
          </a:p>
        </p:txBody>
      </p:sp>
      <p:sp>
        <p:nvSpPr>
          <p:cNvPr id="20" name="Rectangle 19">
            <a:extLst xmlns:a="http://schemas.openxmlformats.org/drawingml/2006/main">
              <a:ext uri="{FF2B5EF4-FFF2-40B4-BE49-F238E27FC236}">
                <a16:creationId xmlns:a16="http://schemas.microsoft.com/office/drawing/2014/main" id="{01167964-FDA6-4D69-80D7-3E00A6C31126}"/>
              </a:ext>
            </a:extLst>
          </p:cNvPr>
          <p:cNvSpPr>
            <a:spLocks xmlns:a="http://schemas.openxmlformats.org/drawingml/2006/main" noGrp="1"/>
          </p:cNvSpPr>
          <p:nvPr/>
        </p:nvSpPr>
        <p:spPr>
          <a:xfrm xmlns:a="http://schemas.openxmlformats.org/drawingml/2006/main">
            <a:off x="3314700" y="3495675"/>
            <a:ext cx="695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a:solidFill>
                  <a:srgbClr val="B8B0D4"/>
                </a:solidFill>
                <a:latin typeface="Calibri"/>
                <a:ea typeface="Calibri"/>
                <a:cs typeface="Calibri"/>
              </a:defRPr>
            </a:pPr>
            <a:r>
              <a:rPr sz="1200" b="0">
                <a:solidFill>
                  <a:srgbClr val="B8B0D4"/>
                </a:solidFill>
                <a:latin typeface="Calibri"/>
                <a:ea typeface="Calibri"/>
                <a:cs typeface="Calibri"/>
              </a:rPr>
              <a:t>Correct dashboards, navigation and logout locations</a:t>
            </a:r>
          </a:p>
        </p:txBody>
      </p:sp>
      <p:sp>
        <p:nvSpPr>
          <p:cNvPr id="21" name="Rectangle 20">
            <a:extLst xmlns:a="http://schemas.openxmlformats.org/drawingml/2006/main">
              <a:ext uri="{FF2B5EF4-FFF2-40B4-BE49-F238E27FC236}">
                <a16:creationId xmlns:a16="http://schemas.microsoft.com/office/drawing/2014/main" id="{84D73500-5765-4CE0-BA07-CCA455F8E748}"/>
              </a:ext>
            </a:extLst>
          </p:cNvPr>
          <p:cNvSpPr>
            <a:spLocks xmlns:a="http://schemas.openxmlformats.org/drawingml/2006/main" noGrp="1"/>
          </p:cNvSpPr>
          <p:nvPr/>
        </p:nvSpPr>
        <p:spPr>
          <a:xfrm xmlns:a="http://schemas.openxmlformats.org/drawingml/2006/main">
            <a:off x="952500" y="3905250"/>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1">
                <a:solidFill>
                  <a:srgbClr val="2ED9A4"/>
                </a:solidFill>
                <a:latin typeface="Calibri"/>
                <a:ea typeface="Calibri"/>
                <a:cs typeface="Calibri"/>
              </a:defRPr>
            </a:pPr>
            <a:r>
              <a:rPr sz="1500" b="1">
                <a:solidFill>
                  <a:srgbClr val="2ED9A4"/>
                </a:solidFill>
                <a:latin typeface="Calibri"/>
                <a:ea typeface="Calibri"/>
                <a:cs typeface="Calibri"/>
              </a:rPr>
              <a:t>✓</a:t>
            </a:r>
          </a:p>
        </p:txBody>
      </p:sp>
      <p:sp>
        <p:nvSpPr>
          <p:cNvPr id="22" name="Rectangle 21">
            <a:extLst xmlns:a="http://schemas.openxmlformats.org/drawingml/2006/main">
              <a:ext uri="{FF2B5EF4-FFF2-40B4-BE49-F238E27FC236}">
                <a16:creationId xmlns:a16="http://schemas.microsoft.com/office/drawing/2014/main" id="{190FF452-CD78-4A71-9140-F688CA3786E4}"/>
              </a:ext>
            </a:extLst>
          </p:cNvPr>
          <p:cNvSpPr>
            <a:spLocks xmlns:a="http://schemas.openxmlformats.org/drawingml/2006/main" noGrp="1"/>
          </p:cNvSpPr>
          <p:nvPr/>
        </p:nvSpPr>
        <p:spPr>
          <a:xfrm xmlns:a="http://schemas.openxmlformats.org/drawingml/2006/main">
            <a:off x="1390650" y="3905250"/>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F8F6FF"/>
                </a:solidFill>
                <a:latin typeface="Calibri"/>
                <a:ea typeface="Calibri"/>
                <a:cs typeface="Calibri"/>
              </a:defRPr>
            </a:pPr>
            <a:r>
              <a:rPr sz="1275" b="1">
                <a:solidFill>
                  <a:srgbClr val="F8F6FF"/>
                </a:solidFill>
                <a:latin typeface="Calibri"/>
                <a:ea typeface="Calibri"/>
                <a:cs typeface="Calibri"/>
              </a:rPr>
              <a:t>Task lifecycle</a:t>
            </a:r>
          </a:p>
        </p:txBody>
      </p:sp>
      <p:sp>
        <p:nvSpPr>
          <p:cNvPr id="23" name="Rectangle 22">
            <a:extLst xmlns:a="http://schemas.openxmlformats.org/drawingml/2006/main">
              <a:ext uri="{FF2B5EF4-FFF2-40B4-BE49-F238E27FC236}">
                <a16:creationId xmlns:a16="http://schemas.microsoft.com/office/drawing/2014/main" id="{6C7332B4-B0C0-4CF5-90CC-13013D82FFAF}"/>
              </a:ext>
            </a:extLst>
          </p:cNvPr>
          <p:cNvSpPr>
            <a:spLocks xmlns:a="http://schemas.openxmlformats.org/drawingml/2006/main" noGrp="1"/>
          </p:cNvSpPr>
          <p:nvPr/>
        </p:nvSpPr>
        <p:spPr>
          <a:xfrm xmlns:a="http://schemas.openxmlformats.org/drawingml/2006/main">
            <a:off x="3314700" y="3905250"/>
            <a:ext cx="695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a:solidFill>
                  <a:srgbClr val="B8B0D4"/>
                </a:solidFill>
                <a:latin typeface="Calibri"/>
                <a:ea typeface="Calibri"/>
                <a:cs typeface="Calibri"/>
              </a:defRPr>
            </a:pPr>
            <a:r>
              <a:rPr sz="1200" b="0">
                <a:solidFill>
                  <a:srgbClr val="B8B0D4"/>
                </a:solidFill>
                <a:latin typeface="Calibri"/>
                <a:ea typeface="Calibri"/>
                <a:cs typeface="Calibri"/>
              </a:rPr>
              <a:t>Create, recur, remind, respond, edit, delete and monitor</a:t>
            </a:r>
          </a:p>
        </p:txBody>
      </p:sp>
      <p:sp>
        <p:nvSpPr>
          <p:cNvPr id="24" name="Rectangle 23">
            <a:extLst xmlns:a="http://schemas.openxmlformats.org/drawingml/2006/main">
              <a:ext uri="{FF2B5EF4-FFF2-40B4-BE49-F238E27FC236}">
                <a16:creationId xmlns:a16="http://schemas.microsoft.com/office/drawing/2014/main" id="{49E55725-AD2D-42FF-B48C-CE3DE600C75F}"/>
              </a:ext>
            </a:extLst>
          </p:cNvPr>
          <p:cNvSpPr>
            <a:spLocks xmlns:a="http://schemas.openxmlformats.org/drawingml/2006/main" noGrp="1"/>
          </p:cNvSpPr>
          <p:nvPr/>
        </p:nvSpPr>
        <p:spPr>
          <a:xfrm xmlns:a="http://schemas.openxmlformats.org/drawingml/2006/main">
            <a:off x="952500" y="4314825"/>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1">
                <a:solidFill>
                  <a:srgbClr val="2ED9A4"/>
                </a:solidFill>
                <a:latin typeface="Calibri"/>
                <a:ea typeface="Calibri"/>
                <a:cs typeface="Calibri"/>
              </a:defRPr>
            </a:pPr>
            <a:r>
              <a:rPr sz="1500" b="1">
                <a:solidFill>
                  <a:srgbClr val="2ED9A4"/>
                </a:solidFill>
                <a:latin typeface="Calibri"/>
                <a:ea typeface="Calibri"/>
                <a:cs typeface="Calibri"/>
              </a:rPr>
              <a:t>✓</a:t>
            </a:r>
          </a:p>
        </p:txBody>
      </p:sp>
      <p:sp>
        <p:nvSpPr>
          <p:cNvPr id="25" name="Rectangle 24">
            <a:extLst xmlns:a="http://schemas.openxmlformats.org/drawingml/2006/main">
              <a:ext uri="{FF2B5EF4-FFF2-40B4-BE49-F238E27FC236}">
                <a16:creationId xmlns:a16="http://schemas.microsoft.com/office/drawing/2014/main" id="{CA695742-4315-4162-921E-1E70366AA013}"/>
              </a:ext>
            </a:extLst>
          </p:cNvPr>
          <p:cNvSpPr>
            <a:spLocks xmlns:a="http://schemas.openxmlformats.org/drawingml/2006/main" noGrp="1"/>
          </p:cNvSpPr>
          <p:nvPr/>
        </p:nvSpPr>
        <p:spPr>
          <a:xfrm xmlns:a="http://schemas.openxmlformats.org/drawingml/2006/main">
            <a:off x="1390650" y="4314825"/>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F8F6FF"/>
                </a:solidFill>
                <a:latin typeface="Calibri"/>
                <a:ea typeface="Calibri"/>
                <a:cs typeface="Calibri"/>
              </a:defRPr>
            </a:pPr>
            <a:r>
              <a:rPr sz="1275" b="1">
                <a:solidFill>
                  <a:srgbClr val="F8F6FF"/>
                </a:solidFill>
                <a:latin typeface="Calibri"/>
                <a:ea typeface="Calibri"/>
                <a:cs typeface="Calibri"/>
              </a:rPr>
              <a:t>Adaptive cognition</a:t>
            </a:r>
          </a:p>
        </p:txBody>
      </p:sp>
      <p:sp>
        <p:nvSpPr>
          <p:cNvPr id="26" name="Rectangle 25">
            <a:extLst xmlns:a="http://schemas.openxmlformats.org/drawingml/2006/main">
              <a:ext uri="{FF2B5EF4-FFF2-40B4-BE49-F238E27FC236}">
                <a16:creationId xmlns:a16="http://schemas.microsoft.com/office/drawing/2014/main" id="{1C53F192-1213-406A-AC83-AEE9AD0E1DE6}"/>
              </a:ext>
            </a:extLst>
          </p:cNvPr>
          <p:cNvSpPr>
            <a:spLocks xmlns:a="http://schemas.openxmlformats.org/drawingml/2006/main" noGrp="1"/>
          </p:cNvSpPr>
          <p:nvPr/>
        </p:nvSpPr>
        <p:spPr>
          <a:xfrm xmlns:a="http://schemas.openxmlformats.org/drawingml/2006/main">
            <a:off x="3314700" y="4314825"/>
            <a:ext cx="695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a:solidFill>
                  <a:srgbClr val="B8B0D4"/>
                </a:solidFill>
                <a:latin typeface="Calibri"/>
                <a:ea typeface="Calibri"/>
                <a:cs typeface="Calibri"/>
              </a:defRPr>
            </a:pPr>
            <a:r>
              <a:rPr sz="1200" b="0">
                <a:solidFill>
                  <a:srgbClr val="B8B0D4"/>
                </a:solidFill>
                <a:latin typeface="Calibri"/>
                <a:ea typeface="Calibri"/>
                <a:cs typeface="Calibri"/>
              </a:rPr>
              <a:t>Correct game set, supportive guidance and independent level adjustment</a:t>
            </a:r>
          </a:p>
        </p:txBody>
      </p:sp>
      <p:sp>
        <p:nvSpPr>
          <p:cNvPr id="27" name="Rectangle 26">
            <a:extLst xmlns:a="http://schemas.openxmlformats.org/drawingml/2006/main">
              <a:ext uri="{FF2B5EF4-FFF2-40B4-BE49-F238E27FC236}">
                <a16:creationId xmlns:a16="http://schemas.microsoft.com/office/drawing/2014/main" id="{C8BDAA69-807F-4558-B870-EB37A2ED98E3}"/>
              </a:ext>
            </a:extLst>
          </p:cNvPr>
          <p:cNvSpPr>
            <a:spLocks xmlns:a="http://schemas.openxmlformats.org/drawingml/2006/main" noGrp="1"/>
          </p:cNvSpPr>
          <p:nvPr/>
        </p:nvSpPr>
        <p:spPr>
          <a:xfrm xmlns:a="http://schemas.openxmlformats.org/drawingml/2006/main">
            <a:off x="952500" y="4724400"/>
            <a:ext cx="266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1">
                <a:solidFill>
                  <a:srgbClr val="2ED9A4"/>
                </a:solidFill>
                <a:latin typeface="Calibri"/>
                <a:ea typeface="Calibri"/>
                <a:cs typeface="Calibri"/>
              </a:defRPr>
            </a:pPr>
            <a:r>
              <a:rPr sz="1500" b="1">
                <a:solidFill>
                  <a:srgbClr val="2ED9A4"/>
                </a:solidFill>
                <a:latin typeface="Calibri"/>
                <a:ea typeface="Calibri"/>
                <a:cs typeface="Calibri"/>
              </a:rPr>
              <a:t>✓</a:t>
            </a:r>
          </a:p>
        </p:txBody>
      </p:sp>
      <p:sp>
        <p:nvSpPr>
          <p:cNvPr id="28" name="Rectangle 27">
            <a:extLst xmlns:a="http://schemas.openxmlformats.org/drawingml/2006/main">
              <a:ext uri="{FF2B5EF4-FFF2-40B4-BE49-F238E27FC236}">
                <a16:creationId xmlns:a16="http://schemas.microsoft.com/office/drawing/2014/main" id="{C3E30D63-94A6-4D55-9CD1-29A65812F6DB}"/>
              </a:ext>
            </a:extLst>
          </p:cNvPr>
          <p:cNvSpPr>
            <a:spLocks xmlns:a="http://schemas.openxmlformats.org/drawingml/2006/main" noGrp="1"/>
          </p:cNvSpPr>
          <p:nvPr/>
        </p:nvSpPr>
        <p:spPr>
          <a:xfrm xmlns:a="http://schemas.openxmlformats.org/drawingml/2006/main">
            <a:off x="1390650" y="4724400"/>
            <a:ext cx="1809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F8F6FF"/>
                </a:solidFill>
                <a:latin typeface="Calibri"/>
                <a:ea typeface="Calibri"/>
                <a:cs typeface="Calibri"/>
              </a:defRPr>
            </a:pPr>
            <a:r>
              <a:rPr sz="1275" b="1">
                <a:solidFill>
                  <a:srgbClr val="F8F6FF"/>
                </a:solidFill>
                <a:latin typeface="Calibri"/>
                <a:ea typeface="Calibri"/>
                <a:cs typeface="Calibri"/>
              </a:rPr>
              <a:t>Motivation</a:t>
            </a:r>
          </a:p>
        </p:txBody>
      </p:sp>
      <p:sp>
        <p:nvSpPr>
          <p:cNvPr id="29" name="Rectangle 28">
            <a:extLst xmlns:a="http://schemas.openxmlformats.org/drawingml/2006/main">
              <a:ext uri="{FF2B5EF4-FFF2-40B4-BE49-F238E27FC236}">
                <a16:creationId xmlns:a16="http://schemas.microsoft.com/office/drawing/2014/main" id="{F624EA14-4084-4047-B168-EC7FDE4C1D04}"/>
              </a:ext>
            </a:extLst>
          </p:cNvPr>
          <p:cNvSpPr>
            <a:spLocks xmlns:a="http://schemas.openxmlformats.org/drawingml/2006/main" noGrp="1"/>
          </p:cNvSpPr>
          <p:nvPr/>
        </p:nvSpPr>
        <p:spPr>
          <a:xfrm xmlns:a="http://schemas.openxmlformats.org/drawingml/2006/main">
            <a:off x="3314700" y="4724400"/>
            <a:ext cx="695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0">
                <a:solidFill>
                  <a:srgbClr val="B8B0D4"/>
                </a:solidFill>
                <a:latin typeface="Calibri"/>
                <a:ea typeface="Calibri"/>
                <a:cs typeface="Calibri"/>
              </a:defRPr>
            </a:pPr>
            <a:r>
              <a:rPr sz="1200" b="0">
                <a:solidFill>
                  <a:srgbClr val="B8B0D4"/>
                </a:solidFill>
                <a:latin typeface="Calibri"/>
                <a:ea typeface="Calibri"/>
                <a:cs typeface="Calibri"/>
              </a:rPr>
              <a:t>Daily streak, shared points, level progress and reward unlocking</a:t>
            </a:r>
          </a:p>
        </p:txBody>
      </p:sp>
      <p:sp>
        <p:nvSpPr>
          <p:cNvPr id="30" name="Rectangle 29">
            <a:extLst xmlns:a="http://schemas.openxmlformats.org/drawingml/2006/main">
              <a:ext uri="{FF2B5EF4-FFF2-40B4-BE49-F238E27FC236}">
                <a16:creationId xmlns:a16="http://schemas.microsoft.com/office/drawing/2014/main" id="{24BB3D5A-C07E-4F9A-B386-0B17ECD913B3}"/>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a:solidFill>
                  <a:srgbClr val="8F87AC"/>
                </a:solidFill>
                <a:latin typeface="Calibri"/>
                <a:ea typeface="Calibri"/>
                <a:cs typeface="Calibri"/>
              </a:defRPr>
            </a:pPr>
            <a:r>
              <a:rPr sz="750" b="0">
                <a:solidFill>
                  <a:srgbClr val="8F87AC"/>
                </a:solidFill>
                <a:latin typeface="Calibri"/>
                <a:ea typeface="Calibri"/>
                <a:cs typeface="Calibri"/>
              </a:rPr>
              <a:t>Source: Final report Table 7.9, pp. 216–223.</a:t>
            </a:r>
          </a:p>
        </p:txBody>
      </p:sp>
      <p:sp>
        <p:nvSpPr>
          <p:cNvPr id="31" name="Rectangle 30">
            <a:extLst xmlns:a="http://schemas.openxmlformats.org/drawingml/2006/main">
              <a:ext uri="{FF2B5EF4-FFF2-40B4-BE49-F238E27FC236}">
                <a16:creationId xmlns:a16="http://schemas.microsoft.com/office/drawing/2014/main" id="{6CB1F212-880C-4AD6-B299-B7457AAEB838}"/>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1">
                <a:solidFill>
                  <a:srgbClr val="B8B0D4"/>
                </a:solidFill>
                <a:latin typeface="Calibri"/>
                <a:ea typeface="Calibri"/>
                <a:cs typeface="Calibri"/>
              </a:defRPr>
            </a:pPr>
            <a:r>
              <a:rPr sz="975" b="1">
                <a:solidFill>
                  <a:srgbClr val="B8B0D4"/>
                </a:solidFill>
                <a:latin typeface="Calibri"/>
                <a:ea typeface="Calibri"/>
                <a:cs typeface="Calibri"/>
              </a:rPr>
              <a:t>17</a:t>
            </a:r>
          </a:p>
        </p:txBody>
      </p:sp>
    </p:spTree>
    <p:extLst>
      <p:ext uri="{BB962C8B-B14F-4D97-AF65-F5344CB8AC3E}">
        <p14:creationId xmlns:p14="http://schemas.microsoft.com/office/powerpoint/2010/main" val="1433650646"/>
      </p:ext>
    </p:extLst>
  </p:cSld>
</p:sld>
</file>

<file path=ppt/slides/slide16.xml><?xml version="1.0" encoding="utf-8"?>
<p:sld xmlns:p="http://schemas.openxmlformats.org/presentationml/2006/main">
  <p:cSld>
    <p:bg>
      <p:bgPr>
        <a:gradFill xmlns:a="http://schemas.openxmlformats.org/drawingml/2006/main">
          <a:gsLst>
            <a:gs pos="0">
              <a:srgbClr val="120B27"/>
            </a:gs>
            <a:gs pos="52000">
              <a:srgbClr val="19112F"/>
            </a:gs>
            <a:gs pos="100000">
              <a:srgbClr val="24183F"/>
            </a:gs>
          </a:gsLst>
          <a:lin ang="8100000"/>
        </a:gra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9BB93E5B-A657-45B6-B17F-487E0EFCCC2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2E8D82D1-9926-48B7-B590-4FA594C0FCB7}"/>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FF6B62"/>
                </a:solidFill>
                <a:latin typeface="Calibri"/>
                <a:ea typeface="Calibri"/>
                <a:cs typeface="Calibri"/>
              </a:defRPr>
            </a:pPr>
            <a:r>
              <a:rPr sz="1125" b="1">
                <a:solidFill>
                  <a:srgbClr val="FF6B62"/>
                </a:solidFill>
                <a:latin typeface="Calibri"/>
                <a:ea typeface="Calibri"/>
                <a:cs typeface="Calibri"/>
              </a:rPr>
              <a:t>CHAPTER 7 · SYSTEM TESTING</a:t>
            </a:r>
          </a:p>
        </p:txBody>
      </p:sp>
      <p:sp>
        <p:nvSpPr>
          <p:cNvPr id="3" name="Rectangle 2">
            <a:extLst xmlns:a="http://schemas.openxmlformats.org/drawingml/2006/main">
              <a:ext uri="{FF2B5EF4-FFF2-40B4-BE49-F238E27FC236}">
                <a16:creationId xmlns:a16="http://schemas.microsoft.com/office/drawing/2014/main" id="{7683013F-4E7E-4964-B0DB-7BCF6A3E87D3}"/>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F8F6FF"/>
                </a:solidFill>
                <a:latin typeface="Calibri"/>
                <a:ea typeface="Calibri"/>
                <a:cs typeface="Calibri"/>
              </a:defRPr>
            </a:pPr>
            <a:r>
              <a:rPr sz="2700" b="1">
                <a:solidFill>
                  <a:srgbClr val="F8F6FF"/>
                </a:solidFill>
                <a:latin typeface="Calibri"/>
                <a:ea typeface="Calibri"/>
                <a:cs typeface="Calibri"/>
              </a:rPr>
              <a:t>Usability exceeded the target</a:t>
            </a:r>
          </a:p>
        </p:txBody>
      </p:sp>
      <p:sp>
        <p:nvSpPr>
          <p:cNvPr id="4" name="Rectangle 3">
            <a:extLst xmlns:a="http://schemas.openxmlformats.org/drawingml/2006/main">
              <a:ext uri="{FF2B5EF4-FFF2-40B4-BE49-F238E27FC236}">
                <a16:creationId xmlns:a16="http://schemas.microsoft.com/office/drawing/2014/main" id="{F087FAE9-B0A3-4B37-A68C-200D24E71CBC}"/>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B8B0D4"/>
                </a:solidFill>
                <a:latin typeface="Calibri"/>
                <a:ea typeface="Calibri"/>
                <a:cs typeface="Calibri"/>
              </a:defRPr>
            </a:pPr>
            <a:r>
              <a:rPr sz="1350" b="0">
                <a:solidFill>
                  <a:srgbClr val="B8B0D4"/>
                </a:solidFill>
                <a:latin typeface="Calibri"/>
                <a:ea typeface="Calibri"/>
                <a:cs typeface="Calibri"/>
              </a:rPr>
              <a:t>Five participants produced an average System Usability Scale score of 91.0.</a:t>
            </a:r>
          </a:p>
        </p:txBody>
      </p:sp>
      <p:graphicFrame>
        <p:nvGraphicFramePr>
          <p:cNvPr id="21" name="Chart"/>
          <p:cNvGraphicFramePr/>
          <p:nvPr/>
        </p:nvGraphicFramePr>
        <p:xfrm>
          <a:off xmlns:a="http://schemas.openxmlformats.org/drawingml/2006/main" x="666750" y="1762125"/>
          <a:ext xmlns:a="http://schemas.openxmlformats.org/drawingml/2006/main" cx="7620000" cy="3857625"/>
        </p:xfrm>
        <a:graphic xmlns:a="http://schemas.openxmlformats.org/drawingml/2006/main">
          <a:graphicData uri="http://schemas.openxmlformats.org/drawingml/2006/chart">
            <c:chart xmlns:r="http://schemas.openxmlformats.org/officeDocument/2006/relationships" xmlns:c="http://schemas.openxmlformats.org/drawingml/2006/chart" r:id="Rbfb40b80c0dd4c85"/>
          </a:graphicData>
        </a:graphic>
      </p:graphicFrame>
      <p:sp>
        <p:nvSpPr>
          <p:cNvPr id="6" name="Rectangle: Rounded Corners 5">
            <a:extLst xmlns:a="http://schemas.openxmlformats.org/drawingml/2006/main">
              <a:ext uri="{FF2B5EF4-FFF2-40B4-BE49-F238E27FC236}">
                <a16:creationId xmlns:a16="http://schemas.microsoft.com/office/drawing/2014/main" id="{27113299-065A-4CB3-BBBF-41ECF07E76FF}"/>
              </a:ext>
            </a:extLst>
          </p:cNvPr>
          <p:cNvSpPr>
            <a:spLocks xmlns:a="http://schemas.openxmlformats.org/drawingml/2006/main" noGrp="1"/>
          </p:cNvSpPr>
          <p:nvPr/>
        </p:nvSpPr>
        <p:spPr>
          <a:xfrm xmlns:a="http://schemas.openxmlformats.org/drawingml/2006/main">
            <a:off x="8667750" y="1828800"/>
            <a:ext cx="2647950" cy="1714500"/>
          </a:xfrm>
          <a:prstGeom xmlns:a="http://schemas.openxmlformats.org/drawingml/2006/main" prst="roundRect">
            <a:avLst>
              <a:gd name="adj" fmla="val 8889"/>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7" name="Rectangle 6">
            <a:extLst xmlns:a="http://schemas.openxmlformats.org/drawingml/2006/main">
              <a:ext uri="{FF2B5EF4-FFF2-40B4-BE49-F238E27FC236}">
                <a16:creationId xmlns:a16="http://schemas.microsoft.com/office/drawing/2014/main" id="{FD556CDF-E8F8-4906-8CEF-8106BF48AF4E}"/>
              </a:ext>
            </a:extLst>
          </p:cNvPr>
          <p:cNvSpPr>
            <a:spLocks xmlns:a="http://schemas.openxmlformats.org/drawingml/2006/main" noGrp="1"/>
          </p:cNvSpPr>
          <p:nvPr/>
        </p:nvSpPr>
        <p:spPr>
          <a:xfrm xmlns:a="http://schemas.openxmlformats.org/drawingml/2006/main">
            <a:off x="8858250" y="2057400"/>
            <a:ext cx="2266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4350" b="1">
                <a:solidFill>
                  <a:srgbClr val="2ED9A4"/>
                </a:solidFill>
                <a:latin typeface="Calibri"/>
                <a:ea typeface="Calibri"/>
                <a:cs typeface="Calibri"/>
              </a:defRPr>
            </a:pPr>
            <a:r>
              <a:rPr sz="4350" b="1">
                <a:solidFill>
                  <a:srgbClr val="2ED9A4"/>
                </a:solidFill>
                <a:latin typeface="Calibri"/>
                <a:ea typeface="Calibri"/>
                <a:cs typeface="Calibri"/>
              </a:rPr>
              <a:t>91.0</a:t>
            </a:r>
          </a:p>
        </p:txBody>
      </p:sp>
      <p:sp>
        <p:nvSpPr>
          <p:cNvPr id="8" name="Rectangle 7">
            <a:extLst xmlns:a="http://schemas.openxmlformats.org/drawingml/2006/main">
              <a:ext uri="{FF2B5EF4-FFF2-40B4-BE49-F238E27FC236}">
                <a16:creationId xmlns:a16="http://schemas.microsoft.com/office/drawing/2014/main" id="{5145D121-0DA9-4528-8F62-58DBB96750A5}"/>
              </a:ext>
            </a:extLst>
          </p:cNvPr>
          <p:cNvSpPr>
            <a:spLocks xmlns:a="http://schemas.openxmlformats.org/drawingml/2006/main" noGrp="1"/>
          </p:cNvSpPr>
          <p:nvPr/>
        </p:nvSpPr>
        <p:spPr>
          <a:xfrm xmlns:a="http://schemas.openxmlformats.org/drawingml/2006/main">
            <a:off x="8858250" y="2838450"/>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1">
                <a:solidFill>
                  <a:srgbClr val="B8B0D4"/>
                </a:solidFill>
                <a:latin typeface="Calibri"/>
                <a:ea typeface="Calibri"/>
                <a:cs typeface="Calibri"/>
              </a:defRPr>
            </a:pPr>
            <a:r>
              <a:rPr sz="1125" b="1">
                <a:solidFill>
                  <a:srgbClr val="B8B0D4"/>
                </a:solidFill>
                <a:latin typeface="Calibri"/>
                <a:ea typeface="Calibri"/>
                <a:cs typeface="Calibri"/>
              </a:rPr>
              <a:t>AVERAGE SUS</a:t>
            </a:r>
          </a:p>
        </p:txBody>
      </p:sp>
      <p:sp>
        <p:nvSpPr>
          <p:cNvPr id="9" name="Rectangle: Rounded Corners 8">
            <a:extLst xmlns:a="http://schemas.openxmlformats.org/drawingml/2006/main">
              <a:ext uri="{FF2B5EF4-FFF2-40B4-BE49-F238E27FC236}">
                <a16:creationId xmlns:a16="http://schemas.microsoft.com/office/drawing/2014/main" id="{3736D1DB-6CE3-41F4-8984-58380DE63C67}"/>
              </a:ext>
            </a:extLst>
          </p:cNvPr>
          <p:cNvSpPr>
            <a:spLocks xmlns:a="http://schemas.openxmlformats.org/drawingml/2006/main" noGrp="1"/>
          </p:cNvSpPr>
          <p:nvPr/>
        </p:nvSpPr>
        <p:spPr>
          <a:xfrm xmlns:a="http://schemas.openxmlformats.org/drawingml/2006/main">
            <a:off x="8972550" y="3771900"/>
            <a:ext cx="2057400" cy="323850"/>
          </a:xfrm>
          <a:prstGeom xmlns:a="http://schemas.openxmlformats.org/drawingml/2006/main" prst="roundRect">
            <a:avLst>
              <a:gd name="adj" fmla="val 35294"/>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22F1B092-86B8-46FD-9D38-F54E640F4BEE}"/>
              </a:ext>
            </a:extLst>
          </p:cNvPr>
          <p:cNvSpPr>
            <a:spLocks xmlns:a="http://schemas.openxmlformats.org/drawingml/2006/main" noGrp="1"/>
          </p:cNvSpPr>
          <p:nvPr/>
        </p:nvSpPr>
        <p:spPr>
          <a:xfrm xmlns:a="http://schemas.openxmlformats.org/drawingml/2006/main">
            <a:off x="8972550" y="378142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F8F6FF"/>
                </a:solidFill>
                <a:latin typeface="Calibri"/>
                <a:ea typeface="Calibri"/>
                <a:cs typeface="Calibri"/>
              </a:defRPr>
            </a:pPr>
            <a:r>
              <a:rPr sz="1125" b="1">
                <a:solidFill>
                  <a:srgbClr val="F8F6FF"/>
                </a:solidFill>
                <a:latin typeface="Calibri"/>
                <a:ea typeface="Calibri"/>
                <a:cs typeface="Calibri"/>
              </a:rPr>
              <a:t>+6.0 ABOVE TARGET</a:t>
            </a:r>
          </a:p>
        </p:txBody>
      </p:sp>
      <p:sp>
        <p:nvSpPr>
          <p:cNvPr id="11" name="Rectangle 10">
            <a:extLst xmlns:a="http://schemas.openxmlformats.org/drawingml/2006/main">
              <a:ext uri="{FF2B5EF4-FFF2-40B4-BE49-F238E27FC236}">
                <a16:creationId xmlns:a16="http://schemas.microsoft.com/office/drawing/2014/main" id="{D1610962-4390-449E-9C9D-60F5B6BCC5A8}"/>
              </a:ext>
            </a:extLst>
          </p:cNvPr>
          <p:cNvSpPr>
            <a:spLocks xmlns:a="http://schemas.openxmlformats.org/drawingml/2006/main" noGrp="1"/>
          </p:cNvSpPr>
          <p:nvPr/>
        </p:nvSpPr>
        <p:spPr>
          <a:xfrm xmlns:a="http://schemas.openxmlformats.org/drawingml/2006/main">
            <a:off x="8896350" y="43719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1">
                <a:solidFill>
                  <a:srgbClr val="F8F6FF"/>
                </a:solidFill>
                <a:latin typeface="Calibri"/>
                <a:ea typeface="Calibri"/>
                <a:cs typeface="Calibri"/>
              </a:defRPr>
            </a:pPr>
            <a:r>
              <a:rPr sz="1350" b="1">
                <a:solidFill>
                  <a:srgbClr val="F8F6FF"/>
                </a:solidFill>
                <a:latin typeface="Calibri"/>
                <a:ea typeface="Calibri"/>
                <a:cs typeface="Calibri"/>
              </a:rPr>
              <a:t>Finding</a:t>
            </a:r>
          </a:p>
        </p:txBody>
      </p:sp>
      <p:sp>
        <p:nvSpPr>
          <p:cNvPr id="12" name="Rectangle 11">
            <a:extLst xmlns:a="http://schemas.openxmlformats.org/drawingml/2006/main">
              <a:ext uri="{FF2B5EF4-FFF2-40B4-BE49-F238E27FC236}">
                <a16:creationId xmlns:a16="http://schemas.microsoft.com/office/drawing/2014/main" id="{A9EC872C-2EE9-4DEA-941F-4D64A9E8BCD6}"/>
              </a:ext>
            </a:extLst>
          </p:cNvPr>
          <p:cNvSpPr>
            <a:spLocks xmlns:a="http://schemas.openxmlformats.org/drawingml/2006/main" noGrp="1"/>
          </p:cNvSpPr>
          <p:nvPr/>
        </p:nvSpPr>
        <p:spPr>
          <a:xfrm xmlns:a="http://schemas.openxmlformats.org/drawingml/2006/main">
            <a:off x="8896350" y="4724400"/>
            <a:ext cx="2057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B8B0D4"/>
                </a:solidFill>
                <a:latin typeface="Calibri"/>
                <a:ea typeface="Calibri"/>
                <a:cs typeface="Calibri"/>
              </a:defRPr>
            </a:pPr>
            <a:r>
              <a:rPr sz="1275" b="0">
                <a:solidFill>
                  <a:srgbClr val="B8B0D4"/>
                </a:solidFill>
                <a:latin typeface="Calibri"/>
                <a:ea typeface="Calibri"/>
                <a:cs typeface="Calibri"/>
              </a:rPr>
              <a:t>Participants found MindCare highly usable, understandable and consistent across its features.</a:t>
            </a:r>
          </a:p>
        </p:txBody>
      </p:sp>
      <p:sp>
        <p:nvSpPr>
          <p:cNvPr id="13" name="Rectangle 12">
            <a:extLst xmlns:a="http://schemas.openxmlformats.org/drawingml/2006/main">
              <a:ext uri="{FF2B5EF4-FFF2-40B4-BE49-F238E27FC236}">
                <a16:creationId xmlns:a16="http://schemas.microsoft.com/office/drawing/2014/main" id="{1C49DCFE-792C-4E80-BB0D-AC6BE8AD350A}"/>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a:solidFill>
                  <a:srgbClr val="8F87AC"/>
                </a:solidFill>
                <a:latin typeface="Calibri"/>
                <a:ea typeface="Calibri"/>
                <a:cs typeface="Calibri"/>
              </a:defRPr>
            </a:pPr>
            <a:r>
              <a:rPr sz="750" b="0">
                <a:solidFill>
                  <a:srgbClr val="8F87AC"/>
                </a:solidFill>
                <a:latin typeface="Calibri"/>
                <a:ea typeface="Calibri"/>
                <a:cs typeface="Calibri"/>
              </a:rPr>
              <a:t>Source: Final report Table 7.11, pp. 224–225. Target SUS = 85.</a:t>
            </a:r>
          </a:p>
        </p:txBody>
      </p:sp>
      <p:sp>
        <p:nvSpPr>
          <p:cNvPr id="14" name="Rectangle 13">
            <a:extLst xmlns:a="http://schemas.openxmlformats.org/drawingml/2006/main">
              <a:ext uri="{FF2B5EF4-FFF2-40B4-BE49-F238E27FC236}">
                <a16:creationId xmlns:a16="http://schemas.microsoft.com/office/drawing/2014/main" id="{C0686F5F-F96C-4CD5-B868-53AEF46C93EB}"/>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1">
                <a:solidFill>
                  <a:srgbClr val="B8B0D4"/>
                </a:solidFill>
                <a:latin typeface="Calibri"/>
                <a:ea typeface="Calibri"/>
                <a:cs typeface="Calibri"/>
              </a:defRPr>
            </a:pPr>
            <a:r>
              <a:rPr sz="975" b="1">
                <a:solidFill>
                  <a:srgbClr val="B8B0D4"/>
                </a:solidFill>
                <a:latin typeface="Calibri"/>
                <a:ea typeface="Calibri"/>
                <a:cs typeface="Calibri"/>
              </a:rPr>
              <a:t>18</a:t>
            </a:r>
          </a:p>
        </p:txBody>
      </p:sp>
    </p:spTree>
    <p:extLst>
      <p:ext uri="{BB962C8B-B14F-4D97-AF65-F5344CB8AC3E}">
        <p14:creationId xmlns:p14="http://schemas.microsoft.com/office/powerpoint/2010/main" val="792756029"/>
      </p:ext>
    </p:extLst>
  </p:cSld>
</p:sld>
</file>

<file path=ppt/slides/slide17.xml><?xml version="1.0" encoding="utf-8"?>
<p:sld xmlns:p="http://schemas.openxmlformats.org/presentationml/2006/main">
  <p:cSld>
    <p:bg>
      <p:bgPr>
        <a:gradFill xmlns:a="http://schemas.openxmlformats.org/drawingml/2006/main">
          <a:gsLst>
            <a:gs pos="0">
              <a:srgbClr val="120B27"/>
            </a:gs>
            <a:gs pos="52000">
              <a:srgbClr val="19112F"/>
            </a:gs>
            <a:gs pos="100000">
              <a:srgbClr val="24183F"/>
            </a:gs>
          </a:gsLst>
          <a:lin ang="8100000"/>
        </a:gra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94654BDE-A708-433D-A9A2-0920231B7BE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0AC1576C-7ECF-44E6-A039-047B2F648DE3}"/>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FF6B62"/>
                </a:solidFill>
                <a:latin typeface="Calibri"/>
                <a:ea typeface="Calibri"/>
                <a:cs typeface="Calibri"/>
              </a:defRPr>
            </a:pPr>
            <a:r>
              <a:rPr sz="1125" b="1">
                <a:solidFill>
                  <a:srgbClr val="FF6B62"/>
                </a:solidFill>
                <a:latin typeface="Calibri"/>
                <a:ea typeface="Calibri"/>
                <a:cs typeface="Calibri"/>
              </a:rPr>
              <a:t>CHAPTER 7 · SYSTEM TESTING</a:t>
            </a:r>
          </a:p>
        </p:txBody>
      </p:sp>
      <p:sp>
        <p:nvSpPr>
          <p:cNvPr id="3" name="Rectangle 2">
            <a:extLst xmlns:a="http://schemas.openxmlformats.org/drawingml/2006/main">
              <a:ext uri="{FF2B5EF4-FFF2-40B4-BE49-F238E27FC236}">
                <a16:creationId xmlns:a16="http://schemas.microsoft.com/office/drawing/2014/main" id="{B9A8247D-49C1-4623-86D9-2CF20C123825}"/>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F8F6FF"/>
                </a:solidFill>
                <a:latin typeface="Calibri"/>
                <a:ea typeface="Calibri"/>
                <a:cs typeface="Calibri"/>
              </a:defRPr>
            </a:pPr>
            <a:r>
              <a:rPr sz="2700" b="1">
                <a:solidFill>
                  <a:srgbClr val="F8F6FF"/>
                </a:solidFill>
                <a:latin typeface="Calibri"/>
                <a:ea typeface="Calibri"/>
                <a:cs typeface="Calibri"/>
              </a:rPr>
              <a:t>What the results demonstrated</a:t>
            </a:r>
          </a:p>
        </p:txBody>
      </p:sp>
      <p:sp>
        <p:nvSpPr>
          <p:cNvPr id="4" name="Rectangle 3">
            <a:extLst xmlns:a="http://schemas.openxmlformats.org/drawingml/2006/main">
              <a:ext uri="{FF2B5EF4-FFF2-40B4-BE49-F238E27FC236}">
                <a16:creationId xmlns:a16="http://schemas.microsoft.com/office/drawing/2014/main" id="{E3F12981-0002-4430-850E-3A0D2AE872DA}"/>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B8B0D4"/>
                </a:solidFill>
                <a:latin typeface="Calibri"/>
                <a:ea typeface="Calibri"/>
                <a:cs typeface="Calibri"/>
              </a:defRPr>
            </a:pPr>
            <a:r>
              <a:rPr sz="1350" b="0">
                <a:solidFill>
                  <a:srgbClr val="B8B0D4"/>
                </a:solidFill>
                <a:latin typeface="Calibri"/>
                <a:ea typeface="Calibri"/>
                <a:cs typeface="Calibri"/>
              </a:rPr>
              <a:t>The evidence supported usability and workflow completion, while also revealing the boundary of the evaluation.</a:t>
            </a:r>
          </a:p>
        </p:txBody>
      </p:sp>
      <p:sp>
        <p:nvSpPr>
          <p:cNvPr id="5" name="Rectangle 4">
            <a:extLst xmlns:a="http://schemas.openxmlformats.org/drawingml/2006/main">
              <a:ext uri="{FF2B5EF4-FFF2-40B4-BE49-F238E27FC236}">
                <a16:creationId xmlns:a16="http://schemas.microsoft.com/office/drawing/2014/main" id="{180C4BCD-C26C-45BA-BD35-FA5D76112BC1}"/>
              </a:ext>
            </a:extLst>
          </p:cNvPr>
          <p:cNvSpPr>
            <a:spLocks xmlns:a="http://schemas.openxmlformats.org/drawingml/2006/main" noGrp="1"/>
          </p:cNvSpPr>
          <p:nvPr/>
        </p:nvSpPr>
        <p:spPr>
          <a:xfrm xmlns:a="http://schemas.openxmlformats.org/drawingml/2006/main">
            <a:off x="762000" y="17907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2ED9A4"/>
                </a:solidFill>
                <a:latin typeface="Calibri"/>
                <a:ea typeface="Calibri"/>
                <a:cs typeface="Calibri"/>
              </a:defRPr>
            </a:pPr>
            <a:r>
              <a:rPr sz="2250" b="1">
                <a:solidFill>
                  <a:srgbClr val="2ED9A4"/>
                </a:solidFill>
                <a:latin typeface="Calibri"/>
                <a:ea typeface="Calibri"/>
                <a:cs typeface="Calibri"/>
              </a:rPr>
              <a:t>01</a:t>
            </a:r>
          </a:p>
        </p:txBody>
      </p:sp>
      <p:sp>
        <p:nvSpPr>
          <p:cNvPr id="6" name="Rectangle 5">
            <a:extLst xmlns:a="http://schemas.openxmlformats.org/drawingml/2006/main">
              <a:ext uri="{FF2B5EF4-FFF2-40B4-BE49-F238E27FC236}">
                <a16:creationId xmlns:a16="http://schemas.microsoft.com/office/drawing/2014/main" id="{B2D9515E-6DAD-4B16-B7B2-0183BF07DEC6}"/>
              </a:ext>
            </a:extLst>
          </p:cNvPr>
          <p:cNvSpPr>
            <a:spLocks xmlns:a="http://schemas.openxmlformats.org/drawingml/2006/main" noGrp="1"/>
          </p:cNvSpPr>
          <p:nvPr/>
        </p:nvSpPr>
        <p:spPr>
          <a:xfrm xmlns:a="http://schemas.openxmlformats.org/drawingml/2006/main">
            <a:off x="1447800" y="1800225"/>
            <a:ext cx="4457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F8F6FF"/>
                </a:solidFill>
                <a:latin typeface="Calibri"/>
                <a:ea typeface="Calibri"/>
                <a:cs typeface="Calibri"/>
              </a:defRPr>
            </a:pPr>
            <a:r>
              <a:rPr sz="1650" b="1">
                <a:solidFill>
                  <a:srgbClr val="F8F6FF"/>
                </a:solidFill>
                <a:latin typeface="Calibri"/>
                <a:ea typeface="Calibri"/>
                <a:cs typeface="Calibri"/>
              </a:rPr>
              <a:t>Complex workflows remained understandable</a:t>
            </a:r>
          </a:p>
        </p:txBody>
      </p:sp>
      <p:sp>
        <p:nvSpPr>
          <p:cNvPr id="7" name="Rectangle 6">
            <a:extLst xmlns:a="http://schemas.openxmlformats.org/drawingml/2006/main">
              <a:ext uri="{FF2B5EF4-FFF2-40B4-BE49-F238E27FC236}">
                <a16:creationId xmlns:a16="http://schemas.microsoft.com/office/drawing/2014/main" id="{D063A391-F4C2-4C0F-86D8-E51DF94745AC}"/>
              </a:ext>
            </a:extLst>
          </p:cNvPr>
          <p:cNvSpPr>
            <a:spLocks xmlns:a="http://schemas.openxmlformats.org/drawingml/2006/main" noGrp="1"/>
          </p:cNvSpPr>
          <p:nvPr/>
        </p:nvSpPr>
        <p:spPr>
          <a:xfrm xmlns:a="http://schemas.openxmlformats.org/drawingml/2006/main">
            <a:off x="1447800" y="2114550"/>
            <a:ext cx="4457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UAT covered recurrence, repeated reminders, occurrence status, adaptive games and reward unlocking without role confusion.</a:t>
            </a:r>
          </a:p>
        </p:txBody>
      </p:sp>
      <p:sp>
        <p:nvSpPr>
          <p:cNvPr id="8" name="Rectangle 7">
            <a:extLst xmlns:a="http://schemas.openxmlformats.org/drawingml/2006/main">
              <a:ext uri="{FF2B5EF4-FFF2-40B4-BE49-F238E27FC236}">
                <a16:creationId xmlns:a16="http://schemas.microsoft.com/office/drawing/2014/main" id="{46272455-9D0B-4A7D-B1EC-503A6B0F84B8}"/>
              </a:ext>
            </a:extLst>
          </p:cNvPr>
          <p:cNvSpPr>
            <a:spLocks xmlns:a="http://schemas.openxmlformats.org/drawingml/2006/main" noGrp="1"/>
          </p:cNvSpPr>
          <p:nvPr/>
        </p:nvSpPr>
        <p:spPr>
          <a:xfrm xmlns:a="http://schemas.openxmlformats.org/drawingml/2006/main">
            <a:off x="762000" y="30480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7C83FD"/>
                </a:solidFill>
                <a:latin typeface="Calibri"/>
                <a:ea typeface="Calibri"/>
                <a:cs typeface="Calibri"/>
              </a:defRPr>
            </a:pPr>
            <a:r>
              <a:rPr sz="2250" b="1">
                <a:solidFill>
                  <a:srgbClr val="7C83FD"/>
                </a:solidFill>
                <a:latin typeface="Calibri"/>
                <a:ea typeface="Calibri"/>
                <a:cs typeface="Calibri"/>
              </a:rPr>
              <a:t>02</a:t>
            </a:r>
          </a:p>
        </p:txBody>
      </p:sp>
      <p:sp>
        <p:nvSpPr>
          <p:cNvPr id="9" name="Rectangle 8">
            <a:extLst xmlns:a="http://schemas.openxmlformats.org/drawingml/2006/main">
              <a:ext uri="{FF2B5EF4-FFF2-40B4-BE49-F238E27FC236}">
                <a16:creationId xmlns:a16="http://schemas.microsoft.com/office/drawing/2014/main" id="{81F4E597-20B7-45FC-A33A-9157AAE1DCBD}"/>
              </a:ext>
            </a:extLst>
          </p:cNvPr>
          <p:cNvSpPr>
            <a:spLocks xmlns:a="http://schemas.openxmlformats.org/drawingml/2006/main" noGrp="1"/>
          </p:cNvSpPr>
          <p:nvPr/>
        </p:nvSpPr>
        <p:spPr>
          <a:xfrm xmlns:a="http://schemas.openxmlformats.org/drawingml/2006/main">
            <a:off x="1447800" y="3057525"/>
            <a:ext cx="4457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F8F6FF"/>
                </a:solidFill>
                <a:latin typeface="Calibri"/>
                <a:ea typeface="Calibri"/>
                <a:cs typeface="Calibri"/>
              </a:defRPr>
            </a:pPr>
            <a:r>
              <a:rPr sz="1650" b="1">
                <a:solidFill>
                  <a:srgbClr val="F8F6FF"/>
                </a:solidFill>
                <a:latin typeface="Calibri"/>
                <a:ea typeface="Calibri"/>
                <a:cs typeface="Calibri"/>
              </a:rPr>
              <a:t>Personalisation was demonstrated</a:t>
            </a:r>
          </a:p>
        </p:txBody>
      </p:sp>
      <p:sp>
        <p:nvSpPr>
          <p:cNvPr id="10" name="Rectangle 9">
            <a:extLst xmlns:a="http://schemas.openxmlformats.org/drawingml/2006/main">
              <a:ext uri="{FF2B5EF4-FFF2-40B4-BE49-F238E27FC236}">
                <a16:creationId xmlns:a16="http://schemas.microsoft.com/office/drawing/2014/main" id="{81501749-A06C-447F-82BA-E09E94BE463E}"/>
              </a:ext>
            </a:extLst>
          </p:cNvPr>
          <p:cNvSpPr>
            <a:spLocks xmlns:a="http://schemas.openxmlformats.org/drawingml/2006/main" noGrp="1"/>
          </p:cNvSpPr>
          <p:nvPr/>
        </p:nvSpPr>
        <p:spPr>
          <a:xfrm xmlns:a="http://schemas.openxmlformats.org/drawingml/2006/main">
            <a:off x="1447800" y="3371850"/>
            <a:ext cx="4457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The correct game set was selected from dementia type and stage, and each game adapted independently from recent session data.</a:t>
            </a:r>
          </a:p>
        </p:txBody>
      </p:sp>
      <p:sp>
        <p:nvSpPr>
          <p:cNvPr id="11" name="Rectangle 10">
            <a:extLst xmlns:a="http://schemas.openxmlformats.org/drawingml/2006/main">
              <a:ext uri="{FF2B5EF4-FFF2-40B4-BE49-F238E27FC236}">
                <a16:creationId xmlns:a16="http://schemas.microsoft.com/office/drawing/2014/main" id="{EE65E984-8DE4-431B-9F8E-F1362085732B}"/>
              </a:ext>
            </a:extLst>
          </p:cNvPr>
          <p:cNvSpPr>
            <a:spLocks xmlns:a="http://schemas.openxmlformats.org/drawingml/2006/main" noGrp="1"/>
          </p:cNvSpPr>
          <p:nvPr/>
        </p:nvSpPr>
        <p:spPr>
          <a:xfrm xmlns:a="http://schemas.openxmlformats.org/drawingml/2006/main">
            <a:off x="762000" y="430530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FF6B62"/>
                </a:solidFill>
                <a:latin typeface="Calibri"/>
                <a:ea typeface="Calibri"/>
                <a:cs typeface="Calibri"/>
              </a:defRPr>
            </a:pPr>
            <a:r>
              <a:rPr sz="2250" b="1">
                <a:solidFill>
                  <a:srgbClr val="FF6B62"/>
                </a:solidFill>
                <a:latin typeface="Calibri"/>
                <a:ea typeface="Calibri"/>
                <a:cs typeface="Calibri"/>
              </a:rPr>
              <a:t>03</a:t>
            </a:r>
          </a:p>
        </p:txBody>
      </p:sp>
      <p:sp>
        <p:nvSpPr>
          <p:cNvPr id="12" name="Rectangle 11">
            <a:extLst xmlns:a="http://schemas.openxmlformats.org/drawingml/2006/main">
              <a:ext uri="{FF2B5EF4-FFF2-40B4-BE49-F238E27FC236}">
                <a16:creationId xmlns:a16="http://schemas.microsoft.com/office/drawing/2014/main" id="{B23C6831-EC75-478E-B707-721C76FBABF5}"/>
              </a:ext>
            </a:extLst>
          </p:cNvPr>
          <p:cNvSpPr>
            <a:spLocks xmlns:a="http://schemas.openxmlformats.org/drawingml/2006/main" noGrp="1"/>
          </p:cNvSpPr>
          <p:nvPr/>
        </p:nvSpPr>
        <p:spPr>
          <a:xfrm xmlns:a="http://schemas.openxmlformats.org/drawingml/2006/main">
            <a:off x="1447800" y="4314825"/>
            <a:ext cx="4457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F8F6FF"/>
                </a:solidFill>
                <a:latin typeface="Calibri"/>
                <a:ea typeface="Calibri"/>
                <a:cs typeface="Calibri"/>
              </a:defRPr>
            </a:pPr>
            <a:r>
              <a:rPr sz="1650" b="1">
                <a:solidFill>
                  <a:srgbClr val="F8F6FF"/>
                </a:solidFill>
                <a:latin typeface="Calibri"/>
                <a:ea typeface="Calibri"/>
                <a:cs typeface="Calibri"/>
              </a:rPr>
              <a:t>Caregiver control stayed visible</a:t>
            </a:r>
          </a:p>
        </p:txBody>
      </p:sp>
      <p:sp>
        <p:nvSpPr>
          <p:cNvPr id="13" name="Rectangle 12">
            <a:extLst xmlns:a="http://schemas.openxmlformats.org/drawingml/2006/main">
              <a:ext uri="{FF2B5EF4-FFF2-40B4-BE49-F238E27FC236}">
                <a16:creationId xmlns:a16="http://schemas.microsoft.com/office/drawing/2014/main" id="{76E8C1E1-4143-490F-A716-6314C149109E}"/>
              </a:ext>
            </a:extLst>
          </p:cNvPr>
          <p:cNvSpPr>
            <a:spLocks xmlns:a="http://schemas.openxmlformats.org/drawingml/2006/main" noGrp="1"/>
          </p:cNvSpPr>
          <p:nvPr/>
        </p:nvSpPr>
        <p:spPr>
          <a:xfrm xmlns:a="http://schemas.openxmlformats.org/drawingml/2006/main">
            <a:off x="1447800" y="4629150"/>
            <a:ext cx="44577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Statistics, override reasons, change history, analytics and risk explanations supported accountable monitoring.</a:t>
            </a:r>
          </a:p>
        </p:txBody>
      </p:sp>
      <p:sp>
        <p:nvSpPr>
          <p:cNvPr id="14" name="Rectangle: Rounded Corners 13">
            <a:extLst xmlns:a="http://schemas.openxmlformats.org/drawingml/2006/main">
              <a:ext uri="{FF2B5EF4-FFF2-40B4-BE49-F238E27FC236}">
                <a16:creationId xmlns:a16="http://schemas.microsoft.com/office/drawing/2014/main" id="{3B0AF8E8-25D3-4AD3-8F00-00780C2D09DB}"/>
              </a:ext>
            </a:extLst>
          </p:cNvPr>
          <p:cNvSpPr>
            <a:spLocks xmlns:a="http://schemas.openxmlformats.org/drawingml/2006/main" noGrp="1"/>
          </p:cNvSpPr>
          <p:nvPr/>
        </p:nvSpPr>
        <p:spPr>
          <a:xfrm xmlns:a="http://schemas.openxmlformats.org/drawingml/2006/main">
            <a:off x="6667500" y="1809750"/>
            <a:ext cx="4476750" cy="3486150"/>
          </a:xfrm>
          <a:prstGeom xmlns:a="http://schemas.openxmlformats.org/drawingml/2006/main" prst="roundRect">
            <a:avLst>
              <a:gd name="adj" fmla="val 4372"/>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5" name="Rectangle: Rounded Corners 14">
            <a:extLst xmlns:a="http://schemas.openxmlformats.org/drawingml/2006/main">
              <a:ext uri="{FF2B5EF4-FFF2-40B4-BE49-F238E27FC236}">
                <a16:creationId xmlns:a16="http://schemas.microsoft.com/office/drawing/2014/main" id="{F7A4CFF9-9E84-435A-B642-3B3746D29941}"/>
              </a:ext>
            </a:extLst>
          </p:cNvPr>
          <p:cNvSpPr>
            <a:spLocks xmlns:a="http://schemas.openxmlformats.org/drawingml/2006/main" noGrp="1"/>
          </p:cNvSpPr>
          <p:nvPr/>
        </p:nvSpPr>
        <p:spPr>
          <a:xfrm xmlns:a="http://schemas.openxmlformats.org/drawingml/2006/main">
            <a:off x="6934200" y="2057400"/>
            <a:ext cx="2000250" cy="323850"/>
          </a:xfrm>
          <a:prstGeom xmlns:a="http://schemas.openxmlformats.org/drawingml/2006/main" prst="roundRect">
            <a:avLst>
              <a:gd name="adj" fmla="val 35294"/>
            </a:avLst>
          </a:prstGeom>
          <a:solidFill xmlns:a="http://schemas.openxmlformats.org/drawingml/2006/main">
            <a:srgbClr val="FFB020"/>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6" name="Rectangle 15">
            <a:extLst xmlns:a="http://schemas.openxmlformats.org/drawingml/2006/main">
              <a:ext uri="{FF2B5EF4-FFF2-40B4-BE49-F238E27FC236}">
                <a16:creationId xmlns:a16="http://schemas.microsoft.com/office/drawing/2014/main" id="{2F6A1032-86D7-4905-90FD-8C5619D0F32E}"/>
              </a:ext>
            </a:extLst>
          </p:cNvPr>
          <p:cNvSpPr>
            <a:spLocks xmlns:a="http://schemas.openxmlformats.org/drawingml/2006/main" noGrp="1"/>
          </p:cNvSpPr>
          <p:nvPr/>
        </p:nvSpPr>
        <p:spPr>
          <a:xfrm xmlns:a="http://schemas.openxmlformats.org/drawingml/2006/main">
            <a:off x="6934200" y="206692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01A33"/>
                </a:solidFill>
                <a:latin typeface="Calibri"/>
                <a:ea typeface="Calibri"/>
                <a:cs typeface="Calibri"/>
              </a:defRPr>
            </a:pPr>
            <a:r>
              <a:rPr sz="1125" b="1">
                <a:solidFill>
                  <a:srgbClr val="201A33"/>
                </a:solidFill>
                <a:latin typeface="Calibri"/>
                <a:ea typeface="Calibri"/>
                <a:cs typeface="Calibri"/>
              </a:rPr>
              <a:t>INTERPRET WITH CARE</a:t>
            </a:r>
          </a:p>
        </p:txBody>
      </p:sp>
      <p:sp>
        <p:nvSpPr>
          <p:cNvPr id="17" name="Rectangle 16">
            <a:extLst xmlns:a="http://schemas.openxmlformats.org/drawingml/2006/main">
              <a:ext uri="{FF2B5EF4-FFF2-40B4-BE49-F238E27FC236}">
                <a16:creationId xmlns:a16="http://schemas.microsoft.com/office/drawing/2014/main" id="{87E29256-9FA0-4AD4-BDF1-93B29B68036F}"/>
              </a:ext>
            </a:extLst>
          </p:cNvPr>
          <p:cNvSpPr>
            <a:spLocks xmlns:a="http://schemas.openxmlformats.org/drawingml/2006/main" noGrp="1"/>
          </p:cNvSpPr>
          <p:nvPr/>
        </p:nvSpPr>
        <p:spPr>
          <a:xfrm xmlns:a="http://schemas.openxmlformats.org/drawingml/2006/main">
            <a:off x="6934200" y="2686050"/>
            <a:ext cx="38862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F8F6FF"/>
                </a:solidFill>
                <a:latin typeface="Calibri"/>
                <a:ea typeface="Calibri"/>
                <a:cs typeface="Calibri"/>
              </a:defRPr>
            </a:pPr>
            <a:r>
              <a:rPr sz="1800" b="1">
                <a:solidFill>
                  <a:srgbClr val="F8F6FF"/>
                </a:solidFill>
                <a:latin typeface="Calibri"/>
                <a:ea typeface="Calibri"/>
                <a:cs typeface="Calibri"/>
              </a:rPr>
              <a:t>The usability result was strong, but the sample contained only five participants.</a:t>
            </a:r>
          </a:p>
        </p:txBody>
      </p:sp>
      <p:sp>
        <p:nvSpPr>
          <p:cNvPr id="18" name="Rectangle 17">
            <a:extLst xmlns:a="http://schemas.openxmlformats.org/drawingml/2006/main">
              <a:ext uri="{FF2B5EF4-FFF2-40B4-BE49-F238E27FC236}">
                <a16:creationId xmlns:a16="http://schemas.microsoft.com/office/drawing/2014/main" id="{85C13634-CDA6-4B8B-832E-7B914073DA55}"/>
              </a:ext>
            </a:extLst>
          </p:cNvPr>
          <p:cNvSpPr>
            <a:spLocks xmlns:a="http://schemas.openxmlformats.org/drawingml/2006/main" noGrp="1"/>
          </p:cNvSpPr>
          <p:nvPr/>
        </p:nvSpPr>
        <p:spPr>
          <a:xfrm xmlns:a="http://schemas.openxmlformats.org/drawingml/2006/main">
            <a:off x="6934200" y="3733800"/>
            <a:ext cx="38862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B8B0D4"/>
                </a:solidFill>
                <a:latin typeface="Calibri"/>
                <a:ea typeface="Calibri"/>
                <a:cs typeface="Calibri"/>
              </a:defRPr>
            </a:pPr>
            <a:r>
              <a:rPr sz="1350" b="0">
                <a:solidFill>
                  <a:srgbClr val="B8B0D4"/>
                </a:solidFill>
                <a:latin typeface="Calibri"/>
                <a:ea typeface="Calibri"/>
                <a:cs typeface="Calibri"/>
              </a:rPr>
              <a:t>The risk indicator remained a caregiver-support rule rather than a clinical diagnosis. Broader trials and professional review would be needed before making clinical claims.</a:t>
            </a:r>
          </a:p>
        </p:txBody>
      </p:sp>
      <p:sp>
        <p:nvSpPr>
          <p:cNvPr id="19" name="Rectangle 18">
            <a:extLst xmlns:a="http://schemas.openxmlformats.org/drawingml/2006/main">
              <a:ext uri="{FF2B5EF4-FFF2-40B4-BE49-F238E27FC236}">
                <a16:creationId xmlns:a16="http://schemas.microsoft.com/office/drawing/2014/main" id="{F0E0190E-0D8A-42FF-BFA6-C394619E5C56}"/>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a:solidFill>
                  <a:srgbClr val="8F87AC"/>
                </a:solidFill>
                <a:latin typeface="Calibri"/>
                <a:ea typeface="Calibri"/>
                <a:cs typeface="Calibri"/>
              </a:defRPr>
            </a:pPr>
            <a:r>
              <a:rPr sz="750" b="0">
                <a:solidFill>
                  <a:srgbClr val="8F87AC"/>
                </a:solidFill>
                <a:latin typeface="Calibri"/>
                <a:ea typeface="Calibri"/>
                <a:cs typeface="Calibri"/>
              </a:rPr>
              <a:t>Sources: Final report Chapters 7–8.</a:t>
            </a:r>
          </a:p>
        </p:txBody>
      </p:sp>
      <p:sp>
        <p:nvSpPr>
          <p:cNvPr id="20" name="Rectangle 19">
            <a:extLst xmlns:a="http://schemas.openxmlformats.org/drawingml/2006/main">
              <a:ext uri="{FF2B5EF4-FFF2-40B4-BE49-F238E27FC236}">
                <a16:creationId xmlns:a16="http://schemas.microsoft.com/office/drawing/2014/main" id="{A28DE350-EA15-4B88-8F2C-44D286750298}"/>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1">
                <a:solidFill>
                  <a:srgbClr val="B8B0D4"/>
                </a:solidFill>
                <a:latin typeface="Calibri"/>
                <a:ea typeface="Calibri"/>
                <a:cs typeface="Calibri"/>
              </a:defRPr>
            </a:pPr>
            <a:r>
              <a:rPr sz="975" b="1">
                <a:solidFill>
                  <a:srgbClr val="B8B0D4"/>
                </a:solidFill>
                <a:latin typeface="Calibri"/>
                <a:ea typeface="Calibri"/>
                <a:cs typeface="Calibri"/>
              </a:rPr>
              <a:t>19</a:t>
            </a:r>
          </a:p>
        </p:txBody>
      </p:sp>
    </p:spTree>
    <p:extLst>
      <p:ext uri="{BB962C8B-B14F-4D97-AF65-F5344CB8AC3E}">
        <p14:creationId xmlns:p14="http://schemas.microsoft.com/office/powerpoint/2010/main" val="501498063"/>
      </p:ext>
    </p:extLst>
  </p:cSld>
</p:sld>
</file>

<file path=ppt/slides/slide18.xml><?xml version="1.0" encoding="utf-8"?>
<p:sld xmlns:p="http://schemas.openxmlformats.org/presentationml/2006/main">
  <p:cSld>
    <p:bg>
      <p:bgPr>
        <a:gradFill xmlns:a="http://schemas.openxmlformats.org/drawingml/2006/main">
          <a:gsLst>
            <a:gs pos="0">
              <a:srgbClr val="120B27"/>
            </a:gs>
            <a:gs pos="52000">
              <a:srgbClr val="19112F"/>
            </a:gs>
            <a:gs pos="100000">
              <a:srgbClr val="24183F"/>
            </a:gs>
          </a:gsLst>
          <a:lin ang="8100000"/>
        </a:gradFill>
      </p:bgPr>
    </p:bg>
    <p:spTree>
      <p:nvGrpSpPr>
        <p:cNvPr id="1" name=""/>
        <p:cNvGrpSpPr/>
        <p:nvPr/>
      </p:nvGrpSpPr>
      <p:grpSpPr>
        <a:xfrm xmlns:a="http://schemas.openxmlformats.org/drawingml/2006/main"/>
      </p:grpSpPr>
      <p:sp>
        <p:nvSpPr>
          <p:cNvPr id="19" name="Rectangle 18">
            <a:extLst xmlns:a="http://schemas.openxmlformats.org/drawingml/2006/main">
              <a:ext uri="{FF2B5EF4-FFF2-40B4-BE49-F238E27FC236}">
                <a16:creationId xmlns:a16="http://schemas.microsoft.com/office/drawing/2014/main" id="{ABEB7622-80E8-B04D-01E8-F65774A5A9E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75571B89-F6CF-71EE-6334-E7399FD866F4}"/>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FF6B62"/>
                </a:solidFill>
                <a:latin typeface="Calibri"/>
                <a:ea typeface="Calibri"/>
                <a:cs typeface="Calibri"/>
              </a:defRPr>
            </a:pPr>
            <a:r>
              <a:rPr sz="1125" b="1">
                <a:solidFill>
                  <a:srgbClr val="FF6B62"/>
                </a:solidFill>
                <a:latin typeface="Calibri"/>
                <a:ea typeface="Calibri"/>
                <a:cs typeface="Calibri"/>
              </a:rPr>
              <a:t>CHAPTER 8 · CONCLUSION</a:t>
            </a:r>
          </a:p>
        </p:txBody>
      </p:sp>
      <p:sp>
        <p:nvSpPr>
          <p:cNvPr id="3" name="Rectangle 2">
            <a:extLst xmlns:a="http://schemas.openxmlformats.org/drawingml/2006/main">
              <a:ext uri="{FF2B5EF4-FFF2-40B4-BE49-F238E27FC236}">
                <a16:creationId xmlns:a16="http://schemas.microsoft.com/office/drawing/2014/main" id="{A8609BCE-E734-50B4-EC7C-610C46B9108E}"/>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F8F6FF"/>
                </a:solidFill>
                <a:latin typeface="Calibri"/>
                <a:ea typeface="Calibri"/>
                <a:cs typeface="Calibri"/>
              </a:defRPr>
            </a:pPr>
            <a:r>
              <a:rPr sz="2700" b="1">
                <a:solidFill>
                  <a:srgbClr val="F8F6FF"/>
                </a:solidFill>
                <a:latin typeface="Calibri"/>
                <a:ea typeface="Calibri"/>
                <a:cs typeface="Calibri"/>
              </a:rPr>
              <a:t>All three formal objectives were achieved</a:t>
            </a:r>
          </a:p>
        </p:txBody>
      </p:sp>
      <p:sp>
        <p:nvSpPr>
          <p:cNvPr id="4" name="Rectangle 3">
            <a:extLst xmlns:a="http://schemas.openxmlformats.org/drawingml/2006/main">
              <a:ext uri="{FF2B5EF4-FFF2-40B4-BE49-F238E27FC236}">
                <a16:creationId xmlns:a16="http://schemas.microsoft.com/office/drawing/2014/main" id="{F3F6D044-BA6F-EC8D-168B-ACD79EAA1961}"/>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B8B0D4"/>
                </a:solidFill>
                <a:latin typeface="Calibri"/>
                <a:ea typeface="Calibri"/>
                <a:cs typeface="Calibri"/>
              </a:defRPr>
            </a:pPr>
            <a:r>
              <a:rPr sz="1350" b="0">
                <a:solidFill>
                  <a:srgbClr val="B8B0D4"/>
                </a:solidFill>
                <a:latin typeface="Calibri"/>
                <a:ea typeface="Calibri"/>
                <a:cs typeface="Calibri"/>
              </a:rPr>
              <a:t>The final outcomes can be linked directly to implemented modules and measured evidence.</a:t>
            </a:r>
          </a:p>
        </p:txBody>
      </p:sp>
      <p:sp>
        <p:nvSpPr>
          <p:cNvPr id="5" name="Rectangle 4">
            <a:extLst xmlns:a="http://schemas.openxmlformats.org/drawingml/2006/main">
              <a:ext uri="{FF2B5EF4-FFF2-40B4-BE49-F238E27FC236}">
                <a16:creationId xmlns:a16="http://schemas.microsoft.com/office/drawing/2014/main" id="{9C5327E6-31ED-53DE-C1D5-E3E79D36E997}"/>
              </a:ext>
            </a:extLst>
          </p:cNvPr>
          <p:cNvSpPr>
            <a:spLocks xmlns:a="http://schemas.openxmlformats.org/drawingml/2006/main" noGrp="1"/>
          </p:cNvSpPr>
          <p:nvPr/>
        </p:nvSpPr>
        <p:spPr>
          <a:xfrm xmlns:a="http://schemas.openxmlformats.org/drawingml/2006/main">
            <a:off x="685800" y="1581149"/>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FF6B62"/>
                </a:solidFill>
                <a:latin typeface="Calibri"/>
                <a:ea typeface="Calibri"/>
                <a:cs typeface="Calibri"/>
              </a:defRPr>
            </a:pPr>
            <a:r>
              <a:rPr sz="1050" b="1">
                <a:solidFill>
                  <a:srgbClr val="FF6B62"/>
                </a:solidFill>
                <a:latin typeface="Calibri"/>
                <a:ea typeface="Calibri"/>
                <a:cs typeface="Calibri"/>
              </a:rPr>
              <a:t>OBJECTIVE 1</a:t>
            </a:r>
          </a:p>
        </p:txBody>
      </p:sp>
      <p:sp>
        <p:nvSpPr>
          <p:cNvPr id="6" name="Rectangle 5">
            <a:extLst xmlns:a="http://schemas.openxmlformats.org/drawingml/2006/main">
              <a:ext uri="{FF2B5EF4-FFF2-40B4-BE49-F238E27FC236}">
                <a16:creationId xmlns:a16="http://schemas.microsoft.com/office/drawing/2014/main" id="{F6D7A0F4-FE28-97A4-E30A-E2F5F076DBDA}"/>
              </a:ext>
            </a:extLst>
          </p:cNvPr>
          <p:cNvSpPr>
            <a:spLocks xmlns:a="http://schemas.openxmlformats.org/drawingml/2006/main" noGrp="1"/>
          </p:cNvSpPr>
          <p:nvPr/>
        </p:nvSpPr>
        <p:spPr>
          <a:xfrm xmlns:a="http://schemas.openxmlformats.org/drawingml/2006/main">
            <a:off x="685800" y="1847850"/>
            <a:ext cx="92964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F8F6FF"/>
                </a:solidFill>
                <a:latin typeface="Calibri"/>
                <a:ea typeface="Calibri"/>
                <a:cs typeface="Calibri"/>
              </a:defRPr>
            </a:pPr>
            <a:r>
              <a:rPr b="1"/>
              <a:t>To design and implement a mobile-based application for dementia patients and caregivers that integrates daily task and medication management, cognitive exercises, gamified features, and real-time patient activity monitoring to support patient engagement, routine adherence, and caregiver coordination.</a:t>
            </a:r>
            <a:endParaRPr b="1"/>
          </a:p>
          <a:p xmlns:a="http://schemas.openxmlformats.org/drawingml/2006/main">
            <a:pPr algn="l">
              <a:buNone/>
              <a:defRPr sz="1800" b="1">
                <a:solidFill>
                  <a:srgbClr val="F8F6FF"/>
                </a:solidFill>
                <a:latin typeface="Calibri"/>
                <a:ea typeface="Calibri"/>
                <a:cs typeface="Calibri"/>
              </a:defRPr>
            </a:pPr>
            <a:endParaRPr sz="1800" b="1">
              <a:solidFill>
                <a:srgbClr val="F8F6FF"/>
              </a:solidFill>
              <a:latin typeface="Calibri"/>
              <a:ea typeface="Calibri"/>
              <a:cs typeface="Calibri"/>
            </a:endParaRPr>
          </a:p>
        </p:txBody>
      </p:sp>
      <p:sp>
        <p:nvSpPr>
          <p:cNvPr id="7" name="Rectangle 6">
            <a:extLst xmlns:a="http://schemas.openxmlformats.org/drawingml/2006/main">
              <a:ext uri="{FF2B5EF4-FFF2-40B4-BE49-F238E27FC236}">
                <a16:creationId xmlns:a16="http://schemas.microsoft.com/office/drawing/2014/main" id="{0437970C-DAF1-E669-BAB1-7113EE8B6D9E}"/>
              </a:ext>
            </a:extLst>
          </p:cNvPr>
          <p:cNvSpPr>
            <a:spLocks xmlns:a="http://schemas.openxmlformats.org/drawingml/2006/main" noGrp="1"/>
          </p:cNvSpPr>
          <p:nvPr/>
        </p:nvSpPr>
        <p:spPr>
          <a:xfrm xmlns:a="http://schemas.openxmlformats.org/drawingml/2006/main">
            <a:off x="9804400" y="1771650"/>
            <a:ext cx="38100" cy="1000125"/>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6A6FFDEC-E7B0-779F-E04D-8510283112DA}"/>
              </a:ext>
            </a:extLst>
          </p:cNvPr>
          <p:cNvSpPr>
            <a:spLocks xmlns:a="http://schemas.openxmlformats.org/drawingml/2006/main" noGrp="1"/>
          </p:cNvSpPr>
          <p:nvPr/>
        </p:nvSpPr>
        <p:spPr>
          <a:xfrm xmlns:a="http://schemas.openxmlformats.org/drawingml/2006/main">
            <a:off x="685800" y="3114675"/>
            <a:ext cx="657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B8B0D4"/>
                </a:solidFill>
                <a:latin typeface="Calibri"/>
                <a:ea typeface="Calibri"/>
                <a:cs typeface="Calibri"/>
              </a:defRPr>
            </a:pPr>
            <a:r>
              <a:rPr sz="1350" b="0">
                <a:solidFill>
                  <a:srgbClr val="E7E4F0"/>
                </a:solidFill>
                <a:latin typeface="Calibri"/>
                <a:ea typeface="Calibri"/>
                <a:cs typeface="Calibri"/>
              </a:rPr>
              <a:t>Achieved through patient management, recurring task and medication schedules, repeated reminders, role-specific dashboards, status tracking, analytics and rewards.</a:t>
            </a:r>
          </a:p>
        </p:txBody>
      </p:sp>
      <p:sp>
        <p:nvSpPr>
          <p:cNvPr id="9" name="Rectangle 8">
            <a:extLst xmlns:a="http://schemas.openxmlformats.org/drawingml/2006/main">
              <a:ext uri="{FF2B5EF4-FFF2-40B4-BE49-F238E27FC236}">
                <a16:creationId xmlns:a16="http://schemas.microsoft.com/office/drawing/2014/main" id="{D1D546AA-005B-B063-2C54-06596C57CE67}"/>
              </a:ext>
            </a:extLst>
          </p:cNvPr>
          <p:cNvSpPr>
            <a:spLocks xmlns:a="http://schemas.openxmlformats.org/drawingml/2006/main" noGrp="1"/>
          </p:cNvSpPr>
          <p:nvPr/>
        </p:nvSpPr>
        <p:spPr>
          <a:xfrm xmlns:a="http://schemas.openxmlformats.org/drawingml/2006/main">
            <a:off x="685800" y="37528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2ED9A4"/>
                </a:solidFill>
                <a:latin typeface="Calibri"/>
                <a:ea typeface="Calibri"/>
                <a:cs typeface="Calibri"/>
              </a:defRPr>
            </a:pPr>
            <a:r>
              <a:rPr sz="1050" b="1">
                <a:solidFill>
                  <a:srgbClr val="2ED9A4"/>
                </a:solidFill>
                <a:latin typeface="Calibri"/>
                <a:ea typeface="Calibri"/>
                <a:cs typeface="Calibri"/>
              </a:rPr>
              <a:t>OBJECTIVE 2</a:t>
            </a:r>
          </a:p>
        </p:txBody>
      </p:sp>
      <p:sp>
        <p:nvSpPr>
          <p:cNvPr id="11" name="Rectangle 10">
            <a:extLst xmlns:a="http://schemas.openxmlformats.org/drawingml/2006/main">
              <a:ext uri="{FF2B5EF4-FFF2-40B4-BE49-F238E27FC236}">
                <a16:creationId xmlns:a16="http://schemas.microsoft.com/office/drawing/2014/main" id="{769F8B1C-F15E-534D-ABD4-D4935462E5AE}"/>
              </a:ext>
            </a:extLst>
          </p:cNvPr>
          <p:cNvSpPr>
            <a:spLocks xmlns:a="http://schemas.openxmlformats.org/drawingml/2006/main" noGrp="1"/>
          </p:cNvSpPr>
          <p:nvPr/>
        </p:nvSpPr>
        <p:spPr>
          <a:xfrm xmlns:a="http://schemas.openxmlformats.org/drawingml/2006/main">
            <a:off x="9798050" y="3986212"/>
            <a:ext cx="38100" cy="1000125"/>
          </a:xfrm>
          <a:prstGeom xmlns:a="http://schemas.openxmlformats.org/drawingml/2006/main" prst="rect">
            <a:avLst/>
          </a:prstGeom>
          <a:solidFill xmlns:a="http://schemas.openxmlformats.org/drawingml/2006/main">
            <a:srgbClr val="2ED9A4"/>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E96703BA-E13A-8707-0325-51A2A6A0E873}"/>
              </a:ext>
            </a:extLst>
          </p:cNvPr>
          <p:cNvSpPr>
            <a:spLocks xmlns:a="http://schemas.openxmlformats.org/drawingml/2006/main" noGrp="1"/>
          </p:cNvSpPr>
          <p:nvPr/>
        </p:nvSpPr>
        <p:spPr>
          <a:xfrm xmlns:a="http://schemas.openxmlformats.org/drawingml/2006/main">
            <a:off x="685800" y="5000625"/>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B8B0D4"/>
                </a:solidFill>
                <a:latin typeface="Calibri"/>
                <a:ea typeface="Calibri"/>
                <a:cs typeface="Calibri"/>
              </a:defRPr>
            </a:pPr>
            <a:r>
              <a:rPr sz="1350" b="0">
                <a:solidFill>
                  <a:srgbClr val="E7E4F0"/>
                </a:solidFill>
                <a:latin typeface="Calibri"/>
                <a:ea typeface="Calibri"/>
                <a:cs typeface="Calibri"/>
              </a:rPr>
              <a:t>Achieved through 34 passed UAT cases and an average SUS score of 91.0, which exceeded the target of 85.</a:t>
            </a:r>
          </a:p>
        </p:txBody>
      </p:sp>
      <p:sp>
        <p:nvSpPr>
          <p:cNvPr id="17" name="Rectangle 16">
            <a:extLst xmlns:a="http://schemas.openxmlformats.org/drawingml/2006/main">
              <a:ext uri="{FF2B5EF4-FFF2-40B4-BE49-F238E27FC236}">
                <a16:creationId xmlns:a16="http://schemas.microsoft.com/office/drawing/2014/main" id="{E277FC28-6C2D-9D71-358F-BB25B170E836}"/>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a:solidFill>
                  <a:srgbClr val="8F87AC"/>
                </a:solidFill>
                <a:latin typeface="Calibri"/>
                <a:ea typeface="Calibri"/>
                <a:cs typeface="Calibri"/>
              </a:defRPr>
            </a:pPr>
            <a:r>
              <a:rPr sz="750" b="0">
                <a:solidFill>
                  <a:srgbClr val="8F87AC"/>
                </a:solidFill>
                <a:latin typeface="Calibri"/>
                <a:ea typeface="Calibri"/>
                <a:cs typeface="Calibri"/>
              </a:rPr>
              <a:t>Sources: Final report Objectives (pp. 25–26), Chapter 7 and Section 8.2.</a:t>
            </a:r>
          </a:p>
        </p:txBody>
      </p:sp>
      <p:sp>
        <p:nvSpPr>
          <p:cNvPr id="18" name="Rectangle 17">
            <a:extLst xmlns:a="http://schemas.openxmlformats.org/drawingml/2006/main">
              <a:ext uri="{FF2B5EF4-FFF2-40B4-BE49-F238E27FC236}">
                <a16:creationId xmlns:a16="http://schemas.microsoft.com/office/drawing/2014/main" id="{58C9FFCF-5476-D72D-16A3-CB7DA4E349B9}"/>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1">
                <a:solidFill>
                  <a:srgbClr val="B8B0D4"/>
                </a:solidFill>
                <a:latin typeface="Calibri"/>
                <a:ea typeface="Calibri"/>
                <a:cs typeface="Calibri"/>
              </a:defRPr>
            </a:pPr>
            <a:r>
              <a:rPr sz="975" b="1">
                <a:solidFill>
                  <a:srgbClr val="B8B0D4"/>
                </a:solidFill>
                <a:latin typeface="Calibri"/>
                <a:ea typeface="Calibri"/>
                <a:cs typeface="Calibri"/>
              </a:rPr>
              <a:t>20</a:t>
            </a:r>
          </a:p>
        </p:txBody>
      </p:sp>
      <p:sp>
        <p:nvSpPr>
          <p:cNvPr id="21" name="Rectangle 20">
            <a:extLst xmlns:a="http://schemas.openxmlformats.org/drawingml/2006/main">
              <a:ext uri="{FF2B5EF4-FFF2-40B4-BE49-F238E27FC236}">
                <a16:creationId xmlns:a16="http://schemas.microsoft.com/office/drawing/2014/main" id="{74C029D8-AAE7-A457-708C-41763381E34D}"/>
              </a:ext>
            </a:extLst>
          </p:cNvPr>
          <p:cNvSpPr>
            <a:spLocks xmlns:a="http://schemas.openxmlformats.org/drawingml/2006/main" noGrp="1"/>
          </p:cNvSpPr>
          <p:nvPr/>
        </p:nvSpPr>
        <p:spPr>
          <a:xfrm xmlns:a="http://schemas.openxmlformats.org/drawingml/2006/main">
            <a:off x="685800" y="4005262"/>
            <a:ext cx="8794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F8F6FF"/>
                </a:solidFill>
                <a:latin typeface="Calibri"/>
                <a:ea typeface="Calibri"/>
                <a:cs typeface="Calibri"/>
              </a:defRPr>
            </a:pPr>
            <a:r>
              <a:rPr b="1"/>
              <a:t>To assess usability and user acceptance for the developed mobile application using User Acceptance Testing (UAT) along with the System Usability Scale (SUS), with a target usability score of at least 85%.</a:t>
            </a:r>
            <a:endParaRPr sz="1800" b="1">
              <a:solidFill>
                <a:srgbClr val="F8F6FF"/>
              </a:solidFill>
              <a:latin typeface="Calibri"/>
              <a:ea typeface="Calibri"/>
              <a:cs typeface="Calibri"/>
            </a:endParaRPr>
          </a:p>
        </p:txBody>
      </p:sp>
    </p:spTree>
    <p:extLst>
      <p:ext uri="{BB962C8B-B14F-4D97-AF65-F5344CB8AC3E}">
        <p14:creationId xmlns:p14="http://schemas.microsoft.com/office/powerpoint/2010/main" val="2858175117"/>
      </p:ext>
    </p:extLst>
  </p:cSld>
</p:sld>
</file>

<file path=ppt/slides/slide19.xml><?xml version="1.0" encoding="utf-8"?>
<p:sld xmlns:p="http://schemas.openxmlformats.org/presentationml/2006/main">
  <p:cSld>
    <p:bg>
      <p:bgPr>
        <a:gradFill xmlns:a="http://schemas.openxmlformats.org/drawingml/2006/main">
          <a:gsLst>
            <a:gs pos="0">
              <a:srgbClr val="120B27"/>
            </a:gs>
            <a:gs pos="52000">
              <a:srgbClr val="19112F"/>
            </a:gs>
            <a:gs pos="100000">
              <a:srgbClr val="24183F"/>
            </a:gs>
          </a:gsLst>
          <a:lin ang="8100000"/>
        </a:gradFill>
      </p:bgPr>
    </p:bg>
    <p:spTree>
      <p:nvGrpSpPr>
        <p:cNvPr id="1" name=""/>
        <p:cNvGrpSpPr/>
        <p:nvPr/>
      </p:nvGrpSpPr>
      <p:grpSpPr>
        <a:xfrm xmlns:a="http://schemas.openxmlformats.org/drawingml/2006/main"/>
      </p:grpSpPr>
      <p:sp>
        <p:nvSpPr>
          <p:cNvPr id="19" name="Rectangle 18">
            <a:extLst xmlns:a="http://schemas.openxmlformats.org/drawingml/2006/main">
              <a:ext uri="{FF2B5EF4-FFF2-40B4-BE49-F238E27FC236}">
                <a16:creationId xmlns:a16="http://schemas.microsoft.com/office/drawing/2014/main" id="{6897F8AD-906F-4401-9F64-721005A0433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96C1C4CB-28DE-4319-992E-9BE5C6CCEC6E}"/>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FF6B62"/>
                </a:solidFill>
                <a:latin typeface="Calibri"/>
                <a:ea typeface="Calibri"/>
                <a:cs typeface="Calibri"/>
              </a:defRPr>
            </a:pPr>
            <a:r>
              <a:rPr sz="1125" b="1">
                <a:solidFill>
                  <a:srgbClr val="FF6B62"/>
                </a:solidFill>
                <a:latin typeface="Calibri"/>
                <a:ea typeface="Calibri"/>
                <a:cs typeface="Calibri"/>
              </a:rPr>
              <a:t>CHAPTER 8 · CONCLUSION</a:t>
            </a:r>
          </a:p>
        </p:txBody>
      </p:sp>
      <p:sp>
        <p:nvSpPr>
          <p:cNvPr id="3" name="Rectangle 2">
            <a:extLst xmlns:a="http://schemas.openxmlformats.org/drawingml/2006/main">
              <a:ext uri="{FF2B5EF4-FFF2-40B4-BE49-F238E27FC236}">
                <a16:creationId xmlns:a16="http://schemas.microsoft.com/office/drawing/2014/main" id="{3556B4FD-7058-4E14-91A5-A8BE9BB7CEC2}"/>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F8F6FF"/>
                </a:solidFill>
                <a:latin typeface="Calibri"/>
                <a:ea typeface="Calibri"/>
                <a:cs typeface="Calibri"/>
              </a:defRPr>
            </a:pPr>
            <a:r>
              <a:rPr sz="2700" b="1">
                <a:solidFill>
                  <a:srgbClr val="F8F6FF"/>
                </a:solidFill>
                <a:latin typeface="Calibri"/>
                <a:ea typeface="Calibri"/>
                <a:cs typeface="Calibri"/>
              </a:rPr>
              <a:t>All three formal objectives were achieved</a:t>
            </a:r>
          </a:p>
        </p:txBody>
      </p:sp>
      <p:sp>
        <p:nvSpPr>
          <p:cNvPr id="4" name="Rectangle 3">
            <a:extLst xmlns:a="http://schemas.openxmlformats.org/drawingml/2006/main">
              <a:ext uri="{FF2B5EF4-FFF2-40B4-BE49-F238E27FC236}">
                <a16:creationId xmlns:a16="http://schemas.microsoft.com/office/drawing/2014/main" id="{115EA0CF-9544-4B52-8A91-8D8A4CE63D3E}"/>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B8B0D4"/>
                </a:solidFill>
                <a:latin typeface="Calibri"/>
                <a:ea typeface="Calibri"/>
                <a:cs typeface="Calibri"/>
              </a:defRPr>
            </a:pPr>
            <a:r>
              <a:rPr sz="1350" b="0">
                <a:solidFill>
                  <a:srgbClr val="B8B0D4"/>
                </a:solidFill>
                <a:latin typeface="Calibri"/>
                <a:ea typeface="Calibri"/>
                <a:cs typeface="Calibri"/>
              </a:rPr>
              <a:t>The final outcomes can be linked directly to implemented modules and measured evidence.</a:t>
            </a:r>
          </a:p>
        </p:txBody>
      </p:sp>
      <p:sp>
        <p:nvSpPr>
          <p:cNvPr id="7" name="Rectangle 6">
            <a:extLst xmlns:a="http://schemas.openxmlformats.org/drawingml/2006/main">
              <a:ext uri="{FF2B5EF4-FFF2-40B4-BE49-F238E27FC236}">
                <a16:creationId xmlns:a16="http://schemas.microsoft.com/office/drawing/2014/main" id="{C1307092-4C5C-45ED-B4BA-574AC55825AD}"/>
              </a:ext>
            </a:extLst>
          </p:cNvPr>
          <p:cNvSpPr>
            <a:spLocks xmlns:a="http://schemas.openxmlformats.org/drawingml/2006/main" noGrp="1"/>
          </p:cNvSpPr>
          <p:nvPr/>
        </p:nvSpPr>
        <p:spPr>
          <a:xfrm xmlns:a="http://schemas.openxmlformats.org/drawingml/2006/main">
            <a:off x="9817099" y="1919286"/>
            <a:ext cx="45719" cy="1128713"/>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475C722F-41C2-43BE-9C2C-9B5302AC485E}"/>
              </a:ext>
            </a:extLst>
          </p:cNvPr>
          <p:cNvSpPr>
            <a:spLocks xmlns:a="http://schemas.openxmlformats.org/drawingml/2006/main" noGrp="1"/>
          </p:cNvSpPr>
          <p:nvPr/>
        </p:nvSpPr>
        <p:spPr>
          <a:xfrm xmlns:a="http://schemas.openxmlformats.org/drawingml/2006/main">
            <a:off x="552450" y="160972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FF6B62"/>
                </a:solidFill>
                <a:latin typeface="Calibri"/>
                <a:ea typeface="Calibri"/>
                <a:cs typeface="Calibri"/>
              </a:defRPr>
            </a:pPr>
            <a:r>
              <a:rPr sz="1050" b="1">
                <a:solidFill>
                  <a:srgbClr val="FF6B62"/>
                </a:solidFill>
                <a:latin typeface="Calibri"/>
                <a:ea typeface="Calibri"/>
                <a:cs typeface="Calibri"/>
              </a:rPr>
              <a:t>OBJECTIVE 3</a:t>
            </a:r>
          </a:p>
        </p:txBody>
      </p:sp>
      <p:sp>
        <p:nvSpPr>
          <p:cNvPr id="14" name="Rectangle 13">
            <a:extLst xmlns:a="http://schemas.openxmlformats.org/drawingml/2006/main">
              <a:ext uri="{FF2B5EF4-FFF2-40B4-BE49-F238E27FC236}">
                <a16:creationId xmlns:a16="http://schemas.microsoft.com/office/drawing/2014/main" id="{124DE8CD-A5C0-47B6-90C8-28FFAEC4DA8D}"/>
              </a:ext>
            </a:extLst>
          </p:cNvPr>
          <p:cNvSpPr>
            <a:spLocks xmlns:a="http://schemas.openxmlformats.org/drawingml/2006/main" noGrp="1"/>
          </p:cNvSpPr>
          <p:nvPr/>
        </p:nvSpPr>
        <p:spPr>
          <a:xfrm xmlns:a="http://schemas.openxmlformats.org/drawingml/2006/main">
            <a:off x="533400" y="1854993"/>
            <a:ext cx="8769350" cy="11287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F8F6FF"/>
                </a:solidFill>
                <a:latin typeface="Calibri"/>
                <a:ea typeface="Calibri"/>
                <a:cs typeface="Calibri"/>
              </a:defRPr>
            </a:pPr>
            <a:r>
              <a:rPr sz="1800" b="1">
                <a:solidFill>
                  <a:srgbClr val="F8F6FF"/>
                </a:solidFill>
                <a:latin typeface="Calibri"/>
                <a:ea typeface="Calibri"/>
                <a:cs typeface="Calibri"/>
              </a:rPr>
              <a:t>To develop and technically validate a personalized adaptive cognitive exercise module that assigns games according to dementia type and stage, automatically adjusts each game’s difficulty based on the patient’s recent performance, and enables caregiver review and override to maintain an appropriate and achievable level of challenge.</a:t>
            </a:r>
            <a:endParaRPr sz="1800" b="1">
              <a:solidFill>
                <a:srgbClr val="F8F6FF"/>
              </a:solidFill>
              <a:latin typeface="Calibri"/>
              <a:ea typeface="Calibri"/>
              <a:cs typeface="Calibri"/>
            </a:endParaRPr>
          </a:p>
        </p:txBody>
      </p:sp>
      <p:sp>
        <p:nvSpPr>
          <p:cNvPr id="16" name="Rectangle 15">
            <a:extLst xmlns:a="http://schemas.openxmlformats.org/drawingml/2006/main">
              <a:ext uri="{FF2B5EF4-FFF2-40B4-BE49-F238E27FC236}">
                <a16:creationId xmlns:a16="http://schemas.microsoft.com/office/drawing/2014/main" id="{5503A4E6-2BB8-421B-A034-4A0C90D5BFED}"/>
              </a:ext>
            </a:extLst>
          </p:cNvPr>
          <p:cNvSpPr>
            <a:spLocks xmlns:a="http://schemas.openxmlformats.org/drawingml/2006/main" noGrp="1"/>
          </p:cNvSpPr>
          <p:nvPr/>
        </p:nvSpPr>
        <p:spPr>
          <a:xfrm xmlns:a="http://schemas.openxmlformats.org/drawingml/2006/main">
            <a:off x="533400" y="3281364"/>
            <a:ext cx="657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B8B0D4"/>
                </a:solidFill>
                <a:latin typeface="Calibri"/>
                <a:ea typeface="Calibri"/>
                <a:cs typeface="Calibri"/>
              </a:defRPr>
            </a:pPr>
            <a:r>
              <a:rPr sz="1350" b="0">
                <a:solidFill>
                  <a:srgbClr val="B8B0D4"/>
                </a:solidFill>
                <a:latin typeface="Calibri"/>
                <a:ea typeface="Calibri"/>
                <a:cs typeface="Calibri"/>
              </a:rPr>
              <a:t>Achieved through four dementia type-and-stage game sets, per-game automatic difficulty, caregiver override, freeze/resume and difficulty history.</a:t>
            </a:r>
          </a:p>
        </p:txBody>
      </p:sp>
      <p:sp>
        <p:nvSpPr>
          <p:cNvPr id="17" name="Rectangle 16">
            <a:extLst xmlns:a="http://schemas.openxmlformats.org/drawingml/2006/main">
              <a:ext uri="{FF2B5EF4-FFF2-40B4-BE49-F238E27FC236}">
                <a16:creationId xmlns:a16="http://schemas.microsoft.com/office/drawing/2014/main" id="{52A17CED-7F41-4F9E-84A2-D152B70B9FD7}"/>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a:solidFill>
                  <a:srgbClr val="8F87AC"/>
                </a:solidFill>
                <a:latin typeface="Calibri"/>
                <a:ea typeface="Calibri"/>
                <a:cs typeface="Calibri"/>
              </a:defRPr>
            </a:pPr>
            <a:r>
              <a:rPr sz="750" b="0">
                <a:solidFill>
                  <a:srgbClr val="8F87AC"/>
                </a:solidFill>
                <a:latin typeface="Calibri"/>
                <a:ea typeface="Calibri"/>
                <a:cs typeface="Calibri"/>
              </a:rPr>
              <a:t>Sources: Final report Objectives (pp. 25–26), Chapter 7 and Section 8.2.</a:t>
            </a:r>
          </a:p>
        </p:txBody>
      </p:sp>
      <p:sp>
        <p:nvSpPr>
          <p:cNvPr id="18" name="Rectangle 17">
            <a:extLst xmlns:a="http://schemas.openxmlformats.org/drawingml/2006/main">
              <a:ext uri="{FF2B5EF4-FFF2-40B4-BE49-F238E27FC236}">
                <a16:creationId xmlns:a16="http://schemas.microsoft.com/office/drawing/2014/main" id="{5D2A6613-2573-46AE-A2A2-D3B62DE9F830}"/>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1">
                <a:solidFill>
                  <a:srgbClr val="B8B0D4"/>
                </a:solidFill>
                <a:latin typeface="Calibri"/>
                <a:ea typeface="Calibri"/>
                <a:cs typeface="Calibri"/>
              </a:defRPr>
            </a:pPr>
            <a:r>
              <a:rPr sz="975" b="1">
                <a:solidFill>
                  <a:srgbClr val="B8B0D4"/>
                </a:solidFill>
                <a:latin typeface="Calibri"/>
                <a:ea typeface="Calibri"/>
                <a:cs typeface="Calibri"/>
              </a:rPr>
              <a:t>20</a:t>
            </a:r>
          </a:p>
        </p:txBody>
      </p:sp>
    </p:spTree>
    <p:extLst>
      <p:ext uri="{BB962C8B-B14F-4D97-AF65-F5344CB8AC3E}">
        <p14:creationId xmlns:p14="http://schemas.microsoft.com/office/powerpoint/2010/main" val="529261914"/>
      </p:ext>
    </p:extLst>
  </p:cSld>
</p:sld>
</file>

<file path=ppt/slides/slide20.xml><?xml version="1.0" encoding="utf-8"?>
<p:sld xmlns:p="http://schemas.openxmlformats.org/presentationml/2006/main">
  <p:cSld>
    <p:bg>
      <p:bgPr>
        <a:gradFill xmlns:a="http://schemas.openxmlformats.org/drawingml/2006/main">
          <a:gsLst>
            <a:gs pos="0">
              <a:srgbClr val="120B27"/>
            </a:gs>
            <a:gs pos="52000">
              <a:srgbClr val="19112F"/>
            </a:gs>
            <a:gs pos="100000">
              <a:srgbClr val="24183F"/>
            </a:gs>
          </a:gsLst>
          <a:lin ang="8100000"/>
        </a:gradFill>
      </p:bgPr>
    </p:bg>
    <p:spTree>
      <p:nvGrpSpPr>
        <p:cNvPr id="1" name=""/>
        <p:cNvGrpSpPr/>
        <p:nvPr/>
      </p:nvGrpSpPr>
      <p:grpSpPr>
        <a:xfrm xmlns:a="http://schemas.openxmlformats.org/drawingml/2006/main"/>
      </p:grpSpPr>
      <p:sp>
        <p:nvSpPr>
          <p:cNvPr id="33" name="Rectangle 32">
            <a:extLst xmlns:a="http://schemas.openxmlformats.org/drawingml/2006/main">
              <a:ext uri="{FF2B5EF4-FFF2-40B4-BE49-F238E27FC236}">
                <a16:creationId xmlns:a16="http://schemas.microsoft.com/office/drawing/2014/main" id="{89F30555-2ADB-4400-8D3A-FFA38066E77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E45EB5F4-C555-44AB-8A1B-F518D60055EB}"/>
              </a:ext>
            </a:extLst>
          </p:cNvPr>
          <p:cNvSpPr>
            <a:spLocks xmlns:a="http://schemas.openxmlformats.org/drawingml/2006/main" noGrp="1"/>
          </p:cNvSpPr>
          <p:nvPr/>
        </p:nvSpPr>
        <p:spPr>
          <a:xfrm xmlns:a="http://schemas.openxmlformats.org/drawingml/2006/main">
            <a:off x="533400" y="323850"/>
            <a:ext cx="257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125" b="1">
                <a:solidFill>
                  <a:srgbClr val="FF6B62"/>
                </a:solidFill>
                <a:latin typeface="Calibri"/>
                <a:ea typeface="Calibri"/>
                <a:cs typeface="Calibri"/>
              </a:defRPr>
            </a:pPr>
            <a:r>
              <a:rPr sz="1125" b="1">
                <a:solidFill>
                  <a:srgbClr val="FF6B62"/>
                </a:solidFill>
                <a:latin typeface="Calibri"/>
                <a:ea typeface="Calibri"/>
                <a:cs typeface="Calibri"/>
              </a:rPr>
              <a:t>CHAPTER 8 · FUTURE WORK</a:t>
            </a:r>
          </a:p>
        </p:txBody>
      </p:sp>
      <p:sp>
        <p:nvSpPr>
          <p:cNvPr id="3" name="Rectangle 2">
            <a:extLst xmlns:a="http://schemas.openxmlformats.org/drawingml/2006/main">
              <a:ext uri="{FF2B5EF4-FFF2-40B4-BE49-F238E27FC236}">
                <a16:creationId xmlns:a16="http://schemas.microsoft.com/office/drawing/2014/main" id="{0542FB3D-CD37-448D-831A-9398447854AC}"/>
              </a:ext>
            </a:extLst>
          </p:cNvPr>
          <p:cNvSpPr>
            <a:spLocks xmlns:a="http://schemas.openxmlformats.org/drawingml/2006/main" noGrp="1"/>
          </p:cNvSpPr>
          <p:nvPr/>
        </p:nvSpPr>
        <p:spPr>
          <a:xfrm xmlns:a="http://schemas.openxmlformats.org/drawingml/2006/main">
            <a:off x="533400" y="61912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F8F6FF"/>
                </a:solidFill>
                <a:latin typeface="Calibri"/>
                <a:ea typeface="Calibri"/>
                <a:cs typeface="Calibri"/>
              </a:defRPr>
            </a:pPr>
            <a:r>
              <a:rPr sz="2700" b="1">
                <a:solidFill>
                  <a:srgbClr val="F8F6FF"/>
                </a:solidFill>
                <a:latin typeface="Calibri"/>
                <a:ea typeface="Calibri"/>
                <a:cs typeface="Calibri"/>
              </a:rPr>
              <a:t>The next stage is reliability, reach and clinical validation</a:t>
            </a:r>
          </a:p>
        </p:txBody>
      </p:sp>
      <p:sp>
        <p:nvSpPr>
          <p:cNvPr id="4" name="Rectangle 3">
            <a:extLst xmlns:a="http://schemas.openxmlformats.org/drawingml/2006/main">
              <a:ext uri="{FF2B5EF4-FFF2-40B4-BE49-F238E27FC236}">
                <a16:creationId xmlns:a16="http://schemas.microsoft.com/office/drawing/2014/main" id="{0FFC2E08-6371-46C4-BD03-CADD931EEAFB}"/>
              </a:ext>
            </a:extLst>
          </p:cNvPr>
          <p:cNvSpPr>
            <a:spLocks xmlns:a="http://schemas.openxmlformats.org/drawingml/2006/main" noGrp="1"/>
          </p:cNvSpPr>
          <p:nvPr/>
        </p:nvSpPr>
        <p:spPr>
          <a:xfrm xmlns:a="http://schemas.openxmlformats.org/drawingml/2006/main">
            <a:off x="552450" y="11430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B8B0D4"/>
                </a:solidFill>
                <a:latin typeface="Calibri"/>
                <a:ea typeface="Calibri"/>
                <a:cs typeface="Calibri"/>
              </a:defRPr>
            </a:pPr>
            <a:r>
              <a:rPr sz="1350" b="0">
                <a:solidFill>
                  <a:srgbClr val="B8B0D4"/>
                </a:solidFill>
                <a:latin typeface="Calibri"/>
                <a:ea typeface="Calibri"/>
                <a:cs typeface="Calibri"/>
              </a:rPr>
              <a:t>Future work should strengthen the platform without expanding beyond its role as a support tool.</a:t>
            </a:r>
          </a:p>
        </p:txBody>
      </p:sp>
      <p:sp>
        <p:nvSpPr>
          <p:cNvPr id="5" name="Rectangle 4">
            <a:extLst xmlns:a="http://schemas.openxmlformats.org/drawingml/2006/main">
              <a:ext uri="{FF2B5EF4-FFF2-40B4-BE49-F238E27FC236}">
                <a16:creationId xmlns:a16="http://schemas.microsoft.com/office/drawing/2014/main" id="{A7DD8EC0-9393-4E83-98EC-0516F56ACDFC}"/>
              </a:ext>
            </a:extLst>
          </p:cNvPr>
          <p:cNvSpPr>
            <a:spLocks xmlns:a="http://schemas.openxmlformats.org/drawingml/2006/main" noGrp="1"/>
          </p:cNvSpPr>
          <p:nvPr/>
        </p:nvSpPr>
        <p:spPr>
          <a:xfrm xmlns:a="http://schemas.openxmlformats.org/drawingml/2006/main">
            <a:off x="666750" y="18097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FF6B62"/>
                </a:solidFill>
                <a:latin typeface="Calibri"/>
                <a:ea typeface="Calibri"/>
                <a:cs typeface="Calibri"/>
              </a:defRPr>
            </a:pPr>
            <a:r>
              <a:rPr sz="1650" b="1">
                <a:solidFill>
                  <a:srgbClr val="FF6B62"/>
                </a:solidFill>
                <a:latin typeface="Calibri"/>
                <a:ea typeface="Calibri"/>
                <a:cs typeface="Calibri"/>
              </a:rPr>
              <a:t>01</a:t>
            </a:r>
          </a:p>
        </p:txBody>
      </p:sp>
      <p:sp>
        <p:nvSpPr>
          <p:cNvPr id="6" name="Rectangle 5">
            <a:extLst xmlns:a="http://schemas.openxmlformats.org/drawingml/2006/main">
              <a:ext uri="{FF2B5EF4-FFF2-40B4-BE49-F238E27FC236}">
                <a16:creationId xmlns:a16="http://schemas.microsoft.com/office/drawing/2014/main" id="{393D6576-747B-41A6-BC6A-FAF15F66E429}"/>
              </a:ext>
            </a:extLst>
          </p:cNvPr>
          <p:cNvSpPr>
            <a:spLocks xmlns:a="http://schemas.openxmlformats.org/drawingml/2006/main" noGrp="1"/>
          </p:cNvSpPr>
          <p:nvPr/>
        </p:nvSpPr>
        <p:spPr>
          <a:xfrm xmlns:a="http://schemas.openxmlformats.org/drawingml/2006/main">
            <a:off x="1219200" y="18097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F8F6FF"/>
                </a:solidFill>
                <a:latin typeface="Calibri"/>
                <a:ea typeface="Calibri"/>
                <a:cs typeface="Calibri"/>
              </a:defRPr>
            </a:pPr>
            <a:r>
              <a:rPr sz="1650" b="1">
                <a:solidFill>
                  <a:srgbClr val="F8F6FF"/>
                </a:solidFill>
                <a:latin typeface="Calibri"/>
                <a:ea typeface="Calibri"/>
                <a:cs typeface="Calibri"/>
              </a:rPr>
              <a:t>Offline-first routines</a:t>
            </a:r>
          </a:p>
        </p:txBody>
      </p:sp>
      <p:sp>
        <p:nvSpPr>
          <p:cNvPr id="7" name="Rectangle 6">
            <a:extLst xmlns:a="http://schemas.openxmlformats.org/drawingml/2006/main">
              <a:ext uri="{FF2B5EF4-FFF2-40B4-BE49-F238E27FC236}">
                <a16:creationId xmlns:a16="http://schemas.microsoft.com/office/drawing/2014/main" id="{706E13AB-1BF9-4CA6-BDE7-E3FEA82F6E50}"/>
              </a:ext>
            </a:extLst>
          </p:cNvPr>
          <p:cNvSpPr>
            <a:spLocks xmlns:a="http://schemas.openxmlformats.org/drawingml/2006/main" noGrp="1"/>
          </p:cNvSpPr>
          <p:nvPr/>
        </p:nvSpPr>
        <p:spPr>
          <a:xfrm xmlns:a="http://schemas.openxmlformats.org/drawingml/2006/main">
            <a:off x="1219200" y="22669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B8B0D4"/>
                </a:solidFill>
                <a:latin typeface="Calibri"/>
                <a:ea typeface="Calibri"/>
                <a:cs typeface="Calibri"/>
              </a:defRPr>
            </a:pPr>
            <a:r>
              <a:rPr sz="1275" b="0">
                <a:solidFill>
                  <a:srgbClr val="E7E4F0"/>
                </a:solidFill>
                <a:latin typeface="Calibri"/>
                <a:ea typeface="Calibri"/>
                <a:cs typeface="Calibri"/>
              </a:rPr>
              <a:t>Cache task lists and </a:t>
            </a:r>
            <a:r>
              <a:rPr sz="1275" b="0">
                <a:solidFill>
                  <a:srgbClr val="E7E4F0"/>
                </a:solidFill>
                <a:latin typeface="Calibri"/>
                <a:ea typeface="Calibri"/>
                <a:cs typeface="Calibri"/>
              </a:rPr>
              <a:t>synchronise</a:t>
            </a:r>
            <a:r>
              <a:rPr sz="1275" b="0">
                <a:solidFill>
                  <a:srgbClr val="E7E4F0"/>
                </a:solidFill>
                <a:latin typeface="Calibri"/>
                <a:ea typeface="Calibri"/>
                <a:cs typeface="Calibri"/>
              </a:rPr>
              <a:t> safely after connectivity returns.</a:t>
            </a:r>
          </a:p>
        </p:txBody>
      </p:sp>
      <p:sp>
        <p:nvSpPr>
          <p:cNvPr id="8" name="Rectangle 7">
            <a:extLst xmlns:a="http://schemas.openxmlformats.org/drawingml/2006/main">
              <a:ext uri="{FF2B5EF4-FFF2-40B4-BE49-F238E27FC236}">
                <a16:creationId xmlns:a16="http://schemas.microsoft.com/office/drawing/2014/main" id="{F2D9C993-30F5-4521-A2BE-08CC61E58D48}"/>
              </a:ext>
            </a:extLst>
          </p:cNvPr>
          <p:cNvSpPr>
            <a:spLocks xmlns:a="http://schemas.openxmlformats.org/drawingml/2006/main" noGrp="1"/>
          </p:cNvSpPr>
          <p:nvPr/>
        </p:nvSpPr>
        <p:spPr>
          <a:xfrm xmlns:a="http://schemas.openxmlformats.org/drawingml/2006/main">
            <a:off x="1219200" y="3181350"/>
            <a:ext cx="2647950" cy="28575"/>
          </a:xfrm>
          <a:prstGeom xmlns:a="http://schemas.openxmlformats.org/drawingml/2006/main" prst="rect">
            <a:avLst/>
          </a:prstGeom>
          <a:solidFill xmlns:a="http://schemas.openxmlformats.org/drawingml/2006/main">
            <a:srgbClr val="3A3160"/>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5826A5D2-1408-403E-ADA2-D79E37947721}"/>
              </a:ext>
            </a:extLst>
          </p:cNvPr>
          <p:cNvSpPr>
            <a:spLocks xmlns:a="http://schemas.openxmlformats.org/drawingml/2006/main" noGrp="1"/>
          </p:cNvSpPr>
          <p:nvPr/>
        </p:nvSpPr>
        <p:spPr>
          <a:xfrm xmlns:a="http://schemas.openxmlformats.org/drawingml/2006/main">
            <a:off x="4457700" y="18097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FF6B62"/>
                </a:solidFill>
                <a:latin typeface="Calibri"/>
                <a:ea typeface="Calibri"/>
                <a:cs typeface="Calibri"/>
              </a:defRPr>
            </a:pPr>
            <a:r>
              <a:rPr sz="1650" b="1">
                <a:solidFill>
                  <a:srgbClr val="FF6B62"/>
                </a:solidFill>
                <a:latin typeface="Calibri"/>
                <a:ea typeface="Calibri"/>
                <a:cs typeface="Calibri"/>
              </a:rPr>
              <a:t>02</a:t>
            </a:r>
          </a:p>
        </p:txBody>
      </p:sp>
      <p:sp>
        <p:nvSpPr>
          <p:cNvPr id="10" name="Rectangle 9">
            <a:extLst xmlns:a="http://schemas.openxmlformats.org/drawingml/2006/main">
              <a:ext uri="{FF2B5EF4-FFF2-40B4-BE49-F238E27FC236}">
                <a16:creationId xmlns:a16="http://schemas.microsoft.com/office/drawing/2014/main" id="{BA021A6C-8C2B-4E0B-A4BA-2BA89122AB80}"/>
              </a:ext>
            </a:extLst>
          </p:cNvPr>
          <p:cNvSpPr>
            <a:spLocks xmlns:a="http://schemas.openxmlformats.org/drawingml/2006/main" noGrp="1"/>
          </p:cNvSpPr>
          <p:nvPr/>
        </p:nvSpPr>
        <p:spPr>
          <a:xfrm xmlns:a="http://schemas.openxmlformats.org/drawingml/2006/main">
            <a:off x="5010150" y="18097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F8F6FF"/>
                </a:solidFill>
                <a:latin typeface="Calibri"/>
                <a:ea typeface="Calibri"/>
                <a:cs typeface="Calibri"/>
              </a:defRPr>
            </a:pPr>
            <a:r>
              <a:rPr sz="1650" b="1">
                <a:solidFill>
                  <a:srgbClr val="F8F6FF"/>
                </a:solidFill>
                <a:latin typeface="Calibri"/>
                <a:ea typeface="Calibri"/>
                <a:cs typeface="Calibri"/>
              </a:rPr>
              <a:t>Broader access</a:t>
            </a:r>
          </a:p>
        </p:txBody>
      </p:sp>
      <p:sp>
        <p:nvSpPr>
          <p:cNvPr id="11" name="Rectangle 10">
            <a:extLst xmlns:a="http://schemas.openxmlformats.org/drawingml/2006/main">
              <a:ext uri="{FF2B5EF4-FFF2-40B4-BE49-F238E27FC236}">
                <a16:creationId xmlns:a16="http://schemas.microsoft.com/office/drawing/2014/main" id="{1D0269CC-DCB5-4F7B-8073-904916F1D065}"/>
              </a:ext>
            </a:extLst>
          </p:cNvPr>
          <p:cNvSpPr>
            <a:spLocks xmlns:a="http://schemas.openxmlformats.org/drawingml/2006/main" noGrp="1"/>
          </p:cNvSpPr>
          <p:nvPr/>
        </p:nvSpPr>
        <p:spPr>
          <a:xfrm xmlns:a="http://schemas.openxmlformats.org/drawingml/2006/main">
            <a:off x="5010150" y="22669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B8B0D4"/>
                </a:solidFill>
                <a:latin typeface="Calibri"/>
                <a:ea typeface="Calibri"/>
                <a:cs typeface="Calibri"/>
              </a:defRPr>
            </a:pPr>
            <a:r>
              <a:rPr sz="1275" b="0">
                <a:solidFill>
                  <a:srgbClr val="E7E4F0"/>
                </a:solidFill>
                <a:latin typeface="Calibri"/>
                <a:ea typeface="Calibri"/>
                <a:cs typeface="Calibri"/>
              </a:rPr>
              <a:t>Add iOS support, multilingual interfaces, voice and text-to-speech reminders.</a:t>
            </a:r>
          </a:p>
        </p:txBody>
      </p:sp>
      <p:sp>
        <p:nvSpPr>
          <p:cNvPr id="12" name="Rectangle 11">
            <a:extLst xmlns:a="http://schemas.openxmlformats.org/drawingml/2006/main">
              <a:ext uri="{FF2B5EF4-FFF2-40B4-BE49-F238E27FC236}">
                <a16:creationId xmlns:a16="http://schemas.microsoft.com/office/drawing/2014/main" id="{3ADFD9C7-88D9-4864-B5AD-167816F8243B}"/>
              </a:ext>
            </a:extLst>
          </p:cNvPr>
          <p:cNvSpPr>
            <a:spLocks xmlns:a="http://schemas.openxmlformats.org/drawingml/2006/main" noGrp="1"/>
          </p:cNvSpPr>
          <p:nvPr/>
        </p:nvSpPr>
        <p:spPr>
          <a:xfrm xmlns:a="http://schemas.openxmlformats.org/drawingml/2006/main">
            <a:off x="5010150" y="3181350"/>
            <a:ext cx="2647950" cy="28575"/>
          </a:xfrm>
          <a:prstGeom xmlns:a="http://schemas.openxmlformats.org/drawingml/2006/main" prst="rect">
            <a:avLst/>
          </a:prstGeom>
          <a:solidFill xmlns:a="http://schemas.openxmlformats.org/drawingml/2006/main">
            <a:srgbClr val="3A3160"/>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14B1193C-B132-4B1D-B215-0F29039A6B81}"/>
              </a:ext>
            </a:extLst>
          </p:cNvPr>
          <p:cNvSpPr>
            <a:spLocks xmlns:a="http://schemas.openxmlformats.org/drawingml/2006/main" noGrp="1"/>
          </p:cNvSpPr>
          <p:nvPr/>
        </p:nvSpPr>
        <p:spPr>
          <a:xfrm xmlns:a="http://schemas.openxmlformats.org/drawingml/2006/main">
            <a:off x="8248650" y="18097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FF6B62"/>
                </a:solidFill>
                <a:latin typeface="Calibri"/>
                <a:ea typeface="Calibri"/>
                <a:cs typeface="Calibri"/>
              </a:defRPr>
            </a:pPr>
            <a:r>
              <a:rPr sz="1650" b="1">
                <a:solidFill>
                  <a:srgbClr val="FF6B62"/>
                </a:solidFill>
                <a:latin typeface="Calibri"/>
                <a:ea typeface="Calibri"/>
                <a:cs typeface="Calibri"/>
              </a:rPr>
              <a:t>03</a:t>
            </a:r>
          </a:p>
        </p:txBody>
      </p:sp>
      <p:sp>
        <p:nvSpPr>
          <p:cNvPr id="14" name="Rectangle 13">
            <a:extLst xmlns:a="http://schemas.openxmlformats.org/drawingml/2006/main">
              <a:ext uri="{FF2B5EF4-FFF2-40B4-BE49-F238E27FC236}">
                <a16:creationId xmlns:a16="http://schemas.microsoft.com/office/drawing/2014/main" id="{CDE77D54-067C-4322-95DA-D5E5E5BFDEBB}"/>
              </a:ext>
            </a:extLst>
          </p:cNvPr>
          <p:cNvSpPr>
            <a:spLocks xmlns:a="http://schemas.openxmlformats.org/drawingml/2006/main" noGrp="1"/>
          </p:cNvSpPr>
          <p:nvPr/>
        </p:nvSpPr>
        <p:spPr>
          <a:xfrm xmlns:a="http://schemas.openxmlformats.org/drawingml/2006/main">
            <a:off x="8801100" y="18097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F8F6FF"/>
                </a:solidFill>
                <a:latin typeface="Calibri"/>
                <a:ea typeface="Calibri"/>
                <a:cs typeface="Calibri"/>
              </a:defRPr>
            </a:pPr>
            <a:r>
              <a:rPr sz="1650" b="1">
                <a:solidFill>
                  <a:srgbClr val="F8F6FF"/>
                </a:solidFill>
                <a:latin typeface="Calibri"/>
                <a:ea typeface="Calibri"/>
                <a:cs typeface="Calibri"/>
              </a:rPr>
              <a:t>Personal media</a:t>
            </a:r>
          </a:p>
        </p:txBody>
      </p:sp>
      <p:sp>
        <p:nvSpPr>
          <p:cNvPr id="15" name="Rectangle 14">
            <a:extLst xmlns:a="http://schemas.openxmlformats.org/drawingml/2006/main">
              <a:ext uri="{FF2B5EF4-FFF2-40B4-BE49-F238E27FC236}">
                <a16:creationId xmlns:a16="http://schemas.microsoft.com/office/drawing/2014/main" id="{633BBEBC-0C11-4118-B7DF-0179238A3DEF}"/>
              </a:ext>
            </a:extLst>
          </p:cNvPr>
          <p:cNvSpPr>
            <a:spLocks xmlns:a="http://schemas.openxmlformats.org/drawingml/2006/main" noGrp="1"/>
          </p:cNvSpPr>
          <p:nvPr/>
        </p:nvSpPr>
        <p:spPr>
          <a:xfrm xmlns:a="http://schemas.openxmlformats.org/drawingml/2006/main">
            <a:off x="8801100" y="22669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B8B0D4"/>
                </a:solidFill>
                <a:latin typeface="Calibri"/>
                <a:ea typeface="Calibri"/>
                <a:cs typeface="Calibri"/>
              </a:defRPr>
            </a:pPr>
            <a:r>
              <a:rPr sz="1275" b="0">
                <a:solidFill>
                  <a:srgbClr val="E7E4F0"/>
                </a:solidFill>
                <a:latin typeface="Calibri"/>
                <a:ea typeface="Calibri"/>
                <a:cs typeface="Calibri"/>
              </a:rPr>
              <a:t>Allow familiar photos and sounds in recognition activities.</a:t>
            </a:r>
          </a:p>
        </p:txBody>
      </p:sp>
      <p:sp>
        <p:nvSpPr>
          <p:cNvPr id="16" name="Rectangle 15">
            <a:extLst xmlns:a="http://schemas.openxmlformats.org/drawingml/2006/main">
              <a:ext uri="{FF2B5EF4-FFF2-40B4-BE49-F238E27FC236}">
                <a16:creationId xmlns:a16="http://schemas.microsoft.com/office/drawing/2014/main" id="{7290EC3E-6EB0-443B-82BC-D8FF5A388D9C}"/>
              </a:ext>
            </a:extLst>
          </p:cNvPr>
          <p:cNvSpPr>
            <a:spLocks xmlns:a="http://schemas.openxmlformats.org/drawingml/2006/main" noGrp="1"/>
          </p:cNvSpPr>
          <p:nvPr/>
        </p:nvSpPr>
        <p:spPr>
          <a:xfrm xmlns:a="http://schemas.openxmlformats.org/drawingml/2006/main">
            <a:off x="8801100" y="3181350"/>
            <a:ext cx="2647950" cy="28575"/>
          </a:xfrm>
          <a:prstGeom xmlns:a="http://schemas.openxmlformats.org/drawingml/2006/main" prst="rect">
            <a:avLst/>
          </a:prstGeom>
          <a:solidFill xmlns:a="http://schemas.openxmlformats.org/drawingml/2006/main">
            <a:srgbClr val="3A3160"/>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7" name="Rectangle 16">
            <a:extLst xmlns:a="http://schemas.openxmlformats.org/drawingml/2006/main">
              <a:ext uri="{FF2B5EF4-FFF2-40B4-BE49-F238E27FC236}">
                <a16:creationId xmlns:a16="http://schemas.microsoft.com/office/drawing/2014/main" id="{7AB9ED16-A41B-4000-B51C-271414A3223B}"/>
              </a:ext>
            </a:extLst>
          </p:cNvPr>
          <p:cNvSpPr>
            <a:spLocks xmlns:a="http://schemas.openxmlformats.org/drawingml/2006/main" noGrp="1"/>
          </p:cNvSpPr>
          <p:nvPr/>
        </p:nvSpPr>
        <p:spPr>
          <a:xfrm xmlns:a="http://schemas.openxmlformats.org/drawingml/2006/main">
            <a:off x="666750" y="36766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FF6B62"/>
                </a:solidFill>
                <a:latin typeface="Calibri"/>
                <a:ea typeface="Calibri"/>
                <a:cs typeface="Calibri"/>
              </a:defRPr>
            </a:pPr>
            <a:r>
              <a:rPr sz="1650" b="1">
                <a:solidFill>
                  <a:srgbClr val="FF6B62"/>
                </a:solidFill>
                <a:latin typeface="Calibri"/>
                <a:ea typeface="Calibri"/>
                <a:cs typeface="Calibri"/>
              </a:rPr>
              <a:t>04</a:t>
            </a:r>
          </a:p>
        </p:txBody>
      </p:sp>
      <p:sp>
        <p:nvSpPr>
          <p:cNvPr id="18" name="Rectangle 17">
            <a:extLst xmlns:a="http://schemas.openxmlformats.org/drawingml/2006/main">
              <a:ext uri="{FF2B5EF4-FFF2-40B4-BE49-F238E27FC236}">
                <a16:creationId xmlns:a16="http://schemas.microsoft.com/office/drawing/2014/main" id="{3DA0E41B-84C0-4E77-887C-65F59B122ECF}"/>
              </a:ext>
            </a:extLst>
          </p:cNvPr>
          <p:cNvSpPr>
            <a:spLocks xmlns:a="http://schemas.openxmlformats.org/drawingml/2006/main" noGrp="1"/>
          </p:cNvSpPr>
          <p:nvPr/>
        </p:nvSpPr>
        <p:spPr>
          <a:xfrm xmlns:a="http://schemas.openxmlformats.org/drawingml/2006/main">
            <a:off x="1219200" y="36766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F8F6FF"/>
                </a:solidFill>
                <a:latin typeface="Calibri"/>
                <a:ea typeface="Calibri"/>
                <a:cs typeface="Calibri"/>
              </a:defRPr>
            </a:pPr>
            <a:r>
              <a:rPr sz="1650" b="1">
                <a:solidFill>
                  <a:srgbClr val="F8F6FF"/>
                </a:solidFill>
                <a:latin typeface="Calibri"/>
                <a:ea typeface="Calibri"/>
                <a:cs typeface="Calibri"/>
              </a:rPr>
              <a:t>Owned reward games</a:t>
            </a:r>
          </a:p>
        </p:txBody>
      </p:sp>
      <p:sp>
        <p:nvSpPr>
          <p:cNvPr id="19" name="Rectangle 18">
            <a:extLst xmlns:a="http://schemas.openxmlformats.org/drawingml/2006/main">
              <a:ext uri="{FF2B5EF4-FFF2-40B4-BE49-F238E27FC236}">
                <a16:creationId xmlns:a16="http://schemas.microsoft.com/office/drawing/2014/main" id="{300F23A9-1C22-4B0F-BC89-39CEC6AAF18E}"/>
              </a:ext>
            </a:extLst>
          </p:cNvPr>
          <p:cNvSpPr>
            <a:spLocks xmlns:a="http://schemas.openxmlformats.org/drawingml/2006/main" noGrp="1"/>
          </p:cNvSpPr>
          <p:nvPr/>
        </p:nvSpPr>
        <p:spPr>
          <a:xfrm xmlns:a="http://schemas.openxmlformats.org/drawingml/2006/main">
            <a:off x="1219200" y="41338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B8B0D4"/>
                </a:solidFill>
                <a:latin typeface="Calibri"/>
                <a:ea typeface="Calibri"/>
                <a:cs typeface="Calibri"/>
              </a:defRPr>
            </a:pPr>
            <a:r>
              <a:rPr sz="1275" b="0">
                <a:solidFill>
                  <a:srgbClr val="E7E4F0"/>
                </a:solidFill>
                <a:latin typeface="Calibri"/>
                <a:ea typeface="Calibri"/>
                <a:cs typeface="Calibri"/>
              </a:rPr>
              <a:t>Reduce dependency on external WebView sites by hosting controlled content.</a:t>
            </a:r>
          </a:p>
        </p:txBody>
      </p:sp>
      <p:sp>
        <p:nvSpPr>
          <p:cNvPr id="20" name="Rectangle 19">
            <a:extLst xmlns:a="http://schemas.openxmlformats.org/drawingml/2006/main">
              <a:ext uri="{FF2B5EF4-FFF2-40B4-BE49-F238E27FC236}">
                <a16:creationId xmlns:a16="http://schemas.microsoft.com/office/drawing/2014/main" id="{85368385-1550-4463-96E0-2EC1F1D33A97}"/>
              </a:ext>
            </a:extLst>
          </p:cNvPr>
          <p:cNvSpPr>
            <a:spLocks xmlns:a="http://schemas.openxmlformats.org/drawingml/2006/main" noGrp="1"/>
          </p:cNvSpPr>
          <p:nvPr/>
        </p:nvSpPr>
        <p:spPr>
          <a:xfrm xmlns:a="http://schemas.openxmlformats.org/drawingml/2006/main">
            <a:off x="1219200" y="5048250"/>
            <a:ext cx="2647950" cy="28575"/>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1" name="Rectangle 20">
            <a:extLst xmlns:a="http://schemas.openxmlformats.org/drawingml/2006/main">
              <a:ext uri="{FF2B5EF4-FFF2-40B4-BE49-F238E27FC236}">
                <a16:creationId xmlns:a16="http://schemas.microsoft.com/office/drawing/2014/main" id="{50F0AF1B-954F-4C46-93C7-3D32D9352634}"/>
              </a:ext>
            </a:extLst>
          </p:cNvPr>
          <p:cNvSpPr>
            <a:spLocks xmlns:a="http://schemas.openxmlformats.org/drawingml/2006/main" noGrp="1"/>
          </p:cNvSpPr>
          <p:nvPr/>
        </p:nvSpPr>
        <p:spPr>
          <a:xfrm xmlns:a="http://schemas.openxmlformats.org/drawingml/2006/main">
            <a:off x="4457700" y="36766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FF6B62"/>
                </a:solidFill>
                <a:latin typeface="Calibri"/>
                <a:ea typeface="Calibri"/>
                <a:cs typeface="Calibri"/>
              </a:defRPr>
            </a:pPr>
            <a:r>
              <a:rPr sz="1650" b="1">
                <a:solidFill>
                  <a:srgbClr val="FF6B62"/>
                </a:solidFill>
                <a:latin typeface="Calibri"/>
                <a:ea typeface="Calibri"/>
                <a:cs typeface="Calibri"/>
              </a:rPr>
              <a:t>05</a:t>
            </a:r>
          </a:p>
        </p:txBody>
      </p:sp>
      <p:sp>
        <p:nvSpPr>
          <p:cNvPr id="22" name="Rectangle 21">
            <a:extLst xmlns:a="http://schemas.openxmlformats.org/drawingml/2006/main">
              <a:ext uri="{FF2B5EF4-FFF2-40B4-BE49-F238E27FC236}">
                <a16:creationId xmlns:a16="http://schemas.microsoft.com/office/drawing/2014/main" id="{3BA8A753-5885-434D-8033-D75DD9F02519}"/>
              </a:ext>
            </a:extLst>
          </p:cNvPr>
          <p:cNvSpPr>
            <a:spLocks xmlns:a="http://schemas.openxmlformats.org/drawingml/2006/main" noGrp="1"/>
          </p:cNvSpPr>
          <p:nvPr/>
        </p:nvSpPr>
        <p:spPr>
          <a:xfrm xmlns:a="http://schemas.openxmlformats.org/drawingml/2006/main">
            <a:off x="5010150" y="36766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F8F6FF"/>
                </a:solidFill>
                <a:latin typeface="Calibri"/>
                <a:ea typeface="Calibri"/>
                <a:cs typeface="Calibri"/>
              </a:defRPr>
            </a:pPr>
            <a:r>
              <a:rPr sz="1650" b="1">
                <a:solidFill>
                  <a:srgbClr val="F8F6FF"/>
                </a:solidFill>
                <a:latin typeface="Calibri"/>
                <a:ea typeface="Calibri"/>
                <a:cs typeface="Calibri"/>
              </a:rPr>
              <a:t>Clinical review</a:t>
            </a:r>
          </a:p>
        </p:txBody>
      </p:sp>
      <p:sp>
        <p:nvSpPr>
          <p:cNvPr id="23" name="Rectangle 22">
            <a:extLst xmlns:a="http://schemas.openxmlformats.org/drawingml/2006/main">
              <a:ext uri="{FF2B5EF4-FFF2-40B4-BE49-F238E27FC236}">
                <a16:creationId xmlns:a16="http://schemas.microsoft.com/office/drawing/2014/main" id="{D6B7E2A6-2E14-4C65-A3D9-7511C8956486}"/>
              </a:ext>
            </a:extLst>
          </p:cNvPr>
          <p:cNvSpPr>
            <a:spLocks xmlns:a="http://schemas.openxmlformats.org/drawingml/2006/main" noGrp="1"/>
          </p:cNvSpPr>
          <p:nvPr/>
        </p:nvSpPr>
        <p:spPr>
          <a:xfrm xmlns:a="http://schemas.openxmlformats.org/drawingml/2006/main">
            <a:off x="5010150" y="41338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B8B0D4"/>
                </a:solidFill>
                <a:latin typeface="Calibri"/>
                <a:ea typeface="Calibri"/>
                <a:cs typeface="Calibri"/>
              </a:defRPr>
            </a:pPr>
            <a:r>
              <a:rPr sz="1275" b="0">
                <a:solidFill>
                  <a:srgbClr val="E7E4F0"/>
                </a:solidFill>
                <a:latin typeface="Calibri"/>
                <a:ea typeface="Calibri"/>
                <a:cs typeface="Calibri"/>
              </a:rPr>
              <a:t>Validate game parameters and risk thresholds with healthcare professionals.</a:t>
            </a:r>
          </a:p>
        </p:txBody>
      </p:sp>
      <p:sp>
        <p:nvSpPr>
          <p:cNvPr id="24" name="Rectangle 23">
            <a:extLst xmlns:a="http://schemas.openxmlformats.org/drawingml/2006/main">
              <a:ext uri="{FF2B5EF4-FFF2-40B4-BE49-F238E27FC236}">
                <a16:creationId xmlns:a16="http://schemas.microsoft.com/office/drawing/2014/main" id="{3E63001A-653F-4DF9-AAFA-BD05ED16AFD9}"/>
              </a:ext>
            </a:extLst>
          </p:cNvPr>
          <p:cNvSpPr>
            <a:spLocks xmlns:a="http://schemas.openxmlformats.org/drawingml/2006/main" noGrp="1"/>
          </p:cNvSpPr>
          <p:nvPr/>
        </p:nvSpPr>
        <p:spPr>
          <a:xfrm xmlns:a="http://schemas.openxmlformats.org/drawingml/2006/main">
            <a:off x="5010150" y="5048250"/>
            <a:ext cx="2647950" cy="28575"/>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5" name="Rectangle 24">
            <a:extLst xmlns:a="http://schemas.openxmlformats.org/drawingml/2006/main">
              <a:ext uri="{FF2B5EF4-FFF2-40B4-BE49-F238E27FC236}">
                <a16:creationId xmlns:a16="http://schemas.microsoft.com/office/drawing/2014/main" id="{935E6D48-99ED-4648-8829-8AB01FCC4D03}"/>
              </a:ext>
            </a:extLst>
          </p:cNvPr>
          <p:cNvSpPr>
            <a:spLocks xmlns:a="http://schemas.openxmlformats.org/drawingml/2006/main" noGrp="1"/>
          </p:cNvSpPr>
          <p:nvPr/>
        </p:nvSpPr>
        <p:spPr>
          <a:xfrm xmlns:a="http://schemas.openxmlformats.org/drawingml/2006/main">
            <a:off x="8248650" y="3676650"/>
            <a:ext cx="45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FF6B62"/>
                </a:solidFill>
                <a:latin typeface="Calibri"/>
                <a:ea typeface="Calibri"/>
                <a:cs typeface="Calibri"/>
              </a:defRPr>
            </a:pPr>
            <a:r>
              <a:rPr sz="1650" b="1">
                <a:solidFill>
                  <a:srgbClr val="FF6B62"/>
                </a:solidFill>
                <a:latin typeface="Calibri"/>
                <a:ea typeface="Calibri"/>
                <a:cs typeface="Calibri"/>
              </a:rPr>
              <a:t>06</a:t>
            </a:r>
          </a:p>
        </p:txBody>
      </p:sp>
      <p:sp>
        <p:nvSpPr>
          <p:cNvPr id="26" name="Rectangle 25">
            <a:extLst xmlns:a="http://schemas.openxmlformats.org/drawingml/2006/main">
              <a:ext uri="{FF2B5EF4-FFF2-40B4-BE49-F238E27FC236}">
                <a16:creationId xmlns:a16="http://schemas.microsoft.com/office/drawing/2014/main" id="{352CCD95-39C8-4F50-AF33-9C36C4BC53E9}"/>
              </a:ext>
            </a:extLst>
          </p:cNvPr>
          <p:cNvSpPr>
            <a:spLocks xmlns:a="http://schemas.openxmlformats.org/drawingml/2006/main" noGrp="1"/>
          </p:cNvSpPr>
          <p:nvPr/>
        </p:nvSpPr>
        <p:spPr>
          <a:xfrm xmlns:a="http://schemas.openxmlformats.org/drawingml/2006/main">
            <a:off x="8801100" y="36766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F8F6FF"/>
                </a:solidFill>
                <a:latin typeface="Calibri"/>
                <a:ea typeface="Calibri"/>
                <a:cs typeface="Calibri"/>
              </a:defRPr>
            </a:pPr>
            <a:r>
              <a:rPr sz="1650" b="1">
                <a:solidFill>
                  <a:srgbClr val="F8F6FF"/>
                </a:solidFill>
                <a:latin typeface="Calibri"/>
                <a:ea typeface="Calibri"/>
                <a:cs typeface="Calibri"/>
              </a:rPr>
              <a:t>Larger evaluation</a:t>
            </a:r>
          </a:p>
        </p:txBody>
      </p:sp>
      <p:sp>
        <p:nvSpPr>
          <p:cNvPr id="27" name="Rectangle 26">
            <a:extLst xmlns:a="http://schemas.openxmlformats.org/drawingml/2006/main">
              <a:ext uri="{FF2B5EF4-FFF2-40B4-BE49-F238E27FC236}">
                <a16:creationId xmlns:a16="http://schemas.microsoft.com/office/drawing/2014/main" id="{ADBE90B2-D972-4321-A7F7-ED452C5D8FF9}"/>
              </a:ext>
            </a:extLst>
          </p:cNvPr>
          <p:cNvSpPr>
            <a:spLocks xmlns:a="http://schemas.openxmlformats.org/drawingml/2006/main" noGrp="1"/>
          </p:cNvSpPr>
          <p:nvPr/>
        </p:nvSpPr>
        <p:spPr>
          <a:xfrm xmlns:a="http://schemas.openxmlformats.org/drawingml/2006/main">
            <a:off x="8801100" y="4133850"/>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B8B0D4"/>
                </a:solidFill>
                <a:latin typeface="Calibri"/>
                <a:ea typeface="Calibri"/>
                <a:cs typeface="Calibri"/>
              </a:defRPr>
            </a:pPr>
            <a:r>
              <a:rPr sz="1275" b="0">
                <a:solidFill>
                  <a:srgbClr val="E7E4F0"/>
                </a:solidFill>
                <a:latin typeface="Calibri"/>
                <a:ea typeface="Calibri"/>
                <a:cs typeface="Calibri"/>
              </a:rPr>
              <a:t>Test with more dementia patients and caregivers over a longer period.</a:t>
            </a:r>
          </a:p>
        </p:txBody>
      </p:sp>
      <p:sp>
        <p:nvSpPr>
          <p:cNvPr id="28" name="Rectangle 27">
            <a:extLst xmlns:a="http://schemas.openxmlformats.org/drawingml/2006/main">
              <a:ext uri="{FF2B5EF4-FFF2-40B4-BE49-F238E27FC236}">
                <a16:creationId xmlns:a16="http://schemas.microsoft.com/office/drawing/2014/main" id="{FC5A2FF1-6D77-4BF9-9BFA-750618DF657F}"/>
              </a:ext>
            </a:extLst>
          </p:cNvPr>
          <p:cNvSpPr>
            <a:spLocks xmlns:a="http://schemas.openxmlformats.org/drawingml/2006/main" noGrp="1"/>
          </p:cNvSpPr>
          <p:nvPr/>
        </p:nvSpPr>
        <p:spPr>
          <a:xfrm xmlns:a="http://schemas.openxmlformats.org/drawingml/2006/main">
            <a:off x="8801100" y="5048250"/>
            <a:ext cx="2647950" cy="28575"/>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9" name="Rectangle: Rounded Corners 28">
            <a:extLst xmlns:a="http://schemas.openxmlformats.org/drawingml/2006/main">
              <a:ext uri="{FF2B5EF4-FFF2-40B4-BE49-F238E27FC236}">
                <a16:creationId xmlns:a16="http://schemas.microsoft.com/office/drawing/2014/main" id="{0E3DDF32-FD39-45ED-B2D3-C0CE42DC1670}"/>
              </a:ext>
            </a:extLst>
          </p:cNvPr>
          <p:cNvSpPr>
            <a:spLocks xmlns:a="http://schemas.openxmlformats.org/drawingml/2006/main" noGrp="1"/>
          </p:cNvSpPr>
          <p:nvPr/>
        </p:nvSpPr>
        <p:spPr>
          <a:xfrm xmlns:a="http://schemas.openxmlformats.org/drawingml/2006/main">
            <a:off x="1809750" y="5667375"/>
            <a:ext cx="8572500" cy="495300"/>
          </a:xfrm>
          <a:prstGeom xmlns:a="http://schemas.openxmlformats.org/drawingml/2006/main" prst="roundRect">
            <a:avLst>
              <a:gd name="adj" fmla="val 23077"/>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30" name="Rectangle 29">
            <a:extLst xmlns:a="http://schemas.openxmlformats.org/drawingml/2006/main">
              <a:ext uri="{FF2B5EF4-FFF2-40B4-BE49-F238E27FC236}">
                <a16:creationId xmlns:a16="http://schemas.microsoft.com/office/drawing/2014/main" id="{9B59F41E-4613-49BD-99E4-FA28B676F89D}"/>
              </a:ext>
            </a:extLst>
          </p:cNvPr>
          <p:cNvSpPr>
            <a:spLocks xmlns:a="http://schemas.openxmlformats.org/drawingml/2006/main" noGrp="1"/>
          </p:cNvSpPr>
          <p:nvPr/>
        </p:nvSpPr>
        <p:spPr>
          <a:xfrm xmlns:a="http://schemas.openxmlformats.org/drawingml/2006/main">
            <a:off x="2095500" y="5810250"/>
            <a:ext cx="800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0">
                <a:solidFill>
                  <a:srgbClr val="B8B0D4"/>
                </a:solidFill>
                <a:latin typeface="Calibri"/>
                <a:ea typeface="Calibri"/>
                <a:cs typeface="Calibri"/>
              </a:defRPr>
            </a:pPr>
            <a:r>
              <a:rPr sz="1200" b="0">
                <a:solidFill>
                  <a:srgbClr val="B8B0D4"/>
                </a:solidFill>
                <a:latin typeface="Calibri"/>
                <a:ea typeface="Calibri"/>
                <a:cs typeface="Calibri"/>
              </a:rPr>
              <a:t>Positioning: MindCare supported daily routines and caregiver decisions; it did not diagnose dementia or replace clinical judgement.</a:t>
            </a:r>
          </a:p>
        </p:txBody>
      </p:sp>
      <p:sp>
        <p:nvSpPr>
          <p:cNvPr id="31" name="Rectangle 30">
            <a:extLst xmlns:a="http://schemas.openxmlformats.org/drawingml/2006/main">
              <a:ext uri="{FF2B5EF4-FFF2-40B4-BE49-F238E27FC236}">
                <a16:creationId xmlns:a16="http://schemas.microsoft.com/office/drawing/2014/main" id="{E6EC3B38-165D-42FF-B679-3FC0D4B566CB}"/>
              </a:ext>
            </a:extLst>
          </p:cNvPr>
          <p:cNvSpPr>
            <a:spLocks xmlns:a="http://schemas.openxmlformats.org/drawingml/2006/main" noGrp="1"/>
          </p:cNvSpPr>
          <p:nvPr/>
        </p:nvSpPr>
        <p:spPr>
          <a:xfrm xmlns:a="http://schemas.openxmlformats.org/drawingml/2006/main">
            <a:off x="533400" y="6543675"/>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750" b="0">
                <a:solidFill>
                  <a:srgbClr val="8F87AC"/>
                </a:solidFill>
                <a:latin typeface="Calibri"/>
                <a:ea typeface="Calibri"/>
                <a:cs typeface="Calibri"/>
              </a:defRPr>
            </a:pPr>
            <a:r>
              <a:rPr sz="750" b="0">
                <a:solidFill>
                  <a:srgbClr val="8F87AC"/>
                </a:solidFill>
                <a:latin typeface="Calibri"/>
                <a:ea typeface="Calibri"/>
                <a:cs typeface="Calibri"/>
              </a:rPr>
              <a:t>Source: Final report Section 8.3, pp. 227–228.</a:t>
            </a:r>
          </a:p>
        </p:txBody>
      </p:sp>
      <p:sp>
        <p:nvSpPr>
          <p:cNvPr id="32" name="Rectangle 31">
            <a:extLst xmlns:a="http://schemas.openxmlformats.org/drawingml/2006/main">
              <a:ext uri="{FF2B5EF4-FFF2-40B4-BE49-F238E27FC236}">
                <a16:creationId xmlns:a16="http://schemas.microsoft.com/office/drawing/2014/main" id="{2F82FD6F-EEA1-4FFB-8EF7-6103CE8EC8CB}"/>
              </a:ext>
            </a:extLst>
          </p:cNvPr>
          <p:cNvSpPr>
            <a:spLocks xmlns:a="http://schemas.openxmlformats.org/drawingml/2006/main" noGrp="1"/>
          </p:cNvSpPr>
          <p:nvPr/>
        </p:nvSpPr>
        <p:spPr>
          <a:xfrm xmlns:a="http://schemas.openxmlformats.org/drawingml/2006/main">
            <a:off x="11277600" y="64960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975" b="1">
                <a:solidFill>
                  <a:srgbClr val="B8B0D4"/>
                </a:solidFill>
                <a:latin typeface="Calibri"/>
                <a:ea typeface="Calibri"/>
                <a:cs typeface="Calibri"/>
              </a:defRPr>
            </a:pPr>
            <a:r>
              <a:rPr sz="975" b="1">
                <a:solidFill>
                  <a:srgbClr val="B8B0D4"/>
                </a:solidFill>
                <a:latin typeface="Calibri"/>
                <a:ea typeface="Calibri"/>
                <a:cs typeface="Calibri"/>
              </a:rPr>
              <a:t>21</a:t>
            </a:r>
          </a:p>
        </p:txBody>
      </p:sp>
    </p:spTree>
    <p:extLst>
      <p:ext uri="{BB962C8B-B14F-4D97-AF65-F5344CB8AC3E}">
        <p14:creationId xmlns:p14="http://schemas.microsoft.com/office/powerpoint/2010/main" val="1479112115"/>
      </p:ext>
    </p:extLst>
  </p:cSld>
</p:sld>
</file>

<file path=ppt/slides/slide21.xml><?xml version="1.0" encoding="utf-8"?>
<p:sld xmlns:p="http://schemas.openxmlformats.org/presentationml/2006/main">
  <p:cSld>
    <p:bg>
      <p:bgPr>
        <a:gradFill xmlns:a="http://schemas.openxmlformats.org/drawingml/2006/main">
          <a:gsLst>
            <a:gs pos="0">
              <a:srgbClr val="120B27"/>
            </a:gs>
            <a:gs pos="52000">
              <a:srgbClr val="19112F"/>
            </a:gs>
            <a:gs pos="100000">
              <a:srgbClr val="24183F"/>
            </a:gs>
          </a:gsLst>
          <a:lin ang="8100000"/>
        </a:gra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6F88924B-1790-4D38-A65C-C87EEA1A918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6B62"/>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3" name="Rectangle 2">
            <a:extLst xmlns:a="http://schemas.openxmlformats.org/drawingml/2006/main">
              <a:ext uri="{FF2B5EF4-FFF2-40B4-BE49-F238E27FC236}">
                <a16:creationId xmlns:a16="http://schemas.microsoft.com/office/drawing/2014/main" id="{0AE9B20C-94BC-4939-B6C7-62CE0BEB60CF}"/>
              </a:ext>
            </a:extLst>
          </p:cNvPr>
          <p:cNvSpPr>
            <a:spLocks xmlns:a="http://schemas.openxmlformats.org/drawingml/2006/main" noGrp="1"/>
          </p:cNvSpPr>
          <p:nvPr/>
        </p:nvSpPr>
        <p:spPr>
          <a:xfrm xmlns:a="http://schemas.openxmlformats.org/drawingml/2006/main">
            <a:off x="723900" y="1047750"/>
            <a:ext cx="876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F8F6FF"/>
                </a:solidFill>
                <a:latin typeface="Calibri"/>
                <a:ea typeface="Calibri"/>
                <a:cs typeface="Calibri"/>
              </a:defRPr>
            </a:pPr>
            <a:r>
              <a:rPr sz="3600" b="1">
                <a:solidFill>
                  <a:srgbClr val="F8F6FF"/>
                </a:solidFill>
                <a:latin typeface="Calibri"/>
                <a:ea typeface="Calibri"/>
                <a:cs typeface="Calibri"/>
              </a:rPr>
              <a:t>MindCare evolved beyond reminders.</a:t>
            </a:r>
          </a:p>
        </p:txBody>
      </p:sp>
      <p:sp>
        <p:nvSpPr>
          <p:cNvPr id="4" name="Rectangle 3">
            <a:extLst xmlns:a="http://schemas.openxmlformats.org/drawingml/2006/main">
              <a:ext uri="{FF2B5EF4-FFF2-40B4-BE49-F238E27FC236}">
                <a16:creationId xmlns:a16="http://schemas.microsoft.com/office/drawing/2014/main" id="{42BF32A9-AF70-47A7-A31D-6AE3E088FCD5}"/>
              </a:ext>
            </a:extLst>
          </p:cNvPr>
          <p:cNvSpPr>
            <a:spLocks xmlns:a="http://schemas.openxmlformats.org/drawingml/2006/main" noGrp="1"/>
          </p:cNvSpPr>
          <p:nvPr/>
        </p:nvSpPr>
        <p:spPr>
          <a:xfrm xmlns:a="http://schemas.openxmlformats.org/drawingml/2006/main">
            <a:off x="742950" y="1962150"/>
            <a:ext cx="6953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FF6B62"/>
                </a:solidFill>
                <a:latin typeface="Calibri"/>
                <a:ea typeface="Calibri"/>
                <a:cs typeface="Calibri"/>
              </a:defRPr>
            </a:pPr>
            <a:r>
              <a:rPr sz="2250" b="1">
                <a:solidFill>
                  <a:srgbClr val="FF6B62"/>
                </a:solidFill>
                <a:latin typeface="Calibri"/>
                <a:ea typeface="Calibri"/>
                <a:cs typeface="Calibri"/>
              </a:rPr>
              <a:t>It connected daily assistance, adaptive cognitive engagement and caregiver insight in one accessible mobile workflow.</a:t>
            </a:r>
          </a:p>
        </p:txBody>
      </p:sp>
      <p:sp>
        <p:nvSpPr>
          <p:cNvPr id="5" name="Rectangle: Rounded Corners 4">
            <a:extLst xmlns:a="http://schemas.openxmlformats.org/drawingml/2006/main">
              <a:ext uri="{FF2B5EF4-FFF2-40B4-BE49-F238E27FC236}">
                <a16:creationId xmlns:a16="http://schemas.microsoft.com/office/drawing/2014/main" id="{878B803A-DD9D-4B2A-8D2D-532C649C0EE2}"/>
              </a:ext>
            </a:extLst>
          </p:cNvPr>
          <p:cNvSpPr>
            <a:spLocks xmlns:a="http://schemas.openxmlformats.org/drawingml/2006/main" noGrp="1"/>
          </p:cNvSpPr>
          <p:nvPr/>
        </p:nvSpPr>
        <p:spPr>
          <a:xfrm xmlns:a="http://schemas.openxmlformats.org/drawingml/2006/main">
            <a:off x="742950" y="3619500"/>
            <a:ext cx="6572250" cy="1009650"/>
          </a:xfrm>
          <a:prstGeom xmlns:a="http://schemas.openxmlformats.org/drawingml/2006/main" prst="roundRect">
            <a:avLst>
              <a:gd name="adj" fmla="val 15094"/>
            </a:avLst>
          </a:prstGeom>
          <a:solidFill xmlns:a="http://schemas.openxmlformats.org/drawingml/2006/main">
            <a:srgbClr val="2E275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51E26E0C-6F87-450C-99CF-B52A00D0E3E3}"/>
              </a:ext>
            </a:extLst>
          </p:cNvPr>
          <p:cNvSpPr>
            <a:spLocks xmlns:a="http://schemas.openxmlformats.org/drawingml/2006/main" noGrp="1"/>
          </p:cNvSpPr>
          <p:nvPr/>
        </p:nvSpPr>
        <p:spPr>
          <a:xfrm xmlns:a="http://schemas.openxmlformats.org/drawingml/2006/main">
            <a:off x="1009650" y="3876675"/>
            <a:ext cx="1847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2ED9A4"/>
                </a:solidFill>
                <a:latin typeface="Calibri"/>
                <a:ea typeface="Calibri"/>
                <a:cs typeface="Calibri"/>
              </a:defRPr>
            </a:pPr>
            <a:r>
              <a:rPr sz="1950" b="1">
                <a:solidFill>
                  <a:srgbClr val="2ED9A4"/>
                </a:solidFill>
                <a:latin typeface="Calibri"/>
                <a:ea typeface="Calibri"/>
                <a:cs typeface="Calibri"/>
              </a:rPr>
              <a:t>34 / 34 UAT</a:t>
            </a:r>
          </a:p>
        </p:txBody>
      </p:sp>
      <p:sp>
        <p:nvSpPr>
          <p:cNvPr id="7" name="Rectangle 6">
            <a:extLst xmlns:a="http://schemas.openxmlformats.org/drawingml/2006/main">
              <a:ext uri="{FF2B5EF4-FFF2-40B4-BE49-F238E27FC236}">
                <a16:creationId xmlns:a16="http://schemas.microsoft.com/office/drawing/2014/main" id="{ADB54D33-662B-4598-8BCE-253806534B0B}"/>
              </a:ext>
            </a:extLst>
          </p:cNvPr>
          <p:cNvSpPr>
            <a:spLocks xmlns:a="http://schemas.openxmlformats.org/drawingml/2006/main" noGrp="1"/>
          </p:cNvSpPr>
          <p:nvPr/>
        </p:nvSpPr>
        <p:spPr>
          <a:xfrm xmlns:a="http://schemas.openxmlformats.org/drawingml/2006/main">
            <a:off x="3105150" y="3876675"/>
            <a:ext cx="161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2ED9A4"/>
                </a:solidFill>
                <a:latin typeface="Calibri"/>
                <a:ea typeface="Calibri"/>
                <a:cs typeface="Calibri"/>
              </a:defRPr>
            </a:pPr>
            <a:r>
              <a:rPr sz="1950" b="1">
                <a:solidFill>
                  <a:srgbClr val="2ED9A4"/>
                </a:solidFill>
                <a:latin typeface="Calibri"/>
                <a:ea typeface="Calibri"/>
                <a:cs typeface="Calibri"/>
              </a:rPr>
              <a:t>91.0 SUS</a:t>
            </a:r>
          </a:p>
        </p:txBody>
      </p:sp>
      <p:sp>
        <p:nvSpPr>
          <p:cNvPr id="8" name="Rectangle 7">
            <a:extLst xmlns:a="http://schemas.openxmlformats.org/drawingml/2006/main">
              <a:ext uri="{FF2B5EF4-FFF2-40B4-BE49-F238E27FC236}">
                <a16:creationId xmlns:a16="http://schemas.microsoft.com/office/drawing/2014/main" id="{9A500C36-5DCB-48A5-8CE9-B7540C319AD1}"/>
              </a:ext>
            </a:extLst>
          </p:cNvPr>
          <p:cNvSpPr>
            <a:spLocks xmlns:a="http://schemas.openxmlformats.org/drawingml/2006/main" noGrp="1"/>
          </p:cNvSpPr>
          <p:nvPr/>
        </p:nvSpPr>
        <p:spPr>
          <a:xfrm xmlns:a="http://schemas.openxmlformats.org/drawingml/2006/main">
            <a:off x="5086350" y="387667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2ED9A4"/>
                </a:solidFill>
                <a:latin typeface="Calibri"/>
                <a:ea typeface="Calibri"/>
                <a:cs typeface="Calibri"/>
              </a:defRPr>
            </a:pPr>
            <a:r>
              <a:rPr sz="1950" b="1">
                <a:solidFill>
                  <a:srgbClr val="2ED9A4"/>
                </a:solidFill>
                <a:latin typeface="Calibri"/>
                <a:ea typeface="Calibri"/>
                <a:cs typeface="Calibri"/>
              </a:rPr>
              <a:t>33 FRs</a:t>
            </a:r>
          </a:p>
        </p:txBody>
      </p:sp>
      <p:sp>
        <p:nvSpPr>
          <p:cNvPr id="9" name="Rectangle 8">
            <a:extLst xmlns:a="http://schemas.openxmlformats.org/drawingml/2006/main">
              <a:ext uri="{FF2B5EF4-FFF2-40B4-BE49-F238E27FC236}">
                <a16:creationId xmlns:a16="http://schemas.microsoft.com/office/drawing/2014/main" id="{B6E1FC51-E4C8-406B-B790-46CE4CE82E91}"/>
              </a:ext>
            </a:extLst>
          </p:cNvPr>
          <p:cNvSpPr>
            <a:spLocks xmlns:a="http://schemas.openxmlformats.org/drawingml/2006/main" noGrp="1"/>
          </p:cNvSpPr>
          <p:nvPr/>
        </p:nvSpPr>
        <p:spPr>
          <a:xfrm xmlns:a="http://schemas.openxmlformats.org/drawingml/2006/main">
            <a:off x="742950" y="5505450"/>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1">
                <a:solidFill>
                  <a:srgbClr val="F8F6FF"/>
                </a:solidFill>
                <a:latin typeface="Calibri"/>
                <a:ea typeface="Calibri"/>
                <a:cs typeface="Calibri"/>
              </a:defRPr>
            </a:pPr>
            <a:r>
              <a:rPr sz="2850" b="1">
                <a:solidFill>
                  <a:srgbClr val="F8F6FF"/>
                </a:solidFill>
                <a:latin typeface="Calibri"/>
                <a:ea typeface="Calibri"/>
                <a:cs typeface="Calibri"/>
              </a:rPr>
              <a:t>Thank you</a:t>
            </a:r>
          </a:p>
        </p:txBody>
      </p:sp>
      <p:sp>
        <p:nvSpPr>
          <p:cNvPr id="10" name="Rectangle 9">
            <a:extLst xmlns:a="http://schemas.openxmlformats.org/drawingml/2006/main">
              <a:ext uri="{FF2B5EF4-FFF2-40B4-BE49-F238E27FC236}">
                <a16:creationId xmlns:a16="http://schemas.microsoft.com/office/drawing/2014/main" id="{5BAA61FD-EEBC-4439-9552-C38BBEF53A76}"/>
              </a:ext>
            </a:extLst>
          </p:cNvPr>
          <p:cNvSpPr>
            <a:spLocks xmlns:a="http://schemas.openxmlformats.org/drawingml/2006/main" noGrp="1"/>
          </p:cNvSpPr>
          <p:nvPr/>
        </p:nvSpPr>
        <p:spPr>
          <a:xfrm xmlns:a="http://schemas.openxmlformats.org/drawingml/2006/main">
            <a:off x="762000" y="60388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B8B0D4"/>
                </a:solidFill>
                <a:latin typeface="Calibri"/>
                <a:ea typeface="Calibri"/>
                <a:cs typeface="Calibri"/>
              </a:defRPr>
            </a:pPr>
            <a:r>
              <a:rPr sz="1425" b="0">
                <a:solidFill>
                  <a:srgbClr val="B8B0D4"/>
                </a:solidFill>
                <a:latin typeface="Calibri"/>
                <a:ea typeface="Calibri"/>
                <a:cs typeface="Calibri"/>
              </a:rPr>
              <a:t>Demonstration &amp; </a:t>
            </a:r>
            <a:r>
              <a:rPr sz="1425" b="0">
                <a:solidFill>
                  <a:srgbClr val="B8B0D4"/>
                </a:solidFill>
                <a:latin typeface="Calibri"/>
                <a:ea typeface="Calibri"/>
                <a:cs typeface="Calibri"/>
              </a:rPr>
              <a:t>Questions &amp; Discussion</a:t>
            </a:r>
          </a:p>
        </p:txBody>
      </p:sp>
      <p:sp>
        <p:nvSpPr>
          <p:cNvPr id="11" name="Rectangle: Rounded Corners 10">
            <a:extLst xmlns:a="http://schemas.openxmlformats.org/drawingml/2006/main">
              <a:ext uri="{FF2B5EF4-FFF2-40B4-BE49-F238E27FC236}">
                <a16:creationId xmlns:a16="http://schemas.microsoft.com/office/drawing/2014/main" id="{4EB0B826-F3BB-4B65-9149-3718DF4821EC}"/>
              </a:ext>
            </a:extLst>
          </p:cNvPr>
          <p:cNvSpPr>
            <a:spLocks xmlns:a="http://schemas.openxmlformats.org/drawingml/2006/main" noGrp="1"/>
          </p:cNvSpPr>
          <p:nvPr/>
        </p:nvSpPr>
        <p:spPr>
          <a:xfrm xmlns:a="http://schemas.openxmlformats.org/drawingml/2006/main">
            <a:off x="7981950" y="1190625"/>
            <a:ext cx="3429000" cy="3810000"/>
          </a:xfrm>
          <a:prstGeom xmlns:a="http://schemas.openxmlformats.org/drawingml/2006/main" prst="roundRect">
            <a:avLst>
              <a:gd name="adj" fmla="val 4444"/>
            </a:avLst>
          </a:prstGeom>
          <a:solidFill xmlns:a="http://schemas.openxmlformats.org/drawingml/2006/main">
            <a:srgbClr val="100B22"/>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2" name="Rectangle: Rounded Corners 11">
            <a:extLst xmlns:a="http://schemas.openxmlformats.org/drawingml/2006/main">
              <a:ext uri="{FF2B5EF4-FFF2-40B4-BE49-F238E27FC236}">
                <a16:creationId xmlns:a16="http://schemas.microsoft.com/office/drawing/2014/main" id="{FE3F78AE-4A1F-480E-9D1B-3FB2CDFFAE0A}"/>
              </a:ext>
            </a:extLst>
          </p:cNvPr>
          <p:cNvSpPr>
            <a:spLocks xmlns:a="http://schemas.openxmlformats.org/drawingml/2006/main" noGrp="1"/>
          </p:cNvSpPr>
          <p:nvPr/>
        </p:nvSpPr>
        <p:spPr>
          <a:xfrm xmlns:a="http://schemas.openxmlformats.org/drawingml/2006/main">
            <a:off x="7867650" y="1057275"/>
            <a:ext cx="3505200" cy="3886200"/>
          </a:xfrm>
          <a:prstGeom xmlns:a="http://schemas.openxmlformats.org/drawingml/2006/main" prst="roundRect">
            <a:avLst>
              <a:gd name="adj" fmla="val 4348"/>
            </a:avLst>
          </a:prstGeom>
          <a:solidFill xmlns:a="http://schemas.openxmlformats.org/drawingml/2006/main">
            <a:srgbClr val="3A3160"/>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pic>
        <p:nvPicPr>
          <p:cNvPr id="27" name="Picture 25"/>
          <p:cNvPicPr>
            <a:picLocks xmlns:a="http://schemas.openxmlformats.org/drawingml/2006/main" noChangeAspect="1"/>
          </p:cNvPicPr>
          <p:nvPr/>
        </p:nvPicPr>
        <p:blipFill>
          <a:blip xmlns:r="http://schemas.openxmlformats.org/officeDocument/2006/relationships" xmlns:a="http://schemas.openxmlformats.org/drawingml/2006/main" r:embed="Rce8f1b2e021f43a2"/>
          <a:srcRect xmlns:a="http://schemas.openxmlformats.org/drawingml/2006/main" l="10969" t="0" r="10969" b="0"/>
          <a:stretch xmlns:a="http://schemas.openxmlformats.org/drawingml/2006/main">
            <a:fillRect l="0" t="0" r="0" b="0"/>
          </a:stretch>
        </p:blipFill>
        <p:spPr>
          <a:xfrm xmlns:a="http://schemas.openxmlformats.org/drawingml/2006/main">
            <a:off x="7905750" y="1095375"/>
            <a:ext cx="3429000" cy="3810000"/>
          </a:xfrm>
          <a:prstGeom xmlns:a="http://schemas.openxmlformats.org/drawingml/2006/main" prst="roundRect">
            <a:avLst>
              <a:gd name="adj" fmla="val 3333"/>
            </a:avLst>
          </a:prstGeom>
        </p:spPr>
      </p:pic>
    </p:spTree>
    <p:extLst>
      <p:ext uri="{BB962C8B-B14F-4D97-AF65-F5344CB8AC3E}">
        <p14:creationId xmlns:p14="http://schemas.microsoft.com/office/powerpoint/2010/main" val="13409088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71450" dist="60241" dir="4293903">
              <a:srgbClr val="000000">
                <a:alpha val="28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2026-09-14T16:02:04.7250000Z</dcterms:created>
  <dcterms:modified xsi:type="dcterms:W3CDTF">2026-09-14T16:02:04.7260000Z</dcterms:modified>
</coreProperties>
</file>