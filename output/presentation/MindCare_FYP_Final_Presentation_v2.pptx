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6" r:id="rId2"/>
    <p:sldId id="257" r:id="rId3"/>
    <p:sldId id="258" r:id="rId4"/>
    <p:sldId id="280" r:id="rId5"/>
    <p:sldId id="260" r:id="rId6"/>
    <p:sldId id="261" r:id="rId7"/>
    <p:sldId id="262" r:id="rId8"/>
    <p:sldId id="263" r:id="rId9"/>
    <p:sldId id="264" r:id="rId10"/>
    <p:sldId id="265" r:id="rId11"/>
    <p:sldId id="266" r:id="rId12"/>
    <p:sldId id="279" r:id="rId13"/>
    <p:sldId id="267" r:id="rId14"/>
    <p:sldId id="268" r:id="rId15"/>
    <p:sldId id="269" r:id="rId16"/>
    <p:sldId id="270" r:id="rId17"/>
    <p:sldId id="271" r:id="rId18"/>
    <p:sldId id="272" r:id="rId19"/>
    <p:sldId id="273" r:id="rId20"/>
    <p:sldId id="274" r:id="rId21"/>
    <p:sldId id="278" r:id="rId22"/>
    <p:sldId id="275" r:id="rId23"/>
    <p:sldId id="276" r:id="rId24"/>
    <p:sldId id="27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E4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725" autoAdjust="0"/>
    <p:restoredTop sz="93856" autoAdjust="0"/>
  </p:normalViewPr>
  <p:slideViewPr>
    <p:cSldViewPr snapToGrid="0">
      <p:cViewPr>
        <p:scale>
          <a:sx n="70" d="100"/>
          <a:sy n="70" d="100"/>
        </p:scale>
        <p:origin x="-14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1"/>
        <c:ser>
          <c:idx val="0"/>
          <c:order val="0"/>
          <c:tx>
            <c:v>SUS score</c:v>
          </c:tx>
          <c:spPr>
            <a:solidFill>
              <a:srgbClr val="FF6B62"/>
            </a:solidFill>
          </c:spPr>
          <c:invertIfNegative val="1"/>
          <c:dPt>
            <c:idx val="0"/>
            <c:invertIfNegative val="0"/>
            <c:bubble3D val="0"/>
            <c:spPr>
              <a:solidFill>
                <a:srgbClr val="7C83FD"/>
              </a:solidFill>
            </c:spPr>
            <c:extLst>
              <c:ext xmlns:c16="http://schemas.microsoft.com/office/drawing/2014/chart" uri="{C3380CC4-5D6E-409C-BE32-E72D297353CC}">
                <c16:uniqueId val="{00000001-4266-4A8B-8BB4-72E24822BFD2}"/>
              </c:ext>
            </c:extLst>
          </c:dPt>
          <c:dPt>
            <c:idx val="1"/>
            <c:invertIfNegative val="0"/>
            <c:bubble3D val="0"/>
            <c:extLst>
              <c:ext xmlns:c16="http://schemas.microsoft.com/office/drawing/2014/chart" uri="{C3380CC4-5D6E-409C-BE32-E72D297353CC}">
                <c16:uniqueId val="{00000003-4266-4A8B-8BB4-72E24822BFD2}"/>
              </c:ext>
            </c:extLst>
          </c:dPt>
          <c:dPt>
            <c:idx val="2"/>
            <c:invertIfNegative val="0"/>
            <c:bubble3D val="0"/>
            <c:spPr>
              <a:solidFill>
                <a:srgbClr val="2ED9A4"/>
              </a:solidFill>
            </c:spPr>
            <c:extLst>
              <c:ext xmlns:c16="http://schemas.microsoft.com/office/drawing/2014/chart" uri="{C3380CC4-5D6E-409C-BE32-E72D297353CC}">
                <c16:uniqueId val="{00000005-4266-4A8B-8BB4-72E24822BFD2}"/>
              </c:ext>
            </c:extLst>
          </c:dPt>
          <c:dPt>
            <c:idx val="3"/>
            <c:invertIfNegative val="0"/>
            <c:bubble3D val="0"/>
            <c:spPr>
              <a:solidFill>
                <a:srgbClr val="FFB020"/>
              </a:solidFill>
            </c:spPr>
            <c:extLst>
              <c:ext xmlns:c16="http://schemas.microsoft.com/office/drawing/2014/chart" uri="{C3380CC4-5D6E-409C-BE32-E72D297353CC}">
                <c16:uniqueId val="{00000007-4266-4A8B-8BB4-72E24822BFD2}"/>
              </c:ext>
            </c:extLst>
          </c:dPt>
          <c:dPt>
            <c:idx val="4"/>
            <c:invertIfNegative val="0"/>
            <c:bubble3D val="0"/>
            <c:spPr>
              <a:solidFill>
                <a:srgbClr val="56C4FF"/>
              </a:solidFill>
            </c:spPr>
            <c:extLst>
              <c:ext xmlns:c16="http://schemas.microsoft.com/office/drawing/2014/chart" uri="{C3380CC4-5D6E-409C-BE32-E72D297353CC}">
                <c16:uniqueId val="{00000009-4266-4A8B-8BB4-72E24822BFD2}"/>
              </c:ext>
            </c:extLst>
          </c:dPt>
          <c:dLbls>
            <c:spPr>
              <a:noFill/>
              <a:ln>
                <a:noFill/>
              </a:ln>
              <a:effectLst/>
            </c:spPr>
            <c:txPr>
              <a:bodyPr anchorCtr="1"/>
              <a:lstStyle/>
              <a:p>
                <a:pPr>
                  <a:defRPr sz="1050" b="1">
                    <a:solidFill>
                      <a:srgbClr val="F8F6FF"/>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User 1</c:v>
              </c:pt>
              <c:pt idx="1">
                <c:v>User 2</c:v>
              </c:pt>
              <c:pt idx="2">
                <c:v>User 3</c:v>
              </c:pt>
              <c:pt idx="3">
                <c:v>User 4</c:v>
              </c:pt>
              <c:pt idx="4">
                <c:v>User 5</c:v>
              </c:pt>
            </c:strLit>
          </c:cat>
          <c:val>
            <c:numLit>
              <c:formatCode>0.0</c:formatCode>
              <c:ptCount val="5"/>
              <c:pt idx="0">
                <c:v>87.5</c:v>
              </c:pt>
              <c:pt idx="1">
                <c:v>90</c:v>
              </c:pt>
              <c:pt idx="2">
                <c:v>92.5</c:v>
              </c:pt>
              <c:pt idx="3">
                <c:v>95</c:v>
              </c:pt>
              <c:pt idx="4">
                <c:v>90</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A-4266-4A8B-8BB4-72E24822BFD2}"/>
            </c:ext>
          </c:extLst>
        </c:ser>
        <c:dLbls>
          <c:dLblPos val="outEnd"/>
          <c:showLegendKey val="0"/>
          <c:showVal val="1"/>
          <c:showCatName val="0"/>
          <c:showSerName val="0"/>
          <c:showPercent val="0"/>
          <c:showBubbleSize val="0"/>
        </c:dLbls>
        <c:gapWidth val="48"/>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8F87AC"/>
            </a:solidFill>
            <a:prstDash val="solid"/>
          </a:ln>
        </c:spPr>
        <c:txPr>
          <a:bodyPr anchorCtr="1"/>
          <a:lstStyle/>
          <a:p>
            <a:pPr>
              <a:defRPr sz="1050">
                <a:solidFill>
                  <a:srgbClr val="B8B0D4"/>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100"/>
          <c:min val="0"/>
        </c:scaling>
        <c:delete val="0"/>
        <c:axPos val="l"/>
        <c:majorGridlines>
          <c:spPr>
            <a:ln w="9525">
              <a:solidFill>
                <a:srgbClr val="3A3160"/>
              </a:solidFill>
              <a:prstDash val="solid"/>
            </a:ln>
          </c:spPr>
        </c:majorGridlines>
        <c:numFmt formatCode="0.0" sourceLinked="1"/>
        <c:majorTickMark val="none"/>
        <c:minorTickMark val="none"/>
        <c:tickLblPos val="nextTo"/>
        <c:spPr>
          <a:ln w="0">
            <a:noFill/>
          </a:ln>
        </c:spPr>
        <c:txPr>
          <a:bodyPr anchorCtr="1"/>
          <a:lstStyle/>
          <a:p>
            <a:pPr>
              <a:defRPr sz="975">
                <a:solidFill>
                  <a:srgbClr val="B8B0D4"/>
                </a:solidFill>
                <a:latin typeface="Calibri"/>
                <a:ea typeface="Calibri"/>
                <a:cs typeface="Calibri"/>
              </a:defRPr>
            </a:pPr>
            <a:endParaRPr lang="en-US"/>
          </a:p>
        </c:txPr>
        <c:crossAx val="48650112"/>
        <c:crosses val="autoZero"/>
        <c:crossBetween val="between"/>
        <c:majorUnit val="20"/>
      </c:valAx>
      <c:spPr>
        <a:solidFill>
          <a:srgbClr val="1A1530"/>
        </a:solidFill>
        <a:ln w="0">
          <a:noFill/>
        </a:ln>
      </c:spPr>
    </c:plotArea>
    <c:plotVisOnly val="1"/>
    <c:dispBlanksAs val="zero"/>
    <c:showDLblsOverMax val="1"/>
  </c:chart>
  <c:spPr>
    <a:solidFill>
      <a:srgbClr val="1A1530"/>
    </a:solidFill>
    <a:ln w="0">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t>Project title and student details are taken from the final report cover. Interface image: Final_Proposal_2205499.pdf, Figure 6.19.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rPr dirty="0"/>
              <a:t>Source comparison: Proposal_ANGELYAPYOONYING_2205499.pdf, functional requirements on pp. 44–45; Final_Proposal_2205499.pdf, Chapters 1, 4, and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t>Problem statements compared between the earlier proposal (pp. 13–14) and the final report (pp. 21–23). The fifth problem is new in the final report.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C2D9B-3013-78DC-0D2D-5DC65F81A8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A00A6E-B485-7351-4B8A-20B6508F9432}"/>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0C26546A-C7F5-1517-23A1-3EB6EFA02A59}"/>
              </a:ext>
            </a:extLst>
          </p:cNvPr>
          <p:cNvSpPr>
            <a:spLocks noGrp="1"/>
          </p:cNvSpPr>
          <p:nvPr>
            <p:ph type="body" idx="1"/>
          </p:nvPr>
        </p:nvSpPr>
        <p:spPr/>
        <p:txBody>
          <a:bodyPr/>
          <a:lstStyle/>
          <a:p>
            <a:r>
              <a:t>Objectives and target users compared between the earlier proposal (pp. 16–17) and final report (pp. 25–27). The formal adaptive-cognition objective is new.</a:t>
            </a:r>
          </a:p>
        </p:txBody>
      </p:sp>
      <p:sp>
        <p:nvSpPr>
          <p:cNvPr id="4" name="Slide Number Placeholder 3">
            <a:extLst>
              <a:ext uri="{FF2B5EF4-FFF2-40B4-BE49-F238E27FC236}">
                <a16:creationId xmlns:a16="http://schemas.microsoft.com/office/drawing/2014/main" id="{206BE27E-C915-6B5F-206B-8D25178CC8B6}"/>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54511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t>Evidence sources are listed in Final_Proposal_2205499.pdf references: Lim &amp; Sharmeen (2018); Manera et al. (2017); Lu et al. (2021); Ortega Morán et al. (2024); Bahar-Fuchs et al. (2017); Engelsma et al. (2024); Greysen et al. (2024); Koivisto &amp; Malik (2021). Existing app observations are from final report Chapter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t>Source: Final_Proposal_2205499.pdf, Table 2.10, pp. 36–37. The table is condensed for presentation readability while preserving the report's Yes/No values.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t>Source: Final_Proposal_2205499.pdf, Chapter 3, pp. 38–40. The flow summarises the described prototyping stages.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t>Source: Final_Proposal_2205499.pdf, Work Breakdown Structure, pp. 42–47.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t>Source comparison: earlier proposal functional requirement list (9 items) and final report Table 4.1 (33 FR IDs across six modules).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rPr dirty="0"/>
              <a:t>Source: Final_Proposal_2205499.pdf, Table 4.1 and Chapter 6. The wording condenses implemented </a:t>
            </a:r>
            <a:r>
              <a:rPr dirty="0" err="1"/>
              <a:t>behaviours</a:t>
            </a:r>
            <a:r>
              <a:rPr dirty="0"/>
              <a:t> into presentation highlights.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t>User requested an editable placeholder because the updated use-case diagram will be inserted manually.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87797-6B53-1551-37F7-882A783054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725BD-44DB-53B5-6853-97311F709A9D}"/>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A965B705-D2A4-43FA-E065-6B97BCA6DECF}"/>
              </a:ext>
            </a:extLst>
          </p:cNvPr>
          <p:cNvSpPr>
            <a:spLocks noGrp="1"/>
          </p:cNvSpPr>
          <p:nvPr>
            <p:ph type="body" idx="1"/>
          </p:nvPr>
        </p:nvSpPr>
        <p:spPr/>
        <p:txBody>
          <a:bodyPr/>
          <a:lstStyle/>
          <a:p>
            <a:r>
              <a:t>User requested placeholders for Chapter 5 diagrams. Replace the left and right frames with the final system architecture and ERD images.</a:t>
            </a:r>
          </a:p>
        </p:txBody>
      </p:sp>
      <p:sp>
        <p:nvSpPr>
          <p:cNvPr id="4" name="Slide Number Placeholder 3">
            <a:extLst>
              <a:ext uri="{FF2B5EF4-FFF2-40B4-BE49-F238E27FC236}">
                <a16:creationId xmlns:a16="http://schemas.microsoft.com/office/drawing/2014/main" id="{52F0B82E-74D4-65F5-274E-113D8BD3E4C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1554126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t>User requested placeholders for Chapter 5 diagrams. Replace the left and right frames with the final system architecture and ERD images.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t>Interface images: Final_Proposal_2205499.pdf, Figures 6.6 and 6.19.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t>Source: Final_Proposal_2205499.pdf, Chapter 6. This slide is a high-level synthesis of the implemented modules.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t>User requested placeholders for Chapter 6 diagrams. Replace any or all slots with final diagrams or code screenshots.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t>Counts are based on the test IDs documented in Final_Proposal_2205499.pdf Chapter 7: 14 unit cases, 9 integration cases, 17 system scenarios, and 34 UAT cases.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t>Source: Final_Proposal_2205499.pdf, Table 7.9. All 19 caregiver UAT cases and all 15 patient UAT cases are marked PASS.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t>Source: Final_Proposal_2205499.pdf, Table 7.11. Participant SUS scores: 87.5, 90.0, 92.5, 95.0, 90.0; average 91.0; target 85.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t>Source: Final_Proposal_2205499.pdf, Chapters 7 and 8. The sample-size and non-clinical limitations are stated in Section 8.3.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7C112-A7D3-8084-53CE-46BCED325B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F385C-F410-386C-34AD-687A1981E2DB}"/>
              </a:ext>
            </a:extLst>
          </p:cNvPr>
          <p:cNvSpPr>
            <a:spLocks noGrp="1" noRot="1" noChangeAspect="1"/>
          </p:cNvSpPr>
          <p:nvPr>
            <p:ph type="sldImg"/>
          </p:nvPr>
        </p:nvSpPr>
        <p:spPr/>
        <p:txBody>
          <a:bodyPr/>
          <a:lstStyle/>
          <a:p>
            <a:endParaRPr lang="en-MY"/>
          </a:p>
        </p:txBody>
      </p:sp>
      <p:sp>
        <p:nvSpPr>
          <p:cNvPr id="3" name="Notes Placeholder 2">
            <a:extLst>
              <a:ext uri="{FF2B5EF4-FFF2-40B4-BE49-F238E27FC236}">
                <a16:creationId xmlns:a16="http://schemas.microsoft.com/office/drawing/2014/main" id="{52E9CBE0-A5A0-A26A-3605-597EB32CC5B7}"/>
              </a:ext>
            </a:extLst>
          </p:cNvPr>
          <p:cNvSpPr>
            <a:spLocks noGrp="1"/>
          </p:cNvSpPr>
          <p:nvPr>
            <p:ph type="body" idx="1"/>
          </p:nvPr>
        </p:nvSpPr>
        <p:spPr/>
        <p:txBody>
          <a:bodyPr/>
          <a:lstStyle/>
          <a:p>
            <a:r>
              <a:t>Sources: Final_Proposal_2205499.pdf, formal objectives on pp. 25–26, testing evidence in Chapter 7, and objective achievements in Section 8.2.</a:t>
            </a:r>
          </a:p>
        </p:txBody>
      </p:sp>
      <p:sp>
        <p:nvSpPr>
          <p:cNvPr id="4" name="Slide Number Placeholder 3">
            <a:extLst>
              <a:ext uri="{FF2B5EF4-FFF2-40B4-BE49-F238E27FC236}">
                <a16:creationId xmlns:a16="http://schemas.microsoft.com/office/drawing/2014/main" id="{EF7F1933-82EC-1CD1-7795-5CB726A358E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247863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t>Sources: Final_Proposal_2205499.pdf, formal objectives on pp. 25–26, testing evidence in Chapter 7, and objective achievements in Section 8.2.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t>Source: Final_Proposal_2205499.pdf, Section 8.3, pp. 227–228. The owned reward-game recommendation follows from the report's stated dependency on external WebView sites.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Y"/>
          </a:p>
        </p:txBody>
      </p:sp>
      <p:sp>
        <p:nvSpPr>
          <p:cNvPr id="3" name="Notes Placeholder 2"/>
          <p:cNvSpPr>
            <a:spLocks noGrp="1"/>
          </p:cNvSpPr>
          <p:nvPr>
            <p:ph type="body" idx="1"/>
          </p:nvPr>
        </p:nvSpPr>
        <p:spPr/>
        <p:txBody>
          <a:bodyPr/>
          <a:lstStyle/>
          <a:p>
            <a:r>
              <a:t>Closing summary. Interface image: Final_Proposal_2205499.pdf, Figure 6.8. UAT and SUS figures are from Chapter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0B2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EF67296-6EFC-4AD3-8F33-60818D118AE2}"/>
              </a:ext>
            </a:extLst>
          </p:cNvPr>
          <p:cNvSpPr>
            <a:spLocks noGrp="1"/>
          </p:cNvSpPr>
          <p:nvPr/>
        </p:nvSpPr>
        <p:spPr>
          <a:xfrm>
            <a:off x="0" y="0"/>
            <a:ext cx="171450" cy="6858000"/>
          </a:xfrm>
          <a:prstGeom prst="rect">
            <a:avLst/>
          </a:prstGeom>
          <a:solidFill>
            <a:srgbClr val="FF6B62"/>
          </a:solidFill>
          <a:ln w="0">
            <a:noFill/>
          </a:ln>
        </p:spPr>
        <p:txBody>
          <a:bodyPr/>
          <a:lstStyle/>
          <a:p>
            <a:endParaRPr lang="en-MY"/>
          </a:p>
        </p:txBody>
      </p:sp>
      <p:sp>
        <p:nvSpPr>
          <p:cNvPr id="2" name="Oval 1">
            <a:extLst>
              <a:ext uri="{FF2B5EF4-FFF2-40B4-BE49-F238E27FC236}">
                <a16:creationId xmlns:a16="http://schemas.microsoft.com/office/drawing/2014/main" id="{06937355-3D4D-4BBC-8C76-F62F0F578870}"/>
              </a:ext>
            </a:extLst>
          </p:cNvPr>
          <p:cNvSpPr>
            <a:spLocks noGrp="1"/>
          </p:cNvSpPr>
          <p:nvPr/>
        </p:nvSpPr>
        <p:spPr>
          <a:xfrm>
            <a:off x="-1143000" y="4857750"/>
            <a:ext cx="3714750" cy="3714750"/>
          </a:xfrm>
          <a:prstGeom prst="ellipse">
            <a:avLst/>
          </a:prstGeom>
          <a:solidFill>
            <a:srgbClr val="2E2750"/>
          </a:solidFill>
          <a:ln w="0">
            <a:noFill/>
          </a:ln>
        </p:spPr>
        <p:txBody>
          <a:bodyPr/>
          <a:lstStyle/>
          <a:p>
            <a:endParaRPr lang="en-MY"/>
          </a:p>
        </p:txBody>
      </p:sp>
      <p:sp>
        <p:nvSpPr>
          <p:cNvPr id="3" name="Oval 2">
            <a:extLst>
              <a:ext uri="{FF2B5EF4-FFF2-40B4-BE49-F238E27FC236}">
                <a16:creationId xmlns:a16="http://schemas.microsoft.com/office/drawing/2014/main" id="{C88E4EBE-206B-48EA-8AE2-6EE566836328}"/>
              </a:ext>
            </a:extLst>
          </p:cNvPr>
          <p:cNvSpPr>
            <a:spLocks noGrp="1"/>
          </p:cNvSpPr>
          <p:nvPr/>
        </p:nvSpPr>
        <p:spPr>
          <a:xfrm>
            <a:off x="10287000" y="-1143000"/>
            <a:ext cx="2857500" cy="2857500"/>
          </a:xfrm>
          <a:prstGeom prst="ellipse">
            <a:avLst/>
          </a:prstGeom>
          <a:solidFill>
            <a:srgbClr val="FF4D79"/>
          </a:solidFill>
          <a:ln w="0">
            <a:noFill/>
          </a:ln>
        </p:spPr>
        <p:txBody>
          <a:bodyPr/>
          <a:lstStyle/>
          <a:p>
            <a:endParaRPr lang="en-MY"/>
          </a:p>
        </p:txBody>
      </p:sp>
      <p:sp>
        <p:nvSpPr>
          <p:cNvPr id="4" name="Rectangle: Rounded Corners 3">
            <a:extLst>
              <a:ext uri="{FF2B5EF4-FFF2-40B4-BE49-F238E27FC236}">
                <a16:creationId xmlns:a16="http://schemas.microsoft.com/office/drawing/2014/main" id="{049D5479-F11E-4EA7-86C2-6AFEDFF7F436}"/>
              </a:ext>
            </a:extLst>
          </p:cNvPr>
          <p:cNvSpPr>
            <a:spLocks noGrp="1"/>
          </p:cNvSpPr>
          <p:nvPr/>
        </p:nvSpPr>
        <p:spPr>
          <a:xfrm>
            <a:off x="685800" y="590550"/>
            <a:ext cx="2381250" cy="323850"/>
          </a:xfrm>
          <a:prstGeom prst="roundRect">
            <a:avLst>
              <a:gd name="adj" fmla="val 35294"/>
            </a:avLst>
          </a:prstGeom>
          <a:solidFill>
            <a:srgbClr val="3A3160"/>
          </a:solidFill>
          <a:ln w="0">
            <a:noFill/>
          </a:ln>
        </p:spPr>
        <p:txBody>
          <a:bodyPr/>
          <a:lstStyle/>
          <a:p>
            <a:endParaRPr lang="en-MY"/>
          </a:p>
        </p:txBody>
      </p:sp>
      <p:sp>
        <p:nvSpPr>
          <p:cNvPr id="5" name="Rectangle 4">
            <a:extLst>
              <a:ext uri="{FF2B5EF4-FFF2-40B4-BE49-F238E27FC236}">
                <a16:creationId xmlns:a16="http://schemas.microsoft.com/office/drawing/2014/main" id="{892A9743-3761-4094-B772-EF5E0E394679}"/>
              </a:ext>
            </a:extLst>
          </p:cNvPr>
          <p:cNvSpPr>
            <a:spLocks noGrp="1"/>
          </p:cNvSpPr>
          <p:nvPr/>
        </p:nvSpPr>
        <p:spPr>
          <a:xfrm>
            <a:off x="685800" y="600075"/>
            <a:ext cx="2381250" cy="285750"/>
          </a:xfrm>
          <a:prstGeom prst="rect">
            <a:avLst/>
          </a:prstGeom>
          <a:noFill/>
          <a:ln w="0">
            <a:noFill/>
          </a:ln>
        </p:spPr>
        <p:txBody>
          <a:bodyPr wrap="square" lIns="0" tIns="0" rIns="0" bIns="0" anchor="ctr">
            <a:noAutofit/>
          </a:bodyPr>
          <a:lstStyle/>
          <a:p>
            <a:pPr algn="ctr">
              <a:defRPr sz="1125" b="1">
                <a:solidFill>
                  <a:srgbClr val="B8B0D4"/>
                </a:solidFill>
                <a:latin typeface="Calibri"/>
                <a:ea typeface="Calibri"/>
                <a:cs typeface="Calibri"/>
              </a:defRPr>
            </a:pPr>
            <a:r>
              <a:rPr sz="1125" b="1" dirty="0">
                <a:solidFill>
                  <a:srgbClr val="B8B0D4"/>
                </a:solidFill>
                <a:latin typeface="Calibri"/>
                <a:ea typeface="Calibri"/>
                <a:cs typeface="Calibri"/>
              </a:rPr>
              <a:t>FYP II · FINAL PRESENTATION</a:t>
            </a:r>
          </a:p>
        </p:txBody>
      </p:sp>
      <p:sp>
        <p:nvSpPr>
          <p:cNvPr id="9" name="Rectangle 8">
            <a:extLst>
              <a:ext uri="{FF2B5EF4-FFF2-40B4-BE49-F238E27FC236}">
                <a16:creationId xmlns:a16="http://schemas.microsoft.com/office/drawing/2014/main" id="{E4A8E5C8-C033-42E8-8FDF-AD36423770A8}"/>
              </a:ext>
            </a:extLst>
          </p:cNvPr>
          <p:cNvSpPr>
            <a:spLocks noGrp="1"/>
          </p:cNvSpPr>
          <p:nvPr/>
        </p:nvSpPr>
        <p:spPr>
          <a:xfrm>
            <a:off x="704850" y="5600700"/>
            <a:ext cx="4762500" cy="266700"/>
          </a:xfrm>
          <a:prstGeom prst="rect">
            <a:avLst/>
          </a:prstGeom>
          <a:noFill/>
          <a:ln w="0">
            <a:noFill/>
          </a:ln>
        </p:spPr>
        <p:txBody>
          <a:bodyPr wrap="square" lIns="0" tIns="0" rIns="0" bIns="0" anchor="t">
            <a:noAutofit/>
          </a:bodyPr>
          <a:lstStyle/>
          <a:p>
            <a:pPr algn="l">
              <a:defRPr sz="1350" b="1">
                <a:solidFill>
                  <a:srgbClr val="F8F6FF"/>
                </a:solidFill>
                <a:latin typeface="Calibri"/>
                <a:ea typeface="Calibri"/>
                <a:cs typeface="Calibri"/>
              </a:defRPr>
            </a:pPr>
            <a:r>
              <a:rPr sz="1350" b="1">
                <a:solidFill>
                  <a:srgbClr val="F8F6FF"/>
                </a:solidFill>
                <a:latin typeface="Calibri"/>
                <a:ea typeface="Calibri"/>
                <a:cs typeface="Calibri"/>
              </a:rPr>
              <a:t>ANGEL YAP YOON YING · 2205499</a:t>
            </a:r>
          </a:p>
        </p:txBody>
      </p:sp>
      <p:sp>
        <p:nvSpPr>
          <p:cNvPr id="10" name="Rectangle 9">
            <a:extLst>
              <a:ext uri="{FF2B5EF4-FFF2-40B4-BE49-F238E27FC236}">
                <a16:creationId xmlns:a16="http://schemas.microsoft.com/office/drawing/2014/main" id="{9B8FF6E6-2A7E-48CA-AEF1-15BE94EBFAC7}"/>
              </a:ext>
            </a:extLst>
          </p:cNvPr>
          <p:cNvSpPr>
            <a:spLocks noGrp="1"/>
          </p:cNvSpPr>
          <p:nvPr/>
        </p:nvSpPr>
        <p:spPr>
          <a:xfrm>
            <a:off x="704850" y="5924550"/>
            <a:ext cx="4762500" cy="228600"/>
          </a:xfrm>
          <a:prstGeom prst="rect">
            <a:avLst/>
          </a:prstGeom>
          <a:noFill/>
          <a:ln w="0">
            <a:noFill/>
          </a:ln>
        </p:spPr>
        <p:txBody>
          <a:bodyPr wrap="square" lIns="0" tIns="0" rIns="0" bIns="0" anchor="t">
            <a:noAutofit/>
          </a:bodyPr>
          <a:lstStyle/>
          <a:p>
            <a:pPr algn="l">
              <a:defRPr sz="1200" b="0">
                <a:solidFill>
                  <a:srgbClr val="B8B0D4"/>
                </a:solidFill>
                <a:latin typeface="Calibri"/>
                <a:ea typeface="Calibri"/>
                <a:cs typeface="Calibri"/>
              </a:defRPr>
            </a:pPr>
            <a:r>
              <a:rPr sz="1200" b="0">
                <a:solidFill>
                  <a:srgbClr val="B8B0D4"/>
                </a:solidFill>
                <a:latin typeface="Calibri"/>
                <a:ea typeface="Calibri"/>
                <a:cs typeface="Calibri"/>
              </a:rPr>
              <a:t>Universiti Tunku Abdul Rahman</a:t>
            </a:r>
          </a:p>
        </p:txBody>
      </p:sp>
      <p:sp>
        <p:nvSpPr>
          <p:cNvPr id="11" name="Rectangle: Rounded Corners 10">
            <a:extLst>
              <a:ext uri="{FF2B5EF4-FFF2-40B4-BE49-F238E27FC236}">
                <a16:creationId xmlns:a16="http://schemas.microsoft.com/office/drawing/2014/main" id="{527F1040-6D3B-49F8-9EA9-8FA783933E85}"/>
              </a:ext>
            </a:extLst>
          </p:cNvPr>
          <p:cNvSpPr>
            <a:spLocks noGrp="1"/>
          </p:cNvSpPr>
          <p:nvPr/>
        </p:nvSpPr>
        <p:spPr>
          <a:xfrm>
            <a:off x="6838950" y="1066800"/>
            <a:ext cx="4762500" cy="4991100"/>
          </a:xfrm>
          <a:prstGeom prst="roundRect">
            <a:avLst>
              <a:gd name="adj" fmla="val 3200"/>
            </a:avLst>
          </a:prstGeom>
          <a:solidFill>
            <a:srgbClr val="100B22"/>
          </a:solidFill>
          <a:ln w="0">
            <a:noFill/>
          </a:ln>
        </p:spPr>
        <p:txBody>
          <a:bodyPr/>
          <a:lstStyle/>
          <a:p>
            <a:endParaRPr lang="en-MY"/>
          </a:p>
        </p:txBody>
      </p:sp>
      <p:sp>
        <p:nvSpPr>
          <p:cNvPr id="12" name="Rectangle: Rounded Corners 11">
            <a:extLst>
              <a:ext uri="{FF2B5EF4-FFF2-40B4-BE49-F238E27FC236}">
                <a16:creationId xmlns:a16="http://schemas.microsoft.com/office/drawing/2014/main" id="{E3DE4D1C-ACC2-41AB-8D93-FD9BF2B6BFC0}"/>
              </a:ext>
            </a:extLst>
          </p:cNvPr>
          <p:cNvSpPr>
            <a:spLocks noGrp="1"/>
          </p:cNvSpPr>
          <p:nvPr/>
        </p:nvSpPr>
        <p:spPr>
          <a:xfrm>
            <a:off x="6724650" y="933450"/>
            <a:ext cx="4838700" cy="5067300"/>
          </a:xfrm>
          <a:prstGeom prst="roundRect">
            <a:avLst>
              <a:gd name="adj" fmla="val 3150"/>
            </a:avLst>
          </a:prstGeom>
          <a:solidFill>
            <a:srgbClr val="3A3160"/>
          </a:solidFill>
          <a:ln w="0">
            <a:noFill/>
          </a:ln>
        </p:spPr>
        <p:txBody>
          <a:bodyPr/>
          <a:lstStyle/>
          <a:p>
            <a:endParaRPr lang="en-MY"/>
          </a:p>
        </p:txBody>
      </p:sp>
      <p:pic>
        <p:nvPicPr>
          <p:cNvPr id="26" name="Picture 25"/>
          <p:cNvPicPr>
            <a:picLocks noChangeAspect="1"/>
          </p:cNvPicPr>
          <p:nvPr/>
        </p:nvPicPr>
        <p:blipFill>
          <a:blip r:embed="rId3"/>
          <a:srcRect t="275" b="275"/>
          <a:stretch>
            <a:fillRect/>
          </a:stretch>
        </p:blipFill>
        <p:spPr>
          <a:xfrm>
            <a:off x="6762750" y="971550"/>
            <a:ext cx="4762500" cy="4991100"/>
          </a:xfrm>
          <a:prstGeom prst="roundRect">
            <a:avLst>
              <a:gd name="adj" fmla="val 2400"/>
            </a:avLst>
          </a:prstGeom>
        </p:spPr>
      </p:pic>
      <p:sp>
        <p:nvSpPr>
          <p:cNvPr id="6" name="Rectangle 5">
            <a:extLst>
              <a:ext uri="{FF2B5EF4-FFF2-40B4-BE49-F238E27FC236}">
                <a16:creationId xmlns:a16="http://schemas.microsoft.com/office/drawing/2014/main" id="{6A120ED8-D57F-4FDC-8378-555D1517284E}"/>
              </a:ext>
            </a:extLst>
          </p:cNvPr>
          <p:cNvSpPr>
            <a:spLocks noGrp="1"/>
          </p:cNvSpPr>
          <p:nvPr/>
        </p:nvSpPr>
        <p:spPr>
          <a:xfrm>
            <a:off x="685800" y="1257299"/>
            <a:ext cx="7665720" cy="1200151"/>
          </a:xfrm>
          <a:prstGeom prst="rect">
            <a:avLst/>
          </a:prstGeom>
          <a:noFill/>
          <a:ln w="0">
            <a:noFill/>
          </a:ln>
        </p:spPr>
        <p:txBody>
          <a:bodyPr wrap="square" lIns="0" tIns="0" rIns="0" bIns="0" anchor="t">
            <a:noAutofit/>
          </a:bodyPr>
          <a:lstStyle/>
          <a:p>
            <a:pPr>
              <a:defRPr sz="4050" b="1">
                <a:solidFill>
                  <a:srgbClr val="F8F6FF"/>
                </a:solidFill>
                <a:latin typeface="Calibri"/>
                <a:ea typeface="Calibri"/>
                <a:cs typeface="Calibri"/>
              </a:defRPr>
            </a:pPr>
            <a:r>
              <a:rPr lang="en-GB" sz="2800" b="1" dirty="0"/>
              <a:t>A Mobile-Based Cognitive and Daily Assistance Application for Dementia Patients with Gamification</a:t>
            </a:r>
            <a:endParaRPr sz="2800" b="1" dirty="0">
              <a:solidFill>
                <a:srgbClr val="F8F6FF"/>
              </a:solidFill>
              <a:latin typeface="Calibri"/>
              <a:ea typeface="Calibri"/>
              <a:cs typeface="Calibri"/>
            </a:endParaRPr>
          </a:p>
        </p:txBody>
      </p:sp>
      <p:sp>
        <p:nvSpPr>
          <p:cNvPr id="7" name="Rectangle 6">
            <a:extLst>
              <a:ext uri="{FF2B5EF4-FFF2-40B4-BE49-F238E27FC236}">
                <a16:creationId xmlns:a16="http://schemas.microsoft.com/office/drawing/2014/main" id="{DFD8F2B9-8A76-456D-B37B-786B3D341E0A}"/>
              </a:ext>
            </a:extLst>
          </p:cNvPr>
          <p:cNvSpPr>
            <a:spLocks noGrp="1"/>
          </p:cNvSpPr>
          <p:nvPr/>
        </p:nvSpPr>
        <p:spPr>
          <a:xfrm>
            <a:off x="628650" y="2850696"/>
            <a:ext cx="7377793" cy="1296762"/>
          </a:xfrm>
          <a:prstGeom prst="rect">
            <a:avLst/>
          </a:prstGeom>
          <a:noFill/>
          <a:ln w="0">
            <a:noFill/>
          </a:ln>
        </p:spPr>
        <p:txBody>
          <a:bodyPr wrap="square" lIns="0" tIns="0" rIns="0" bIns="0" anchor="t">
            <a:noAutofit/>
          </a:bodyPr>
          <a:lstStyle/>
          <a:p>
            <a:pPr>
              <a:defRPr sz="2850" b="1">
                <a:solidFill>
                  <a:srgbClr val="FF6B62"/>
                </a:solidFill>
                <a:latin typeface="Calibri"/>
                <a:ea typeface="Calibri"/>
                <a:cs typeface="Calibri"/>
              </a:defRPr>
            </a:pPr>
            <a:r>
              <a:rPr lang="en-GB" sz="2800" b="1" dirty="0"/>
              <a:t>A Mobile-Based Cognitive and Daily Assistance Application for Dementia Patients with Gamification</a:t>
            </a:r>
            <a:endParaRPr sz="2800" b="1" dirty="0">
              <a:solidFill>
                <a:srgbClr val="FF6B62"/>
              </a:solidFill>
              <a:latin typeface="Calibri"/>
              <a:ea typeface="Calibri"/>
              <a:cs typeface="Calibri"/>
            </a:endParaRPr>
          </a:p>
        </p:txBody>
      </p:sp>
    </p:spTree>
    <p:extLst>
      <p:ext uri="{BB962C8B-B14F-4D97-AF65-F5344CB8AC3E}">
        <p14:creationId xmlns:p14="http://schemas.microsoft.com/office/powerpoint/2010/main" val="1194686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A1530"/>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430A317A-04F7-455D-B9B5-C8F9E6A04134}"/>
              </a:ext>
            </a:extLst>
          </p:cNvPr>
          <p:cNvSpPr>
            <a:spLocks noGrp="1"/>
          </p:cNvSpPr>
          <p:nvPr/>
        </p:nvSpPr>
        <p:spPr>
          <a:xfrm>
            <a:off x="0" y="0"/>
            <a:ext cx="133350" cy="6858000"/>
          </a:xfrm>
          <a:prstGeom prst="rect">
            <a:avLst/>
          </a:prstGeom>
          <a:solidFill>
            <a:srgbClr val="FF6B62"/>
          </a:solidFill>
          <a:ln w="0">
            <a:noFill/>
          </a:ln>
        </p:spPr>
        <p:txBody>
          <a:bodyPr/>
          <a:lstStyle/>
          <a:p>
            <a:endParaRPr lang="en-MY"/>
          </a:p>
        </p:txBody>
      </p:sp>
      <p:sp>
        <p:nvSpPr>
          <p:cNvPr id="2" name="Rectangle 1">
            <a:extLst>
              <a:ext uri="{FF2B5EF4-FFF2-40B4-BE49-F238E27FC236}">
                <a16:creationId xmlns:a16="http://schemas.microsoft.com/office/drawing/2014/main" id="{36D5CB5D-E56A-470C-BAC2-E85B85B6DA72}"/>
              </a:ext>
            </a:extLst>
          </p:cNvPr>
          <p:cNvSpPr>
            <a:spLocks noGrp="1"/>
          </p:cNvSpPr>
          <p:nvPr/>
        </p:nvSpPr>
        <p:spPr>
          <a:xfrm>
            <a:off x="533400" y="323850"/>
            <a:ext cx="2571750" cy="247650"/>
          </a:xfrm>
          <a:prstGeom prst="rect">
            <a:avLst/>
          </a:prstGeom>
          <a:noFill/>
          <a:ln w="0">
            <a:noFill/>
          </a:ln>
        </p:spPr>
        <p:txBody>
          <a:bodyPr wrap="square" lIns="0" tIns="0" rIns="0" bIns="0" anchor="t">
            <a:noAutofit/>
          </a:bodyPr>
          <a:lstStyle/>
          <a:p>
            <a:pPr algn="l">
              <a:defRPr sz="1125" b="1">
                <a:solidFill>
                  <a:srgbClr val="FF6B62"/>
                </a:solidFill>
                <a:latin typeface="Calibri"/>
                <a:ea typeface="Calibri"/>
                <a:cs typeface="Calibri"/>
              </a:defRPr>
            </a:pPr>
            <a:r>
              <a:rPr sz="1125" b="1" dirty="0">
                <a:solidFill>
                  <a:srgbClr val="FF6B62"/>
                </a:solidFill>
                <a:latin typeface="Calibri"/>
                <a:ea typeface="Calibri"/>
                <a:cs typeface="Calibri"/>
              </a:rPr>
              <a:t>PROJECT EVOLUTION</a:t>
            </a:r>
          </a:p>
        </p:txBody>
      </p:sp>
      <p:sp>
        <p:nvSpPr>
          <p:cNvPr id="3" name="Rectangle 2">
            <a:extLst>
              <a:ext uri="{FF2B5EF4-FFF2-40B4-BE49-F238E27FC236}">
                <a16:creationId xmlns:a16="http://schemas.microsoft.com/office/drawing/2014/main" id="{332D28B4-409A-4ABA-A80E-0BBE458D280C}"/>
              </a:ext>
            </a:extLst>
          </p:cNvPr>
          <p:cNvSpPr>
            <a:spLocks noGrp="1"/>
          </p:cNvSpPr>
          <p:nvPr/>
        </p:nvSpPr>
        <p:spPr>
          <a:xfrm>
            <a:off x="533400" y="619125"/>
            <a:ext cx="11049000" cy="533400"/>
          </a:xfrm>
          <a:prstGeom prst="rect">
            <a:avLst/>
          </a:prstGeom>
          <a:noFill/>
          <a:ln w="0">
            <a:noFill/>
          </a:ln>
        </p:spPr>
        <p:txBody>
          <a:bodyPr wrap="square" lIns="0" tIns="0" rIns="0" bIns="0" anchor="t">
            <a:noAutofit/>
          </a:bodyPr>
          <a:lstStyle/>
          <a:p>
            <a:pPr algn="l">
              <a:defRPr sz="2700" b="1">
                <a:solidFill>
                  <a:srgbClr val="F8F6FF"/>
                </a:solidFill>
                <a:latin typeface="Calibri"/>
                <a:ea typeface="Calibri"/>
                <a:cs typeface="Calibri"/>
              </a:defRPr>
            </a:pPr>
            <a:r>
              <a:rPr sz="2700" b="1" dirty="0">
                <a:solidFill>
                  <a:srgbClr val="F8F6FF"/>
                </a:solidFill>
                <a:latin typeface="Calibri"/>
                <a:ea typeface="Calibri"/>
                <a:cs typeface="Calibri"/>
              </a:rPr>
              <a:t>What changed from proposal to final product</a:t>
            </a:r>
          </a:p>
        </p:txBody>
      </p:sp>
      <p:sp>
        <p:nvSpPr>
          <p:cNvPr id="4" name="Rectangle 3">
            <a:extLst>
              <a:ext uri="{FF2B5EF4-FFF2-40B4-BE49-F238E27FC236}">
                <a16:creationId xmlns:a16="http://schemas.microsoft.com/office/drawing/2014/main" id="{C7D2AD27-C39A-48A4-806F-E185B7F527C5}"/>
              </a:ext>
            </a:extLst>
          </p:cNvPr>
          <p:cNvSpPr>
            <a:spLocks noGrp="1"/>
          </p:cNvSpPr>
          <p:nvPr/>
        </p:nvSpPr>
        <p:spPr>
          <a:xfrm>
            <a:off x="552450" y="1143000"/>
            <a:ext cx="10668000" cy="323850"/>
          </a:xfrm>
          <a:prstGeom prst="rect">
            <a:avLst/>
          </a:prstGeom>
          <a:noFill/>
          <a:ln w="0">
            <a:noFill/>
          </a:ln>
        </p:spPr>
        <p:txBody>
          <a:bodyPr wrap="square" lIns="0" tIns="0" rIns="0" bIns="0" anchor="t">
            <a:noAutofit/>
          </a:bodyPr>
          <a:lstStyle/>
          <a:p>
            <a:pPr algn="l">
              <a:defRPr sz="1350" b="0">
                <a:solidFill>
                  <a:srgbClr val="B8B0D4"/>
                </a:solidFill>
                <a:latin typeface="Calibri"/>
                <a:ea typeface="Calibri"/>
                <a:cs typeface="Calibri"/>
              </a:defRPr>
            </a:pPr>
            <a:r>
              <a:rPr sz="1350" b="0">
                <a:solidFill>
                  <a:srgbClr val="B8B0D4"/>
                </a:solidFill>
                <a:latin typeface="Calibri"/>
                <a:ea typeface="Calibri"/>
                <a:cs typeface="Calibri"/>
              </a:rPr>
              <a:t>The final report transformed a broad concept into a traceable, personalised care platform.</a:t>
            </a:r>
          </a:p>
        </p:txBody>
      </p:sp>
      <p:sp>
        <p:nvSpPr>
          <p:cNvPr id="5" name="Rectangle: Rounded Corners 4">
            <a:extLst>
              <a:ext uri="{FF2B5EF4-FFF2-40B4-BE49-F238E27FC236}">
                <a16:creationId xmlns:a16="http://schemas.microsoft.com/office/drawing/2014/main" id="{73D4B8F3-AF0A-4451-8546-50233824A631}"/>
              </a:ext>
            </a:extLst>
          </p:cNvPr>
          <p:cNvSpPr>
            <a:spLocks noGrp="1"/>
          </p:cNvSpPr>
          <p:nvPr/>
        </p:nvSpPr>
        <p:spPr>
          <a:xfrm>
            <a:off x="647700" y="1857375"/>
            <a:ext cx="2381250" cy="1009650"/>
          </a:xfrm>
          <a:prstGeom prst="roundRect">
            <a:avLst>
              <a:gd name="adj" fmla="val 11321"/>
            </a:avLst>
          </a:prstGeom>
          <a:solidFill>
            <a:srgbClr val="2E2750"/>
          </a:solidFill>
          <a:ln w="0">
            <a:noFill/>
          </a:ln>
        </p:spPr>
        <p:txBody>
          <a:bodyPr/>
          <a:lstStyle/>
          <a:p>
            <a:endParaRPr lang="en-MY"/>
          </a:p>
        </p:txBody>
      </p:sp>
      <p:sp>
        <p:nvSpPr>
          <p:cNvPr id="6" name="Rectangle: Rounded Corners 5">
            <a:extLst>
              <a:ext uri="{FF2B5EF4-FFF2-40B4-BE49-F238E27FC236}">
                <a16:creationId xmlns:a16="http://schemas.microsoft.com/office/drawing/2014/main" id="{5DE5DF18-A7E1-499B-9B89-582C7BA8BEE6}"/>
              </a:ext>
            </a:extLst>
          </p:cNvPr>
          <p:cNvSpPr>
            <a:spLocks noGrp="1"/>
          </p:cNvSpPr>
          <p:nvPr/>
        </p:nvSpPr>
        <p:spPr>
          <a:xfrm>
            <a:off x="819150" y="2028825"/>
            <a:ext cx="457200" cy="76200"/>
          </a:xfrm>
          <a:prstGeom prst="roundRect">
            <a:avLst>
              <a:gd name="adj" fmla="val 50000"/>
            </a:avLst>
          </a:prstGeom>
          <a:solidFill>
            <a:srgbClr val="8F87AC"/>
          </a:solidFill>
          <a:ln w="0">
            <a:noFill/>
          </a:ln>
        </p:spPr>
        <p:txBody>
          <a:bodyPr/>
          <a:lstStyle/>
          <a:p>
            <a:endParaRPr lang="en-MY"/>
          </a:p>
        </p:txBody>
      </p:sp>
      <p:sp>
        <p:nvSpPr>
          <p:cNvPr id="7" name="Rectangle 6">
            <a:extLst>
              <a:ext uri="{FF2B5EF4-FFF2-40B4-BE49-F238E27FC236}">
                <a16:creationId xmlns:a16="http://schemas.microsoft.com/office/drawing/2014/main" id="{B37C3D9E-0206-4183-8CBB-3F2EA2A448A5}"/>
              </a:ext>
            </a:extLst>
          </p:cNvPr>
          <p:cNvSpPr>
            <a:spLocks noGrp="1"/>
          </p:cNvSpPr>
          <p:nvPr/>
        </p:nvSpPr>
        <p:spPr>
          <a:xfrm>
            <a:off x="819150" y="2152650"/>
            <a:ext cx="2038350" cy="381000"/>
          </a:xfrm>
          <a:prstGeom prst="rect">
            <a:avLst/>
          </a:prstGeom>
          <a:noFill/>
          <a:ln w="0">
            <a:noFill/>
          </a:ln>
        </p:spPr>
        <p:txBody>
          <a:bodyPr wrap="square" lIns="0" tIns="0" rIns="0" bIns="0" anchor="t">
            <a:noAutofit/>
          </a:bodyPr>
          <a:lstStyle/>
          <a:p>
            <a:pPr algn="l">
              <a:defRPr sz="2550" b="1">
                <a:solidFill>
                  <a:srgbClr val="F8F6FF"/>
                </a:solidFill>
                <a:latin typeface="Calibri"/>
                <a:ea typeface="Calibri"/>
                <a:cs typeface="Calibri"/>
              </a:defRPr>
            </a:pPr>
            <a:r>
              <a:rPr sz="2550" b="1">
                <a:solidFill>
                  <a:srgbClr val="F8F6FF"/>
                </a:solidFill>
                <a:latin typeface="Calibri"/>
                <a:ea typeface="Calibri"/>
                <a:cs typeface="Calibri"/>
              </a:rPr>
              <a:t>9</a:t>
            </a:r>
          </a:p>
        </p:txBody>
      </p:sp>
      <p:sp>
        <p:nvSpPr>
          <p:cNvPr id="8" name="Rectangle 7">
            <a:extLst>
              <a:ext uri="{FF2B5EF4-FFF2-40B4-BE49-F238E27FC236}">
                <a16:creationId xmlns:a16="http://schemas.microsoft.com/office/drawing/2014/main" id="{24D03E9B-EF32-46A0-9836-7F3C51F7905C}"/>
              </a:ext>
            </a:extLst>
          </p:cNvPr>
          <p:cNvSpPr>
            <a:spLocks noGrp="1"/>
          </p:cNvSpPr>
          <p:nvPr/>
        </p:nvSpPr>
        <p:spPr>
          <a:xfrm>
            <a:off x="819150" y="2581274"/>
            <a:ext cx="2038350" cy="542925"/>
          </a:xfrm>
          <a:prstGeom prst="rect">
            <a:avLst/>
          </a:prstGeom>
          <a:noFill/>
          <a:ln w="0">
            <a:noFill/>
          </a:ln>
        </p:spPr>
        <p:txBody>
          <a:bodyPr wrap="square" lIns="0" tIns="0" rIns="0" bIns="0" anchor="t">
            <a:noAutofit/>
          </a:bodyPr>
          <a:lstStyle/>
          <a:p>
            <a:pPr algn="l">
              <a:defRPr sz="1050" b="0">
                <a:solidFill>
                  <a:srgbClr val="B8B0D4"/>
                </a:solidFill>
                <a:latin typeface="Calibri"/>
                <a:ea typeface="Calibri"/>
                <a:cs typeface="Calibri"/>
              </a:defRPr>
            </a:pPr>
            <a:r>
              <a:rPr sz="1050" b="0" dirty="0">
                <a:solidFill>
                  <a:srgbClr val="B8B0D4"/>
                </a:solidFill>
                <a:latin typeface="Calibri"/>
                <a:ea typeface="Calibri"/>
                <a:cs typeface="Calibri"/>
              </a:rPr>
              <a:t>broad functional requirements </a:t>
            </a:r>
          </a:p>
        </p:txBody>
      </p:sp>
      <p:sp>
        <p:nvSpPr>
          <p:cNvPr id="9" name="Rectangle: Rounded Corners 8">
            <a:extLst>
              <a:ext uri="{FF2B5EF4-FFF2-40B4-BE49-F238E27FC236}">
                <a16:creationId xmlns:a16="http://schemas.microsoft.com/office/drawing/2014/main" id="{E148A3BF-6574-4905-9FD2-C609DBF2EF9B}"/>
              </a:ext>
            </a:extLst>
          </p:cNvPr>
          <p:cNvSpPr>
            <a:spLocks noGrp="1"/>
          </p:cNvSpPr>
          <p:nvPr/>
        </p:nvSpPr>
        <p:spPr>
          <a:xfrm>
            <a:off x="3238500" y="1857375"/>
            <a:ext cx="2381250" cy="1009650"/>
          </a:xfrm>
          <a:prstGeom prst="roundRect">
            <a:avLst>
              <a:gd name="adj" fmla="val 11321"/>
            </a:avLst>
          </a:prstGeom>
          <a:solidFill>
            <a:srgbClr val="2E2750"/>
          </a:solidFill>
          <a:ln w="0">
            <a:noFill/>
          </a:ln>
        </p:spPr>
        <p:txBody>
          <a:bodyPr/>
          <a:lstStyle/>
          <a:p>
            <a:endParaRPr lang="en-MY"/>
          </a:p>
        </p:txBody>
      </p:sp>
      <p:sp>
        <p:nvSpPr>
          <p:cNvPr id="10" name="Rectangle: Rounded Corners 9">
            <a:extLst>
              <a:ext uri="{FF2B5EF4-FFF2-40B4-BE49-F238E27FC236}">
                <a16:creationId xmlns:a16="http://schemas.microsoft.com/office/drawing/2014/main" id="{B5520C3B-1D0C-4745-83BD-B409C6D14CBB}"/>
              </a:ext>
            </a:extLst>
          </p:cNvPr>
          <p:cNvSpPr>
            <a:spLocks noGrp="1"/>
          </p:cNvSpPr>
          <p:nvPr/>
        </p:nvSpPr>
        <p:spPr>
          <a:xfrm>
            <a:off x="3409950" y="2028825"/>
            <a:ext cx="457200" cy="76200"/>
          </a:xfrm>
          <a:prstGeom prst="roundRect">
            <a:avLst>
              <a:gd name="adj" fmla="val 50000"/>
            </a:avLst>
          </a:prstGeom>
          <a:solidFill>
            <a:srgbClr val="FF6B62"/>
          </a:solidFill>
          <a:ln w="0">
            <a:noFill/>
          </a:ln>
        </p:spPr>
        <p:txBody>
          <a:bodyPr/>
          <a:lstStyle/>
          <a:p>
            <a:endParaRPr lang="en-MY"/>
          </a:p>
        </p:txBody>
      </p:sp>
      <p:sp>
        <p:nvSpPr>
          <p:cNvPr id="11" name="Rectangle 10">
            <a:extLst>
              <a:ext uri="{FF2B5EF4-FFF2-40B4-BE49-F238E27FC236}">
                <a16:creationId xmlns:a16="http://schemas.microsoft.com/office/drawing/2014/main" id="{62798FD9-10E2-4660-8DF3-93CBEBB449A7}"/>
              </a:ext>
            </a:extLst>
          </p:cNvPr>
          <p:cNvSpPr>
            <a:spLocks noGrp="1"/>
          </p:cNvSpPr>
          <p:nvPr/>
        </p:nvSpPr>
        <p:spPr>
          <a:xfrm>
            <a:off x="3409950" y="2152650"/>
            <a:ext cx="2038350" cy="381000"/>
          </a:xfrm>
          <a:prstGeom prst="rect">
            <a:avLst/>
          </a:prstGeom>
          <a:noFill/>
          <a:ln w="0">
            <a:noFill/>
          </a:ln>
        </p:spPr>
        <p:txBody>
          <a:bodyPr wrap="square" lIns="0" tIns="0" rIns="0" bIns="0" anchor="t">
            <a:noAutofit/>
          </a:bodyPr>
          <a:lstStyle/>
          <a:p>
            <a:pPr algn="l">
              <a:defRPr sz="2550" b="1">
                <a:solidFill>
                  <a:srgbClr val="F8F6FF"/>
                </a:solidFill>
                <a:latin typeface="Calibri"/>
                <a:ea typeface="Calibri"/>
                <a:cs typeface="Calibri"/>
              </a:defRPr>
            </a:pPr>
            <a:r>
              <a:rPr sz="2550" b="1">
                <a:solidFill>
                  <a:srgbClr val="F8F6FF"/>
                </a:solidFill>
                <a:latin typeface="Calibri"/>
                <a:ea typeface="Calibri"/>
                <a:cs typeface="Calibri"/>
              </a:rPr>
              <a:t>33</a:t>
            </a:r>
          </a:p>
        </p:txBody>
      </p:sp>
      <p:sp>
        <p:nvSpPr>
          <p:cNvPr id="12" name="Rectangle 11">
            <a:extLst>
              <a:ext uri="{FF2B5EF4-FFF2-40B4-BE49-F238E27FC236}">
                <a16:creationId xmlns:a16="http://schemas.microsoft.com/office/drawing/2014/main" id="{11A119F7-43E2-43C5-BBC2-384674C549CC}"/>
              </a:ext>
            </a:extLst>
          </p:cNvPr>
          <p:cNvSpPr>
            <a:spLocks noGrp="1"/>
          </p:cNvSpPr>
          <p:nvPr/>
        </p:nvSpPr>
        <p:spPr>
          <a:xfrm>
            <a:off x="3409950" y="2581275"/>
            <a:ext cx="2038350" cy="209550"/>
          </a:xfrm>
          <a:prstGeom prst="rect">
            <a:avLst/>
          </a:prstGeom>
          <a:noFill/>
          <a:ln w="0">
            <a:noFill/>
          </a:ln>
        </p:spPr>
        <p:txBody>
          <a:bodyPr wrap="square" lIns="0" tIns="0" rIns="0" bIns="0" anchor="t">
            <a:noAutofit/>
          </a:bodyPr>
          <a:lstStyle/>
          <a:p>
            <a:pPr algn="l">
              <a:defRPr sz="1050" b="0">
                <a:solidFill>
                  <a:srgbClr val="B8B0D4"/>
                </a:solidFill>
                <a:latin typeface="Calibri"/>
                <a:ea typeface="Calibri"/>
                <a:cs typeface="Calibri"/>
              </a:defRPr>
            </a:pPr>
            <a:r>
              <a:rPr sz="1050" b="0">
                <a:solidFill>
                  <a:srgbClr val="B8B0D4"/>
                </a:solidFill>
                <a:latin typeface="Calibri"/>
                <a:ea typeface="Calibri"/>
                <a:cs typeface="Calibri"/>
              </a:rPr>
              <a:t>traceable functional requirements in the final report</a:t>
            </a:r>
          </a:p>
        </p:txBody>
      </p:sp>
      <p:sp>
        <p:nvSpPr>
          <p:cNvPr id="13" name="Rectangle: Rounded Corners 12">
            <a:extLst>
              <a:ext uri="{FF2B5EF4-FFF2-40B4-BE49-F238E27FC236}">
                <a16:creationId xmlns:a16="http://schemas.microsoft.com/office/drawing/2014/main" id="{67AF53E0-D1A3-4821-BE7B-4E17609D891C}"/>
              </a:ext>
            </a:extLst>
          </p:cNvPr>
          <p:cNvSpPr>
            <a:spLocks noGrp="1"/>
          </p:cNvSpPr>
          <p:nvPr/>
        </p:nvSpPr>
        <p:spPr>
          <a:xfrm>
            <a:off x="5829300" y="1857375"/>
            <a:ext cx="2381250" cy="1009650"/>
          </a:xfrm>
          <a:prstGeom prst="roundRect">
            <a:avLst>
              <a:gd name="adj" fmla="val 11321"/>
            </a:avLst>
          </a:prstGeom>
          <a:solidFill>
            <a:srgbClr val="2E2750"/>
          </a:solidFill>
          <a:ln w="0">
            <a:noFill/>
          </a:ln>
        </p:spPr>
        <p:txBody>
          <a:bodyPr/>
          <a:lstStyle/>
          <a:p>
            <a:endParaRPr lang="en-MY"/>
          </a:p>
        </p:txBody>
      </p:sp>
      <p:sp>
        <p:nvSpPr>
          <p:cNvPr id="14" name="Rectangle: Rounded Corners 13">
            <a:extLst>
              <a:ext uri="{FF2B5EF4-FFF2-40B4-BE49-F238E27FC236}">
                <a16:creationId xmlns:a16="http://schemas.microsoft.com/office/drawing/2014/main" id="{7D464385-E23B-4ED8-B748-D885C51A2001}"/>
              </a:ext>
            </a:extLst>
          </p:cNvPr>
          <p:cNvSpPr>
            <a:spLocks noGrp="1"/>
          </p:cNvSpPr>
          <p:nvPr/>
        </p:nvSpPr>
        <p:spPr>
          <a:xfrm>
            <a:off x="6000750" y="2028825"/>
            <a:ext cx="457200" cy="76200"/>
          </a:xfrm>
          <a:prstGeom prst="roundRect">
            <a:avLst>
              <a:gd name="adj" fmla="val 50000"/>
            </a:avLst>
          </a:prstGeom>
          <a:solidFill>
            <a:srgbClr val="7C83FD"/>
          </a:solidFill>
          <a:ln w="0">
            <a:noFill/>
          </a:ln>
        </p:spPr>
        <p:txBody>
          <a:bodyPr/>
          <a:lstStyle/>
          <a:p>
            <a:endParaRPr lang="en-MY"/>
          </a:p>
        </p:txBody>
      </p:sp>
      <p:sp>
        <p:nvSpPr>
          <p:cNvPr id="15" name="Rectangle 14">
            <a:extLst>
              <a:ext uri="{FF2B5EF4-FFF2-40B4-BE49-F238E27FC236}">
                <a16:creationId xmlns:a16="http://schemas.microsoft.com/office/drawing/2014/main" id="{AFF14D54-FAE3-4BBD-8212-CF7DE0A38FEF}"/>
              </a:ext>
            </a:extLst>
          </p:cNvPr>
          <p:cNvSpPr>
            <a:spLocks noGrp="1"/>
          </p:cNvSpPr>
          <p:nvPr/>
        </p:nvSpPr>
        <p:spPr>
          <a:xfrm>
            <a:off x="6000750" y="2152650"/>
            <a:ext cx="2038350" cy="381000"/>
          </a:xfrm>
          <a:prstGeom prst="rect">
            <a:avLst/>
          </a:prstGeom>
          <a:noFill/>
          <a:ln w="0">
            <a:noFill/>
          </a:ln>
        </p:spPr>
        <p:txBody>
          <a:bodyPr wrap="square" lIns="0" tIns="0" rIns="0" bIns="0" anchor="t">
            <a:noAutofit/>
          </a:bodyPr>
          <a:lstStyle/>
          <a:p>
            <a:pPr algn="l">
              <a:defRPr sz="2550" b="1">
                <a:solidFill>
                  <a:srgbClr val="F8F6FF"/>
                </a:solidFill>
                <a:latin typeface="Calibri"/>
                <a:ea typeface="Calibri"/>
                <a:cs typeface="Calibri"/>
              </a:defRPr>
            </a:pPr>
            <a:r>
              <a:rPr sz="2550" b="1">
                <a:solidFill>
                  <a:srgbClr val="F8F6FF"/>
                </a:solidFill>
                <a:latin typeface="Calibri"/>
                <a:ea typeface="Calibri"/>
                <a:cs typeface="Calibri"/>
              </a:rPr>
              <a:t>4 → 5</a:t>
            </a:r>
          </a:p>
        </p:txBody>
      </p:sp>
      <p:sp>
        <p:nvSpPr>
          <p:cNvPr id="16" name="Rectangle 15">
            <a:extLst>
              <a:ext uri="{FF2B5EF4-FFF2-40B4-BE49-F238E27FC236}">
                <a16:creationId xmlns:a16="http://schemas.microsoft.com/office/drawing/2014/main" id="{46AC184D-4215-43EE-8CA7-83B06580106C}"/>
              </a:ext>
            </a:extLst>
          </p:cNvPr>
          <p:cNvSpPr>
            <a:spLocks noGrp="1"/>
          </p:cNvSpPr>
          <p:nvPr/>
        </p:nvSpPr>
        <p:spPr>
          <a:xfrm>
            <a:off x="6000750" y="2581275"/>
            <a:ext cx="2038350" cy="400050"/>
          </a:xfrm>
          <a:prstGeom prst="rect">
            <a:avLst/>
          </a:prstGeom>
          <a:noFill/>
          <a:ln w="0">
            <a:noFill/>
          </a:ln>
        </p:spPr>
        <p:txBody>
          <a:bodyPr wrap="square" lIns="0" tIns="0" rIns="0" bIns="0" anchor="t">
            <a:noAutofit/>
          </a:bodyPr>
          <a:lstStyle/>
          <a:p>
            <a:pPr algn="l">
              <a:defRPr sz="1050" b="0">
                <a:solidFill>
                  <a:srgbClr val="B8B0D4"/>
                </a:solidFill>
                <a:latin typeface="Calibri"/>
                <a:ea typeface="Calibri"/>
                <a:cs typeface="Calibri"/>
              </a:defRPr>
            </a:pPr>
            <a:r>
              <a:rPr sz="1050" b="0" dirty="0">
                <a:solidFill>
                  <a:srgbClr val="B8B0D4"/>
                </a:solidFill>
                <a:latin typeface="Calibri"/>
                <a:ea typeface="Calibri"/>
                <a:cs typeface="Calibri"/>
              </a:rPr>
              <a:t>problem statements after adding personalization</a:t>
            </a:r>
          </a:p>
        </p:txBody>
      </p:sp>
      <p:sp>
        <p:nvSpPr>
          <p:cNvPr id="17" name="Rectangle: Rounded Corners 16">
            <a:extLst>
              <a:ext uri="{FF2B5EF4-FFF2-40B4-BE49-F238E27FC236}">
                <a16:creationId xmlns:a16="http://schemas.microsoft.com/office/drawing/2014/main" id="{54441D7C-2C9F-4DE5-BA99-DDD4633D1457}"/>
              </a:ext>
            </a:extLst>
          </p:cNvPr>
          <p:cNvSpPr>
            <a:spLocks noGrp="1"/>
          </p:cNvSpPr>
          <p:nvPr/>
        </p:nvSpPr>
        <p:spPr>
          <a:xfrm>
            <a:off x="8420100" y="1857375"/>
            <a:ext cx="2381250" cy="1009650"/>
          </a:xfrm>
          <a:prstGeom prst="roundRect">
            <a:avLst>
              <a:gd name="adj" fmla="val 11321"/>
            </a:avLst>
          </a:prstGeom>
          <a:solidFill>
            <a:srgbClr val="2E2750"/>
          </a:solidFill>
          <a:ln w="0">
            <a:noFill/>
          </a:ln>
        </p:spPr>
        <p:txBody>
          <a:bodyPr/>
          <a:lstStyle/>
          <a:p>
            <a:endParaRPr lang="en-MY"/>
          </a:p>
        </p:txBody>
      </p:sp>
      <p:sp>
        <p:nvSpPr>
          <p:cNvPr id="18" name="Rectangle: Rounded Corners 17">
            <a:extLst>
              <a:ext uri="{FF2B5EF4-FFF2-40B4-BE49-F238E27FC236}">
                <a16:creationId xmlns:a16="http://schemas.microsoft.com/office/drawing/2014/main" id="{9BB25F2F-CE02-4297-8B9E-FEF6B77AD9A3}"/>
              </a:ext>
            </a:extLst>
          </p:cNvPr>
          <p:cNvSpPr>
            <a:spLocks noGrp="1"/>
          </p:cNvSpPr>
          <p:nvPr/>
        </p:nvSpPr>
        <p:spPr>
          <a:xfrm>
            <a:off x="8591550" y="2028825"/>
            <a:ext cx="457200" cy="76200"/>
          </a:xfrm>
          <a:prstGeom prst="roundRect">
            <a:avLst>
              <a:gd name="adj" fmla="val 50000"/>
            </a:avLst>
          </a:prstGeom>
          <a:solidFill>
            <a:srgbClr val="2ED9A4"/>
          </a:solidFill>
          <a:ln w="0">
            <a:noFill/>
          </a:ln>
        </p:spPr>
        <p:txBody>
          <a:bodyPr/>
          <a:lstStyle/>
          <a:p>
            <a:endParaRPr lang="en-MY"/>
          </a:p>
        </p:txBody>
      </p:sp>
      <p:sp>
        <p:nvSpPr>
          <p:cNvPr id="19" name="Rectangle 18">
            <a:extLst>
              <a:ext uri="{FF2B5EF4-FFF2-40B4-BE49-F238E27FC236}">
                <a16:creationId xmlns:a16="http://schemas.microsoft.com/office/drawing/2014/main" id="{CD1D79D0-73EA-4AE5-B815-96CCDADFA9D4}"/>
              </a:ext>
            </a:extLst>
          </p:cNvPr>
          <p:cNvSpPr>
            <a:spLocks noGrp="1"/>
          </p:cNvSpPr>
          <p:nvPr/>
        </p:nvSpPr>
        <p:spPr>
          <a:xfrm>
            <a:off x="8591550" y="2152650"/>
            <a:ext cx="2038350" cy="381000"/>
          </a:xfrm>
          <a:prstGeom prst="rect">
            <a:avLst/>
          </a:prstGeom>
          <a:noFill/>
          <a:ln w="0">
            <a:noFill/>
          </a:ln>
        </p:spPr>
        <p:txBody>
          <a:bodyPr wrap="square" lIns="0" tIns="0" rIns="0" bIns="0" anchor="t">
            <a:noAutofit/>
          </a:bodyPr>
          <a:lstStyle/>
          <a:p>
            <a:pPr algn="l">
              <a:defRPr sz="2550" b="1">
                <a:solidFill>
                  <a:srgbClr val="F8F6FF"/>
                </a:solidFill>
                <a:latin typeface="Calibri"/>
                <a:ea typeface="Calibri"/>
                <a:cs typeface="Calibri"/>
              </a:defRPr>
            </a:pPr>
            <a:r>
              <a:rPr sz="2550" b="1">
                <a:solidFill>
                  <a:srgbClr val="F8F6FF"/>
                </a:solidFill>
                <a:latin typeface="Calibri"/>
                <a:ea typeface="Calibri"/>
                <a:cs typeface="Calibri"/>
              </a:rPr>
              <a:t>91.0</a:t>
            </a:r>
          </a:p>
        </p:txBody>
      </p:sp>
      <p:sp>
        <p:nvSpPr>
          <p:cNvPr id="20" name="Rectangle 19">
            <a:extLst>
              <a:ext uri="{FF2B5EF4-FFF2-40B4-BE49-F238E27FC236}">
                <a16:creationId xmlns:a16="http://schemas.microsoft.com/office/drawing/2014/main" id="{779718C3-96AC-4707-BBAD-67373A695078}"/>
              </a:ext>
            </a:extLst>
          </p:cNvPr>
          <p:cNvSpPr>
            <a:spLocks noGrp="1"/>
          </p:cNvSpPr>
          <p:nvPr/>
        </p:nvSpPr>
        <p:spPr>
          <a:xfrm>
            <a:off x="8591550" y="2581275"/>
            <a:ext cx="2038350" cy="209550"/>
          </a:xfrm>
          <a:prstGeom prst="rect">
            <a:avLst/>
          </a:prstGeom>
          <a:noFill/>
          <a:ln w="0">
            <a:noFill/>
          </a:ln>
        </p:spPr>
        <p:txBody>
          <a:bodyPr wrap="square" lIns="0" tIns="0" rIns="0" bIns="0" anchor="t">
            <a:noAutofit/>
          </a:bodyPr>
          <a:lstStyle/>
          <a:p>
            <a:pPr algn="l">
              <a:defRPr sz="1050" b="0">
                <a:solidFill>
                  <a:srgbClr val="B8B0D4"/>
                </a:solidFill>
                <a:latin typeface="Calibri"/>
                <a:ea typeface="Calibri"/>
                <a:cs typeface="Calibri"/>
              </a:defRPr>
            </a:pPr>
            <a:r>
              <a:rPr sz="1050" b="0">
                <a:solidFill>
                  <a:srgbClr val="B8B0D4"/>
                </a:solidFill>
                <a:latin typeface="Calibri"/>
                <a:ea typeface="Calibri"/>
                <a:cs typeface="Calibri"/>
              </a:rPr>
              <a:t>average SUS score against an 85 target</a:t>
            </a:r>
          </a:p>
        </p:txBody>
      </p:sp>
      <p:sp>
        <p:nvSpPr>
          <p:cNvPr id="21" name="Rectangle: Rounded Corners 20">
            <a:extLst>
              <a:ext uri="{FF2B5EF4-FFF2-40B4-BE49-F238E27FC236}">
                <a16:creationId xmlns:a16="http://schemas.microsoft.com/office/drawing/2014/main" id="{F790E51E-1535-4B43-A10F-6FAD026D512A}"/>
              </a:ext>
            </a:extLst>
          </p:cNvPr>
          <p:cNvSpPr>
            <a:spLocks noGrp="1"/>
          </p:cNvSpPr>
          <p:nvPr/>
        </p:nvSpPr>
        <p:spPr>
          <a:xfrm>
            <a:off x="647700" y="3295650"/>
            <a:ext cx="10153650" cy="2171700"/>
          </a:xfrm>
          <a:prstGeom prst="roundRect">
            <a:avLst>
              <a:gd name="adj" fmla="val 7018"/>
            </a:avLst>
          </a:prstGeom>
          <a:solidFill>
            <a:srgbClr val="2E2750"/>
          </a:solidFill>
          <a:ln w="0">
            <a:noFill/>
          </a:ln>
        </p:spPr>
        <p:txBody>
          <a:bodyPr/>
          <a:lstStyle/>
          <a:p>
            <a:endParaRPr lang="en-MY"/>
          </a:p>
        </p:txBody>
      </p:sp>
      <p:sp>
        <p:nvSpPr>
          <p:cNvPr id="22" name="Rectangle 21">
            <a:extLst>
              <a:ext uri="{FF2B5EF4-FFF2-40B4-BE49-F238E27FC236}">
                <a16:creationId xmlns:a16="http://schemas.microsoft.com/office/drawing/2014/main" id="{B42E1AB5-E29E-4132-B213-41DC6EF1D850}"/>
              </a:ext>
            </a:extLst>
          </p:cNvPr>
          <p:cNvSpPr>
            <a:spLocks noGrp="1"/>
          </p:cNvSpPr>
          <p:nvPr/>
        </p:nvSpPr>
        <p:spPr>
          <a:xfrm>
            <a:off x="914400" y="3552825"/>
            <a:ext cx="2095500" cy="266700"/>
          </a:xfrm>
          <a:prstGeom prst="rect">
            <a:avLst/>
          </a:prstGeom>
          <a:noFill/>
          <a:ln w="0">
            <a:noFill/>
          </a:ln>
        </p:spPr>
        <p:txBody>
          <a:bodyPr wrap="square" lIns="0" tIns="0" rIns="0" bIns="0" anchor="t">
            <a:noAutofit/>
          </a:bodyPr>
          <a:lstStyle/>
          <a:p>
            <a:pPr algn="l">
              <a:defRPr sz="1275" b="0">
                <a:solidFill>
                  <a:srgbClr val="B8B0D4"/>
                </a:solidFill>
                <a:latin typeface="Calibri"/>
                <a:ea typeface="Calibri"/>
                <a:cs typeface="Calibri"/>
              </a:defRPr>
            </a:pPr>
            <a:r>
              <a:rPr sz="1275" b="0">
                <a:solidFill>
                  <a:srgbClr val="B8B0D4"/>
                </a:solidFill>
                <a:latin typeface="Calibri"/>
                <a:ea typeface="Calibri"/>
                <a:cs typeface="Calibri"/>
              </a:rPr>
              <a:t>Reminder app</a:t>
            </a:r>
          </a:p>
        </p:txBody>
      </p:sp>
      <p:sp>
        <p:nvSpPr>
          <p:cNvPr id="23" name="Rectangle 22">
            <a:extLst>
              <a:ext uri="{FF2B5EF4-FFF2-40B4-BE49-F238E27FC236}">
                <a16:creationId xmlns:a16="http://schemas.microsoft.com/office/drawing/2014/main" id="{00AB54C9-5027-4009-8CCD-D9DFB37A6087}"/>
              </a:ext>
            </a:extLst>
          </p:cNvPr>
          <p:cNvSpPr>
            <a:spLocks noGrp="1"/>
          </p:cNvSpPr>
          <p:nvPr/>
        </p:nvSpPr>
        <p:spPr>
          <a:xfrm>
            <a:off x="2755900" y="3533775"/>
            <a:ext cx="381000" cy="285750"/>
          </a:xfrm>
          <a:prstGeom prst="rect">
            <a:avLst/>
          </a:prstGeom>
          <a:noFill/>
          <a:ln w="0">
            <a:noFill/>
          </a:ln>
        </p:spPr>
        <p:txBody>
          <a:bodyPr wrap="square" lIns="0" tIns="0" rIns="0" bIns="0" anchor="t">
            <a:noAutofit/>
          </a:bodyPr>
          <a:lstStyle/>
          <a:p>
            <a:pPr algn="ctr">
              <a:defRPr sz="1800" b="1">
                <a:solidFill>
                  <a:srgbClr val="FF6B62"/>
                </a:solidFill>
                <a:latin typeface="Calibri"/>
                <a:ea typeface="Calibri"/>
                <a:cs typeface="Calibri"/>
              </a:defRPr>
            </a:pPr>
            <a:r>
              <a:rPr sz="1800" b="1">
                <a:solidFill>
                  <a:srgbClr val="FF6B62"/>
                </a:solidFill>
                <a:latin typeface="Calibri"/>
                <a:ea typeface="Calibri"/>
                <a:cs typeface="Calibri"/>
              </a:rPr>
              <a:t>→</a:t>
            </a:r>
          </a:p>
        </p:txBody>
      </p:sp>
      <p:sp>
        <p:nvSpPr>
          <p:cNvPr id="24" name="Rectangle 23">
            <a:extLst>
              <a:ext uri="{FF2B5EF4-FFF2-40B4-BE49-F238E27FC236}">
                <a16:creationId xmlns:a16="http://schemas.microsoft.com/office/drawing/2014/main" id="{09BAD325-383B-4A6F-8B1F-20A55B2EEC56}"/>
              </a:ext>
            </a:extLst>
          </p:cNvPr>
          <p:cNvSpPr>
            <a:spLocks noGrp="1"/>
          </p:cNvSpPr>
          <p:nvPr/>
        </p:nvSpPr>
        <p:spPr>
          <a:xfrm>
            <a:off x="3581400" y="3552825"/>
            <a:ext cx="6858000" cy="285750"/>
          </a:xfrm>
          <a:prstGeom prst="rect">
            <a:avLst/>
          </a:prstGeom>
          <a:noFill/>
          <a:ln w="0">
            <a:noFill/>
          </a:ln>
        </p:spPr>
        <p:txBody>
          <a:bodyPr wrap="square" lIns="0" tIns="0" rIns="0" bIns="0" anchor="t">
            <a:noAutofit/>
          </a:bodyPr>
          <a:lstStyle/>
          <a:p>
            <a:pPr algn="l">
              <a:defRPr sz="1350" b="1">
                <a:solidFill>
                  <a:srgbClr val="F8F6FF"/>
                </a:solidFill>
                <a:latin typeface="Calibri"/>
                <a:ea typeface="Calibri"/>
                <a:cs typeface="Calibri"/>
              </a:defRPr>
            </a:pPr>
            <a:r>
              <a:rPr sz="1350" b="1">
                <a:solidFill>
                  <a:srgbClr val="F8F6FF"/>
                </a:solidFill>
                <a:latin typeface="Calibri"/>
                <a:ea typeface="Calibri"/>
                <a:cs typeface="Calibri"/>
              </a:rPr>
              <a:t>Recurring occurrence engine with response-aware notifications</a:t>
            </a:r>
          </a:p>
        </p:txBody>
      </p:sp>
      <p:sp>
        <p:nvSpPr>
          <p:cNvPr id="25" name="Rectangle 24">
            <a:extLst>
              <a:ext uri="{FF2B5EF4-FFF2-40B4-BE49-F238E27FC236}">
                <a16:creationId xmlns:a16="http://schemas.microsoft.com/office/drawing/2014/main" id="{07CBEFFA-2F94-4485-8817-2065A680B795}"/>
              </a:ext>
            </a:extLst>
          </p:cNvPr>
          <p:cNvSpPr>
            <a:spLocks noGrp="1"/>
          </p:cNvSpPr>
          <p:nvPr/>
        </p:nvSpPr>
        <p:spPr>
          <a:xfrm>
            <a:off x="914400" y="3990975"/>
            <a:ext cx="2095500" cy="266700"/>
          </a:xfrm>
          <a:prstGeom prst="rect">
            <a:avLst/>
          </a:prstGeom>
          <a:noFill/>
          <a:ln w="0">
            <a:noFill/>
          </a:ln>
        </p:spPr>
        <p:txBody>
          <a:bodyPr wrap="square" lIns="0" tIns="0" rIns="0" bIns="0" anchor="t">
            <a:noAutofit/>
          </a:bodyPr>
          <a:lstStyle/>
          <a:p>
            <a:pPr algn="l">
              <a:defRPr sz="1275" b="0">
                <a:solidFill>
                  <a:srgbClr val="B8B0D4"/>
                </a:solidFill>
                <a:latin typeface="Calibri"/>
                <a:ea typeface="Calibri"/>
                <a:cs typeface="Calibri"/>
              </a:defRPr>
            </a:pPr>
            <a:r>
              <a:rPr sz="1275" b="0">
                <a:solidFill>
                  <a:srgbClr val="B8B0D4"/>
                </a:solidFill>
                <a:latin typeface="Calibri"/>
                <a:ea typeface="Calibri"/>
                <a:cs typeface="Calibri"/>
              </a:rPr>
              <a:t>Generic games</a:t>
            </a:r>
          </a:p>
        </p:txBody>
      </p:sp>
      <p:sp>
        <p:nvSpPr>
          <p:cNvPr id="26" name="Rectangle 25">
            <a:extLst>
              <a:ext uri="{FF2B5EF4-FFF2-40B4-BE49-F238E27FC236}">
                <a16:creationId xmlns:a16="http://schemas.microsoft.com/office/drawing/2014/main" id="{AF93FC33-AC19-417A-82E2-9335F5F78AD6}"/>
              </a:ext>
            </a:extLst>
          </p:cNvPr>
          <p:cNvSpPr>
            <a:spLocks noGrp="1"/>
          </p:cNvSpPr>
          <p:nvPr/>
        </p:nvSpPr>
        <p:spPr>
          <a:xfrm>
            <a:off x="2755900" y="3971925"/>
            <a:ext cx="381000" cy="285750"/>
          </a:xfrm>
          <a:prstGeom prst="rect">
            <a:avLst/>
          </a:prstGeom>
          <a:noFill/>
          <a:ln w="0">
            <a:noFill/>
          </a:ln>
        </p:spPr>
        <p:txBody>
          <a:bodyPr wrap="square" lIns="0" tIns="0" rIns="0" bIns="0" anchor="t">
            <a:noAutofit/>
          </a:bodyPr>
          <a:lstStyle/>
          <a:p>
            <a:pPr algn="ctr">
              <a:defRPr sz="1800" b="1">
                <a:solidFill>
                  <a:srgbClr val="FF6B62"/>
                </a:solidFill>
                <a:latin typeface="Calibri"/>
                <a:ea typeface="Calibri"/>
                <a:cs typeface="Calibri"/>
              </a:defRPr>
            </a:pPr>
            <a:r>
              <a:rPr sz="1800" b="1">
                <a:solidFill>
                  <a:srgbClr val="FF6B62"/>
                </a:solidFill>
                <a:latin typeface="Calibri"/>
                <a:ea typeface="Calibri"/>
                <a:cs typeface="Calibri"/>
              </a:rPr>
              <a:t>→</a:t>
            </a:r>
          </a:p>
        </p:txBody>
      </p:sp>
      <p:sp>
        <p:nvSpPr>
          <p:cNvPr id="27" name="Rectangle 26">
            <a:extLst>
              <a:ext uri="{FF2B5EF4-FFF2-40B4-BE49-F238E27FC236}">
                <a16:creationId xmlns:a16="http://schemas.microsoft.com/office/drawing/2014/main" id="{7DB356E8-EED9-4FF4-9DB5-FC5116FBE8C6}"/>
              </a:ext>
            </a:extLst>
          </p:cNvPr>
          <p:cNvSpPr>
            <a:spLocks noGrp="1"/>
          </p:cNvSpPr>
          <p:nvPr/>
        </p:nvSpPr>
        <p:spPr>
          <a:xfrm>
            <a:off x="3581400" y="3990975"/>
            <a:ext cx="6858000" cy="285750"/>
          </a:xfrm>
          <a:prstGeom prst="rect">
            <a:avLst/>
          </a:prstGeom>
          <a:noFill/>
          <a:ln w="0">
            <a:noFill/>
          </a:ln>
        </p:spPr>
        <p:txBody>
          <a:bodyPr wrap="square" lIns="0" tIns="0" rIns="0" bIns="0" anchor="t">
            <a:noAutofit/>
          </a:bodyPr>
          <a:lstStyle/>
          <a:p>
            <a:pPr algn="l">
              <a:defRPr sz="1350" b="1">
                <a:solidFill>
                  <a:srgbClr val="F8F6FF"/>
                </a:solidFill>
                <a:latin typeface="Calibri"/>
                <a:ea typeface="Calibri"/>
                <a:cs typeface="Calibri"/>
              </a:defRPr>
            </a:pPr>
            <a:r>
              <a:rPr sz="1350" b="1">
                <a:solidFill>
                  <a:srgbClr val="F8F6FF"/>
                </a:solidFill>
                <a:latin typeface="Calibri"/>
                <a:ea typeface="Calibri"/>
                <a:cs typeface="Calibri"/>
              </a:rPr>
              <a:t>Dementia type-and-stage game sets with errorless guidance</a:t>
            </a:r>
          </a:p>
        </p:txBody>
      </p:sp>
      <p:sp>
        <p:nvSpPr>
          <p:cNvPr id="28" name="Rectangle 27">
            <a:extLst>
              <a:ext uri="{FF2B5EF4-FFF2-40B4-BE49-F238E27FC236}">
                <a16:creationId xmlns:a16="http://schemas.microsoft.com/office/drawing/2014/main" id="{27FDB8AE-84F9-481C-98C9-385DE6D23E9A}"/>
              </a:ext>
            </a:extLst>
          </p:cNvPr>
          <p:cNvSpPr>
            <a:spLocks noGrp="1"/>
          </p:cNvSpPr>
          <p:nvPr/>
        </p:nvSpPr>
        <p:spPr>
          <a:xfrm>
            <a:off x="914400" y="4429125"/>
            <a:ext cx="2095500" cy="266700"/>
          </a:xfrm>
          <a:prstGeom prst="rect">
            <a:avLst/>
          </a:prstGeom>
          <a:noFill/>
          <a:ln w="0">
            <a:noFill/>
          </a:ln>
        </p:spPr>
        <p:txBody>
          <a:bodyPr wrap="square" lIns="0" tIns="0" rIns="0" bIns="0" anchor="t">
            <a:noAutofit/>
          </a:bodyPr>
          <a:lstStyle/>
          <a:p>
            <a:pPr algn="l">
              <a:defRPr sz="1275" b="0">
                <a:solidFill>
                  <a:srgbClr val="B8B0D4"/>
                </a:solidFill>
                <a:latin typeface="Calibri"/>
                <a:ea typeface="Calibri"/>
                <a:cs typeface="Calibri"/>
              </a:defRPr>
            </a:pPr>
            <a:r>
              <a:rPr sz="1275" b="0">
                <a:solidFill>
                  <a:srgbClr val="B8B0D4"/>
                </a:solidFill>
                <a:latin typeface="Calibri"/>
                <a:ea typeface="Calibri"/>
                <a:cs typeface="Calibri"/>
              </a:rPr>
              <a:t>Fixed challenge</a:t>
            </a:r>
          </a:p>
        </p:txBody>
      </p:sp>
      <p:sp>
        <p:nvSpPr>
          <p:cNvPr id="29" name="Rectangle 28">
            <a:extLst>
              <a:ext uri="{FF2B5EF4-FFF2-40B4-BE49-F238E27FC236}">
                <a16:creationId xmlns:a16="http://schemas.microsoft.com/office/drawing/2014/main" id="{56CDA9CC-143F-4128-A733-FC5C8620B979}"/>
              </a:ext>
            </a:extLst>
          </p:cNvPr>
          <p:cNvSpPr>
            <a:spLocks noGrp="1"/>
          </p:cNvSpPr>
          <p:nvPr/>
        </p:nvSpPr>
        <p:spPr>
          <a:xfrm>
            <a:off x="2755900" y="4410075"/>
            <a:ext cx="381000" cy="285750"/>
          </a:xfrm>
          <a:prstGeom prst="rect">
            <a:avLst/>
          </a:prstGeom>
          <a:noFill/>
          <a:ln w="0">
            <a:noFill/>
          </a:ln>
        </p:spPr>
        <p:txBody>
          <a:bodyPr wrap="square" lIns="0" tIns="0" rIns="0" bIns="0" anchor="t">
            <a:noAutofit/>
          </a:bodyPr>
          <a:lstStyle/>
          <a:p>
            <a:pPr algn="ctr">
              <a:defRPr sz="1800" b="1">
                <a:solidFill>
                  <a:srgbClr val="FF6B62"/>
                </a:solidFill>
                <a:latin typeface="Calibri"/>
                <a:ea typeface="Calibri"/>
                <a:cs typeface="Calibri"/>
              </a:defRPr>
            </a:pPr>
            <a:r>
              <a:rPr sz="1800" b="1">
                <a:solidFill>
                  <a:srgbClr val="FF6B62"/>
                </a:solidFill>
                <a:latin typeface="Calibri"/>
                <a:ea typeface="Calibri"/>
                <a:cs typeface="Calibri"/>
              </a:rPr>
              <a:t>→</a:t>
            </a:r>
          </a:p>
        </p:txBody>
      </p:sp>
      <p:sp>
        <p:nvSpPr>
          <p:cNvPr id="30" name="Rectangle 29">
            <a:extLst>
              <a:ext uri="{FF2B5EF4-FFF2-40B4-BE49-F238E27FC236}">
                <a16:creationId xmlns:a16="http://schemas.microsoft.com/office/drawing/2014/main" id="{A00EA147-E6DD-4B5E-9F43-02399F40C62B}"/>
              </a:ext>
            </a:extLst>
          </p:cNvPr>
          <p:cNvSpPr>
            <a:spLocks noGrp="1"/>
          </p:cNvSpPr>
          <p:nvPr/>
        </p:nvSpPr>
        <p:spPr>
          <a:xfrm>
            <a:off x="3581400" y="4429125"/>
            <a:ext cx="6858000" cy="285750"/>
          </a:xfrm>
          <a:prstGeom prst="rect">
            <a:avLst/>
          </a:prstGeom>
          <a:noFill/>
          <a:ln w="0">
            <a:noFill/>
          </a:ln>
        </p:spPr>
        <p:txBody>
          <a:bodyPr wrap="square" lIns="0" tIns="0" rIns="0" bIns="0" anchor="t">
            <a:noAutofit/>
          </a:bodyPr>
          <a:lstStyle/>
          <a:p>
            <a:pPr algn="l">
              <a:defRPr sz="1350" b="1">
                <a:solidFill>
                  <a:srgbClr val="F8F6FF"/>
                </a:solidFill>
                <a:latin typeface="Calibri"/>
                <a:ea typeface="Calibri"/>
                <a:cs typeface="Calibri"/>
              </a:defRPr>
            </a:pPr>
            <a:r>
              <a:rPr sz="1350" b="1">
                <a:solidFill>
                  <a:srgbClr val="F8F6FF"/>
                </a:solidFill>
                <a:latin typeface="Calibri"/>
                <a:ea typeface="Calibri"/>
                <a:cs typeface="Calibri"/>
              </a:rPr>
              <a:t>Per-game adaptive difficulty with caregiver override and audit history</a:t>
            </a:r>
          </a:p>
        </p:txBody>
      </p:sp>
      <p:sp>
        <p:nvSpPr>
          <p:cNvPr id="31" name="Rectangle 30">
            <a:extLst>
              <a:ext uri="{FF2B5EF4-FFF2-40B4-BE49-F238E27FC236}">
                <a16:creationId xmlns:a16="http://schemas.microsoft.com/office/drawing/2014/main" id="{44F95BB8-8270-4427-8AAE-DD39F515B7DA}"/>
              </a:ext>
            </a:extLst>
          </p:cNvPr>
          <p:cNvSpPr>
            <a:spLocks noGrp="1"/>
          </p:cNvSpPr>
          <p:nvPr/>
        </p:nvSpPr>
        <p:spPr>
          <a:xfrm>
            <a:off x="914400" y="4867275"/>
            <a:ext cx="2095500" cy="266700"/>
          </a:xfrm>
          <a:prstGeom prst="rect">
            <a:avLst/>
          </a:prstGeom>
          <a:noFill/>
          <a:ln w="0">
            <a:noFill/>
          </a:ln>
        </p:spPr>
        <p:txBody>
          <a:bodyPr wrap="square" lIns="0" tIns="0" rIns="0" bIns="0" anchor="t">
            <a:noAutofit/>
          </a:bodyPr>
          <a:lstStyle/>
          <a:p>
            <a:pPr algn="l">
              <a:defRPr sz="1275" b="0">
                <a:solidFill>
                  <a:srgbClr val="B8B0D4"/>
                </a:solidFill>
                <a:latin typeface="Calibri"/>
                <a:ea typeface="Calibri"/>
                <a:cs typeface="Calibri"/>
              </a:defRPr>
            </a:pPr>
            <a:r>
              <a:rPr sz="1275" b="0" dirty="0">
                <a:solidFill>
                  <a:srgbClr val="B8B0D4"/>
                </a:solidFill>
                <a:latin typeface="Calibri"/>
                <a:ea typeface="Calibri"/>
                <a:cs typeface="Calibri"/>
              </a:rPr>
              <a:t>Basic monitoring</a:t>
            </a:r>
          </a:p>
        </p:txBody>
      </p:sp>
      <p:sp>
        <p:nvSpPr>
          <p:cNvPr id="32" name="Rectangle 31">
            <a:extLst>
              <a:ext uri="{FF2B5EF4-FFF2-40B4-BE49-F238E27FC236}">
                <a16:creationId xmlns:a16="http://schemas.microsoft.com/office/drawing/2014/main" id="{0658FBA2-DAEE-4A32-A585-058512CEB9D0}"/>
              </a:ext>
            </a:extLst>
          </p:cNvPr>
          <p:cNvSpPr>
            <a:spLocks noGrp="1"/>
          </p:cNvSpPr>
          <p:nvPr/>
        </p:nvSpPr>
        <p:spPr>
          <a:xfrm>
            <a:off x="2755900" y="4848225"/>
            <a:ext cx="381000" cy="285750"/>
          </a:xfrm>
          <a:prstGeom prst="rect">
            <a:avLst/>
          </a:prstGeom>
          <a:noFill/>
          <a:ln w="0">
            <a:noFill/>
          </a:ln>
        </p:spPr>
        <p:txBody>
          <a:bodyPr wrap="square" lIns="0" tIns="0" rIns="0" bIns="0" anchor="t">
            <a:noAutofit/>
          </a:bodyPr>
          <a:lstStyle/>
          <a:p>
            <a:pPr algn="ctr">
              <a:defRPr sz="1800" b="1">
                <a:solidFill>
                  <a:srgbClr val="FF6B62"/>
                </a:solidFill>
                <a:latin typeface="Calibri"/>
                <a:ea typeface="Calibri"/>
                <a:cs typeface="Calibri"/>
              </a:defRPr>
            </a:pPr>
            <a:r>
              <a:rPr sz="1800" b="1">
                <a:solidFill>
                  <a:srgbClr val="FF6B62"/>
                </a:solidFill>
                <a:latin typeface="Calibri"/>
                <a:ea typeface="Calibri"/>
                <a:cs typeface="Calibri"/>
              </a:rPr>
              <a:t>→</a:t>
            </a:r>
          </a:p>
        </p:txBody>
      </p:sp>
      <p:sp>
        <p:nvSpPr>
          <p:cNvPr id="33" name="Rectangle 32">
            <a:extLst>
              <a:ext uri="{FF2B5EF4-FFF2-40B4-BE49-F238E27FC236}">
                <a16:creationId xmlns:a16="http://schemas.microsoft.com/office/drawing/2014/main" id="{5A2787DD-F429-429C-9E51-41DF6D383EEA}"/>
              </a:ext>
            </a:extLst>
          </p:cNvPr>
          <p:cNvSpPr>
            <a:spLocks noGrp="1"/>
          </p:cNvSpPr>
          <p:nvPr/>
        </p:nvSpPr>
        <p:spPr>
          <a:xfrm>
            <a:off x="3581400" y="4867275"/>
            <a:ext cx="6858000" cy="285750"/>
          </a:xfrm>
          <a:prstGeom prst="rect">
            <a:avLst/>
          </a:prstGeom>
          <a:noFill/>
          <a:ln w="0">
            <a:noFill/>
          </a:ln>
        </p:spPr>
        <p:txBody>
          <a:bodyPr wrap="square" lIns="0" tIns="0" rIns="0" bIns="0" anchor="t">
            <a:noAutofit/>
          </a:bodyPr>
          <a:lstStyle/>
          <a:p>
            <a:pPr algn="l">
              <a:defRPr sz="1350" b="1">
                <a:solidFill>
                  <a:srgbClr val="F8F6FF"/>
                </a:solidFill>
                <a:latin typeface="Calibri"/>
                <a:ea typeface="Calibri"/>
                <a:cs typeface="Calibri"/>
              </a:defRPr>
            </a:pPr>
            <a:r>
              <a:rPr sz="1350" b="1" dirty="0">
                <a:solidFill>
                  <a:srgbClr val="F8F6FF"/>
                </a:solidFill>
                <a:latin typeface="Calibri"/>
                <a:ea typeface="Calibri"/>
                <a:cs typeface="Calibri"/>
              </a:rPr>
              <a:t>Period analytics, game statistics and caregiver-only risk indicators</a:t>
            </a:r>
          </a:p>
        </p:txBody>
      </p:sp>
      <p:sp>
        <p:nvSpPr>
          <p:cNvPr id="34" name="Rectangle 33">
            <a:extLst>
              <a:ext uri="{FF2B5EF4-FFF2-40B4-BE49-F238E27FC236}">
                <a16:creationId xmlns:a16="http://schemas.microsoft.com/office/drawing/2014/main" id="{CBB3CBDE-41C9-4937-8121-7546824F35E8}"/>
              </a:ext>
            </a:extLst>
          </p:cNvPr>
          <p:cNvSpPr>
            <a:spLocks noGrp="1"/>
          </p:cNvSpPr>
          <p:nvPr/>
        </p:nvSpPr>
        <p:spPr>
          <a:xfrm>
            <a:off x="533400" y="6543675"/>
            <a:ext cx="9525000" cy="171450"/>
          </a:xfrm>
          <a:prstGeom prst="rect">
            <a:avLst/>
          </a:prstGeom>
          <a:noFill/>
          <a:ln w="0">
            <a:noFill/>
          </a:ln>
        </p:spPr>
        <p:txBody>
          <a:bodyPr wrap="square" lIns="0" tIns="0" rIns="0" bIns="0" anchor="t">
            <a:noAutofit/>
          </a:bodyPr>
          <a:lstStyle/>
          <a:p>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Sources: earlier proposal pp. 44–45; final report pp. 21–30, 51–54, 224–225.</a:t>
            </a:r>
          </a:p>
        </p:txBody>
      </p:sp>
      <p:sp>
        <p:nvSpPr>
          <p:cNvPr id="35" name="Rectangle 34">
            <a:extLst>
              <a:ext uri="{FF2B5EF4-FFF2-40B4-BE49-F238E27FC236}">
                <a16:creationId xmlns:a16="http://schemas.microsoft.com/office/drawing/2014/main" id="{5F9AD8E6-DCD1-4ADF-91F0-7877EED8FA25}"/>
              </a:ext>
            </a:extLst>
          </p:cNvPr>
          <p:cNvSpPr>
            <a:spLocks noGrp="1"/>
          </p:cNvSpPr>
          <p:nvPr/>
        </p:nvSpPr>
        <p:spPr>
          <a:xfrm>
            <a:off x="11277600" y="6496050"/>
            <a:ext cx="476250" cy="209550"/>
          </a:xfrm>
          <a:prstGeom prst="rect">
            <a:avLst/>
          </a:prstGeom>
          <a:noFill/>
          <a:ln w="0">
            <a:noFill/>
          </a:ln>
        </p:spPr>
        <p:txBody>
          <a:bodyPr wrap="square" lIns="0" tIns="0" rIns="0" bIns="0" anchor="t">
            <a:noAutofit/>
          </a:bodyPr>
          <a:lstStyle/>
          <a:p>
            <a:pPr algn="r">
              <a:defRPr sz="975" b="1">
                <a:solidFill>
                  <a:srgbClr val="B8B0D4"/>
                </a:solidFill>
                <a:latin typeface="Calibri"/>
                <a:ea typeface="Calibri"/>
                <a:cs typeface="Calibri"/>
              </a:defRPr>
            </a:pPr>
            <a:r>
              <a:rPr sz="975" b="1">
                <a:solidFill>
                  <a:srgbClr val="B8B0D4"/>
                </a:solidFill>
                <a:latin typeface="Calibri"/>
                <a:ea typeface="Calibri"/>
                <a:cs typeface="Calibri"/>
              </a:rPr>
              <a:t>02</a:t>
            </a:r>
          </a:p>
        </p:txBody>
      </p:sp>
    </p:spTree>
    <p:extLst>
      <p:ext uri="{BB962C8B-B14F-4D97-AF65-F5344CB8AC3E}">
        <p14:creationId xmlns:p14="http://schemas.microsoft.com/office/powerpoint/2010/main" val="6366481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530"/>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794C7AD-3632-422C-B35C-A5B6ECA88011}"/>
              </a:ext>
            </a:extLst>
          </p:cNvPr>
          <p:cNvSpPr>
            <a:spLocks noGrp="1"/>
          </p:cNvSpPr>
          <p:nvPr/>
        </p:nvSpPr>
        <p:spPr>
          <a:xfrm>
            <a:off x="0" y="0"/>
            <a:ext cx="133350" cy="6858000"/>
          </a:xfrm>
          <a:prstGeom prst="rect">
            <a:avLst/>
          </a:prstGeom>
          <a:solidFill>
            <a:srgbClr val="FF6B62"/>
          </a:solidFill>
          <a:ln w="0">
            <a:noFill/>
          </a:ln>
        </p:spPr>
        <p:txBody>
          <a:bodyPr/>
          <a:lstStyle/>
          <a:p>
            <a:endParaRPr lang="en-MY"/>
          </a:p>
        </p:txBody>
      </p:sp>
      <p:sp>
        <p:nvSpPr>
          <p:cNvPr id="2" name="Rectangle 1">
            <a:extLst>
              <a:ext uri="{FF2B5EF4-FFF2-40B4-BE49-F238E27FC236}">
                <a16:creationId xmlns:a16="http://schemas.microsoft.com/office/drawing/2014/main" id="{4C61D332-E973-4695-B2D8-5BDCA8FFF4A3}"/>
              </a:ext>
            </a:extLst>
          </p:cNvPr>
          <p:cNvSpPr>
            <a:spLocks noGrp="1"/>
          </p:cNvSpPr>
          <p:nvPr/>
        </p:nvSpPr>
        <p:spPr>
          <a:xfrm>
            <a:off x="533400" y="323850"/>
            <a:ext cx="2571750" cy="247650"/>
          </a:xfrm>
          <a:prstGeom prst="rect">
            <a:avLst/>
          </a:prstGeom>
          <a:noFill/>
          <a:ln w="0">
            <a:noFill/>
          </a:ln>
        </p:spPr>
        <p:txBody>
          <a:bodyPr wrap="square" lIns="0" tIns="0" rIns="0" bIns="0" anchor="t">
            <a:noAutofit/>
          </a:bodyPr>
          <a:lstStyle/>
          <a:p>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1 · INTRODUCTION</a:t>
            </a:r>
          </a:p>
        </p:txBody>
      </p:sp>
      <p:sp>
        <p:nvSpPr>
          <p:cNvPr id="3" name="Rectangle 2">
            <a:extLst>
              <a:ext uri="{FF2B5EF4-FFF2-40B4-BE49-F238E27FC236}">
                <a16:creationId xmlns:a16="http://schemas.microsoft.com/office/drawing/2014/main" id="{47FC5773-3B84-4FEC-A3C4-44CAF11EC118}"/>
              </a:ext>
            </a:extLst>
          </p:cNvPr>
          <p:cNvSpPr>
            <a:spLocks noGrp="1"/>
          </p:cNvSpPr>
          <p:nvPr/>
        </p:nvSpPr>
        <p:spPr>
          <a:xfrm>
            <a:off x="533400" y="619125"/>
            <a:ext cx="11049000" cy="533400"/>
          </a:xfrm>
          <a:prstGeom prst="rect">
            <a:avLst/>
          </a:prstGeom>
          <a:noFill/>
          <a:ln w="0">
            <a:noFill/>
          </a:ln>
        </p:spPr>
        <p:txBody>
          <a:bodyPr wrap="square" lIns="0" tIns="0" rIns="0" bIns="0" anchor="t">
            <a:noAutofit/>
          </a:bodyPr>
          <a:lstStyle/>
          <a:p>
            <a:pPr algn="l">
              <a:defRPr sz="2700" b="1">
                <a:solidFill>
                  <a:srgbClr val="F8F6FF"/>
                </a:solidFill>
                <a:latin typeface="Calibri"/>
                <a:ea typeface="Calibri"/>
                <a:cs typeface="Calibri"/>
              </a:defRPr>
            </a:pPr>
            <a:r>
              <a:rPr sz="2700" b="1" dirty="0">
                <a:solidFill>
                  <a:srgbClr val="F8F6FF"/>
                </a:solidFill>
                <a:latin typeface="Calibri"/>
                <a:ea typeface="Calibri"/>
                <a:cs typeface="Calibri"/>
              </a:rPr>
              <a:t>Problem statement evolution</a:t>
            </a:r>
          </a:p>
        </p:txBody>
      </p:sp>
      <p:sp>
        <p:nvSpPr>
          <p:cNvPr id="4" name="Rectangle 3">
            <a:extLst>
              <a:ext uri="{FF2B5EF4-FFF2-40B4-BE49-F238E27FC236}">
                <a16:creationId xmlns:a16="http://schemas.microsoft.com/office/drawing/2014/main" id="{30E25A83-DA8A-43E6-B91E-6EF9361BBA82}"/>
              </a:ext>
            </a:extLst>
          </p:cNvPr>
          <p:cNvSpPr>
            <a:spLocks noGrp="1"/>
          </p:cNvSpPr>
          <p:nvPr/>
        </p:nvSpPr>
        <p:spPr>
          <a:xfrm>
            <a:off x="552450" y="1143000"/>
            <a:ext cx="10668000" cy="323850"/>
          </a:xfrm>
          <a:prstGeom prst="rect">
            <a:avLst/>
          </a:prstGeom>
          <a:noFill/>
          <a:ln w="0">
            <a:noFill/>
          </a:ln>
        </p:spPr>
        <p:txBody>
          <a:bodyPr wrap="square" lIns="0" tIns="0" rIns="0" bIns="0" anchor="t">
            <a:noAutofit/>
          </a:bodyPr>
          <a:lstStyle/>
          <a:p>
            <a:pPr algn="l">
              <a:defRPr sz="1350" b="0">
                <a:solidFill>
                  <a:srgbClr val="B8B0D4"/>
                </a:solidFill>
                <a:latin typeface="Calibri"/>
                <a:ea typeface="Calibri"/>
                <a:cs typeface="Calibri"/>
              </a:defRPr>
            </a:pPr>
            <a:r>
              <a:rPr sz="1350" b="0">
                <a:solidFill>
                  <a:srgbClr val="B8B0D4"/>
                </a:solidFill>
                <a:latin typeface="Calibri"/>
                <a:ea typeface="Calibri"/>
                <a:cs typeface="Calibri"/>
              </a:rPr>
              <a:t>Four original problems remained; a fifth was added after development exposed the need for personalisation.</a:t>
            </a:r>
          </a:p>
        </p:txBody>
      </p:sp>
      <p:sp>
        <p:nvSpPr>
          <p:cNvPr id="5" name="Rectangle 4">
            <a:extLst>
              <a:ext uri="{FF2B5EF4-FFF2-40B4-BE49-F238E27FC236}">
                <a16:creationId xmlns:a16="http://schemas.microsoft.com/office/drawing/2014/main" id="{FB2120D4-83CE-457D-8AA1-8D38B89BA264}"/>
              </a:ext>
            </a:extLst>
          </p:cNvPr>
          <p:cNvSpPr>
            <a:spLocks noGrp="1"/>
          </p:cNvSpPr>
          <p:nvPr/>
        </p:nvSpPr>
        <p:spPr>
          <a:xfrm>
            <a:off x="647700" y="1676400"/>
            <a:ext cx="609600" cy="457200"/>
          </a:xfrm>
          <a:prstGeom prst="rect">
            <a:avLst/>
          </a:prstGeom>
          <a:noFill/>
          <a:ln w="0">
            <a:noFill/>
          </a:ln>
        </p:spPr>
        <p:txBody>
          <a:bodyPr wrap="square" lIns="0" tIns="0" rIns="0" bIns="0" anchor="t">
            <a:noAutofit/>
          </a:bodyPr>
          <a:lstStyle/>
          <a:p>
            <a:pPr algn="l">
              <a:defRPr sz="2250" b="1">
                <a:solidFill>
                  <a:srgbClr val="8F87AC"/>
                </a:solidFill>
                <a:latin typeface="Calibri"/>
                <a:ea typeface="Calibri"/>
                <a:cs typeface="Calibri"/>
              </a:defRPr>
            </a:pPr>
            <a:r>
              <a:rPr sz="2250" b="1">
                <a:solidFill>
                  <a:srgbClr val="8F87AC"/>
                </a:solidFill>
                <a:latin typeface="Calibri"/>
                <a:ea typeface="Calibri"/>
                <a:cs typeface="Calibri"/>
              </a:rPr>
              <a:t>01</a:t>
            </a:r>
          </a:p>
        </p:txBody>
      </p:sp>
      <p:sp>
        <p:nvSpPr>
          <p:cNvPr id="6" name="Rectangle 5">
            <a:extLst>
              <a:ext uri="{FF2B5EF4-FFF2-40B4-BE49-F238E27FC236}">
                <a16:creationId xmlns:a16="http://schemas.microsoft.com/office/drawing/2014/main" id="{816D6743-56AB-4763-A673-983F60FD5103}"/>
              </a:ext>
            </a:extLst>
          </p:cNvPr>
          <p:cNvSpPr>
            <a:spLocks noGrp="1"/>
          </p:cNvSpPr>
          <p:nvPr/>
        </p:nvSpPr>
        <p:spPr>
          <a:xfrm>
            <a:off x="1333500" y="1685925"/>
            <a:ext cx="4457700" cy="285750"/>
          </a:xfrm>
          <a:prstGeom prst="rect">
            <a:avLst/>
          </a:prstGeom>
          <a:noFill/>
          <a:ln w="0">
            <a:noFill/>
          </a:ln>
        </p:spPr>
        <p:txBody>
          <a:bodyPr wrap="square" lIns="0" tIns="0" rIns="0" bIns="0" anchor="t">
            <a:noAutofit/>
          </a:bodyPr>
          <a:lstStyle/>
          <a:p>
            <a:pPr>
              <a:defRPr sz="1650" b="1">
                <a:solidFill>
                  <a:srgbClr val="F8F6FF"/>
                </a:solidFill>
                <a:latin typeface="Calibri"/>
                <a:ea typeface="Calibri"/>
                <a:cs typeface="Calibri"/>
              </a:defRPr>
            </a:pPr>
            <a:r>
              <a:rPr lang="en-GB" sz="1650" b="1" dirty="0"/>
              <a:t>Difficulty in Managing Daily Tasks and Medications</a:t>
            </a:r>
            <a:endParaRPr sz="1650" b="1" dirty="0">
              <a:solidFill>
                <a:srgbClr val="F8F6FF"/>
              </a:solidFill>
              <a:latin typeface="Calibri"/>
              <a:ea typeface="Calibri"/>
              <a:cs typeface="Calibri"/>
            </a:endParaRPr>
          </a:p>
        </p:txBody>
      </p:sp>
      <p:sp>
        <p:nvSpPr>
          <p:cNvPr id="7" name="Rectangle 6">
            <a:extLst>
              <a:ext uri="{FF2B5EF4-FFF2-40B4-BE49-F238E27FC236}">
                <a16:creationId xmlns:a16="http://schemas.microsoft.com/office/drawing/2014/main" id="{FF35DEA1-B074-42F8-B238-A4D00CB70B54}"/>
              </a:ext>
            </a:extLst>
          </p:cNvPr>
          <p:cNvSpPr>
            <a:spLocks noGrp="1"/>
          </p:cNvSpPr>
          <p:nvPr/>
        </p:nvSpPr>
        <p:spPr>
          <a:xfrm>
            <a:off x="1333500" y="2000250"/>
            <a:ext cx="4457700" cy="514350"/>
          </a:xfrm>
          <a:prstGeom prst="rect">
            <a:avLst/>
          </a:prstGeom>
          <a:noFill/>
          <a:ln w="0">
            <a:noFill/>
          </a:ln>
        </p:spPr>
        <p:txBody>
          <a:bodyPr wrap="square" lIns="0" tIns="0" rIns="0" bIns="0" anchor="t">
            <a:noAutofit/>
          </a:bodyPr>
          <a:lstStyle/>
          <a:p>
            <a:pPr algn="l">
              <a:lnSpc>
                <a:spcPct val="105000"/>
              </a:lnSpc>
              <a:buNone/>
              <a:defRPr sz="1200" b="0">
                <a:solidFill>
                  <a:srgbClr val="B8B0D4"/>
                </a:solidFill>
                <a:latin typeface="Calibri"/>
                <a:ea typeface="Calibri"/>
                <a:cs typeface="Calibri"/>
              </a:defRPr>
            </a:pPr>
            <a:r>
              <a:rPr sz="1200" b="0" dirty="0">
                <a:solidFill>
                  <a:srgbClr val="B8B0D4"/>
                </a:solidFill>
                <a:latin typeface="Calibri"/>
                <a:ea typeface="Calibri"/>
                <a:cs typeface="Calibri"/>
              </a:rPr>
              <a:t>Memory and executive-function decline made routine adherence difficult.</a:t>
            </a:r>
          </a:p>
        </p:txBody>
      </p:sp>
      <p:sp>
        <p:nvSpPr>
          <p:cNvPr id="8" name="Rectangle 7">
            <a:extLst>
              <a:ext uri="{FF2B5EF4-FFF2-40B4-BE49-F238E27FC236}">
                <a16:creationId xmlns:a16="http://schemas.microsoft.com/office/drawing/2014/main" id="{1686F3F2-9F14-44D7-9284-50E8D36F20B1}"/>
              </a:ext>
            </a:extLst>
          </p:cNvPr>
          <p:cNvSpPr>
            <a:spLocks noGrp="1"/>
          </p:cNvSpPr>
          <p:nvPr/>
        </p:nvSpPr>
        <p:spPr>
          <a:xfrm>
            <a:off x="647700" y="2647950"/>
            <a:ext cx="609600" cy="457200"/>
          </a:xfrm>
          <a:prstGeom prst="rect">
            <a:avLst/>
          </a:prstGeom>
          <a:noFill/>
          <a:ln w="0">
            <a:noFill/>
          </a:ln>
        </p:spPr>
        <p:txBody>
          <a:bodyPr wrap="square" lIns="0" tIns="0" rIns="0" bIns="0" anchor="t">
            <a:noAutofit/>
          </a:bodyPr>
          <a:lstStyle/>
          <a:p>
            <a:pPr algn="l">
              <a:defRPr sz="2250" b="1">
                <a:solidFill>
                  <a:srgbClr val="8F87AC"/>
                </a:solidFill>
                <a:latin typeface="Calibri"/>
                <a:ea typeface="Calibri"/>
                <a:cs typeface="Calibri"/>
              </a:defRPr>
            </a:pPr>
            <a:r>
              <a:rPr sz="2250" b="1">
                <a:solidFill>
                  <a:srgbClr val="8F87AC"/>
                </a:solidFill>
                <a:latin typeface="Calibri"/>
                <a:ea typeface="Calibri"/>
                <a:cs typeface="Calibri"/>
              </a:rPr>
              <a:t>02</a:t>
            </a:r>
          </a:p>
        </p:txBody>
      </p:sp>
      <p:sp>
        <p:nvSpPr>
          <p:cNvPr id="9" name="Rectangle 8">
            <a:extLst>
              <a:ext uri="{FF2B5EF4-FFF2-40B4-BE49-F238E27FC236}">
                <a16:creationId xmlns:a16="http://schemas.microsoft.com/office/drawing/2014/main" id="{50A1EC29-A6E8-4FD8-9B8A-4BDAB3A0DA35}"/>
              </a:ext>
            </a:extLst>
          </p:cNvPr>
          <p:cNvSpPr>
            <a:spLocks noGrp="1"/>
          </p:cNvSpPr>
          <p:nvPr/>
        </p:nvSpPr>
        <p:spPr>
          <a:xfrm>
            <a:off x="1333500" y="2657475"/>
            <a:ext cx="4457700" cy="285750"/>
          </a:xfrm>
          <a:prstGeom prst="rect">
            <a:avLst/>
          </a:prstGeom>
          <a:noFill/>
          <a:ln w="0">
            <a:noFill/>
          </a:ln>
        </p:spPr>
        <p:txBody>
          <a:bodyPr wrap="square" lIns="0" tIns="0" rIns="0" bIns="0" anchor="t">
            <a:noAutofit/>
          </a:bodyPr>
          <a:lstStyle/>
          <a:p>
            <a:pPr>
              <a:defRPr sz="1650" b="1">
                <a:solidFill>
                  <a:srgbClr val="F8F6FF"/>
                </a:solidFill>
                <a:latin typeface="Calibri"/>
                <a:ea typeface="Calibri"/>
                <a:cs typeface="Calibri"/>
              </a:defRPr>
            </a:pPr>
            <a:r>
              <a:rPr lang="en-GB" sz="1650" b="1" dirty="0"/>
              <a:t>Lack of Motivational Support in Dementia Care Routines</a:t>
            </a:r>
            <a:endParaRPr sz="1650" b="1" dirty="0">
              <a:solidFill>
                <a:srgbClr val="F8F6FF"/>
              </a:solidFill>
              <a:latin typeface="Calibri"/>
              <a:ea typeface="Calibri"/>
              <a:cs typeface="Calibri"/>
            </a:endParaRPr>
          </a:p>
        </p:txBody>
      </p:sp>
      <p:sp>
        <p:nvSpPr>
          <p:cNvPr id="10" name="Rectangle 9">
            <a:extLst>
              <a:ext uri="{FF2B5EF4-FFF2-40B4-BE49-F238E27FC236}">
                <a16:creationId xmlns:a16="http://schemas.microsoft.com/office/drawing/2014/main" id="{3216964A-0003-4659-AC46-B4E66930A88C}"/>
              </a:ext>
            </a:extLst>
          </p:cNvPr>
          <p:cNvSpPr>
            <a:spLocks noGrp="1"/>
          </p:cNvSpPr>
          <p:nvPr/>
        </p:nvSpPr>
        <p:spPr>
          <a:xfrm>
            <a:off x="1333500" y="3167063"/>
            <a:ext cx="4457700" cy="285750"/>
          </a:xfrm>
          <a:prstGeom prst="rect">
            <a:avLst/>
          </a:prstGeom>
          <a:noFill/>
          <a:ln w="0">
            <a:noFill/>
          </a:ln>
        </p:spPr>
        <p:txBody>
          <a:bodyPr wrap="square" lIns="0" tIns="0" rIns="0" bIns="0" anchor="t">
            <a:noAutofit/>
          </a:bodyPr>
          <a:lstStyle/>
          <a:p>
            <a:pPr algn="l">
              <a:lnSpc>
                <a:spcPct val="105000"/>
              </a:lnSpc>
              <a:buNone/>
              <a:defRPr sz="1200" b="0">
                <a:solidFill>
                  <a:srgbClr val="B8B0D4"/>
                </a:solidFill>
                <a:latin typeface="Calibri"/>
                <a:ea typeface="Calibri"/>
                <a:cs typeface="Calibri"/>
              </a:defRPr>
            </a:pPr>
            <a:r>
              <a:rPr sz="1200" b="0" dirty="0">
                <a:solidFill>
                  <a:srgbClr val="B8B0D4"/>
                </a:solidFill>
                <a:latin typeface="Calibri"/>
                <a:ea typeface="Calibri"/>
                <a:cs typeface="Calibri"/>
              </a:rPr>
              <a:t>Traditional prompts alone did not sustain participation.</a:t>
            </a:r>
          </a:p>
        </p:txBody>
      </p:sp>
      <p:sp>
        <p:nvSpPr>
          <p:cNvPr id="11" name="Rectangle 10">
            <a:extLst>
              <a:ext uri="{FF2B5EF4-FFF2-40B4-BE49-F238E27FC236}">
                <a16:creationId xmlns:a16="http://schemas.microsoft.com/office/drawing/2014/main" id="{8142B939-B618-4D3F-AC67-F997964DBDC4}"/>
              </a:ext>
            </a:extLst>
          </p:cNvPr>
          <p:cNvSpPr>
            <a:spLocks noGrp="1"/>
          </p:cNvSpPr>
          <p:nvPr/>
        </p:nvSpPr>
        <p:spPr>
          <a:xfrm>
            <a:off x="647700" y="3619500"/>
            <a:ext cx="609600" cy="457200"/>
          </a:xfrm>
          <a:prstGeom prst="rect">
            <a:avLst/>
          </a:prstGeom>
          <a:noFill/>
          <a:ln w="0">
            <a:noFill/>
          </a:ln>
        </p:spPr>
        <p:txBody>
          <a:bodyPr wrap="square" lIns="0" tIns="0" rIns="0" bIns="0" anchor="t">
            <a:noAutofit/>
          </a:bodyPr>
          <a:lstStyle/>
          <a:p>
            <a:pPr algn="l">
              <a:defRPr sz="2250" b="1">
                <a:solidFill>
                  <a:srgbClr val="8F87AC"/>
                </a:solidFill>
                <a:latin typeface="Calibri"/>
                <a:ea typeface="Calibri"/>
                <a:cs typeface="Calibri"/>
              </a:defRPr>
            </a:pPr>
            <a:r>
              <a:rPr sz="2250" b="1">
                <a:solidFill>
                  <a:srgbClr val="8F87AC"/>
                </a:solidFill>
                <a:latin typeface="Calibri"/>
                <a:ea typeface="Calibri"/>
                <a:cs typeface="Calibri"/>
              </a:rPr>
              <a:t>03</a:t>
            </a:r>
          </a:p>
        </p:txBody>
      </p:sp>
      <p:sp>
        <p:nvSpPr>
          <p:cNvPr id="12" name="Rectangle 11">
            <a:extLst>
              <a:ext uri="{FF2B5EF4-FFF2-40B4-BE49-F238E27FC236}">
                <a16:creationId xmlns:a16="http://schemas.microsoft.com/office/drawing/2014/main" id="{308275FD-9E6A-47E0-B4A4-F6421E67F9A7}"/>
              </a:ext>
            </a:extLst>
          </p:cNvPr>
          <p:cNvSpPr>
            <a:spLocks noGrp="1"/>
          </p:cNvSpPr>
          <p:nvPr/>
        </p:nvSpPr>
        <p:spPr>
          <a:xfrm>
            <a:off x="1333500" y="3629024"/>
            <a:ext cx="4457700" cy="514349"/>
          </a:xfrm>
          <a:prstGeom prst="rect">
            <a:avLst/>
          </a:prstGeom>
          <a:noFill/>
          <a:ln w="0">
            <a:noFill/>
          </a:ln>
        </p:spPr>
        <p:txBody>
          <a:bodyPr wrap="square" lIns="0" tIns="0" rIns="0" bIns="0" anchor="t">
            <a:noAutofit/>
          </a:bodyPr>
          <a:lstStyle/>
          <a:p>
            <a:pPr>
              <a:defRPr sz="1650" b="1">
                <a:solidFill>
                  <a:srgbClr val="F8F6FF"/>
                </a:solidFill>
                <a:latin typeface="Calibri"/>
                <a:ea typeface="Calibri"/>
                <a:cs typeface="Calibri"/>
              </a:defRPr>
            </a:pPr>
            <a:r>
              <a:rPr lang="en-GB" sz="1650" b="1" dirty="0"/>
              <a:t>Poor Usability and Cognitive Overload in Existing Applications</a:t>
            </a:r>
            <a:endParaRPr sz="1650" b="1" dirty="0">
              <a:solidFill>
                <a:srgbClr val="F8F6FF"/>
              </a:solidFill>
              <a:latin typeface="Calibri"/>
              <a:ea typeface="Calibri"/>
              <a:cs typeface="Calibri"/>
            </a:endParaRPr>
          </a:p>
        </p:txBody>
      </p:sp>
      <p:sp>
        <p:nvSpPr>
          <p:cNvPr id="13" name="Rectangle 12">
            <a:extLst>
              <a:ext uri="{FF2B5EF4-FFF2-40B4-BE49-F238E27FC236}">
                <a16:creationId xmlns:a16="http://schemas.microsoft.com/office/drawing/2014/main" id="{FC529961-0565-45BE-BFD1-14343C549353}"/>
              </a:ext>
            </a:extLst>
          </p:cNvPr>
          <p:cNvSpPr>
            <a:spLocks noGrp="1"/>
          </p:cNvSpPr>
          <p:nvPr/>
        </p:nvSpPr>
        <p:spPr>
          <a:xfrm>
            <a:off x="1352550" y="4167188"/>
            <a:ext cx="4457700" cy="514350"/>
          </a:xfrm>
          <a:prstGeom prst="rect">
            <a:avLst/>
          </a:prstGeom>
          <a:noFill/>
          <a:ln w="0">
            <a:noFill/>
          </a:ln>
        </p:spPr>
        <p:txBody>
          <a:bodyPr wrap="square" lIns="0" tIns="0" rIns="0" bIns="0" anchor="t">
            <a:noAutofit/>
          </a:bodyPr>
          <a:lstStyle/>
          <a:p>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Complex interfaces reduced independent use.</a:t>
            </a:r>
          </a:p>
        </p:txBody>
      </p:sp>
      <p:sp>
        <p:nvSpPr>
          <p:cNvPr id="14" name="Rectangle 13">
            <a:extLst>
              <a:ext uri="{FF2B5EF4-FFF2-40B4-BE49-F238E27FC236}">
                <a16:creationId xmlns:a16="http://schemas.microsoft.com/office/drawing/2014/main" id="{23123FC3-04FB-4C5B-BFC2-8D12EF65A482}"/>
              </a:ext>
            </a:extLst>
          </p:cNvPr>
          <p:cNvSpPr>
            <a:spLocks noGrp="1"/>
          </p:cNvSpPr>
          <p:nvPr/>
        </p:nvSpPr>
        <p:spPr>
          <a:xfrm>
            <a:off x="647700" y="4591050"/>
            <a:ext cx="609600" cy="457200"/>
          </a:xfrm>
          <a:prstGeom prst="rect">
            <a:avLst/>
          </a:prstGeom>
          <a:noFill/>
          <a:ln w="0">
            <a:noFill/>
          </a:ln>
        </p:spPr>
        <p:txBody>
          <a:bodyPr wrap="square" lIns="0" tIns="0" rIns="0" bIns="0" anchor="t">
            <a:noAutofit/>
          </a:bodyPr>
          <a:lstStyle/>
          <a:p>
            <a:pPr algn="l">
              <a:defRPr sz="2250" b="1">
                <a:solidFill>
                  <a:srgbClr val="8F87AC"/>
                </a:solidFill>
                <a:latin typeface="Calibri"/>
                <a:ea typeface="Calibri"/>
                <a:cs typeface="Calibri"/>
              </a:defRPr>
            </a:pPr>
            <a:r>
              <a:rPr sz="2250" b="1">
                <a:solidFill>
                  <a:srgbClr val="8F87AC"/>
                </a:solidFill>
                <a:latin typeface="Calibri"/>
                <a:ea typeface="Calibri"/>
                <a:cs typeface="Calibri"/>
              </a:rPr>
              <a:t>04</a:t>
            </a:r>
          </a:p>
        </p:txBody>
      </p:sp>
      <p:sp>
        <p:nvSpPr>
          <p:cNvPr id="15" name="Rectangle 14">
            <a:extLst>
              <a:ext uri="{FF2B5EF4-FFF2-40B4-BE49-F238E27FC236}">
                <a16:creationId xmlns:a16="http://schemas.microsoft.com/office/drawing/2014/main" id="{B46E9582-8A1B-4855-B355-9BF6715C882E}"/>
              </a:ext>
            </a:extLst>
          </p:cNvPr>
          <p:cNvSpPr>
            <a:spLocks noGrp="1"/>
          </p:cNvSpPr>
          <p:nvPr/>
        </p:nvSpPr>
        <p:spPr>
          <a:xfrm>
            <a:off x="1333500" y="4600575"/>
            <a:ext cx="4457700" cy="285750"/>
          </a:xfrm>
          <a:prstGeom prst="rect">
            <a:avLst/>
          </a:prstGeom>
          <a:noFill/>
          <a:ln w="0">
            <a:noFill/>
          </a:ln>
        </p:spPr>
        <p:txBody>
          <a:bodyPr wrap="square" lIns="0" tIns="0" rIns="0" bIns="0" anchor="t">
            <a:noAutofit/>
          </a:bodyPr>
          <a:lstStyle/>
          <a:p>
            <a:pPr>
              <a:defRPr sz="1650" b="1">
                <a:solidFill>
                  <a:srgbClr val="F8F6FF"/>
                </a:solidFill>
                <a:latin typeface="Calibri"/>
                <a:ea typeface="Calibri"/>
                <a:cs typeface="Calibri"/>
              </a:defRPr>
            </a:pPr>
            <a:r>
              <a:rPr lang="en-GB" sz="1650" b="1" dirty="0"/>
              <a:t>Inadequate Integration of Care Coordination</a:t>
            </a:r>
            <a:endParaRPr sz="1650" b="1" dirty="0">
              <a:solidFill>
                <a:srgbClr val="F8F6FF"/>
              </a:solidFill>
              <a:latin typeface="Calibri"/>
              <a:ea typeface="Calibri"/>
              <a:cs typeface="Calibri"/>
            </a:endParaRPr>
          </a:p>
        </p:txBody>
      </p:sp>
      <p:sp>
        <p:nvSpPr>
          <p:cNvPr id="16" name="Rectangle 15">
            <a:extLst>
              <a:ext uri="{FF2B5EF4-FFF2-40B4-BE49-F238E27FC236}">
                <a16:creationId xmlns:a16="http://schemas.microsoft.com/office/drawing/2014/main" id="{4EF427AF-F44F-4460-B91A-433004613DB9}"/>
              </a:ext>
            </a:extLst>
          </p:cNvPr>
          <p:cNvSpPr>
            <a:spLocks noGrp="1"/>
          </p:cNvSpPr>
          <p:nvPr/>
        </p:nvSpPr>
        <p:spPr>
          <a:xfrm>
            <a:off x="1333500" y="4914900"/>
            <a:ext cx="4457700" cy="514350"/>
          </a:xfrm>
          <a:prstGeom prst="rect">
            <a:avLst/>
          </a:prstGeom>
          <a:noFill/>
          <a:ln w="0">
            <a:noFill/>
          </a:ln>
        </p:spPr>
        <p:txBody>
          <a:bodyPr wrap="square" lIns="0" tIns="0" rIns="0" bIns="0" anchor="t">
            <a:noAutofit/>
          </a:bodyPr>
          <a:lstStyle/>
          <a:p>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Separate tools limited timely caregiver awareness.</a:t>
            </a:r>
          </a:p>
        </p:txBody>
      </p:sp>
      <p:sp>
        <p:nvSpPr>
          <p:cNvPr id="17" name="Rectangle: Rounded Corners 16">
            <a:extLst>
              <a:ext uri="{FF2B5EF4-FFF2-40B4-BE49-F238E27FC236}">
                <a16:creationId xmlns:a16="http://schemas.microsoft.com/office/drawing/2014/main" id="{93B0C055-2AD5-496C-8DB5-877EE5D43959}"/>
              </a:ext>
            </a:extLst>
          </p:cNvPr>
          <p:cNvSpPr>
            <a:spLocks noGrp="1"/>
          </p:cNvSpPr>
          <p:nvPr/>
        </p:nvSpPr>
        <p:spPr>
          <a:xfrm>
            <a:off x="6572250" y="1651000"/>
            <a:ext cx="4705350" cy="3886200"/>
          </a:xfrm>
          <a:prstGeom prst="roundRect">
            <a:avLst>
              <a:gd name="adj" fmla="val 3922"/>
            </a:avLst>
          </a:prstGeom>
          <a:solidFill>
            <a:srgbClr val="2E2750"/>
          </a:solidFill>
          <a:ln w="0">
            <a:noFill/>
          </a:ln>
        </p:spPr>
        <p:txBody>
          <a:bodyPr/>
          <a:lstStyle/>
          <a:p>
            <a:endParaRPr lang="en-MY"/>
          </a:p>
        </p:txBody>
      </p:sp>
      <p:sp>
        <p:nvSpPr>
          <p:cNvPr id="18" name="Rectangle: Rounded Corners 17">
            <a:extLst>
              <a:ext uri="{FF2B5EF4-FFF2-40B4-BE49-F238E27FC236}">
                <a16:creationId xmlns:a16="http://schemas.microsoft.com/office/drawing/2014/main" id="{84472275-3FDA-4F01-9F13-A7FCF8E704C3}"/>
              </a:ext>
            </a:extLst>
          </p:cNvPr>
          <p:cNvSpPr>
            <a:spLocks noGrp="1"/>
          </p:cNvSpPr>
          <p:nvPr/>
        </p:nvSpPr>
        <p:spPr>
          <a:xfrm>
            <a:off x="6838950" y="1924050"/>
            <a:ext cx="1809750" cy="323850"/>
          </a:xfrm>
          <a:prstGeom prst="roundRect">
            <a:avLst>
              <a:gd name="adj" fmla="val 35294"/>
            </a:avLst>
          </a:prstGeom>
          <a:solidFill>
            <a:srgbClr val="FF6B62"/>
          </a:solidFill>
          <a:ln w="0">
            <a:noFill/>
          </a:ln>
        </p:spPr>
        <p:txBody>
          <a:bodyPr/>
          <a:lstStyle/>
          <a:p>
            <a:endParaRPr lang="en-MY"/>
          </a:p>
        </p:txBody>
      </p:sp>
      <p:sp>
        <p:nvSpPr>
          <p:cNvPr id="19" name="Rectangle 18">
            <a:extLst>
              <a:ext uri="{FF2B5EF4-FFF2-40B4-BE49-F238E27FC236}">
                <a16:creationId xmlns:a16="http://schemas.microsoft.com/office/drawing/2014/main" id="{C187A6E6-07BE-4EE2-830E-0C9C9E0CF1D8}"/>
              </a:ext>
            </a:extLst>
          </p:cNvPr>
          <p:cNvSpPr>
            <a:spLocks noGrp="1"/>
          </p:cNvSpPr>
          <p:nvPr/>
        </p:nvSpPr>
        <p:spPr>
          <a:xfrm>
            <a:off x="6838950" y="1933575"/>
            <a:ext cx="1809750" cy="285750"/>
          </a:xfrm>
          <a:prstGeom prst="rect">
            <a:avLst/>
          </a:prstGeom>
          <a:noFill/>
          <a:ln w="0">
            <a:noFill/>
          </a:ln>
        </p:spPr>
        <p:txBody>
          <a:bodyPr wrap="square" lIns="0" tIns="0" rIns="0" bIns="0" anchor="ctr">
            <a:noAutofit/>
          </a:bodyPr>
          <a:lstStyle/>
          <a:p>
            <a:pPr algn="ctr">
              <a:defRPr sz="1125" b="1">
                <a:solidFill>
                  <a:srgbClr val="F8F6FF"/>
                </a:solidFill>
                <a:latin typeface="Calibri"/>
                <a:ea typeface="Calibri"/>
                <a:cs typeface="Calibri"/>
              </a:defRPr>
            </a:pPr>
            <a:r>
              <a:rPr sz="1125" b="1">
                <a:solidFill>
                  <a:srgbClr val="F8F6FF"/>
                </a:solidFill>
                <a:latin typeface="Calibri"/>
                <a:ea typeface="Calibri"/>
                <a:cs typeface="Calibri"/>
              </a:rPr>
              <a:t>NEW IN FINAL REPORT</a:t>
            </a:r>
          </a:p>
        </p:txBody>
      </p:sp>
      <p:sp>
        <p:nvSpPr>
          <p:cNvPr id="20" name="Rectangle 19">
            <a:extLst>
              <a:ext uri="{FF2B5EF4-FFF2-40B4-BE49-F238E27FC236}">
                <a16:creationId xmlns:a16="http://schemas.microsoft.com/office/drawing/2014/main" id="{C0F7AEFE-60EA-4DBE-9637-3C7DFD7A10AD}"/>
              </a:ext>
            </a:extLst>
          </p:cNvPr>
          <p:cNvSpPr>
            <a:spLocks noGrp="1"/>
          </p:cNvSpPr>
          <p:nvPr/>
        </p:nvSpPr>
        <p:spPr>
          <a:xfrm>
            <a:off x="6838950" y="2505075"/>
            <a:ext cx="819150" cy="590550"/>
          </a:xfrm>
          <a:prstGeom prst="rect">
            <a:avLst/>
          </a:prstGeom>
          <a:noFill/>
          <a:ln w="0">
            <a:noFill/>
          </a:ln>
        </p:spPr>
        <p:txBody>
          <a:bodyPr wrap="square" lIns="0" tIns="0" rIns="0" bIns="0" anchor="t">
            <a:noAutofit/>
          </a:bodyPr>
          <a:lstStyle/>
          <a:p>
            <a:pPr algn="l">
              <a:defRPr sz="3600" b="1">
                <a:solidFill>
                  <a:srgbClr val="FF6B62"/>
                </a:solidFill>
                <a:latin typeface="Calibri"/>
                <a:ea typeface="Calibri"/>
                <a:cs typeface="Calibri"/>
              </a:defRPr>
            </a:pPr>
            <a:r>
              <a:rPr sz="3600" b="1">
                <a:solidFill>
                  <a:srgbClr val="FF6B62"/>
                </a:solidFill>
                <a:latin typeface="Calibri"/>
                <a:ea typeface="Calibri"/>
                <a:cs typeface="Calibri"/>
              </a:rPr>
              <a:t>05</a:t>
            </a:r>
          </a:p>
        </p:txBody>
      </p:sp>
      <p:sp>
        <p:nvSpPr>
          <p:cNvPr id="21" name="Rectangle 20">
            <a:extLst>
              <a:ext uri="{FF2B5EF4-FFF2-40B4-BE49-F238E27FC236}">
                <a16:creationId xmlns:a16="http://schemas.microsoft.com/office/drawing/2014/main" id="{7A76555B-FBA7-4BBF-8D0C-DC84E833E55F}"/>
              </a:ext>
            </a:extLst>
          </p:cNvPr>
          <p:cNvSpPr>
            <a:spLocks noGrp="1"/>
          </p:cNvSpPr>
          <p:nvPr/>
        </p:nvSpPr>
        <p:spPr>
          <a:xfrm>
            <a:off x="6838950" y="3143250"/>
            <a:ext cx="4000500" cy="876300"/>
          </a:xfrm>
          <a:prstGeom prst="rect">
            <a:avLst/>
          </a:prstGeom>
          <a:noFill/>
          <a:ln w="0">
            <a:noFill/>
          </a:ln>
        </p:spPr>
        <p:txBody>
          <a:bodyPr wrap="square" lIns="0" tIns="0" rIns="0" bIns="0" anchor="t">
            <a:noAutofit/>
          </a:bodyPr>
          <a:lstStyle/>
          <a:p>
            <a:pPr algn="l">
              <a:defRPr sz="2175" b="1">
                <a:solidFill>
                  <a:srgbClr val="F8F6FF"/>
                </a:solidFill>
                <a:latin typeface="Calibri"/>
                <a:ea typeface="Calibri"/>
                <a:cs typeface="Calibri"/>
              </a:defRPr>
            </a:pPr>
            <a:r>
              <a:rPr sz="2400" b="1" dirty="0">
                <a:solidFill>
                  <a:srgbClr val="F8F6FF"/>
                </a:solidFill>
                <a:latin typeface="Calibri"/>
                <a:ea typeface="Calibri"/>
                <a:cs typeface="Calibri"/>
              </a:rPr>
              <a:t>Lack of </a:t>
            </a:r>
            <a:r>
              <a:rPr sz="2400" b="1" dirty="0" err="1">
                <a:solidFill>
                  <a:srgbClr val="F8F6FF"/>
                </a:solidFill>
                <a:latin typeface="Calibri"/>
                <a:ea typeface="Calibri"/>
                <a:cs typeface="Calibri"/>
              </a:rPr>
              <a:t>personali</a:t>
            </a:r>
            <a:r>
              <a:rPr lang="en-MY" sz="2400" b="1" dirty="0">
                <a:solidFill>
                  <a:srgbClr val="F8F6FF"/>
                </a:solidFill>
                <a:latin typeface="Calibri"/>
                <a:ea typeface="Calibri"/>
                <a:cs typeface="Calibri"/>
              </a:rPr>
              <a:t>z</a:t>
            </a:r>
            <a:r>
              <a:rPr sz="2400" b="1" dirty="0">
                <a:solidFill>
                  <a:srgbClr val="F8F6FF"/>
                </a:solidFill>
                <a:latin typeface="Calibri"/>
                <a:ea typeface="Calibri"/>
                <a:cs typeface="Calibri"/>
              </a:rPr>
              <a:t>ed and adaptive cognitive support</a:t>
            </a:r>
          </a:p>
        </p:txBody>
      </p:sp>
      <p:sp>
        <p:nvSpPr>
          <p:cNvPr id="22" name="Rectangle 21">
            <a:extLst>
              <a:ext uri="{FF2B5EF4-FFF2-40B4-BE49-F238E27FC236}">
                <a16:creationId xmlns:a16="http://schemas.microsoft.com/office/drawing/2014/main" id="{9FDD77DF-A4C1-4049-91E6-C333474FD9D7}"/>
              </a:ext>
            </a:extLst>
          </p:cNvPr>
          <p:cNvSpPr>
            <a:spLocks noGrp="1"/>
          </p:cNvSpPr>
          <p:nvPr/>
        </p:nvSpPr>
        <p:spPr>
          <a:xfrm>
            <a:off x="6838950" y="4257675"/>
            <a:ext cx="4000500" cy="1047750"/>
          </a:xfrm>
          <a:prstGeom prst="rect">
            <a:avLst/>
          </a:prstGeom>
          <a:noFill/>
          <a:ln w="0">
            <a:noFill/>
          </a:ln>
        </p:spPr>
        <p:txBody>
          <a:bodyPr wrap="square" lIns="0" tIns="0" rIns="0" bIns="0" anchor="t">
            <a:noAutofit/>
          </a:bodyPr>
          <a:lstStyle/>
          <a:p>
            <a:pPr algn="l">
              <a:defRPr sz="1350" b="0">
                <a:solidFill>
                  <a:srgbClr val="B8B0D4"/>
                </a:solidFill>
                <a:latin typeface="Calibri"/>
                <a:ea typeface="Calibri"/>
                <a:cs typeface="Calibri"/>
              </a:defRPr>
            </a:pPr>
            <a:r>
              <a:rPr sz="1350" b="0">
                <a:solidFill>
                  <a:srgbClr val="B8B0D4"/>
                </a:solidFill>
                <a:latin typeface="Calibri"/>
                <a:ea typeface="Calibri"/>
                <a:cs typeface="Calibri"/>
              </a:rPr>
              <a:t>A single game set and fixed difficulty could be too demanding or too easy. The final system therefore matched activities to dementia type and stage, then adapted each game using recent performance.</a:t>
            </a:r>
          </a:p>
        </p:txBody>
      </p:sp>
      <p:sp>
        <p:nvSpPr>
          <p:cNvPr id="23" name="Rectangle 22">
            <a:extLst>
              <a:ext uri="{FF2B5EF4-FFF2-40B4-BE49-F238E27FC236}">
                <a16:creationId xmlns:a16="http://schemas.microsoft.com/office/drawing/2014/main" id="{2FA45B3D-FF3A-4B89-A6B6-9FC717A76638}"/>
              </a:ext>
            </a:extLst>
          </p:cNvPr>
          <p:cNvSpPr>
            <a:spLocks noGrp="1"/>
          </p:cNvSpPr>
          <p:nvPr/>
        </p:nvSpPr>
        <p:spPr>
          <a:xfrm>
            <a:off x="533400" y="6543675"/>
            <a:ext cx="9525000" cy="171450"/>
          </a:xfrm>
          <a:prstGeom prst="rect">
            <a:avLst/>
          </a:prstGeom>
          <a:noFill/>
          <a:ln w="0">
            <a:noFill/>
          </a:ln>
        </p:spPr>
        <p:txBody>
          <a:bodyPr wrap="square" lIns="0" tIns="0" rIns="0" bIns="0" anchor="t">
            <a:noAutofit/>
          </a:bodyPr>
          <a:lstStyle/>
          <a:p>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Sources: earlier proposal pp. 13–14; final report pp. 21–23.</a:t>
            </a:r>
          </a:p>
        </p:txBody>
      </p:sp>
      <p:sp>
        <p:nvSpPr>
          <p:cNvPr id="24" name="Rectangle 23">
            <a:extLst>
              <a:ext uri="{FF2B5EF4-FFF2-40B4-BE49-F238E27FC236}">
                <a16:creationId xmlns:a16="http://schemas.microsoft.com/office/drawing/2014/main" id="{1642D1A9-BCD5-42D5-94B1-AB62A7427B9F}"/>
              </a:ext>
            </a:extLst>
          </p:cNvPr>
          <p:cNvSpPr>
            <a:spLocks noGrp="1"/>
          </p:cNvSpPr>
          <p:nvPr/>
        </p:nvSpPr>
        <p:spPr>
          <a:xfrm>
            <a:off x="11277600" y="6496050"/>
            <a:ext cx="476250" cy="209550"/>
          </a:xfrm>
          <a:prstGeom prst="rect">
            <a:avLst/>
          </a:prstGeom>
          <a:noFill/>
          <a:ln w="0">
            <a:noFill/>
          </a:ln>
        </p:spPr>
        <p:txBody>
          <a:bodyPr wrap="square" lIns="0" tIns="0" rIns="0" bIns="0" anchor="t">
            <a:noAutofit/>
          </a:bodyPr>
          <a:lstStyle/>
          <a:p>
            <a:pPr algn="r">
              <a:defRPr sz="975" b="1">
                <a:solidFill>
                  <a:srgbClr val="B8B0D4"/>
                </a:solidFill>
                <a:latin typeface="Calibri"/>
                <a:ea typeface="Calibri"/>
                <a:cs typeface="Calibri"/>
              </a:defRPr>
            </a:pPr>
            <a:r>
              <a:rPr sz="975" b="1">
                <a:solidFill>
                  <a:srgbClr val="B8B0D4"/>
                </a:solidFill>
                <a:latin typeface="Calibri"/>
                <a:ea typeface="Calibri"/>
                <a:cs typeface="Calibri"/>
              </a:rPr>
              <a:t>03</a:t>
            </a:r>
          </a:p>
        </p:txBody>
      </p:sp>
    </p:spTree>
    <p:extLst>
      <p:ext uri="{BB962C8B-B14F-4D97-AF65-F5344CB8AC3E}">
        <p14:creationId xmlns:p14="http://schemas.microsoft.com/office/powerpoint/2010/main" val="1136475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530"/>
        </a:solidFill>
        <a:effectLst/>
      </p:bgPr>
    </p:bg>
    <p:spTree>
      <p:nvGrpSpPr>
        <p:cNvPr id="1" name="">
          <a:extLst>
            <a:ext uri="{FF2B5EF4-FFF2-40B4-BE49-F238E27FC236}">
              <a16:creationId xmlns:a16="http://schemas.microsoft.com/office/drawing/2014/main" id="{DA946263-8D77-CE17-E5F9-87C956DA6452}"/>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022A4CFD-40A4-8B66-618B-87B4893F9D31}"/>
              </a:ext>
            </a:extLst>
          </p:cNvPr>
          <p:cNvSpPr>
            <a:spLocks noGrp="1"/>
          </p:cNvSpPr>
          <p:nvPr/>
        </p:nvSpPr>
        <p:spPr>
          <a:xfrm>
            <a:off x="0" y="0"/>
            <a:ext cx="133350" cy="6858000"/>
          </a:xfrm>
          <a:prstGeom prst="rect">
            <a:avLst/>
          </a:prstGeom>
          <a:solidFill>
            <a:srgbClr val="FF6B62"/>
          </a:solidFill>
          <a:ln w="0">
            <a:noFill/>
          </a:ln>
        </p:spPr>
        <p:txBody>
          <a:bodyPr/>
          <a:lstStyle/>
          <a:p>
            <a:endParaRPr lang="en-MY"/>
          </a:p>
        </p:txBody>
      </p:sp>
      <p:sp>
        <p:nvSpPr>
          <p:cNvPr id="2" name="Rectangle 1">
            <a:extLst>
              <a:ext uri="{FF2B5EF4-FFF2-40B4-BE49-F238E27FC236}">
                <a16:creationId xmlns:a16="http://schemas.microsoft.com/office/drawing/2014/main" id="{82EF65C1-AFFD-536F-9EFF-FD5F12290F92}"/>
              </a:ext>
            </a:extLst>
          </p:cNvPr>
          <p:cNvSpPr>
            <a:spLocks noGrp="1"/>
          </p:cNvSpPr>
          <p:nvPr/>
        </p:nvSpPr>
        <p:spPr>
          <a:xfrm>
            <a:off x="533400" y="323850"/>
            <a:ext cx="2571750" cy="247650"/>
          </a:xfrm>
          <a:prstGeom prst="rect">
            <a:avLst/>
          </a:prstGeom>
          <a:noFill/>
          <a:ln w="0">
            <a:noFill/>
          </a:ln>
        </p:spPr>
        <p:txBody>
          <a:bodyPr wrap="square" lIns="0" tIns="0" rIns="0" bIns="0" anchor="t">
            <a:noAutofit/>
          </a:bodyPr>
          <a:lstStyle/>
          <a:p>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1 · INTRODUCTION</a:t>
            </a:r>
          </a:p>
        </p:txBody>
      </p:sp>
      <p:sp>
        <p:nvSpPr>
          <p:cNvPr id="3" name="Rectangle 2">
            <a:extLst>
              <a:ext uri="{FF2B5EF4-FFF2-40B4-BE49-F238E27FC236}">
                <a16:creationId xmlns:a16="http://schemas.microsoft.com/office/drawing/2014/main" id="{26EA6DE7-EA48-6764-26AD-C551841E4538}"/>
              </a:ext>
            </a:extLst>
          </p:cNvPr>
          <p:cNvSpPr>
            <a:spLocks noGrp="1"/>
          </p:cNvSpPr>
          <p:nvPr/>
        </p:nvSpPr>
        <p:spPr>
          <a:xfrm>
            <a:off x="533400" y="619125"/>
            <a:ext cx="11049000" cy="533400"/>
          </a:xfrm>
          <a:prstGeom prst="rect">
            <a:avLst/>
          </a:prstGeom>
          <a:noFill/>
          <a:ln w="0">
            <a:noFill/>
          </a:ln>
        </p:spPr>
        <p:txBody>
          <a:bodyPr wrap="square" lIns="0" tIns="0" rIns="0" bIns="0" anchor="t">
            <a:noAutofit/>
          </a:bodyPr>
          <a:lstStyle/>
          <a:p>
            <a:pPr algn="l">
              <a:defRPr sz="2700" b="1">
                <a:solidFill>
                  <a:srgbClr val="F8F6FF"/>
                </a:solidFill>
                <a:latin typeface="Calibri"/>
                <a:ea typeface="Calibri"/>
                <a:cs typeface="Calibri"/>
              </a:defRPr>
            </a:pPr>
            <a:r>
              <a:rPr sz="2700" b="1">
                <a:solidFill>
                  <a:srgbClr val="F8F6FF"/>
                </a:solidFill>
                <a:latin typeface="Calibri"/>
                <a:ea typeface="Calibri"/>
                <a:cs typeface="Calibri"/>
              </a:rPr>
              <a:t>Objectives became more specific and measurable</a:t>
            </a:r>
          </a:p>
        </p:txBody>
      </p:sp>
      <p:sp>
        <p:nvSpPr>
          <p:cNvPr id="4" name="Rectangle 3">
            <a:extLst>
              <a:ext uri="{FF2B5EF4-FFF2-40B4-BE49-F238E27FC236}">
                <a16:creationId xmlns:a16="http://schemas.microsoft.com/office/drawing/2014/main" id="{D5691F77-E71C-72DD-F84E-66844C5DC880}"/>
              </a:ext>
            </a:extLst>
          </p:cNvPr>
          <p:cNvSpPr>
            <a:spLocks noGrp="1"/>
          </p:cNvSpPr>
          <p:nvPr/>
        </p:nvSpPr>
        <p:spPr>
          <a:xfrm>
            <a:off x="552450" y="1143000"/>
            <a:ext cx="10668000" cy="323850"/>
          </a:xfrm>
          <a:prstGeom prst="rect">
            <a:avLst/>
          </a:prstGeom>
          <a:noFill/>
          <a:ln w="0">
            <a:noFill/>
          </a:ln>
        </p:spPr>
        <p:txBody>
          <a:bodyPr wrap="square" lIns="0" tIns="0" rIns="0" bIns="0" anchor="t">
            <a:noAutofit/>
          </a:bodyPr>
          <a:lstStyle/>
          <a:p>
            <a:pPr algn="l">
              <a:defRPr sz="1350" b="0">
                <a:solidFill>
                  <a:srgbClr val="B8B0D4"/>
                </a:solidFill>
                <a:latin typeface="Calibri"/>
                <a:ea typeface="Calibri"/>
                <a:cs typeface="Calibri"/>
              </a:defRPr>
            </a:pPr>
            <a:r>
              <a:rPr sz="1350" b="0" dirty="0">
                <a:solidFill>
                  <a:srgbClr val="B8B0D4"/>
                </a:solidFill>
                <a:latin typeface="Calibri"/>
                <a:ea typeface="Calibri"/>
                <a:cs typeface="Calibri"/>
              </a:rPr>
              <a:t>The target population remained early-to-middle-stage dementia patients, while caregiver responsibilities became explicit.</a:t>
            </a:r>
          </a:p>
        </p:txBody>
      </p:sp>
      <p:sp>
        <p:nvSpPr>
          <p:cNvPr id="5" name="Rectangle: Rounded Corners 4">
            <a:extLst>
              <a:ext uri="{FF2B5EF4-FFF2-40B4-BE49-F238E27FC236}">
                <a16:creationId xmlns:a16="http://schemas.microsoft.com/office/drawing/2014/main" id="{85E7B488-5F1D-0C74-71E7-D4F1787DF9F1}"/>
              </a:ext>
            </a:extLst>
          </p:cNvPr>
          <p:cNvSpPr>
            <a:spLocks noGrp="1"/>
          </p:cNvSpPr>
          <p:nvPr/>
        </p:nvSpPr>
        <p:spPr>
          <a:xfrm>
            <a:off x="471488" y="1671638"/>
            <a:ext cx="3648710" cy="4171950"/>
          </a:xfrm>
          <a:prstGeom prst="roundRect">
            <a:avLst>
              <a:gd name="adj" fmla="val 3653"/>
            </a:avLst>
          </a:prstGeom>
          <a:solidFill>
            <a:srgbClr val="2E2750"/>
          </a:solidFill>
          <a:ln w="0">
            <a:noFill/>
          </a:ln>
        </p:spPr>
        <p:txBody>
          <a:bodyPr/>
          <a:lstStyle/>
          <a:p>
            <a:endParaRPr lang="en-MY" dirty="0"/>
          </a:p>
        </p:txBody>
      </p:sp>
      <p:sp>
        <p:nvSpPr>
          <p:cNvPr id="6" name="Rectangle: Rounded Corners 5">
            <a:extLst>
              <a:ext uri="{FF2B5EF4-FFF2-40B4-BE49-F238E27FC236}">
                <a16:creationId xmlns:a16="http://schemas.microsoft.com/office/drawing/2014/main" id="{75BDFBB8-5F36-E5C9-77D0-5CC616A25226}"/>
              </a:ext>
            </a:extLst>
          </p:cNvPr>
          <p:cNvSpPr>
            <a:spLocks noGrp="1"/>
          </p:cNvSpPr>
          <p:nvPr/>
        </p:nvSpPr>
        <p:spPr>
          <a:xfrm>
            <a:off x="657225" y="1885950"/>
            <a:ext cx="1619250" cy="323850"/>
          </a:xfrm>
          <a:prstGeom prst="roundRect">
            <a:avLst>
              <a:gd name="adj" fmla="val 35294"/>
            </a:avLst>
          </a:prstGeom>
          <a:solidFill>
            <a:srgbClr val="3A3160"/>
          </a:solidFill>
          <a:ln w="0">
            <a:noFill/>
          </a:ln>
        </p:spPr>
        <p:txBody>
          <a:bodyPr/>
          <a:lstStyle/>
          <a:p>
            <a:endParaRPr lang="en-MY"/>
          </a:p>
        </p:txBody>
      </p:sp>
      <p:sp>
        <p:nvSpPr>
          <p:cNvPr id="7" name="Rectangle 6">
            <a:extLst>
              <a:ext uri="{FF2B5EF4-FFF2-40B4-BE49-F238E27FC236}">
                <a16:creationId xmlns:a16="http://schemas.microsoft.com/office/drawing/2014/main" id="{235C290B-D111-046D-AC15-49AF27F6992F}"/>
              </a:ext>
            </a:extLst>
          </p:cNvPr>
          <p:cNvSpPr>
            <a:spLocks noGrp="1"/>
          </p:cNvSpPr>
          <p:nvPr/>
        </p:nvSpPr>
        <p:spPr>
          <a:xfrm>
            <a:off x="657225" y="1895475"/>
            <a:ext cx="1619250" cy="285750"/>
          </a:xfrm>
          <a:prstGeom prst="rect">
            <a:avLst/>
          </a:prstGeom>
          <a:noFill/>
          <a:ln w="0">
            <a:noFill/>
          </a:ln>
        </p:spPr>
        <p:txBody>
          <a:bodyPr wrap="square" lIns="0" tIns="0" rIns="0" bIns="0" anchor="ctr">
            <a:noAutofit/>
          </a:bodyPr>
          <a:lstStyle/>
          <a:p>
            <a:pPr algn="ctr">
              <a:defRPr sz="1125" b="1">
                <a:solidFill>
                  <a:srgbClr val="B8B0D4"/>
                </a:solidFill>
                <a:latin typeface="Calibri"/>
                <a:ea typeface="Calibri"/>
                <a:cs typeface="Calibri"/>
              </a:defRPr>
            </a:pPr>
            <a:r>
              <a:rPr sz="1125" b="1" dirty="0">
                <a:solidFill>
                  <a:srgbClr val="E7E4F0"/>
                </a:solidFill>
                <a:latin typeface="Calibri"/>
                <a:ea typeface="Calibri"/>
                <a:cs typeface="Calibri"/>
              </a:rPr>
              <a:t>EARLIER PROPOSAL</a:t>
            </a:r>
          </a:p>
        </p:txBody>
      </p:sp>
      <p:sp>
        <p:nvSpPr>
          <p:cNvPr id="8" name="Rectangle 7">
            <a:extLst>
              <a:ext uri="{FF2B5EF4-FFF2-40B4-BE49-F238E27FC236}">
                <a16:creationId xmlns:a16="http://schemas.microsoft.com/office/drawing/2014/main" id="{A8B1920B-9E18-3141-7AB8-67C26AB75C64}"/>
              </a:ext>
            </a:extLst>
          </p:cNvPr>
          <p:cNvSpPr>
            <a:spLocks noGrp="1"/>
          </p:cNvSpPr>
          <p:nvPr/>
        </p:nvSpPr>
        <p:spPr>
          <a:xfrm>
            <a:off x="676275" y="2400300"/>
            <a:ext cx="609600" cy="457200"/>
          </a:xfrm>
          <a:prstGeom prst="rect">
            <a:avLst/>
          </a:prstGeom>
          <a:noFill/>
          <a:ln w="0">
            <a:noFill/>
          </a:ln>
        </p:spPr>
        <p:txBody>
          <a:bodyPr wrap="square" lIns="0" tIns="0" rIns="0" bIns="0" anchor="t">
            <a:noAutofit/>
          </a:bodyPr>
          <a:lstStyle/>
          <a:p>
            <a:pPr algn="l">
              <a:defRPr sz="2250" b="1">
                <a:solidFill>
                  <a:srgbClr val="8F87AC"/>
                </a:solidFill>
                <a:latin typeface="Calibri"/>
                <a:ea typeface="Calibri"/>
                <a:cs typeface="Calibri"/>
              </a:defRPr>
            </a:pPr>
            <a:r>
              <a:rPr sz="2250" b="1">
                <a:solidFill>
                  <a:srgbClr val="8F87AC"/>
                </a:solidFill>
                <a:latin typeface="Calibri"/>
                <a:ea typeface="Calibri"/>
                <a:cs typeface="Calibri"/>
              </a:rPr>
              <a:t>01</a:t>
            </a:r>
          </a:p>
        </p:txBody>
      </p:sp>
      <p:sp>
        <p:nvSpPr>
          <p:cNvPr id="9" name="Rectangle 8">
            <a:extLst>
              <a:ext uri="{FF2B5EF4-FFF2-40B4-BE49-F238E27FC236}">
                <a16:creationId xmlns:a16="http://schemas.microsoft.com/office/drawing/2014/main" id="{06FC5460-0DD0-BB8D-68B8-C18A963B23E3}"/>
              </a:ext>
            </a:extLst>
          </p:cNvPr>
          <p:cNvSpPr>
            <a:spLocks noGrp="1"/>
          </p:cNvSpPr>
          <p:nvPr/>
        </p:nvSpPr>
        <p:spPr>
          <a:xfrm>
            <a:off x="1362075" y="2409825"/>
            <a:ext cx="3886200" cy="285750"/>
          </a:xfrm>
          <a:prstGeom prst="rect">
            <a:avLst/>
          </a:prstGeom>
          <a:noFill/>
          <a:ln w="0">
            <a:noFill/>
          </a:ln>
        </p:spPr>
        <p:txBody>
          <a:bodyPr wrap="square" lIns="0" tIns="0" rIns="0" bIns="0" anchor="t">
            <a:noAutofit/>
          </a:bodyPr>
          <a:lstStyle/>
          <a:p>
            <a:endParaRPr/>
          </a:p>
        </p:txBody>
      </p:sp>
      <p:sp>
        <p:nvSpPr>
          <p:cNvPr id="10" name="Rectangle 9">
            <a:extLst>
              <a:ext uri="{FF2B5EF4-FFF2-40B4-BE49-F238E27FC236}">
                <a16:creationId xmlns:a16="http://schemas.microsoft.com/office/drawing/2014/main" id="{01A99578-5AD3-124D-0FF7-0D0ED81B1A0A}"/>
              </a:ext>
            </a:extLst>
          </p:cNvPr>
          <p:cNvSpPr>
            <a:spLocks noGrp="1"/>
          </p:cNvSpPr>
          <p:nvPr/>
        </p:nvSpPr>
        <p:spPr>
          <a:xfrm>
            <a:off x="981075" y="2693670"/>
            <a:ext cx="2950845" cy="514350"/>
          </a:xfrm>
          <a:prstGeom prst="rect">
            <a:avLst/>
          </a:prstGeom>
          <a:noFill/>
          <a:ln w="0">
            <a:noFill/>
          </a:ln>
        </p:spPr>
        <p:txBody>
          <a:bodyPr wrap="square" lIns="0" tIns="0" rIns="0" bIns="0" anchor="t">
            <a:noAutofit/>
          </a:bodyPr>
          <a:lstStyle/>
          <a:p>
            <a:pPr algn="l">
              <a:lnSpc>
                <a:spcPct val="105000"/>
              </a:lnSpc>
              <a:buNone/>
              <a:defRPr sz="1200" b="0">
                <a:solidFill>
                  <a:srgbClr val="B8B0D4"/>
                </a:solidFill>
                <a:latin typeface="Calibri"/>
                <a:ea typeface="Calibri"/>
                <a:cs typeface="Calibri"/>
              </a:defRPr>
            </a:pPr>
            <a:r>
              <a:rPr sz="1200" b="0" dirty="0">
                <a:solidFill>
                  <a:srgbClr val="B8B0D4"/>
                </a:solidFill>
                <a:latin typeface="Calibri"/>
                <a:ea typeface="Calibri"/>
                <a:cs typeface="Calibri"/>
              </a:rPr>
              <a:t>Build a mobile app for tasks, medication, games and gamification</a:t>
            </a:r>
          </a:p>
        </p:txBody>
      </p:sp>
      <p:sp>
        <p:nvSpPr>
          <p:cNvPr id="11" name="Rectangle 10">
            <a:extLst>
              <a:ext uri="{FF2B5EF4-FFF2-40B4-BE49-F238E27FC236}">
                <a16:creationId xmlns:a16="http://schemas.microsoft.com/office/drawing/2014/main" id="{11C64DD1-FB9A-FBDB-8DED-BA5CCA49484D}"/>
              </a:ext>
            </a:extLst>
          </p:cNvPr>
          <p:cNvSpPr>
            <a:spLocks noGrp="1"/>
          </p:cNvSpPr>
          <p:nvPr/>
        </p:nvSpPr>
        <p:spPr>
          <a:xfrm>
            <a:off x="676275" y="3352800"/>
            <a:ext cx="609600" cy="457200"/>
          </a:xfrm>
          <a:prstGeom prst="rect">
            <a:avLst/>
          </a:prstGeom>
          <a:noFill/>
          <a:ln w="0">
            <a:noFill/>
          </a:ln>
        </p:spPr>
        <p:txBody>
          <a:bodyPr wrap="square" lIns="0" tIns="0" rIns="0" bIns="0" anchor="t">
            <a:noAutofit/>
          </a:bodyPr>
          <a:lstStyle/>
          <a:p>
            <a:pPr algn="l">
              <a:defRPr sz="2250" b="1">
                <a:solidFill>
                  <a:srgbClr val="8F87AC"/>
                </a:solidFill>
                <a:latin typeface="Calibri"/>
                <a:ea typeface="Calibri"/>
                <a:cs typeface="Calibri"/>
              </a:defRPr>
            </a:pPr>
            <a:r>
              <a:rPr sz="2250" b="1">
                <a:solidFill>
                  <a:srgbClr val="8F87AC"/>
                </a:solidFill>
                <a:latin typeface="Calibri"/>
                <a:ea typeface="Calibri"/>
                <a:cs typeface="Calibri"/>
              </a:rPr>
              <a:t>02</a:t>
            </a:r>
          </a:p>
        </p:txBody>
      </p:sp>
      <p:sp>
        <p:nvSpPr>
          <p:cNvPr id="12" name="Rectangle 11">
            <a:extLst>
              <a:ext uri="{FF2B5EF4-FFF2-40B4-BE49-F238E27FC236}">
                <a16:creationId xmlns:a16="http://schemas.microsoft.com/office/drawing/2014/main" id="{0B65D8E0-EE34-5365-6229-CD983C9AECC0}"/>
              </a:ext>
            </a:extLst>
          </p:cNvPr>
          <p:cNvSpPr>
            <a:spLocks noGrp="1"/>
          </p:cNvSpPr>
          <p:nvPr/>
        </p:nvSpPr>
        <p:spPr>
          <a:xfrm>
            <a:off x="1362075" y="3362325"/>
            <a:ext cx="3886200" cy="285750"/>
          </a:xfrm>
          <a:prstGeom prst="rect">
            <a:avLst/>
          </a:prstGeom>
          <a:noFill/>
          <a:ln w="0">
            <a:noFill/>
          </a:ln>
        </p:spPr>
        <p:txBody>
          <a:bodyPr wrap="square" lIns="0" tIns="0" rIns="0" bIns="0" anchor="t">
            <a:noAutofit/>
          </a:bodyPr>
          <a:lstStyle/>
          <a:p>
            <a:endParaRPr/>
          </a:p>
        </p:txBody>
      </p:sp>
      <p:sp>
        <p:nvSpPr>
          <p:cNvPr id="13" name="Rectangle 12">
            <a:extLst>
              <a:ext uri="{FF2B5EF4-FFF2-40B4-BE49-F238E27FC236}">
                <a16:creationId xmlns:a16="http://schemas.microsoft.com/office/drawing/2014/main" id="{7D0F5A0E-74BA-BA75-AFCC-B80443DDEC0F}"/>
              </a:ext>
            </a:extLst>
          </p:cNvPr>
          <p:cNvSpPr>
            <a:spLocks noGrp="1"/>
          </p:cNvSpPr>
          <p:nvPr/>
        </p:nvSpPr>
        <p:spPr>
          <a:xfrm>
            <a:off x="903325" y="3685223"/>
            <a:ext cx="3886200" cy="514350"/>
          </a:xfrm>
          <a:prstGeom prst="rect">
            <a:avLst/>
          </a:prstGeom>
          <a:noFill/>
          <a:ln w="0">
            <a:noFill/>
          </a:ln>
        </p:spPr>
        <p:txBody>
          <a:bodyPr wrap="square" lIns="0" tIns="0" rIns="0" bIns="0" anchor="t">
            <a:noAutofit/>
          </a:bodyPr>
          <a:lstStyle/>
          <a:p>
            <a:pPr algn="l">
              <a:lnSpc>
                <a:spcPct val="105000"/>
              </a:lnSpc>
              <a:buNone/>
              <a:defRPr sz="1200" b="0">
                <a:solidFill>
                  <a:srgbClr val="B8B0D4"/>
                </a:solidFill>
                <a:latin typeface="Calibri"/>
                <a:ea typeface="Calibri"/>
                <a:cs typeface="Calibri"/>
              </a:defRPr>
            </a:pPr>
            <a:r>
              <a:rPr sz="1200" b="0" dirty="0">
                <a:solidFill>
                  <a:srgbClr val="B8B0D4"/>
                </a:solidFill>
                <a:latin typeface="Calibri"/>
                <a:ea typeface="Calibri"/>
                <a:cs typeface="Calibri"/>
              </a:rPr>
              <a:t>Create real-time caregiver monitoring</a:t>
            </a:r>
          </a:p>
        </p:txBody>
      </p:sp>
      <p:sp>
        <p:nvSpPr>
          <p:cNvPr id="14" name="Rectangle 13">
            <a:extLst>
              <a:ext uri="{FF2B5EF4-FFF2-40B4-BE49-F238E27FC236}">
                <a16:creationId xmlns:a16="http://schemas.microsoft.com/office/drawing/2014/main" id="{1E7E9EA6-F373-9034-5824-4FF448DF329F}"/>
              </a:ext>
            </a:extLst>
          </p:cNvPr>
          <p:cNvSpPr>
            <a:spLocks noGrp="1"/>
          </p:cNvSpPr>
          <p:nvPr/>
        </p:nvSpPr>
        <p:spPr>
          <a:xfrm>
            <a:off x="676275" y="4305300"/>
            <a:ext cx="609600" cy="457200"/>
          </a:xfrm>
          <a:prstGeom prst="rect">
            <a:avLst/>
          </a:prstGeom>
          <a:noFill/>
          <a:ln w="0">
            <a:noFill/>
          </a:ln>
        </p:spPr>
        <p:txBody>
          <a:bodyPr wrap="square" lIns="0" tIns="0" rIns="0" bIns="0" anchor="t">
            <a:noAutofit/>
          </a:bodyPr>
          <a:lstStyle/>
          <a:p>
            <a:pPr algn="l">
              <a:defRPr sz="2250" b="1">
                <a:solidFill>
                  <a:srgbClr val="8F87AC"/>
                </a:solidFill>
                <a:latin typeface="Calibri"/>
                <a:ea typeface="Calibri"/>
                <a:cs typeface="Calibri"/>
              </a:defRPr>
            </a:pPr>
            <a:r>
              <a:rPr sz="2250" b="1">
                <a:solidFill>
                  <a:srgbClr val="8F87AC"/>
                </a:solidFill>
                <a:latin typeface="Calibri"/>
                <a:ea typeface="Calibri"/>
                <a:cs typeface="Calibri"/>
              </a:rPr>
              <a:t>03</a:t>
            </a:r>
          </a:p>
        </p:txBody>
      </p:sp>
      <p:sp>
        <p:nvSpPr>
          <p:cNvPr id="15" name="Rectangle 14">
            <a:extLst>
              <a:ext uri="{FF2B5EF4-FFF2-40B4-BE49-F238E27FC236}">
                <a16:creationId xmlns:a16="http://schemas.microsoft.com/office/drawing/2014/main" id="{F81FD785-7602-449C-92E2-F58A458B6CE1}"/>
              </a:ext>
            </a:extLst>
          </p:cNvPr>
          <p:cNvSpPr>
            <a:spLocks noGrp="1"/>
          </p:cNvSpPr>
          <p:nvPr/>
        </p:nvSpPr>
        <p:spPr>
          <a:xfrm>
            <a:off x="1362075" y="4314825"/>
            <a:ext cx="3886200" cy="285750"/>
          </a:xfrm>
          <a:prstGeom prst="rect">
            <a:avLst/>
          </a:prstGeom>
          <a:noFill/>
          <a:ln w="0">
            <a:noFill/>
          </a:ln>
        </p:spPr>
        <p:txBody>
          <a:bodyPr wrap="square" lIns="0" tIns="0" rIns="0" bIns="0" anchor="t">
            <a:noAutofit/>
          </a:bodyPr>
          <a:lstStyle/>
          <a:p>
            <a:endParaRPr/>
          </a:p>
        </p:txBody>
      </p:sp>
      <p:sp>
        <p:nvSpPr>
          <p:cNvPr id="16" name="Rectangle 15">
            <a:extLst>
              <a:ext uri="{FF2B5EF4-FFF2-40B4-BE49-F238E27FC236}">
                <a16:creationId xmlns:a16="http://schemas.microsoft.com/office/drawing/2014/main" id="{CFCF5A4C-946E-7A52-BFB7-8171752429E0}"/>
              </a:ext>
            </a:extLst>
          </p:cNvPr>
          <p:cNvSpPr>
            <a:spLocks noGrp="1"/>
          </p:cNvSpPr>
          <p:nvPr/>
        </p:nvSpPr>
        <p:spPr>
          <a:xfrm>
            <a:off x="919796" y="4649152"/>
            <a:ext cx="2910524" cy="514350"/>
          </a:xfrm>
          <a:prstGeom prst="rect">
            <a:avLst/>
          </a:prstGeom>
          <a:noFill/>
          <a:ln w="0">
            <a:noFill/>
          </a:ln>
        </p:spPr>
        <p:txBody>
          <a:bodyPr wrap="square" lIns="0" tIns="0" rIns="0" bIns="0" anchor="t">
            <a:noAutofit/>
          </a:bodyPr>
          <a:lstStyle/>
          <a:p>
            <a:pPr algn="l">
              <a:lnSpc>
                <a:spcPct val="105000"/>
              </a:lnSpc>
              <a:buNone/>
              <a:defRPr sz="1200" b="0">
                <a:solidFill>
                  <a:srgbClr val="B8B0D4"/>
                </a:solidFill>
                <a:latin typeface="Calibri"/>
                <a:ea typeface="Calibri"/>
                <a:cs typeface="Calibri"/>
              </a:defRPr>
            </a:pPr>
            <a:r>
              <a:rPr sz="1200" b="0" dirty="0">
                <a:solidFill>
                  <a:srgbClr val="B8B0D4"/>
                </a:solidFill>
                <a:latin typeface="Calibri"/>
                <a:ea typeface="Calibri"/>
                <a:cs typeface="Calibri"/>
              </a:rPr>
              <a:t>Evaluate UAT and achieve SUS ≥ 85</a:t>
            </a:r>
          </a:p>
        </p:txBody>
      </p:sp>
      <p:sp>
        <p:nvSpPr>
          <p:cNvPr id="17" name="Rectangle: Rounded Corners 16">
            <a:extLst>
              <a:ext uri="{FF2B5EF4-FFF2-40B4-BE49-F238E27FC236}">
                <a16:creationId xmlns:a16="http://schemas.microsoft.com/office/drawing/2014/main" id="{F31CCB0B-12EC-B49D-5CB4-D1C73AE0726C}"/>
              </a:ext>
            </a:extLst>
          </p:cNvPr>
          <p:cNvSpPr>
            <a:spLocks noGrp="1"/>
          </p:cNvSpPr>
          <p:nvPr/>
        </p:nvSpPr>
        <p:spPr>
          <a:xfrm>
            <a:off x="4236720" y="1671638"/>
            <a:ext cx="7385687" cy="4171950"/>
          </a:xfrm>
          <a:prstGeom prst="roundRect">
            <a:avLst>
              <a:gd name="adj" fmla="val 3653"/>
            </a:avLst>
          </a:prstGeom>
          <a:solidFill>
            <a:srgbClr val="2E2750"/>
          </a:solidFill>
          <a:ln w="0">
            <a:noFill/>
          </a:ln>
        </p:spPr>
        <p:txBody>
          <a:bodyPr/>
          <a:lstStyle/>
          <a:p>
            <a:endParaRPr lang="en-MY"/>
          </a:p>
        </p:txBody>
      </p:sp>
      <p:sp>
        <p:nvSpPr>
          <p:cNvPr id="18" name="Rectangle: Rounded Corners 17">
            <a:extLst>
              <a:ext uri="{FF2B5EF4-FFF2-40B4-BE49-F238E27FC236}">
                <a16:creationId xmlns:a16="http://schemas.microsoft.com/office/drawing/2014/main" id="{14AFF526-D3D5-7801-CDEA-5BB8B6F6A203}"/>
              </a:ext>
            </a:extLst>
          </p:cNvPr>
          <p:cNvSpPr>
            <a:spLocks noGrp="1"/>
          </p:cNvSpPr>
          <p:nvPr/>
        </p:nvSpPr>
        <p:spPr>
          <a:xfrm>
            <a:off x="4474172" y="1801178"/>
            <a:ext cx="1710542" cy="323850"/>
          </a:xfrm>
          <a:prstGeom prst="roundRect">
            <a:avLst>
              <a:gd name="adj" fmla="val 35294"/>
            </a:avLst>
          </a:prstGeom>
          <a:solidFill>
            <a:srgbClr val="FF6B62"/>
          </a:solidFill>
          <a:ln w="0">
            <a:noFill/>
          </a:ln>
        </p:spPr>
        <p:txBody>
          <a:bodyPr/>
          <a:lstStyle/>
          <a:p>
            <a:endParaRPr lang="en-MY"/>
          </a:p>
        </p:txBody>
      </p:sp>
      <p:sp>
        <p:nvSpPr>
          <p:cNvPr id="19" name="Rectangle 18">
            <a:extLst>
              <a:ext uri="{FF2B5EF4-FFF2-40B4-BE49-F238E27FC236}">
                <a16:creationId xmlns:a16="http://schemas.microsoft.com/office/drawing/2014/main" id="{A64A5340-B1C5-4468-A81B-66CAAB80DD7D}"/>
              </a:ext>
            </a:extLst>
          </p:cNvPr>
          <p:cNvSpPr>
            <a:spLocks noGrp="1"/>
          </p:cNvSpPr>
          <p:nvPr/>
        </p:nvSpPr>
        <p:spPr>
          <a:xfrm>
            <a:off x="4474172" y="1810703"/>
            <a:ext cx="1710542" cy="285750"/>
          </a:xfrm>
          <a:prstGeom prst="rect">
            <a:avLst/>
          </a:prstGeom>
          <a:noFill/>
          <a:ln w="0">
            <a:noFill/>
          </a:ln>
        </p:spPr>
        <p:txBody>
          <a:bodyPr wrap="square" lIns="0" tIns="0" rIns="0" bIns="0" anchor="ctr">
            <a:noAutofit/>
          </a:bodyPr>
          <a:lstStyle/>
          <a:p>
            <a:pPr algn="ctr">
              <a:defRPr sz="1125" b="1">
                <a:solidFill>
                  <a:srgbClr val="F8F6FF"/>
                </a:solidFill>
                <a:latin typeface="Calibri"/>
                <a:ea typeface="Calibri"/>
                <a:cs typeface="Calibri"/>
              </a:defRPr>
            </a:pPr>
            <a:r>
              <a:rPr sz="1125" b="1" dirty="0">
                <a:solidFill>
                  <a:srgbClr val="F8F6FF"/>
                </a:solidFill>
                <a:latin typeface="Calibri"/>
                <a:ea typeface="Calibri"/>
                <a:cs typeface="Calibri"/>
              </a:rPr>
              <a:t>FINAL OBJECTIVES</a:t>
            </a:r>
          </a:p>
        </p:txBody>
      </p:sp>
      <p:sp>
        <p:nvSpPr>
          <p:cNvPr id="20" name="Rectangle 19">
            <a:extLst>
              <a:ext uri="{FF2B5EF4-FFF2-40B4-BE49-F238E27FC236}">
                <a16:creationId xmlns:a16="http://schemas.microsoft.com/office/drawing/2014/main" id="{C0B3A80A-66D3-E05E-2597-DD13E949EC6E}"/>
              </a:ext>
            </a:extLst>
          </p:cNvPr>
          <p:cNvSpPr>
            <a:spLocks noGrp="1"/>
          </p:cNvSpPr>
          <p:nvPr/>
        </p:nvSpPr>
        <p:spPr>
          <a:xfrm>
            <a:off x="4512271" y="2315528"/>
            <a:ext cx="643969" cy="457200"/>
          </a:xfrm>
          <a:prstGeom prst="rect">
            <a:avLst/>
          </a:prstGeom>
          <a:noFill/>
          <a:ln w="0">
            <a:noFill/>
          </a:ln>
        </p:spPr>
        <p:txBody>
          <a:bodyPr wrap="square" lIns="0" tIns="0" rIns="0" bIns="0" anchor="t">
            <a:noAutofit/>
          </a:bodyPr>
          <a:lstStyle/>
          <a:p>
            <a:pPr algn="l">
              <a:defRPr sz="2250" b="1">
                <a:solidFill>
                  <a:srgbClr val="FF6B62"/>
                </a:solidFill>
                <a:latin typeface="Calibri"/>
                <a:ea typeface="Calibri"/>
                <a:cs typeface="Calibri"/>
              </a:defRPr>
            </a:pPr>
            <a:r>
              <a:rPr sz="2250" b="1">
                <a:solidFill>
                  <a:srgbClr val="FF6B62"/>
                </a:solidFill>
                <a:latin typeface="Calibri"/>
                <a:ea typeface="Calibri"/>
                <a:cs typeface="Calibri"/>
              </a:rPr>
              <a:t>01</a:t>
            </a:r>
          </a:p>
        </p:txBody>
      </p:sp>
      <p:sp>
        <p:nvSpPr>
          <p:cNvPr id="21" name="Rectangle 20">
            <a:extLst>
              <a:ext uri="{FF2B5EF4-FFF2-40B4-BE49-F238E27FC236}">
                <a16:creationId xmlns:a16="http://schemas.microsoft.com/office/drawing/2014/main" id="{E638572C-D4ED-4E4B-15CD-9D67DC2BBB29}"/>
              </a:ext>
            </a:extLst>
          </p:cNvPr>
          <p:cNvSpPr>
            <a:spLocks noGrp="1"/>
          </p:cNvSpPr>
          <p:nvPr/>
        </p:nvSpPr>
        <p:spPr>
          <a:xfrm>
            <a:off x="5064721" y="2218372"/>
            <a:ext cx="6223954" cy="1134428"/>
          </a:xfrm>
          <a:prstGeom prst="rect">
            <a:avLst/>
          </a:prstGeom>
          <a:noFill/>
          <a:ln w="0">
            <a:noFill/>
          </a:ln>
        </p:spPr>
        <p:txBody>
          <a:bodyPr wrap="square" lIns="0" tIns="0" rIns="0" bIns="0" anchor="t">
            <a:noAutofit/>
          </a:bodyPr>
          <a:lstStyle/>
          <a:p>
            <a:pPr>
              <a:defRPr sz="1800" b="1">
                <a:solidFill>
                  <a:srgbClr val="F8F6FF"/>
                </a:solidFill>
                <a:latin typeface="Calibri"/>
                <a:ea typeface="Calibri"/>
                <a:cs typeface="Calibri"/>
              </a:defRPr>
            </a:pPr>
            <a:r>
              <a:rPr lang="en-GB" sz="1600" b="1" dirty="0"/>
              <a:t>To design and implement a mobile-based application for dementia patients and caregivers that integrates daily task and medication management, cognitive exercises, gamified features, and real-time patient activity monitoring to support patient engagement, routine adherence, and caregiver coordination.</a:t>
            </a:r>
            <a:endParaRPr lang="en-MY" sz="1600" b="1" dirty="0"/>
          </a:p>
          <a:p>
            <a:pPr>
              <a:defRPr sz="1800" b="1">
                <a:solidFill>
                  <a:srgbClr val="F8F6FF"/>
                </a:solidFill>
                <a:latin typeface="Calibri"/>
                <a:ea typeface="Calibri"/>
                <a:cs typeface="Calibri"/>
              </a:defRPr>
            </a:pPr>
            <a:endParaRPr lang="en-US" sz="1600" b="1" dirty="0">
              <a:solidFill>
                <a:srgbClr val="F8F6FF"/>
              </a:solidFill>
              <a:latin typeface="Calibri"/>
              <a:ea typeface="Calibri"/>
              <a:cs typeface="Calibri"/>
            </a:endParaRPr>
          </a:p>
        </p:txBody>
      </p:sp>
      <p:sp>
        <p:nvSpPr>
          <p:cNvPr id="23" name="Rectangle 22">
            <a:extLst>
              <a:ext uri="{FF2B5EF4-FFF2-40B4-BE49-F238E27FC236}">
                <a16:creationId xmlns:a16="http://schemas.microsoft.com/office/drawing/2014/main" id="{49E9F3FC-A35A-F3CA-0C89-74F4CA2DFF5B}"/>
              </a:ext>
            </a:extLst>
          </p:cNvPr>
          <p:cNvSpPr>
            <a:spLocks noGrp="1"/>
          </p:cNvSpPr>
          <p:nvPr/>
        </p:nvSpPr>
        <p:spPr>
          <a:xfrm>
            <a:off x="4516716" y="3401377"/>
            <a:ext cx="643969" cy="457200"/>
          </a:xfrm>
          <a:prstGeom prst="rect">
            <a:avLst/>
          </a:prstGeom>
          <a:noFill/>
          <a:ln w="0">
            <a:noFill/>
          </a:ln>
        </p:spPr>
        <p:txBody>
          <a:bodyPr wrap="square" lIns="0" tIns="0" rIns="0" bIns="0" anchor="t">
            <a:noAutofit/>
          </a:bodyPr>
          <a:lstStyle/>
          <a:p>
            <a:pPr algn="l">
              <a:defRPr sz="2250" b="1">
                <a:solidFill>
                  <a:srgbClr val="FF6B62"/>
                </a:solidFill>
                <a:latin typeface="Calibri"/>
                <a:ea typeface="Calibri"/>
                <a:cs typeface="Calibri"/>
              </a:defRPr>
            </a:pPr>
            <a:r>
              <a:rPr sz="2250" b="1" dirty="0">
                <a:solidFill>
                  <a:srgbClr val="FF6B62"/>
                </a:solidFill>
                <a:latin typeface="Calibri"/>
                <a:ea typeface="Calibri"/>
                <a:cs typeface="Calibri"/>
              </a:rPr>
              <a:t>02</a:t>
            </a:r>
          </a:p>
        </p:txBody>
      </p:sp>
      <p:sp>
        <p:nvSpPr>
          <p:cNvPr id="24" name="Rectangle 23">
            <a:extLst>
              <a:ext uri="{FF2B5EF4-FFF2-40B4-BE49-F238E27FC236}">
                <a16:creationId xmlns:a16="http://schemas.microsoft.com/office/drawing/2014/main" id="{170EFBEB-D659-C9CD-C2E0-2326B95B14E7}"/>
              </a:ext>
            </a:extLst>
          </p:cNvPr>
          <p:cNvSpPr>
            <a:spLocks noGrp="1"/>
          </p:cNvSpPr>
          <p:nvPr/>
        </p:nvSpPr>
        <p:spPr>
          <a:xfrm>
            <a:off x="5078533" y="3538060"/>
            <a:ext cx="6253164" cy="789623"/>
          </a:xfrm>
          <a:prstGeom prst="rect">
            <a:avLst/>
          </a:prstGeom>
          <a:noFill/>
          <a:ln w="0">
            <a:noFill/>
          </a:ln>
        </p:spPr>
        <p:txBody>
          <a:bodyPr wrap="square" lIns="0" tIns="0" rIns="0" bIns="0" anchor="t">
            <a:noAutofit/>
          </a:bodyPr>
          <a:lstStyle/>
          <a:p>
            <a:pPr>
              <a:defRPr sz="1800" b="1">
                <a:solidFill>
                  <a:srgbClr val="F8F6FF"/>
                </a:solidFill>
                <a:latin typeface="Calibri"/>
                <a:ea typeface="Calibri"/>
                <a:cs typeface="Calibri"/>
              </a:defRPr>
            </a:pPr>
            <a:r>
              <a:rPr lang="en-GB" sz="1600" b="1" dirty="0"/>
              <a:t>To assess usability and user acceptance for the developed mobile application using User Acceptance Testing (UAT) along with the System Usability Scale (SUS), with a target usability score of at least 85%.</a:t>
            </a:r>
            <a:endParaRPr lang="en-US" sz="1600" b="1" dirty="0">
              <a:solidFill>
                <a:srgbClr val="F8F6FF"/>
              </a:solidFill>
              <a:latin typeface="Calibri"/>
              <a:ea typeface="Calibri"/>
              <a:cs typeface="Calibri"/>
            </a:endParaRPr>
          </a:p>
        </p:txBody>
      </p:sp>
      <p:sp>
        <p:nvSpPr>
          <p:cNvPr id="26" name="Rectangle 25">
            <a:extLst>
              <a:ext uri="{FF2B5EF4-FFF2-40B4-BE49-F238E27FC236}">
                <a16:creationId xmlns:a16="http://schemas.microsoft.com/office/drawing/2014/main" id="{C00F1DD7-5228-8274-7AF1-7A4677F0175C}"/>
              </a:ext>
            </a:extLst>
          </p:cNvPr>
          <p:cNvSpPr>
            <a:spLocks noGrp="1"/>
          </p:cNvSpPr>
          <p:nvPr/>
        </p:nvSpPr>
        <p:spPr>
          <a:xfrm>
            <a:off x="4516716" y="4353877"/>
            <a:ext cx="643969" cy="457200"/>
          </a:xfrm>
          <a:prstGeom prst="rect">
            <a:avLst/>
          </a:prstGeom>
          <a:noFill/>
          <a:ln w="0">
            <a:noFill/>
          </a:ln>
        </p:spPr>
        <p:txBody>
          <a:bodyPr wrap="square" lIns="0" tIns="0" rIns="0" bIns="0" anchor="t">
            <a:noAutofit/>
          </a:bodyPr>
          <a:lstStyle/>
          <a:p>
            <a:pPr algn="l">
              <a:defRPr sz="2250" b="1">
                <a:solidFill>
                  <a:srgbClr val="FF6B62"/>
                </a:solidFill>
                <a:latin typeface="Calibri"/>
                <a:ea typeface="Calibri"/>
                <a:cs typeface="Calibri"/>
              </a:defRPr>
            </a:pPr>
            <a:r>
              <a:rPr sz="2250" b="1">
                <a:solidFill>
                  <a:srgbClr val="FF6B62"/>
                </a:solidFill>
                <a:latin typeface="Calibri"/>
                <a:ea typeface="Calibri"/>
                <a:cs typeface="Calibri"/>
              </a:rPr>
              <a:t>03</a:t>
            </a:r>
          </a:p>
        </p:txBody>
      </p:sp>
      <p:sp>
        <p:nvSpPr>
          <p:cNvPr id="27" name="Rectangle 26">
            <a:extLst>
              <a:ext uri="{FF2B5EF4-FFF2-40B4-BE49-F238E27FC236}">
                <a16:creationId xmlns:a16="http://schemas.microsoft.com/office/drawing/2014/main" id="{2AD9D933-8BD9-1646-7532-B55E89FB8472}"/>
              </a:ext>
            </a:extLst>
          </p:cNvPr>
          <p:cNvSpPr>
            <a:spLocks noGrp="1"/>
          </p:cNvSpPr>
          <p:nvPr/>
        </p:nvSpPr>
        <p:spPr>
          <a:xfrm>
            <a:off x="5039940" y="4351654"/>
            <a:ext cx="6086158" cy="1488759"/>
          </a:xfrm>
          <a:prstGeom prst="rect">
            <a:avLst/>
          </a:prstGeom>
          <a:noFill/>
          <a:ln w="0">
            <a:noFill/>
          </a:ln>
        </p:spPr>
        <p:txBody>
          <a:bodyPr wrap="square" lIns="0" tIns="0" rIns="0" bIns="0" anchor="t">
            <a:noAutofit/>
          </a:bodyPr>
          <a:lstStyle/>
          <a:p>
            <a:pPr>
              <a:defRPr sz="1650" b="1">
                <a:solidFill>
                  <a:srgbClr val="F8F6FF"/>
                </a:solidFill>
                <a:latin typeface="Calibri"/>
                <a:ea typeface="Calibri"/>
                <a:cs typeface="Calibri"/>
              </a:defRPr>
            </a:pPr>
            <a:r>
              <a:rPr lang="en-GB" sz="1650" dirty="0"/>
              <a:t>To develop and technically validate a personalized adaptive cognitive exercise module that assigns games according to dementia type and stage, automatically adjusts each game’s difficulty based on the patient’s recent performance, and enables caregiver review and override to maintain an appropriate and achievable level of challenge</a:t>
            </a:r>
            <a:endParaRPr sz="1650" dirty="0">
              <a:solidFill>
                <a:srgbClr val="F8F6FF"/>
              </a:solidFill>
              <a:latin typeface="Calibri"/>
              <a:ea typeface="Calibri"/>
              <a:cs typeface="Calibri"/>
            </a:endParaRPr>
          </a:p>
        </p:txBody>
      </p:sp>
      <p:sp>
        <p:nvSpPr>
          <p:cNvPr id="29" name="Rectangle 28">
            <a:extLst>
              <a:ext uri="{FF2B5EF4-FFF2-40B4-BE49-F238E27FC236}">
                <a16:creationId xmlns:a16="http://schemas.microsoft.com/office/drawing/2014/main" id="{E7392FAF-1117-76AC-AAE0-69F2CE0BC137}"/>
              </a:ext>
            </a:extLst>
          </p:cNvPr>
          <p:cNvSpPr>
            <a:spLocks noGrp="1"/>
          </p:cNvSpPr>
          <p:nvPr/>
        </p:nvSpPr>
        <p:spPr>
          <a:xfrm>
            <a:off x="676275" y="5486400"/>
            <a:ext cx="857250" cy="209550"/>
          </a:xfrm>
          <a:prstGeom prst="rect">
            <a:avLst/>
          </a:prstGeom>
          <a:noFill/>
          <a:ln w="0">
            <a:noFill/>
          </a:ln>
        </p:spPr>
        <p:txBody>
          <a:bodyPr wrap="square" lIns="0" tIns="0" rIns="0" bIns="0" anchor="t">
            <a:noAutofit/>
          </a:bodyPr>
          <a:lstStyle/>
          <a:p>
            <a:pPr algn="l">
              <a:defRPr sz="1050" b="1">
                <a:solidFill>
                  <a:srgbClr val="2ED9A4"/>
                </a:solidFill>
                <a:latin typeface="Calibri"/>
                <a:ea typeface="Calibri"/>
                <a:cs typeface="Calibri"/>
              </a:defRPr>
            </a:pPr>
            <a:r>
              <a:rPr sz="1050" b="1">
                <a:solidFill>
                  <a:srgbClr val="2ED9A4"/>
                </a:solidFill>
                <a:latin typeface="Calibri"/>
                <a:ea typeface="Calibri"/>
                <a:cs typeface="Calibri"/>
              </a:rPr>
              <a:t>PATIENT</a:t>
            </a:r>
          </a:p>
        </p:txBody>
      </p:sp>
      <p:sp>
        <p:nvSpPr>
          <p:cNvPr id="30" name="Rectangle 29">
            <a:extLst>
              <a:ext uri="{FF2B5EF4-FFF2-40B4-BE49-F238E27FC236}">
                <a16:creationId xmlns:a16="http://schemas.microsoft.com/office/drawing/2014/main" id="{FE756074-5F75-84F4-5596-AF494518610B}"/>
              </a:ext>
            </a:extLst>
          </p:cNvPr>
          <p:cNvSpPr>
            <a:spLocks noGrp="1"/>
          </p:cNvSpPr>
          <p:nvPr/>
        </p:nvSpPr>
        <p:spPr>
          <a:xfrm>
            <a:off x="1533525" y="5486400"/>
            <a:ext cx="3286125" cy="209550"/>
          </a:xfrm>
          <a:prstGeom prst="rect">
            <a:avLst/>
          </a:prstGeom>
          <a:noFill/>
          <a:ln w="0">
            <a:noFill/>
          </a:ln>
        </p:spPr>
        <p:txBody>
          <a:bodyPr wrap="square" lIns="0" tIns="0" rIns="0" bIns="0" anchor="t">
            <a:noAutofit/>
          </a:bodyPr>
          <a:lstStyle/>
          <a:p>
            <a:pPr algn="l">
              <a:defRPr sz="1050" b="0">
                <a:solidFill>
                  <a:srgbClr val="B8B0D4"/>
                </a:solidFill>
                <a:latin typeface="Calibri"/>
                <a:ea typeface="Calibri"/>
                <a:cs typeface="Calibri"/>
              </a:defRPr>
            </a:pPr>
            <a:r>
              <a:rPr sz="1050" b="0">
                <a:solidFill>
                  <a:srgbClr val="B8B0D4"/>
                </a:solidFill>
                <a:latin typeface="Calibri"/>
                <a:ea typeface="Calibri"/>
                <a:cs typeface="Calibri"/>
              </a:rPr>
              <a:t>Completes routines, games and rewards</a:t>
            </a:r>
          </a:p>
        </p:txBody>
      </p:sp>
      <p:sp>
        <p:nvSpPr>
          <p:cNvPr id="31" name="Rectangle 30">
            <a:extLst>
              <a:ext uri="{FF2B5EF4-FFF2-40B4-BE49-F238E27FC236}">
                <a16:creationId xmlns:a16="http://schemas.microsoft.com/office/drawing/2014/main" id="{BB4F9E51-A278-6482-375A-B5BC66757740}"/>
              </a:ext>
            </a:extLst>
          </p:cNvPr>
          <p:cNvSpPr>
            <a:spLocks noGrp="1"/>
          </p:cNvSpPr>
          <p:nvPr/>
        </p:nvSpPr>
        <p:spPr>
          <a:xfrm>
            <a:off x="4402416" y="5598477"/>
            <a:ext cx="1046449" cy="209550"/>
          </a:xfrm>
          <a:prstGeom prst="rect">
            <a:avLst/>
          </a:prstGeom>
          <a:noFill/>
          <a:ln w="0">
            <a:noFill/>
          </a:ln>
        </p:spPr>
        <p:txBody>
          <a:bodyPr wrap="square" lIns="0" tIns="0" rIns="0" bIns="0" anchor="t">
            <a:noAutofit/>
          </a:bodyPr>
          <a:lstStyle/>
          <a:p>
            <a:pPr algn="l">
              <a:defRPr sz="1050" b="1">
                <a:solidFill>
                  <a:srgbClr val="FFB020"/>
                </a:solidFill>
                <a:latin typeface="Calibri"/>
                <a:ea typeface="Calibri"/>
                <a:cs typeface="Calibri"/>
              </a:defRPr>
            </a:pPr>
            <a:r>
              <a:rPr sz="1050" b="1" dirty="0">
                <a:solidFill>
                  <a:srgbClr val="FFB020"/>
                </a:solidFill>
                <a:latin typeface="Calibri"/>
                <a:ea typeface="Calibri"/>
                <a:cs typeface="Calibri"/>
              </a:rPr>
              <a:t>CAREGIVER</a:t>
            </a:r>
          </a:p>
        </p:txBody>
      </p:sp>
      <p:sp>
        <p:nvSpPr>
          <p:cNvPr id="33" name="Rectangle 32">
            <a:extLst>
              <a:ext uri="{FF2B5EF4-FFF2-40B4-BE49-F238E27FC236}">
                <a16:creationId xmlns:a16="http://schemas.microsoft.com/office/drawing/2014/main" id="{73513F75-9D6A-5221-E950-BA877472E9BA}"/>
              </a:ext>
            </a:extLst>
          </p:cNvPr>
          <p:cNvSpPr>
            <a:spLocks noGrp="1"/>
          </p:cNvSpPr>
          <p:nvPr/>
        </p:nvSpPr>
        <p:spPr>
          <a:xfrm>
            <a:off x="533400" y="6543675"/>
            <a:ext cx="9525000" cy="171450"/>
          </a:xfrm>
          <a:prstGeom prst="rect">
            <a:avLst/>
          </a:prstGeom>
          <a:noFill/>
          <a:ln w="0">
            <a:noFill/>
          </a:ln>
        </p:spPr>
        <p:txBody>
          <a:bodyPr wrap="square" lIns="0" tIns="0" rIns="0" bIns="0" anchor="t">
            <a:noAutofit/>
          </a:bodyPr>
          <a:lstStyle/>
          <a:p>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Sources: earlier proposal pp. 16–17; final report pp. 25–27.</a:t>
            </a:r>
          </a:p>
        </p:txBody>
      </p:sp>
      <p:sp>
        <p:nvSpPr>
          <p:cNvPr id="34" name="Rectangle 33">
            <a:extLst>
              <a:ext uri="{FF2B5EF4-FFF2-40B4-BE49-F238E27FC236}">
                <a16:creationId xmlns:a16="http://schemas.microsoft.com/office/drawing/2014/main" id="{B71B14D4-EA5A-70C1-D575-6BC9247440DB}"/>
              </a:ext>
            </a:extLst>
          </p:cNvPr>
          <p:cNvSpPr>
            <a:spLocks noGrp="1"/>
          </p:cNvSpPr>
          <p:nvPr/>
        </p:nvSpPr>
        <p:spPr>
          <a:xfrm>
            <a:off x="11277600" y="6496050"/>
            <a:ext cx="476250" cy="209550"/>
          </a:xfrm>
          <a:prstGeom prst="rect">
            <a:avLst/>
          </a:prstGeom>
          <a:noFill/>
          <a:ln w="0">
            <a:noFill/>
          </a:ln>
        </p:spPr>
        <p:txBody>
          <a:bodyPr wrap="square" lIns="0" tIns="0" rIns="0" bIns="0" anchor="t">
            <a:noAutofit/>
          </a:bodyPr>
          <a:lstStyle/>
          <a:p>
            <a:pPr algn="r">
              <a:defRPr sz="975" b="1">
                <a:solidFill>
                  <a:srgbClr val="B8B0D4"/>
                </a:solidFill>
                <a:latin typeface="Calibri"/>
                <a:ea typeface="Calibri"/>
                <a:cs typeface="Calibri"/>
              </a:defRPr>
            </a:pPr>
            <a:r>
              <a:rPr sz="975" b="1">
                <a:solidFill>
                  <a:srgbClr val="B8B0D4"/>
                </a:solidFill>
                <a:latin typeface="Calibri"/>
                <a:ea typeface="Calibri"/>
                <a:cs typeface="Calibri"/>
              </a:rPr>
              <a:t>04</a:t>
            </a:r>
          </a:p>
        </p:txBody>
      </p:sp>
    </p:spTree>
    <p:extLst>
      <p:ext uri="{BB962C8B-B14F-4D97-AF65-F5344CB8AC3E}">
        <p14:creationId xmlns:p14="http://schemas.microsoft.com/office/powerpoint/2010/main" val="3206644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1530"/>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BB94A806-6F21-413E-B36F-01B2EF192BFC}"/>
              </a:ext>
            </a:extLst>
          </p:cNvPr>
          <p:cNvSpPr>
            <a:spLocks noGrp="1"/>
          </p:cNvSpPr>
          <p:nvPr/>
        </p:nvSpPr>
        <p:spPr>
          <a:xfrm>
            <a:off x="0" y="0"/>
            <a:ext cx="133350" cy="6858000"/>
          </a:xfrm>
          <a:prstGeom prst="rect">
            <a:avLst/>
          </a:prstGeom>
          <a:solidFill>
            <a:srgbClr val="FF6B62"/>
          </a:solidFill>
          <a:ln w="0">
            <a:noFill/>
          </a:ln>
        </p:spPr>
        <p:txBody>
          <a:bodyPr/>
          <a:lstStyle/>
          <a:p>
            <a:endParaRPr lang="en-MY"/>
          </a:p>
        </p:txBody>
      </p:sp>
      <p:sp>
        <p:nvSpPr>
          <p:cNvPr id="2" name="Rectangle 1">
            <a:extLst>
              <a:ext uri="{FF2B5EF4-FFF2-40B4-BE49-F238E27FC236}">
                <a16:creationId xmlns:a16="http://schemas.microsoft.com/office/drawing/2014/main" id="{37081EDC-CBDD-4C1E-960B-08BA67E6B57B}"/>
              </a:ext>
            </a:extLst>
          </p:cNvPr>
          <p:cNvSpPr>
            <a:spLocks noGrp="1"/>
          </p:cNvSpPr>
          <p:nvPr/>
        </p:nvSpPr>
        <p:spPr>
          <a:xfrm>
            <a:off x="533400" y="323850"/>
            <a:ext cx="2571750" cy="247650"/>
          </a:xfrm>
          <a:prstGeom prst="rect">
            <a:avLst/>
          </a:prstGeom>
          <a:noFill/>
          <a:ln w="0">
            <a:noFill/>
          </a:ln>
        </p:spPr>
        <p:txBody>
          <a:bodyPr wrap="square" lIns="0" tIns="0" rIns="0" bIns="0" anchor="t">
            <a:noAutofit/>
          </a:bodyPr>
          <a:lstStyle/>
          <a:p>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2 · LITERATURE REVIEW</a:t>
            </a:r>
          </a:p>
        </p:txBody>
      </p:sp>
      <p:sp>
        <p:nvSpPr>
          <p:cNvPr id="3" name="Rectangle 2">
            <a:extLst>
              <a:ext uri="{FF2B5EF4-FFF2-40B4-BE49-F238E27FC236}">
                <a16:creationId xmlns:a16="http://schemas.microsoft.com/office/drawing/2014/main" id="{2FFAB1A4-065D-45BB-880C-287E081C95AF}"/>
              </a:ext>
            </a:extLst>
          </p:cNvPr>
          <p:cNvSpPr>
            <a:spLocks noGrp="1"/>
          </p:cNvSpPr>
          <p:nvPr/>
        </p:nvSpPr>
        <p:spPr>
          <a:xfrm>
            <a:off x="533400" y="619125"/>
            <a:ext cx="11049000" cy="533400"/>
          </a:xfrm>
          <a:prstGeom prst="rect">
            <a:avLst/>
          </a:prstGeom>
          <a:noFill/>
          <a:ln w="0">
            <a:noFill/>
          </a:ln>
        </p:spPr>
        <p:txBody>
          <a:bodyPr wrap="square" lIns="0" tIns="0" rIns="0" bIns="0" anchor="t">
            <a:noAutofit/>
          </a:bodyPr>
          <a:lstStyle/>
          <a:p>
            <a:pPr algn="l">
              <a:defRPr sz="2700" b="1">
                <a:solidFill>
                  <a:srgbClr val="F8F6FF"/>
                </a:solidFill>
                <a:latin typeface="Calibri"/>
                <a:ea typeface="Calibri"/>
                <a:cs typeface="Calibri"/>
              </a:defRPr>
            </a:pPr>
            <a:r>
              <a:rPr sz="2700" b="1" dirty="0">
                <a:solidFill>
                  <a:srgbClr val="F8F6FF"/>
                </a:solidFill>
                <a:latin typeface="Calibri"/>
                <a:ea typeface="Calibri"/>
                <a:cs typeface="Calibri"/>
              </a:rPr>
              <a:t>Where the final features came from</a:t>
            </a:r>
          </a:p>
        </p:txBody>
      </p:sp>
      <p:sp>
        <p:nvSpPr>
          <p:cNvPr id="4" name="Rectangle 3">
            <a:extLst>
              <a:ext uri="{FF2B5EF4-FFF2-40B4-BE49-F238E27FC236}">
                <a16:creationId xmlns:a16="http://schemas.microsoft.com/office/drawing/2014/main" id="{5BA3AE37-6BFD-4806-8305-DB0600812BF6}"/>
              </a:ext>
            </a:extLst>
          </p:cNvPr>
          <p:cNvSpPr>
            <a:spLocks noGrp="1"/>
          </p:cNvSpPr>
          <p:nvPr/>
        </p:nvSpPr>
        <p:spPr>
          <a:xfrm>
            <a:off x="552450" y="1143000"/>
            <a:ext cx="10668000" cy="323850"/>
          </a:xfrm>
          <a:prstGeom prst="rect">
            <a:avLst/>
          </a:prstGeom>
          <a:noFill/>
          <a:ln w="0">
            <a:noFill/>
          </a:ln>
        </p:spPr>
        <p:txBody>
          <a:bodyPr wrap="square" lIns="0" tIns="0" rIns="0" bIns="0" anchor="t">
            <a:noAutofit/>
          </a:bodyPr>
          <a:lstStyle/>
          <a:p>
            <a:pPr algn="l">
              <a:defRPr sz="1350" b="0">
                <a:solidFill>
                  <a:srgbClr val="B8B0D4"/>
                </a:solidFill>
                <a:latin typeface="Calibri"/>
                <a:ea typeface="Calibri"/>
                <a:cs typeface="Calibri"/>
              </a:defRPr>
            </a:pPr>
            <a:r>
              <a:rPr sz="1350" b="0" dirty="0">
                <a:solidFill>
                  <a:srgbClr val="B8B0D4"/>
                </a:solidFill>
                <a:latin typeface="Calibri"/>
                <a:ea typeface="Calibri"/>
                <a:cs typeface="Calibri"/>
              </a:rPr>
              <a:t>Existing apps showed useful fragments; literature justified how those fragments should be adapted for dementia care.</a:t>
            </a:r>
          </a:p>
        </p:txBody>
      </p:sp>
      <p:sp>
        <p:nvSpPr>
          <p:cNvPr id="5" name="Rectangle 4">
            <a:extLst>
              <a:ext uri="{FF2B5EF4-FFF2-40B4-BE49-F238E27FC236}">
                <a16:creationId xmlns:a16="http://schemas.microsoft.com/office/drawing/2014/main" id="{675F016D-EA15-4CD6-81BE-4E8EE6F995C6}"/>
              </a:ext>
            </a:extLst>
          </p:cNvPr>
          <p:cNvSpPr>
            <a:spLocks noGrp="1"/>
          </p:cNvSpPr>
          <p:nvPr/>
        </p:nvSpPr>
        <p:spPr>
          <a:xfrm>
            <a:off x="666750" y="1676400"/>
            <a:ext cx="2476500" cy="228600"/>
          </a:xfrm>
          <a:prstGeom prst="rect">
            <a:avLst/>
          </a:prstGeom>
          <a:noFill/>
          <a:ln w="0">
            <a:noFill/>
          </a:ln>
        </p:spPr>
        <p:txBody>
          <a:bodyPr wrap="square" lIns="0" tIns="0" rIns="0" bIns="0" anchor="t">
            <a:noAutofit/>
          </a:bodyPr>
          <a:lstStyle/>
          <a:p>
            <a:pPr algn="l">
              <a:defRPr sz="1050" b="1">
                <a:solidFill>
                  <a:srgbClr val="FF6B62"/>
                </a:solidFill>
                <a:latin typeface="Calibri"/>
                <a:ea typeface="Calibri"/>
                <a:cs typeface="Calibri"/>
              </a:defRPr>
            </a:pPr>
            <a:r>
              <a:rPr sz="1050" b="1" dirty="0">
                <a:solidFill>
                  <a:srgbClr val="FF6B62"/>
                </a:solidFill>
                <a:latin typeface="Calibri"/>
                <a:ea typeface="Calibri"/>
                <a:cs typeface="Calibri"/>
              </a:rPr>
              <a:t>EVIDENCE / SOURCE</a:t>
            </a:r>
          </a:p>
        </p:txBody>
      </p:sp>
      <p:sp>
        <p:nvSpPr>
          <p:cNvPr id="6" name="Rectangle 5">
            <a:extLst>
              <a:ext uri="{FF2B5EF4-FFF2-40B4-BE49-F238E27FC236}">
                <a16:creationId xmlns:a16="http://schemas.microsoft.com/office/drawing/2014/main" id="{03F6B7E7-699A-4A3D-975C-D9F7FF925D7D}"/>
              </a:ext>
            </a:extLst>
          </p:cNvPr>
          <p:cNvSpPr>
            <a:spLocks noGrp="1"/>
          </p:cNvSpPr>
          <p:nvPr/>
        </p:nvSpPr>
        <p:spPr>
          <a:xfrm>
            <a:off x="3676650" y="1676400"/>
            <a:ext cx="3714750" cy="228600"/>
          </a:xfrm>
          <a:prstGeom prst="rect">
            <a:avLst/>
          </a:prstGeom>
          <a:noFill/>
          <a:ln w="0">
            <a:noFill/>
          </a:ln>
        </p:spPr>
        <p:txBody>
          <a:bodyPr wrap="square" lIns="0" tIns="0" rIns="0" bIns="0" anchor="t">
            <a:noAutofit/>
          </a:bodyPr>
          <a:lstStyle/>
          <a:p>
            <a:pPr algn="l">
              <a:defRPr sz="1050" b="1">
                <a:solidFill>
                  <a:srgbClr val="7C83FD"/>
                </a:solidFill>
                <a:latin typeface="Calibri"/>
                <a:ea typeface="Calibri"/>
                <a:cs typeface="Calibri"/>
              </a:defRPr>
            </a:pPr>
            <a:r>
              <a:rPr sz="1050" b="1">
                <a:solidFill>
                  <a:srgbClr val="7C83FD"/>
                </a:solidFill>
                <a:latin typeface="Calibri"/>
                <a:ea typeface="Calibri"/>
                <a:cs typeface="Calibri"/>
              </a:rPr>
              <a:t>DESIGN DECISION</a:t>
            </a:r>
          </a:p>
        </p:txBody>
      </p:sp>
      <p:sp>
        <p:nvSpPr>
          <p:cNvPr id="7" name="Rectangle 6">
            <a:extLst>
              <a:ext uri="{FF2B5EF4-FFF2-40B4-BE49-F238E27FC236}">
                <a16:creationId xmlns:a16="http://schemas.microsoft.com/office/drawing/2014/main" id="{84193714-DA41-44E8-A0B3-0164023890F2}"/>
              </a:ext>
            </a:extLst>
          </p:cNvPr>
          <p:cNvSpPr>
            <a:spLocks noGrp="1"/>
          </p:cNvSpPr>
          <p:nvPr/>
        </p:nvSpPr>
        <p:spPr>
          <a:xfrm>
            <a:off x="8115300" y="1676400"/>
            <a:ext cx="3238500" cy="228600"/>
          </a:xfrm>
          <a:prstGeom prst="rect">
            <a:avLst/>
          </a:prstGeom>
          <a:noFill/>
          <a:ln w="0">
            <a:noFill/>
          </a:ln>
        </p:spPr>
        <p:txBody>
          <a:bodyPr wrap="square" lIns="0" tIns="0" rIns="0" bIns="0" anchor="t">
            <a:noAutofit/>
          </a:bodyPr>
          <a:lstStyle/>
          <a:p>
            <a:pPr algn="l">
              <a:defRPr sz="1050" b="1">
                <a:solidFill>
                  <a:srgbClr val="2ED9A4"/>
                </a:solidFill>
                <a:latin typeface="Calibri"/>
                <a:ea typeface="Calibri"/>
                <a:cs typeface="Calibri"/>
              </a:defRPr>
            </a:pPr>
            <a:r>
              <a:rPr sz="1050" b="1">
                <a:solidFill>
                  <a:srgbClr val="2ED9A4"/>
                </a:solidFill>
                <a:latin typeface="Calibri"/>
                <a:ea typeface="Calibri"/>
                <a:cs typeface="Calibri"/>
              </a:rPr>
              <a:t>END-USER VALUE</a:t>
            </a:r>
          </a:p>
        </p:txBody>
      </p:sp>
      <p:sp>
        <p:nvSpPr>
          <p:cNvPr id="8" name="Rectangle: Rounded Corners 7">
            <a:extLst>
              <a:ext uri="{FF2B5EF4-FFF2-40B4-BE49-F238E27FC236}">
                <a16:creationId xmlns:a16="http://schemas.microsoft.com/office/drawing/2014/main" id="{737862C9-EFCC-4EA0-AC46-5F6DA5589071}"/>
              </a:ext>
            </a:extLst>
          </p:cNvPr>
          <p:cNvSpPr>
            <a:spLocks noGrp="1"/>
          </p:cNvSpPr>
          <p:nvPr/>
        </p:nvSpPr>
        <p:spPr>
          <a:xfrm>
            <a:off x="647700" y="2047875"/>
            <a:ext cx="10744200" cy="647700"/>
          </a:xfrm>
          <a:prstGeom prst="roundRect">
            <a:avLst>
              <a:gd name="adj" fmla="val 17647"/>
            </a:avLst>
          </a:prstGeom>
          <a:solidFill>
            <a:srgbClr val="2E2750"/>
          </a:solidFill>
          <a:ln w="0">
            <a:noFill/>
          </a:ln>
        </p:spPr>
        <p:txBody>
          <a:bodyPr/>
          <a:lstStyle/>
          <a:p>
            <a:endParaRPr lang="en-MY"/>
          </a:p>
        </p:txBody>
      </p:sp>
      <p:sp>
        <p:nvSpPr>
          <p:cNvPr id="9" name="Rectangle 8">
            <a:extLst>
              <a:ext uri="{FF2B5EF4-FFF2-40B4-BE49-F238E27FC236}">
                <a16:creationId xmlns:a16="http://schemas.microsoft.com/office/drawing/2014/main" id="{9689B60F-B148-4D81-A879-AAB8F9BCCEA6}"/>
              </a:ext>
            </a:extLst>
          </p:cNvPr>
          <p:cNvSpPr>
            <a:spLocks noGrp="1"/>
          </p:cNvSpPr>
          <p:nvPr/>
        </p:nvSpPr>
        <p:spPr>
          <a:xfrm>
            <a:off x="819150" y="2143125"/>
            <a:ext cx="1123950" cy="190500"/>
          </a:xfrm>
          <a:prstGeom prst="rect">
            <a:avLst/>
          </a:prstGeom>
          <a:noFill/>
          <a:ln w="0">
            <a:noFill/>
          </a:ln>
        </p:spPr>
        <p:txBody>
          <a:bodyPr wrap="square" lIns="0" tIns="0" rIns="0" bIns="0" anchor="t">
            <a:noAutofit/>
          </a:bodyPr>
          <a:lstStyle/>
          <a:p>
            <a:pPr algn="l">
              <a:defRPr sz="975" b="1">
                <a:solidFill>
                  <a:srgbClr val="FF6B62"/>
                </a:solidFill>
                <a:latin typeface="Calibri"/>
                <a:ea typeface="Calibri"/>
                <a:cs typeface="Calibri"/>
              </a:defRPr>
            </a:pPr>
            <a:r>
              <a:rPr sz="975" b="1" dirty="0">
                <a:solidFill>
                  <a:srgbClr val="FF6B62"/>
                </a:solidFill>
                <a:latin typeface="Calibri"/>
                <a:ea typeface="Calibri"/>
                <a:cs typeface="Calibri"/>
              </a:rPr>
              <a:t>ROUTINES</a:t>
            </a:r>
          </a:p>
        </p:txBody>
      </p:sp>
      <p:sp>
        <p:nvSpPr>
          <p:cNvPr id="10" name="Rectangle 9">
            <a:extLst>
              <a:ext uri="{FF2B5EF4-FFF2-40B4-BE49-F238E27FC236}">
                <a16:creationId xmlns:a16="http://schemas.microsoft.com/office/drawing/2014/main" id="{95AAABE0-7025-40B3-8744-542FE61327D0}"/>
              </a:ext>
            </a:extLst>
          </p:cNvPr>
          <p:cNvSpPr>
            <a:spLocks noGrp="1"/>
          </p:cNvSpPr>
          <p:nvPr/>
        </p:nvSpPr>
        <p:spPr>
          <a:xfrm>
            <a:off x="819150" y="2343150"/>
            <a:ext cx="2571750" cy="247650"/>
          </a:xfrm>
          <a:prstGeom prst="rect">
            <a:avLst/>
          </a:prstGeom>
          <a:noFill/>
          <a:ln w="0">
            <a:noFill/>
          </a:ln>
        </p:spPr>
        <p:txBody>
          <a:bodyPr wrap="square" lIns="0" tIns="0" rIns="0" bIns="0" anchor="t">
            <a:noAutofit/>
          </a:bodyPr>
          <a:lstStyle/>
          <a:p>
            <a:pPr algn="l">
              <a:defRPr sz="1050" b="0">
                <a:solidFill>
                  <a:srgbClr val="B8B0D4"/>
                </a:solidFill>
                <a:latin typeface="Calibri"/>
                <a:ea typeface="Calibri"/>
                <a:cs typeface="Calibri"/>
              </a:defRPr>
            </a:pPr>
            <a:r>
              <a:rPr sz="1200" b="0" dirty="0">
                <a:solidFill>
                  <a:srgbClr val="E7E4F0"/>
                </a:solidFill>
                <a:latin typeface="Calibri"/>
                <a:ea typeface="Calibri"/>
                <a:cs typeface="Calibri"/>
              </a:rPr>
              <a:t>Elli Cares + reminder research</a:t>
            </a:r>
          </a:p>
        </p:txBody>
      </p:sp>
      <p:sp>
        <p:nvSpPr>
          <p:cNvPr id="11" name="Rectangle 10">
            <a:extLst>
              <a:ext uri="{FF2B5EF4-FFF2-40B4-BE49-F238E27FC236}">
                <a16:creationId xmlns:a16="http://schemas.microsoft.com/office/drawing/2014/main" id="{B9D4A6CC-B390-4C0A-9F14-AA00A9553EB7}"/>
              </a:ext>
            </a:extLst>
          </p:cNvPr>
          <p:cNvSpPr>
            <a:spLocks noGrp="1"/>
          </p:cNvSpPr>
          <p:nvPr/>
        </p:nvSpPr>
        <p:spPr>
          <a:xfrm>
            <a:off x="3676650" y="2190750"/>
            <a:ext cx="3905250" cy="400050"/>
          </a:xfrm>
          <a:prstGeom prst="rect">
            <a:avLst/>
          </a:prstGeom>
          <a:noFill/>
          <a:ln w="0">
            <a:noFill/>
          </a:ln>
        </p:spPr>
        <p:txBody>
          <a:bodyPr wrap="square" lIns="0" tIns="0" rIns="0" bIns="0" anchor="t">
            <a:noAutofit/>
          </a:bodyPr>
          <a:lstStyle/>
          <a:p>
            <a:pPr algn="l">
              <a:defRPr sz="1200" b="1">
                <a:solidFill>
                  <a:srgbClr val="F8F6FF"/>
                </a:solidFill>
                <a:latin typeface="Calibri"/>
                <a:ea typeface="Calibri"/>
                <a:cs typeface="Calibri"/>
              </a:defRPr>
            </a:pPr>
            <a:r>
              <a:rPr sz="1200" b="1" dirty="0">
                <a:solidFill>
                  <a:srgbClr val="F8F6FF"/>
                </a:solidFill>
                <a:latin typeface="Calibri"/>
                <a:ea typeface="Calibri"/>
                <a:cs typeface="Calibri"/>
              </a:rPr>
              <a:t>Recurring tasks, medication dosage and response-aware alerts</a:t>
            </a:r>
          </a:p>
        </p:txBody>
      </p:sp>
      <p:sp>
        <p:nvSpPr>
          <p:cNvPr id="12" name="Rectangle 11">
            <a:extLst>
              <a:ext uri="{FF2B5EF4-FFF2-40B4-BE49-F238E27FC236}">
                <a16:creationId xmlns:a16="http://schemas.microsoft.com/office/drawing/2014/main" id="{AED93DDA-0D10-4772-BB67-4FF97DA06C37}"/>
              </a:ext>
            </a:extLst>
          </p:cNvPr>
          <p:cNvSpPr>
            <a:spLocks noGrp="1"/>
          </p:cNvSpPr>
          <p:nvPr/>
        </p:nvSpPr>
        <p:spPr>
          <a:xfrm>
            <a:off x="8115300" y="2181225"/>
            <a:ext cx="3028950" cy="419100"/>
          </a:xfrm>
          <a:prstGeom prst="rect">
            <a:avLst/>
          </a:prstGeom>
          <a:noFill/>
          <a:ln w="0">
            <a:noFill/>
          </a:ln>
        </p:spPr>
        <p:txBody>
          <a:bodyPr wrap="square" lIns="0" tIns="0" rIns="0" bIns="0" anchor="t">
            <a:noAutofit/>
          </a:bodyPr>
          <a:lstStyle/>
          <a:p>
            <a:pPr algn="l">
              <a:defRPr sz="1125" b="0">
                <a:solidFill>
                  <a:srgbClr val="B8B0D4"/>
                </a:solidFill>
                <a:latin typeface="Calibri"/>
                <a:ea typeface="Calibri"/>
                <a:cs typeface="Calibri"/>
              </a:defRPr>
            </a:pPr>
            <a:r>
              <a:rPr sz="1200" b="0" dirty="0">
                <a:solidFill>
                  <a:srgbClr val="E7E4F0"/>
                </a:solidFill>
                <a:latin typeface="Calibri"/>
                <a:ea typeface="Calibri"/>
                <a:cs typeface="Calibri"/>
              </a:rPr>
              <a:t>Supports adherence and reduces delayed caregiver awareness</a:t>
            </a:r>
          </a:p>
        </p:txBody>
      </p:sp>
      <p:sp>
        <p:nvSpPr>
          <p:cNvPr id="13" name="Rectangle: Rounded Corners 12">
            <a:extLst>
              <a:ext uri="{FF2B5EF4-FFF2-40B4-BE49-F238E27FC236}">
                <a16:creationId xmlns:a16="http://schemas.microsoft.com/office/drawing/2014/main" id="{D9F4D01D-7DB7-41CB-9328-BAA3A5DDB6B8}"/>
              </a:ext>
            </a:extLst>
          </p:cNvPr>
          <p:cNvSpPr>
            <a:spLocks noGrp="1"/>
          </p:cNvSpPr>
          <p:nvPr/>
        </p:nvSpPr>
        <p:spPr>
          <a:xfrm>
            <a:off x="647700" y="2847975"/>
            <a:ext cx="10744200" cy="647700"/>
          </a:xfrm>
          <a:prstGeom prst="roundRect">
            <a:avLst>
              <a:gd name="adj" fmla="val 17647"/>
            </a:avLst>
          </a:prstGeom>
          <a:solidFill>
            <a:srgbClr val="3A3160"/>
          </a:solidFill>
          <a:ln w="0">
            <a:noFill/>
          </a:ln>
        </p:spPr>
        <p:txBody>
          <a:bodyPr/>
          <a:lstStyle/>
          <a:p>
            <a:endParaRPr lang="en-MY"/>
          </a:p>
        </p:txBody>
      </p:sp>
      <p:sp>
        <p:nvSpPr>
          <p:cNvPr id="14" name="Rectangle 13">
            <a:extLst>
              <a:ext uri="{FF2B5EF4-FFF2-40B4-BE49-F238E27FC236}">
                <a16:creationId xmlns:a16="http://schemas.microsoft.com/office/drawing/2014/main" id="{BBCDE57A-B93F-492D-9ACA-608F9022ABCC}"/>
              </a:ext>
            </a:extLst>
          </p:cNvPr>
          <p:cNvSpPr>
            <a:spLocks noGrp="1"/>
          </p:cNvSpPr>
          <p:nvPr/>
        </p:nvSpPr>
        <p:spPr>
          <a:xfrm>
            <a:off x="819150" y="2943225"/>
            <a:ext cx="1123950" cy="190500"/>
          </a:xfrm>
          <a:prstGeom prst="rect">
            <a:avLst/>
          </a:prstGeom>
          <a:noFill/>
          <a:ln w="0">
            <a:noFill/>
          </a:ln>
        </p:spPr>
        <p:txBody>
          <a:bodyPr wrap="square" lIns="0" tIns="0" rIns="0" bIns="0" anchor="t">
            <a:noAutofit/>
          </a:bodyPr>
          <a:lstStyle/>
          <a:p>
            <a:pPr algn="l">
              <a:defRPr sz="975" b="1">
                <a:solidFill>
                  <a:srgbClr val="FF6B62"/>
                </a:solidFill>
                <a:latin typeface="Calibri"/>
                <a:ea typeface="Calibri"/>
                <a:cs typeface="Calibri"/>
              </a:defRPr>
            </a:pPr>
            <a:r>
              <a:rPr sz="975" b="1">
                <a:solidFill>
                  <a:srgbClr val="FF6B62"/>
                </a:solidFill>
                <a:latin typeface="Calibri"/>
                <a:ea typeface="Calibri"/>
                <a:cs typeface="Calibri"/>
              </a:rPr>
              <a:t>COGNITION</a:t>
            </a:r>
          </a:p>
        </p:txBody>
      </p:sp>
      <p:sp>
        <p:nvSpPr>
          <p:cNvPr id="15" name="Rectangle 14">
            <a:extLst>
              <a:ext uri="{FF2B5EF4-FFF2-40B4-BE49-F238E27FC236}">
                <a16:creationId xmlns:a16="http://schemas.microsoft.com/office/drawing/2014/main" id="{BC5793DB-E24A-4F07-9B9F-CE9E32F25183}"/>
              </a:ext>
            </a:extLst>
          </p:cNvPr>
          <p:cNvSpPr>
            <a:spLocks noGrp="1"/>
          </p:cNvSpPr>
          <p:nvPr/>
        </p:nvSpPr>
        <p:spPr>
          <a:xfrm>
            <a:off x="819150" y="3143250"/>
            <a:ext cx="2571750" cy="247650"/>
          </a:xfrm>
          <a:prstGeom prst="rect">
            <a:avLst/>
          </a:prstGeom>
          <a:noFill/>
          <a:ln w="0">
            <a:noFill/>
          </a:ln>
        </p:spPr>
        <p:txBody>
          <a:bodyPr wrap="square" lIns="0" tIns="0" rIns="0" bIns="0" anchor="t">
            <a:noAutofit/>
          </a:bodyPr>
          <a:lstStyle/>
          <a:p>
            <a:pPr algn="l">
              <a:defRPr sz="1050" b="0">
                <a:solidFill>
                  <a:srgbClr val="B8B0D4"/>
                </a:solidFill>
                <a:latin typeface="Calibri"/>
                <a:ea typeface="Calibri"/>
                <a:cs typeface="Calibri"/>
              </a:defRPr>
            </a:pPr>
            <a:r>
              <a:rPr sz="1200" b="0" dirty="0" err="1">
                <a:solidFill>
                  <a:srgbClr val="E7E4F0"/>
                </a:solidFill>
                <a:latin typeface="Calibri"/>
                <a:ea typeface="Calibri"/>
                <a:cs typeface="Calibri"/>
              </a:rPr>
              <a:t>XDementia</a:t>
            </a:r>
            <a:r>
              <a:rPr sz="1200" b="0" dirty="0">
                <a:solidFill>
                  <a:srgbClr val="E7E4F0"/>
                </a:solidFill>
                <a:latin typeface="Calibri"/>
                <a:ea typeface="Calibri"/>
                <a:cs typeface="Calibri"/>
              </a:rPr>
              <a:t> + </a:t>
            </a:r>
            <a:r>
              <a:rPr sz="1200" b="0" dirty="0" err="1">
                <a:solidFill>
                  <a:srgbClr val="E7E4F0"/>
                </a:solidFill>
                <a:latin typeface="Calibri"/>
                <a:ea typeface="Calibri"/>
                <a:cs typeface="Calibri"/>
              </a:rPr>
              <a:t>BrainTrack</a:t>
            </a:r>
            <a:endParaRPr sz="1200" b="0" dirty="0">
              <a:solidFill>
                <a:srgbClr val="E7E4F0"/>
              </a:solidFill>
              <a:latin typeface="Calibri"/>
              <a:ea typeface="Calibri"/>
              <a:cs typeface="Calibri"/>
            </a:endParaRPr>
          </a:p>
        </p:txBody>
      </p:sp>
      <p:sp>
        <p:nvSpPr>
          <p:cNvPr id="16" name="Rectangle 15">
            <a:extLst>
              <a:ext uri="{FF2B5EF4-FFF2-40B4-BE49-F238E27FC236}">
                <a16:creationId xmlns:a16="http://schemas.microsoft.com/office/drawing/2014/main" id="{3D32DDEA-24E9-4EB4-B89D-4C1BB45AEE50}"/>
              </a:ext>
            </a:extLst>
          </p:cNvPr>
          <p:cNvSpPr>
            <a:spLocks noGrp="1"/>
          </p:cNvSpPr>
          <p:nvPr/>
        </p:nvSpPr>
        <p:spPr>
          <a:xfrm>
            <a:off x="3676650" y="2990850"/>
            <a:ext cx="3905250" cy="400050"/>
          </a:xfrm>
          <a:prstGeom prst="rect">
            <a:avLst/>
          </a:prstGeom>
          <a:noFill/>
          <a:ln w="0">
            <a:noFill/>
          </a:ln>
        </p:spPr>
        <p:txBody>
          <a:bodyPr wrap="square" lIns="0" tIns="0" rIns="0" bIns="0" anchor="t">
            <a:noAutofit/>
          </a:bodyPr>
          <a:lstStyle/>
          <a:p>
            <a:pPr algn="l">
              <a:defRPr sz="1200" b="1">
                <a:solidFill>
                  <a:srgbClr val="F8F6FF"/>
                </a:solidFill>
                <a:latin typeface="Calibri"/>
                <a:ea typeface="Calibri"/>
                <a:cs typeface="Calibri"/>
              </a:defRPr>
            </a:pPr>
            <a:r>
              <a:rPr sz="1200" b="1" dirty="0">
                <a:solidFill>
                  <a:srgbClr val="F8F6FF"/>
                </a:solidFill>
                <a:latin typeface="Calibri"/>
                <a:ea typeface="Calibri"/>
                <a:cs typeface="Calibri"/>
              </a:rPr>
              <a:t>Accessible games, performance logging and visual feedback</a:t>
            </a:r>
          </a:p>
        </p:txBody>
      </p:sp>
      <p:sp>
        <p:nvSpPr>
          <p:cNvPr id="17" name="Rectangle 16">
            <a:extLst>
              <a:ext uri="{FF2B5EF4-FFF2-40B4-BE49-F238E27FC236}">
                <a16:creationId xmlns:a16="http://schemas.microsoft.com/office/drawing/2014/main" id="{805FEB66-4801-4E84-AED7-9F0DDE5F967B}"/>
              </a:ext>
            </a:extLst>
          </p:cNvPr>
          <p:cNvSpPr>
            <a:spLocks noGrp="1"/>
          </p:cNvSpPr>
          <p:nvPr/>
        </p:nvSpPr>
        <p:spPr>
          <a:xfrm>
            <a:off x="8115300" y="2981325"/>
            <a:ext cx="3028950" cy="419100"/>
          </a:xfrm>
          <a:prstGeom prst="rect">
            <a:avLst/>
          </a:prstGeom>
          <a:noFill/>
          <a:ln w="0">
            <a:noFill/>
          </a:ln>
        </p:spPr>
        <p:txBody>
          <a:bodyPr wrap="square" lIns="0" tIns="0" rIns="0" bIns="0" anchor="t">
            <a:noAutofit/>
          </a:bodyPr>
          <a:lstStyle/>
          <a:p>
            <a:pPr algn="l">
              <a:defRPr sz="1125" b="0">
                <a:solidFill>
                  <a:srgbClr val="B8B0D4"/>
                </a:solidFill>
                <a:latin typeface="Calibri"/>
                <a:ea typeface="Calibri"/>
                <a:cs typeface="Calibri"/>
              </a:defRPr>
            </a:pPr>
            <a:r>
              <a:rPr sz="1200" b="0" dirty="0">
                <a:solidFill>
                  <a:srgbClr val="E7E4F0"/>
                </a:solidFill>
                <a:latin typeface="Calibri"/>
                <a:ea typeface="Calibri"/>
                <a:cs typeface="Calibri"/>
              </a:rPr>
              <a:t>Encourages cognitive participation without a separate app</a:t>
            </a:r>
          </a:p>
        </p:txBody>
      </p:sp>
      <p:sp>
        <p:nvSpPr>
          <p:cNvPr id="18" name="Rectangle: Rounded Corners 17">
            <a:extLst>
              <a:ext uri="{FF2B5EF4-FFF2-40B4-BE49-F238E27FC236}">
                <a16:creationId xmlns:a16="http://schemas.microsoft.com/office/drawing/2014/main" id="{0AEB7DEB-DB64-4632-90B7-9329E12F9628}"/>
              </a:ext>
            </a:extLst>
          </p:cNvPr>
          <p:cNvSpPr>
            <a:spLocks noGrp="1"/>
          </p:cNvSpPr>
          <p:nvPr/>
        </p:nvSpPr>
        <p:spPr>
          <a:xfrm>
            <a:off x="647700" y="3648075"/>
            <a:ext cx="10744200" cy="647700"/>
          </a:xfrm>
          <a:prstGeom prst="roundRect">
            <a:avLst>
              <a:gd name="adj" fmla="val 17647"/>
            </a:avLst>
          </a:prstGeom>
          <a:solidFill>
            <a:srgbClr val="2E2750"/>
          </a:solidFill>
          <a:ln w="0">
            <a:noFill/>
          </a:ln>
        </p:spPr>
        <p:txBody>
          <a:bodyPr/>
          <a:lstStyle/>
          <a:p>
            <a:endParaRPr lang="en-MY" dirty="0"/>
          </a:p>
        </p:txBody>
      </p:sp>
      <p:sp>
        <p:nvSpPr>
          <p:cNvPr id="19" name="Rectangle 18">
            <a:extLst>
              <a:ext uri="{FF2B5EF4-FFF2-40B4-BE49-F238E27FC236}">
                <a16:creationId xmlns:a16="http://schemas.microsoft.com/office/drawing/2014/main" id="{78919A62-5CBA-4810-8FED-430462D617F3}"/>
              </a:ext>
            </a:extLst>
          </p:cNvPr>
          <p:cNvSpPr>
            <a:spLocks noGrp="1"/>
          </p:cNvSpPr>
          <p:nvPr/>
        </p:nvSpPr>
        <p:spPr>
          <a:xfrm>
            <a:off x="819150" y="3743325"/>
            <a:ext cx="1123950" cy="190500"/>
          </a:xfrm>
          <a:prstGeom prst="rect">
            <a:avLst/>
          </a:prstGeom>
          <a:noFill/>
          <a:ln w="0">
            <a:noFill/>
          </a:ln>
        </p:spPr>
        <p:txBody>
          <a:bodyPr wrap="square" lIns="0" tIns="0" rIns="0" bIns="0" anchor="t">
            <a:noAutofit/>
          </a:bodyPr>
          <a:lstStyle/>
          <a:p>
            <a:pPr algn="l">
              <a:defRPr sz="975" b="1">
                <a:solidFill>
                  <a:srgbClr val="FF6B62"/>
                </a:solidFill>
                <a:latin typeface="Calibri"/>
                <a:ea typeface="Calibri"/>
                <a:cs typeface="Calibri"/>
              </a:defRPr>
            </a:pPr>
            <a:r>
              <a:rPr sz="975" b="1">
                <a:solidFill>
                  <a:srgbClr val="FF6B62"/>
                </a:solidFill>
                <a:latin typeface="Calibri"/>
                <a:ea typeface="Calibri"/>
                <a:cs typeface="Calibri"/>
              </a:rPr>
              <a:t>PERSONALISATION</a:t>
            </a:r>
          </a:p>
        </p:txBody>
      </p:sp>
      <p:sp>
        <p:nvSpPr>
          <p:cNvPr id="20" name="Rectangle 19">
            <a:extLst>
              <a:ext uri="{FF2B5EF4-FFF2-40B4-BE49-F238E27FC236}">
                <a16:creationId xmlns:a16="http://schemas.microsoft.com/office/drawing/2014/main" id="{49506525-27DE-4C06-81F0-ABE8822528F0}"/>
              </a:ext>
            </a:extLst>
          </p:cNvPr>
          <p:cNvSpPr>
            <a:spLocks noGrp="1"/>
          </p:cNvSpPr>
          <p:nvPr/>
        </p:nvSpPr>
        <p:spPr>
          <a:xfrm>
            <a:off x="819150" y="3943350"/>
            <a:ext cx="2571750" cy="247650"/>
          </a:xfrm>
          <a:prstGeom prst="rect">
            <a:avLst/>
          </a:prstGeom>
          <a:noFill/>
          <a:ln w="0">
            <a:noFill/>
          </a:ln>
        </p:spPr>
        <p:txBody>
          <a:bodyPr wrap="square" lIns="0" tIns="0" rIns="0" bIns="0" anchor="t">
            <a:noAutofit/>
          </a:bodyPr>
          <a:lstStyle/>
          <a:p>
            <a:pPr algn="l">
              <a:defRPr sz="1050" b="0">
                <a:solidFill>
                  <a:srgbClr val="B8B0D4"/>
                </a:solidFill>
                <a:latin typeface="Calibri"/>
                <a:ea typeface="Calibri"/>
                <a:cs typeface="Calibri"/>
              </a:defRPr>
            </a:pPr>
            <a:r>
              <a:rPr lang="en-MY" sz="1050" b="0" dirty="0">
                <a:solidFill>
                  <a:srgbClr val="E7E4F0"/>
                </a:solidFill>
                <a:latin typeface="Calibri"/>
                <a:ea typeface="Calibri"/>
                <a:cs typeface="Calibri"/>
              </a:rPr>
              <a:t>Research findings</a:t>
            </a:r>
            <a:endParaRPr sz="1050" b="0" dirty="0">
              <a:solidFill>
                <a:srgbClr val="E7E4F0"/>
              </a:solidFill>
              <a:latin typeface="Calibri"/>
              <a:ea typeface="Calibri"/>
              <a:cs typeface="Calibri"/>
            </a:endParaRPr>
          </a:p>
        </p:txBody>
      </p:sp>
      <p:sp>
        <p:nvSpPr>
          <p:cNvPr id="21" name="Rectangle 20">
            <a:extLst>
              <a:ext uri="{FF2B5EF4-FFF2-40B4-BE49-F238E27FC236}">
                <a16:creationId xmlns:a16="http://schemas.microsoft.com/office/drawing/2014/main" id="{BF49FB21-2BEE-4230-9795-44DEFFDC34C7}"/>
              </a:ext>
            </a:extLst>
          </p:cNvPr>
          <p:cNvSpPr>
            <a:spLocks noGrp="1"/>
          </p:cNvSpPr>
          <p:nvPr/>
        </p:nvSpPr>
        <p:spPr>
          <a:xfrm>
            <a:off x="3676650" y="3790950"/>
            <a:ext cx="3905250" cy="400050"/>
          </a:xfrm>
          <a:prstGeom prst="rect">
            <a:avLst/>
          </a:prstGeom>
          <a:noFill/>
          <a:ln w="0">
            <a:noFill/>
          </a:ln>
        </p:spPr>
        <p:txBody>
          <a:bodyPr wrap="square" lIns="0" tIns="0" rIns="0" bIns="0" anchor="t">
            <a:noAutofit/>
          </a:bodyPr>
          <a:lstStyle/>
          <a:p>
            <a:pPr algn="l">
              <a:defRPr sz="1200" b="1">
                <a:solidFill>
                  <a:srgbClr val="F8F6FF"/>
                </a:solidFill>
                <a:latin typeface="Calibri"/>
                <a:ea typeface="Calibri"/>
                <a:cs typeface="Calibri"/>
              </a:defRPr>
            </a:pPr>
            <a:r>
              <a:rPr sz="1200" b="1" dirty="0">
                <a:solidFill>
                  <a:srgbClr val="F8F6FF"/>
                </a:solidFill>
                <a:latin typeface="Calibri"/>
                <a:ea typeface="Calibri"/>
                <a:cs typeface="Calibri"/>
              </a:rPr>
              <a:t>Type/stage routing and per-game adaptive difficulty</a:t>
            </a:r>
          </a:p>
        </p:txBody>
      </p:sp>
      <p:sp>
        <p:nvSpPr>
          <p:cNvPr id="22" name="Rectangle 21">
            <a:extLst>
              <a:ext uri="{FF2B5EF4-FFF2-40B4-BE49-F238E27FC236}">
                <a16:creationId xmlns:a16="http://schemas.microsoft.com/office/drawing/2014/main" id="{5491A6DA-7B82-4AC7-9C98-A3AD56AD7BF8}"/>
              </a:ext>
            </a:extLst>
          </p:cNvPr>
          <p:cNvSpPr>
            <a:spLocks noGrp="1"/>
          </p:cNvSpPr>
          <p:nvPr/>
        </p:nvSpPr>
        <p:spPr>
          <a:xfrm>
            <a:off x="8115300" y="3781425"/>
            <a:ext cx="3028950" cy="419100"/>
          </a:xfrm>
          <a:prstGeom prst="rect">
            <a:avLst/>
          </a:prstGeom>
          <a:noFill/>
          <a:ln w="0">
            <a:noFill/>
          </a:ln>
        </p:spPr>
        <p:txBody>
          <a:bodyPr wrap="square" lIns="0" tIns="0" rIns="0" bIns="0" anchor="t">
            <a:noAutofit/>
          </a:bodyPr>
          <a:lstStyle/>
          <a:p>
            <a:pPr algn="l">
              <a:defRPr sz="1125" b="0">
                <a:solidFill>
                  <a:srgbClr val="B8B0D4"/>
                </a:solidFill>
                <a:latin typeface="Calibri"/>
                <a:ea typeface="Calibri"/>
                <a:cs typeface="Calibri"/>
              </a:defRPr>
            </a:pPr>
            <a:r>
              <a:rPr sz="1200" b="0" dirty="0">
                <a:solidFill>
                  <a:srgbClr val="E7E4F0"/>
                </a:solidFill>
                <a:latin typeface="Calibri"/>
                <a:ea typeface="Calibri"/>
                <a:cs typeface="Calibri"/>
              </a:rPr>
              <a:t>Keeps challenge appropriate and avoids frustration</a:t>
            </a:r>
          </a:p>
        </p:txBody>
      </p:sp>
      <p:sp>
        <p:nvSpPr>
          <p:cNvPr id="23" name="Rectangle: Rounded Corners 22">
            <a:extLst>
              <a:ext uri="{FF2B5EF4-FFF2-40B4-BE49-F238E27FC236}">
                <a16:creationId xmlns:a16="http://schemas.microsoft.com/office/drawing/2014/main" id="{B48AF2BD-8A70-4172-9BA0-B643DF94C3DA}"/>
              </a:ext>
            </a:extLst>
          </p:cNvPr>
          <p:cNvSpPr>
            <a:spLocks noGrp="1"/>
          </p:cNvSpPr>
          <p:nvPr/>
        </p:nvSpPr>
        <p:spPr>
          <a:xfrm>
            <a:off x="647700" y="4448175"/>
            <a:ext cx="10744200" cy="647700"/>
          </a:xfrm>
          <a:prstGeom prst="roundRect">
            <a:avLst>
              <a:gd name="adj" fmla="val 17647"/>
            </a:avLst>
          </a:prstGeom>
          <a:solidFill>
            <a:srgbClr val="3A3160"/>
          </a:solidFill>
          <a:ln w="0">
            <a:noFill/>
          </a:ln>
        </p:spPr>
        <p:txBody>
          <a:bodyPr/>
          <a:lstStyle/>
          <a:p>
            <a:endParaRPr lang="en-MY"/>
          </a:p>
        </p:txBody>
      </p:sp>
      <p:sp>
        <p:nvSpPr>
          <p:cNvPr id="24" name="Rectangle 23">
            <a:extLst>
              <a:ext uri="{FF2B5EF4-FFF2-40B4-BE49-F238E27FC236}">
                <a16:creationId xmlns:a16="http://schemas.microsoft.com/office/drawing/2014/main" id="{858429B2-7128-4A65-B1DE-85AE35258745}"/>
              </a:ext>
            </a:extLst>
          </p:cNvPr>
          <p:cNvSpPr>
            <a:spLocks noGrp="1"/>
          </p:cNvSpPr>
          <p:nvPr/>
        </p:nvSpPr>
        <p:spPr>
          <a:xfrm>
            <a:off x="819150" y="4543425"/>
            <a:ext cx="1123950" cy="190500"/>
          </a:xfrm>
          <a:prstGeom prst="rect">
            <a:avLst/>
          </a:prstGeom>
          <a:noFill/>
          <a:ln w="0">
            <a:noFill/>
          </a:ln>
        </p:spPr>
        <p:txBody>
          <a:bodyPr wrap="square" lIns="0" tIns="0" rIns="0" bIns="0" anchor="t">
            <a:noAutofit/>
          </a:bodyPr>
          <a:lstStyle/>
          <a:p>
            <a:pPr algn="l">
              <a:defRPr sz="975" b="1">
                <a:solidFill>
                  <a:srgbClr val="FF6B62"/>
                </a:solidFill>
                <a:latin typeface="Calibri"/>
                <a:ea typeface="Calibri"/>
                <a:cs typeface="Calibri"/>
              </a:defRPr>
            </a:pPr>
            <a:r>
              <a:rPr sz="975" b="1">
                <a:solidFill>
                  <a:srgbClr val="FF6B62"/>
                </a:solidFill>
                <a:latin typeface="Calibri"/>
                <a:ea typeface="Calibri"/>
                <a:cs typeface="Calibri"/>
              </a:rPr>
              <a:t>ACCESSIBILITY</a:t>
            </a:r>
          </a:p>
        </p:txBody>
      </p:sp>
      <p:sp>
        <p:nvSpPr>
          <p:cNvPr id="25" name="Rectangle 24">
            <a:extLst>
              <a:ext uri="{FF2B5EF4-FFF2-40B4-BE49-F238E27FC236}">
                <a16:creationId xmlns:a16="http://schemas.microsoft.com/office/drawing/2014/main" id="{1034413A-EE8D-4937-AC97-E11CE15EF68B}"/>
              </a:ext>
            </a:extLst>
          </p:cNvPr>
          <p:cNvSpPr>
            <a:spLocks noGrp="1"/>
          </p:cNvSpPr>
          <p:nvPr/>
        </p:nvSpPr>
        <p:spPr>
          <a:xfrm>
            <a:off x="819150" y="4743450"/>
            <a:ext cx="2571750" cy="247650"/>
          </a:xfrm>
          <a:prstGeom prst="rect">
            <a:avLst/>
          </a:prstGeom>
          <a:noFill/>
          <a:ln w="0">
            <a:noFill/>
          </a:ln>
        </p:spPr>
        <p:txBody>
          <a:bodyPr wrap="square" lIns="0" tIns="0" rIns="0" bIns="0" anchor="t">
            <a:noAutofit/>
          </a:bodyPr>
          <a:lstStyle/>
          <a:p>
            <a:pPr algn="l">
              <a:defRPr sz="1050" b="0">
                <a:solidFill>
                  <a:srgbClr val="B8B0D4"/>
                </a:solidFill>
                <a:latin typeface="Calibri"/>
                <a:ea typeface="Calibri"/>
                <a:cs typeface="Calibri"/>
              </a:defRPr>
            </a:pPr>
            <a:r>
              <a:rPr sz="1200" b="0" dirty="0">
                <a:solidFill>
                  <a:srgbClr val="E7E4F0"/>
                </a:solidFill>
                <a:latin typeface="Calibri"/>
                <a:ea typeface="Calibri"/>
                <a:cs typeface="Calibri"/>
              </a:rPr>
              <a:t>DEMIGNED principles + usability reviews</a:t>
            </a:r>
          </a:p>
        </p:txBody>
      </p:sp>
      <p:sp>
        <p:nvSpPr>
          <p:cNvPr id="26" name="Rectangle 25">
            <a:extLst>
              <a:ext uri="{FF2B5EF4-FFF2-40B4-BE49-F238E27FC236}">
                <a16:creationId xmlns:a16="http://schemas.microsoft.com/office/drawing/2014/main" id="{5BA77E06-04DD-4242-80AE-828BBCDDD7E8}"/>
              </a:ext>
            </a:extLst>
          </p:cNvPr>
          <p:cNvSpPr>
            <a:spLocks noGrp="1"/>
          </p:cNvSpPr>
          <p:nvPr/>
        </p:nvSpPr>
        <p:spPr>
          <a:xfrm>
            <a:off x="3676650" y="4591050"/>
            <a:ext cx="3905250" cy="400050"/>
          </a:xfrm>
          <a:prstGeom prst="rect">
            <a:avLst/>
          </a:prstGeom>
          <a:noFill/>
          <a:ln w="0">
            <a:noFill/>
          </a:ln>
        </p:spPr>
        <p:txBody>
          <a:bodyPr wrap="square" lIns="0" tIns="0" rIns="0" bIns="0" anchor="t">
            <a:noAutofit/>
          </a:bodyPr>
          <a:lstStyle/>
          <a:p>
            <a:pPr algn="l">
              <a:defRPr sz="1200" b="1">
                <a:solidFill>
                  <a:srgbClr val="F8F6FF"/>
                </a:solidFill>
                <a:latin typeface="Calibri"/>
                <a:ea typeface="Calibri"/>
                <a:cs typeface="Calibri"/>
              </a:defRPr>
            </a:pPr>
            <a:r>
              <a:rPr sz="1200" b="1" dirty="0">
                <a:solidFill>
                  <a:srgbClr val="F8F6FF"/>
                </a:solidFill>
                <a:latin typeface="Calibri"/>
                <a:ea typeface="Calibri"/>
                <a:cs typeface="Calibri"/>
              </a:rPr>
              <a:t>Large targets, high contrast, role-specific navigation</a:t>
            </a:r>
          </a:p>
        </p:txBody>
      </p:sp>
      <p:sp>
        <p:nvSpPr>
          <p:cNvPr id="27" name="Rectangle 26">
            <a:extLst>
              <a:ext uri="{FF2B5EF4-FFF2-40B4-BE49-F238E27FC236}">
                <a16:creationId xmlns:a16="http://schemas.microsoft.com/office/drawing/2014/main" id="{BFF272E5-7E41-4A2B-A5BA-55F1E61F9CE4}"/>
              </a:ext>
            </a:extLst>
          </p:cNvPr>
          <p:cNvSpPr>
            <a:spLocks noGrp="1"/>
          </p:cNvSpPr>
          <p:nvPr/>
        </p:nvSpPr>
        <p:spPr>
          <a:xfrm>
            <a:off x="8115300" y="4581525"/>
            <a:ext cx="3028950" cy="419100"/>
          </a:xfrm>
          <a:prstGeom prst="rect">
            <a:avLst/>
          </a:prstGeom>
          <a:noFill/>
          <a:ln w="0">
            <a:noFill/>
          </a:ln>
        </p:spPr>
        <p:txBody>
          <a:bodyPr wrap="square" lIns="0" tIns="0" rIns="0" bIns="0" anchor="t">
            <a:noAutofit/>
          </a:bodyPr>
          <a:lstStyle/>
          <a:p>
            <a:pPr algn="l">
              <a:defRPr sz="1125" b="0">
                <a:solidFill>
                  <a:srgbClr val="B8B0D4"/>
                </a:solidFill>
                <a:latin typeface="Calibri"/>
                <a:ea typeface="Calibri"/>
                <a:cs typeface="Calibri"/>
              </a:defRPr>
            </a:pPr>
            <a:r>
              <a:rPr sz="1200" b="0" dirty="0">
                <a:solidFill>
                  <a:srgbClr val="E7E4F0"/>
                </a:solidFill>
                <a:latin typeface="Calibri"/>
                <a:ea typeface="Calibri"/>
                <a:cs typeface="Calibri"/>
              </a:rPr>
              <a:t>Reduces cognitive load and supports independent use</a:t>
            </a:r>
          </a:p>
        </p:txBody>
      </p:sp>
      <p:sp>
        <p:nvSpPr>
          <p:cNvPr id="28" name="Rectangle: Rounded Corners 27">
            <a:extLst>
              <a:ext uri="{FF2B5EF4-FFF2-40B4-BE49-F238E27FC236}">
                <a16:creationId xmlns:a16="http://schemas.microsoft.com/office/drawing/2014/main" id="{635F4D94-5EBC-488A-9ACE-3B860B444D10}"/>
              </a:ext>
            </a:extLst>
          </p:cNvPr>
          <p:cNvSpPr>
            <a:spLocks noGrp="1"/>
          </p:cNvSpPr>
          <p:nvPr/>
        </p:nvSpPr>
        <p:spPr>
          <a:xfrm>
            <a:off x="647700" y="5248275"/>
            <a:ext cx="10744200" cy="647700"/>
          </a:xfrm>
          <a:prstGeom prst="roundRect">
            <a:avLst>
              <a:gd name="adj" fmla="val 17647"/>
            </a:avLst>
          </a:prstGeom>
          <a:solidFill>
            <a:srgbClr val="2E2750"/>
          </a:solidFill>
          <a:ln w="0">
            <a:noFill/>
          </a:ln>
        </p:spPr>
        <p:txBody>
          <a:bodyPr/>
          <a:lstStyle/>
          <a:p>
            <a:endParaRPr lang="en-MY"/>
          </a:p>
        </p:txBody>
      </p:sp>
      <p:sp>
        <p:nvSpPr>
          <p:cNvPr id="29" name="Rectangle 28">
            <a:extLst>
              <a:ext uri="{FF2B5EF4-FFF2-40B4-BE49-F238E27FC236}">
                <a16:creationId xmlns:a16="http://schemas.microsoft.com/office/drawing/2014/main" id="{81E61F06-262E-45DC-99FF-8E1094C0AFEA}"/>
              </a:ext>
            </a:extLst>
          </p:cNvPr>
          <p:cNvSpPr>
            <a:spLocks noGrp="1"/>
          </p:cNvSpPr>
          <p:nvPr/>
        </p:nvSpPr>
        <p:spPr>
          <a:xfrm>
            <a:off x="819150" y="5343525"/>
            <a:ext cx="1123950" cy="190500"/>
          </a:xfrm>
          <a:prstGeom prst="rect">
            <a:avLst/>
          </a:prstGeom>
          <a:noFill/>
          <a:ln w="0">
            <a:noFill/>
          </a:ln>
        </p:spPr>
        <p:txBody>
          <a:bodyPr wrap="square" lIns="0" tIns="0" rIns="0" bIns="0" anchor="t">
            <a:noAutofit/>
          </a:bodyPr>
          <a:lstStyle/>
          <a:p>
            <a:pPr algn="l">
              <a:defRPr sz="975" b="1">
                <a:solidFill>
                  <a:srgbClr val="FF6B62"/>
                </a:solidFill>
                <a:latin typeface="Calibri"/>
                <a:ea typeface="Calibri"/>
                <a:cs typeface="Calibri"/>
              </a:defRPr>
            </a:pPr>
            <a:r>
              <a:rPr sz="975" b="1">
                <a:solidFill>
                  <a:srgbClr val="FF6B62"/>
                </a:solidFill>
                <a:latin typeface="Calibri"/>
                <a:ea typeface="Calibri"/>
                <a:cs typeface="Calibri"/>
              </a:rPr>
              <a:t>MOTIVATION</a:t>
            </a:r>
          </a:p>
        </p:txBody>
      </p:sp>
      <p:sp>
        <p:nvSpPr>
          <p:cNvPr id="30" name="Rectangle 29">
            <a:extLst>
              <a:ext uri="{FF2B5EF4-FFF2-40B4-BE49-F238E27FC236}">
                <a16:creationId xmlns:a16="http://schemas.microsoft.com/office/drawing/2014/main" id="{4685FBE4-0244-41E9-8B87-75E1833FFAC9}"/>
              </a:ext>
            </a:extLst>
          </p:cNvPr>
          <p:cNvSpPr>
            <a:spLocks noGrp="1"/>
          </p:cNvSpPr>
          <p:nvPr/>
        </p:nvSpPr>
        <p:spPr>
          <a:xfrm>
            <a:off x="819150" y="5543550"/>
            <a:ext cx="2571750" cy="247650"/>
          </a:xfrm>
          <a:prstGeom prst="rect">
            <a:avLst/>
          </a:prstGeom>
          <a:noFill/>
          <a:ln w="0">
            <a:noFill/>
          </a:ln>
        </p:spPr>
        <p:txBody>
          <a:bodyPr wrap="square" lIns="0" tIns="0" rIns="0" bIns="0" anchor="t">
            <a:noAutofit/>
          </a:bodyPr>
          <a:lstStyle/>
          <a:p>
            <a:pPr algn="l">
              <a:defRPr sz="1050" b="0">
                <a:solidFill>
                  <a:srgbClr val="B8B0D4"/>
                </a:solidFill>
                <a:latin typeface="Calibri"/>
                <a:ea typeface="Calibri"/>
                <a:cs typeface="Calibri"/>
              </a:defRPr>
            </a:pPr>
            <a:r>
              <a:rPr sz="1200" b="0" dirty="0">
                <a:solidFill>
                  <a:srgbClr val="E7E4F0"/>
                </a:solidFill>
                <a:latin typeface="Calibri"/>
                <a:ea typeface="Calibri"/>
                <a:cs typeface="Calibri"/>
              </a:rPr>
              <a:t>Gamification evidence</a:t>
            </a:r>
          </a:p>
        </p:txBody>
      </p:sp>
      <p:sp>
        <p:nvSpPr>
          <p:cNvPr id="31" name="Rectangle 30">
            <a:extLst>
              <a:ext uri="{FF2B5EF4-FFF2-40B4-BE49-F238E27FC236}">
                <a16:creationId xmlns:a16="http://schemas.microsoft.com/office/drawing/2014/main" id="{281EA793-61FD-45FA-A034-E5C93E379558}"/>
              </a:ext>
            </a:extLst>
          </p:cNvPr>
          <p:cNvSpPr>
            <a:spLocks noGrp="1"/>
          </p:cNvSpPr>
          <p:nvPr/>
        </p:nvSpPr>
        <p:spPr>
          <a:xfrm>
            <a:off x="3676650" y="5391150"/>
            <a:ext cx="3905250" cy="400050"/>
          </a:xfrm>
          <a:prstGeom prst="rect">
            <a:avLst/>
          </a:prstGeom>
          <a:noFill/>
          <a:ln w="0">
            <a:noFill/>
          </a:ln>
        </p:spPr>
        <p:txBody>
          <a:bodyPr wrap="square" lIns="0" tIns="0" rIns="0" bIns="0" anchor="t">
            <a:noAutofit/>
          </a:bodyPr>
          <a:lstStyle/>
          <a:p>
            <a:pPr algn="l">
              <a:defRPr sz="1200" b="1">
                <a:solidFill>
                  <a:srgbClr val="F8F6FF"/>
                </a:solidFill>
                <a:latin typeface="Calibri"/>
                <a:ea typeface="Calibri"/>
                <a:cs typeface="Calibri"/>
              </a:defRPr>
            </a:pPr>
            <a:r>
              <a:rPr sz="1200" b="1" dirty="0">
                <a:solidFill>
                  <a:srgbClr val="F8F6FF"/>
                </a:solidFill>
                <a:latin typeface="Calibri"/>
                <a:ea typeface="Calibri"/>
                <a:cs typeface="Calibri"/>
              </a:rPr>
              <a:t>Points, streaks, levels and unlockable reward games</a:t>
            </a:r>
          </a:p>
        </p:txBody>
      </p:sp>
      <p:sp>
        <p:nvSpPr>
          <p:cNvPr id="32" name="Rectangle 31">
            <a:extLst>
              <a:ext uri="{FF2B5EF4-FFF2-40B4-BE49-F238E27FC236}">
                <a16:creationId xmlns:a16="http://schemas.microsoft.com/office/drawing/2014/main" id="{BE5430B9-394F-44EB-8647-725E48BF4C41}"/>
              </a:ext>
            </a:extLst>
          </p:cNvPr>
          <p:cNvSpPr>
            <a:spLocks noGrp="1"/>
          </p:cNvSpPr>
          <p:nvPr/>
        </p:nvSpPr>
        <p:spPr>
          <a:xfrm>
            <a:off x="8115300" y="5381625"/>
            <a:ext cx="3028950" cy="419100"/>
          </a:xfrm>
          <a:prstGeom prst="rect">
            <a:avLst/>
          </a:prstGeom>
          <a:noFill/>
          <a:ln w="0">
            <a:noFill/>
          </a:ln>
        </p:spPr>
        <p:txBody>
          <a:bodyPr wrap="square" lIns="0" tIns="0" rIns="0" bIns="0" anchor="t">
            <a:noAutofit/>
          </a:bodyPr>
          <a:lstStyle/>
          <a:p>
            <a:pPr algn="l">
              <a:defRPr sz="1125" b="0">
                <a:solidFill>
                  <a:srgbClr val="B8B0D4"/>
                </a:solidFill>
                <a:latin typeface="Calibri"/>
                <a:ea typeface="Calibri"/>
                <a:cs typeface="Calibri"/>
              </a:defRPr>
            </a:pPr>
            <a:r>
              <a:rPr sz="1125" b="0" dirty="0">
                <a:solidFill>
                  <a:srgbClr val="E7E4F0"/>
                </a:solidFill>
                <a:latin typeface="Calibri"/>
                <a:ea typeface="Calibri"/>
                <a:cs typeface="Calibri"/>
              </a:rPr>
              <a:t>Reinforces repeated participation in routines and games</a:t>
            </a:r>
          </a:p>
        </p:txBody>
      </p:sp>
      <p:sp>
        <p:nvSpPr>
          <p:cNvPr id="33" name="Rectangle 32">
            <a:extLst>
              <a:ext uri="{FF2B5EF4-FFF2-40B4-BE49-F238E27FC236}">
                <a16:creationId xmlns:a16="http://schemas.microsoft.com/office/drawing/2014/main" id="{55FF3ACF-70DE-4E8D-BED0-3E701B22A07E}"/>
              </a:ext>
            </a:extLst>
          </p:cNvPr>
          <p:cNvSpPr>
            <a:spLocks noGrp="1"/>
          </p:cNvSpPr>
          <p:nvPr/>
        </p:nvSpPr>
        <p:spPr>
          <a:xfrm>
            <a:off x="533400" y="6543675"/>
            <a:ext cx="9525000" cy="171450"/>
          </a:xfrm>
          <a:prstGeom prst="rect">
            <a:avLst/>
          </a:prstGeom>
          <a:noFill/>
          <a:ln w="0">
            <a:noFill/>
          </a:ln>
        </p:spPr>
        <p:txBody>
          <a:bodyPr wrap="square" lIns="0" tIns="0" rIns="0" bIns="0" anchor="t">
            <a:noAutofit/>
          </a:bodyPr>
          <a:lstStyle/>
          <a:p>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Sources: Final report Chapter 2; Lim &amp; Sharmeen (2018); Manera et al. (2017); Ortega Morán et al. (2024); Engelsma et al. (2024); Greysen et al. (2024).</a:t>
            </a:r>
          </a:p>
        </p:txBody>
      </p:sp>
      <p:sp>
        <p:nvSpPr>
          <p:cNvPr id="34" name="Rectangle 33">
            <a:extLst>
              <a:ext uri="{FF2B5EF4-FFF2-40B4-BE49-F238E27FC236}">
                <a16:creationId xmlns:a16="http://schemas.microsoft.com/office/drawing/2014/main" id="{0AC71997-78E5-40C5-AFD2-F753FB461575}"/>
              </a:ext>
            </a:extLst>
          </p:cNvPr>
          <p:cNvSpPr>
            <a:spLocks noGrp="1"/>
          </p:cNvSpPr>
          <p:nvPr/>
        </p:nvSpPr>
        <p:spPr>
          <a:xfrm>
            <a:off x="11277600" y="6496050"/>
            <a:ext cx="476250" cy="209550"/>
          </a:xfrm>
          <a:prstGeom prst="rect">
            <a:avLst/>
          </a:prstGeom>
          <a:noFill/>
          <a:ln w="0">
            <a:noFill/>
          </a:ln>
        </p:spPr>
        <p:txBody>
          <a:bodyPr wrap="square" lIns="0" tIns="0" rIns="0" bIns="0" anchor="t">
            <a:noAutofit/>
          </a:bodyPr>
          <a:lstStyle/>
          <a:p>
            <a:pPr algn="r">
              <a:defRPr sz="975" b="1">
                <a:solidFill>
                  <a:srgbClr val="B8B0D4"/>
                </a:solidFill>
                <a:latin typeface="Calibri"/>
                <a:ea typeface="Calibri"/>
                <a:cs typeface="Calibri"/>
              </a:defRPr>
            </a:pPr>
            <a:r>
              <a:rPr sz="975" b="1">
                <a:solidFill>
                  <a:srgbClr val="B8B0D4"/>
                </a:solidFill>
                <a:latin typeface="Calibri"/>
                <a:ea typeface="Calibri"/>
                <a:cs typeface="Calibri"/>
              </a:rPr>
              <a:t>05</a:t>
            </a:r>
          </a:p>
        </p:txBody>
      </p:sp>
    </p:spTree>
    <p:extLst>
      <p:ext uri="{BB962C8B-B14F-4D97-AF65-F5344CB8AC3E}">
        <p14:creationId xmlns:p14="http://schemas.microsoft.com/office/powerpoint/2010/main" val="802940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53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2C4278A-CA4B-4A50-86F2-4A46F00B4F36}"/>
              </a:ext>
            </a:extLst>
          </p:cNvPr>
          <p:cNvSpPr>
            <a:spLocks noGrp="1"/>
          </p:cNvSpPr>
          <p:nvPr/>
        </p:nvSpPr>
        <p:spPr>
          <a:xfrm>
            <a:off x="0" y="0"/>
            <a:ext cx="133350" cy="6858000"/>
          </a:xfrm>
          <a:prstGeom prst="rect">
            <a:avLst/>
          </a:prstGeom>
          <a:solidFill>
            <a:srgbClr val="FF6B62"/>
          </a:solidFill>
          <a:ln w="0">
            <a:noFill/>
          </a:ln>
        </p:spPr>
        <p:txBody>
          <a:bodyPr/>
          <a:lstStyle/>
          <a:p>
            <a:endParaRPr lang="en-MY"/>
          </a:p>
        </p:txBody>
      </p:sp>
      <p:sp>
        <p:nvSpPr>
          <p:cNvPr id="2" name="Rectangle 1">
            <a:extLst>
              <a:ext uri="{FF2B5EF4-FFF2-40B4-BE49-F238E27FC236}">
                <a16:creationId xmlns:a16="http://schemas.microsoft.com/office/drawing/2014/main" id="{2C0EA33E-FE2E-45A7-8107-2B3DA25D664F}"/>
              </a:ext>
            </a:extLst>
          </p:cNvPr>
          <p:cNvSpPr>
            <a:spLocks noGrp="1"/>
          </p:cNvSpPr>
          <p:nvPr/>
        </p:nvSpPr>
        <p:spPr>
          <a:xfrm>
            <a:off x="533400" y="323850"/>
            <a:ext cx="2571750" cy="247650"/>
          </a:xfrm>
          <a:prstGeom prst="rect">
            <a:avLst/>
          </a:prstGeom>
          <a:noFill/>
          <a:ln w="0">
            <a:noFill/>
          </a:ln>
        </p:spPr>
        <p:txBody>
          <a:bodyPr wrap="square" lIns="0" tIns="0" rIns="0" bIns="0" anchor="t">
            <a:noAutofit/>
          </a:bodyPr>
          <a:lstStyle/>
          <a:p>
            <a:pPr algn="l">
              <a:defRPr sz="1125" b="1">
                <a:solidFill>
                  <a:srgbClr val="FF6B62"/>
                </a:solidFill>
                <a:latin typeface="Calibri"/>
                <a:ea typeface="Calibri"/>
                <a:cs typeface="Calibri"/>
              </a:defRPr>
            </a:pPr>
            <a:r>
              <a:rPr sz="1125" b="1" dirty="0">
                <a:solidFill>
                  <a:srgbClr val="FF6B62"/>
                </a:solidFill>
                <a:latin typeface="Calibri"/>
                <a:ea typeface="Calibri"/>
                <a:cs typeface="Calibri"/>
              </a:rPr>
              <a:t>CHAPTER 2 · LITERATURE REVIEW</a:t>
            </a:r>
          </a:p>
        </p:txBody>
      </p:sp>
      <p:sp>
        <p:nvSpPr>
          <p:cNvPr id="3" name="Rectangle 2">
            <a:extLst>
              <a:ext uri="{FF2B5EF4-FFF2-40B4-BE49-F238E27FC236}">
                <a16:creationId xmlns:a16="http://schemas.microsoft.com/office/drawing/2014/main" id="{F58C6B95-002F-4881-A721-D205547984DA}"/>
              </a:ext>
            </a:extLst>
          </p:cNvPr>
          <p:cNvSpPr>
            <a:spLocks noGrp="1"/>
          </p:cNvSpPr>
          <p:nvPr/>
        </p:nvSpPr>
        <p:spPr>
          <a:xfrm>
            <a:off x="533400" y="619125"/>
            <a:ext cx="11049000" cy="533400"/>
          </a:xfrm>
          <a:prstGeom prst="rect">
            <a:avLst/>
          </a:prstGeom>
          <a:noFill/>
          <a:ln w="0">
            <a:noFill/>
          </a:ln>
        </p:spPr>
        <p:txBody>
          <a:bodyPr wrap="square" lIns="0" tIns="0" rIns="0" bIns="0" anchor="t">
            <a:noAutofit/>
          </a:bodyPr>
          <a:lstStyle/>
          <a:p>
            <a:pPr algn="l">
              <a:defRPr sz="2700" b="1">
                <a:solidFill>
                  <a:srgbClr val="F8F6FF"/>
                </a:solidFill>
                <a:latin typeface="Calibri"/>
                <a:ea typeface="Calibri"/>
                <a:cs typeface="Calibri"/>
              </a:defRPr>
            </a:pPr>
            <a:r>
              <a:rPr sz="2700" b="1">
                <a:solidFill>
                  <a:srgbClr val="F8F6FF"/>
                </a:solidFill>
                <a:latin typeface="Calibri"/>
                <a:ea typeface="Calibri"/>
                <a:cs typeface="Calibri"/>
              </a:rPr>
              <a:t>MindCare closes the gap between assistance and cognitive support</a:t>
            </a:r>
          </a:p>
        </p:txBody>
      </p:sp>
      <p:sp>
        <p:nvSpPr>
          <p:cNvPr id="4" name="Rectangle 3">
            <a:extLst>
              <a:ext uri="{FF2B5EF4-FFF2-40B4-BE49-F238E27FC236}">
                <a16:creationId xmlns:a16="http://schemas.microsoft.com/office/drawing/2014/main" id="{929FBD02-02E0-48AC-8537-20E64E3C6A01}"/>
              </a:ext>
            </a:extLst>
          </p:cNvPr>
          <p:cNvSpPr>
            <a:spLocks noGrp="1"/>
          </p:cNvSpPr>
          <p:nvPr/>
        </p:nvSpPr>
        <p:spPr>
          <a:xfrm>
            <a:off x="552450" y="1143000"/>
            <a:ext cx="10668000" cy="323850"/>
          </a:xfrm>
          <a:prstGeom prst="rect">
            <a:avLst/>
          </a:prstGeom>
          <a:noFill/>
          <a:ln w="0">
            <a:noFill/>
          </a:ln>
        </p:spPr>
        <p:txBody>
          <a:bodyPr wrap="square" lIns="0" tIns="0" rIns="0" bIns="0" anchor="t">
            <a:noAutofit/>
          </a:bodyPr>
          <a:lstStyle/>
          <a:p>
            <a:pPr algn="l">
              <a:defRPr sz="1350" b="0">
                <a:solidFill>
                  <a:srgbClr val="B8B0D4"/>
                </a:solidFill>
                <a:latin typeface="Calibri"/>
                <a:ea typeface="Calibri"/>
                <a:cs typeface="Calibri"/>
              </a:defRPr>
            </a:pPr>
            <a:r>
              <a:rPr sz="1350" b="0">
                <a:solidFill>
                  <a:srgbClr val="B8B0D4"/>
                </a:solidFill>
                <a:latin typeface="Calibri"/>
                <a:ea typeface="Calibri"/>
                <a:cs typeface="Calibri"/>
              </a:rPr>
              <a:t>No reviewed application combined the full caregiver workflow with personalised cognitive adaptation.</a:t>
            </a:r>
          </a:p>
        </p:txBody>
      </p:sp>
      <p:graphicFrame>
        <p:nvGraphicFramePr>
          <p:cNvPr id="12" name="Table 11"/>
          <p:cNvGraphicFramePr/>
          <p:nvPr/>
        </p:nvGraphicFramePr>
        <p:xfrm>
          <a:off x="647700" y="1619250"/>
          <a:ext cx="10744200" cy="4286249"/>
        </p:xfrm>
        <a:graphic>
          <a:graphicData uri="http://schemas.openxmlformats.org/drawingml/2006/table">
            <a:tbl>
              <a:tblPr/>
              <a:tblGrid>
                <a:gridCol w="35242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1809750">
                  <a:extLst>
                    <a:ext uri="{9D8B030D-6E8A-4147-A177-3AD203B41FA5}">
                      <a16:colId xmlns:a16="http://schemas.microsoft.com/office/drawing/2014/main" val="20003"/>
                    </a:ext>
                  </a:extLst>
                </a:gridCol>
                <a:gridCol w="1790700">
                  <a:extLst>
                    <a:ext uri="{9D8B030D-6E8A-4147-A177-3AD203B41FA5}">
                      <a16:colId xmlns:a16="http://schemas.microsoft.com/office/drawing/2014/main" val="20004"/>
                    </a:ext>
                  </a:extLst>
                </a:gridCol>
              </a:tblGrid>
              <a:tr h="389659">
                <a:tc>
                  <a:txBody>
                    <a:bodyPr/>
                    <a:lstStyle/>
                    <a:p>
                      <a:pPr algn="ctr"/>
                      <a:r>
                        <a:rPr sz="1200" b="1">
                          <a:solidFill>
                            <a:srgbClr val="F8F6FF"/>
                          </a:solidFill>
                          <a:latin typeface="Calibri"/>
                          <a:ea typeface="Calibri"/>
                          <a:cs typeface="Calibri"/>
                        </a:rPr>
                        <a:t>Feature</a:t>
                      </a:r>
                    </a:p>
                  </a:txBody>
                  <a:tcPr marL="76200" marR="76200" marT="47625" marB="47625" anchor="ctr">
                    <a:solidFill>
                      <a:srgbClr val="FF6B62"/>
                    </a:solidFill>
                  </a:tcPr>
                </a:tc>
                <a:tc>
                  <a:txBody>
                    <a:bodyPr/>
                    <a:lstStyle/>
                    <a:p>
                      <a:pPr algn="ctr"/>
                      <a:r>
                        <a:rPr sz="1200" b="1">
                          <a:solidFill>
                            <a:srgbClr val="F8F6FF"/>
                          </a:solidFill>
                          <a:latin typeface="Calibri"/>
                          <a:ea typeface="Calibri"/>
                          <a:cs typeface="Calibri"/>
                        </a:rPr>
                        <a:t>Elli Cares</a:t>
                      </a:r>
                    </a:p>
                  </a:txBody>
                  <a:tcPr marL="76200" marR="76200" marT="47625" marB="47625" anchor="ctr">
                    <a:solidFill>
                      <a:srgbClr val="FF6B62"/>
                    </a:solidFill>
                  </a:tcPr>
                </a:tc>
                <a:tc>
                  <a:txBody>
                    <a:bodyPr/>
                    <a:lstStyle/>
                    <a:p>
                      <a:pPr algn="ctr"/>
                      <a:r>
                        <a:rPr sz="1200" b="1">
                          <a:solidFill>
                            <a:srgbClr val="F8F6FF"/>
                          </a:solidFill>
                          <a:latin typeface="Calibri"/>
                          <a:ea typeface="Calibri"/>
                          <a:cs typeface="Calibri"/>
                        </a:rPr>
                        <a:t>XDementia</a:t>
                      </a:r>
                    </a:p>
                  </a:txBody>
                  <a:tcPr marL="76200" marR="76200" marT="47625" marB="47625" anchor="ctr">
                    <a:solidFill>
                      <a:srgbClr val="FF6B62"/>
                    </a:solidFill>
                  </a:tcPr>
                </a:tc>
                <a:tc>
                  <a:txBody>
                    <a:bodyPr/>
                    <a:lstStyle/>
                    <a:p>
                      <a:pPr algn="ctr"/>
                      <a:r>
                        <a:rPr sz="1200" b="1">
                          <a:solidFill>
                            <a:srgbClr val="F8F6FF"/>
                          </a:solidFill>
                          <a:latin typeface="Calibri"/>
                          <a:ea typeface="Calibri"/>
                          <a:cs typeface="Calibri"/>
                        </a:rPr>
                        <a:t>BrainTrack</a:t>
                      </a:r>
                    </a:p>
                  </a:txBody>
                  <a:tcPr marL="76200" marR="76200" marT="47625" marB="47625" anchor="ctr">
                    <a:solidFill>
                      <a:srgbClr val="FF6B62"/>
                    </a:solidFill>
                  </a:tcPr>
                </a:tc>
                <a:tc>
                  <a:txBody>
                    <a:bodyPr/>
                    <a:lstStyle/>
                    <a:p>
                      <a:pPr algn="ctr"/>
                      <a:r>
                        <a:rPr sz="1200" b="1">
                          <a:solidFill>
                            <a:srgbClr val="F8F6FF"/>
                          </a:solidFill>
                          <a:latin typeface="Calibri"/>
                          <a:ea typeface="Calibri"/>
                          <a:cs typeface="Calibri"/>
                        </a:rPr>
                        <a:t>MindCare</a:t>
                      </a:r>
                    </a:p>
                  </a:txBody>
                  <a:tcPr marL="76200" marR="76200" marT="47625" marB="47625" anchor="ctr">
                    <a:solidFill>
                      <a:srgbClr val="FF6B62"/>
                    </a:solidFill>
                  </a:tcPr>
                </a:tc>
                <a:extLst>
                  <a:ext uri="{0D108BD9-81ED-4DB2-BD59-A6C34878D82A}">
                    <a16:rowId xmlns:a16="http://schemas.microsoft.com/office/drawing/2014/main" val="10000"/>
                  </a:ext>
                </a:extLst>
              </a:tr>
              <a:tr h="389659">
                <a:tc>
                  <a:txBody>
                    <a:bodyPr/>
                    <a:lstStyle/>
                    <a:p>
                      <a:pPr algn="l"/>
                      <a:r>
                        <a:rPr sz="1125" b="1">
                          <a:solidFill>
                            <a:srgbClr val="F8F6FF"/>
                          </a:solidFill>
                          <a:latin typeface="Calibri"/>
                          <a:ea typeface="Calibri"/>
                          <a:cs typeface="Calibri"/>
                        </a:rPr>
                        <a:t>Task &amp; medication reminders</a:t>
                      </a:r>
                    </a:p>
                  </a:txBody>
                  <a:tcPr marL="114300" marR="76200" marT="38100" marB="38100" anchor="ctr">
                    <a:solidFill>
                      <a:srgbClr val="3A3160"/>
                    </a:solidFill>
                  </a:tcPr>
                </a:tc>
                <a:tc>
                  <a:txBody>
                    <a:bodyPr/>
                    <a:lstStyle/>
                    <a:p>
                      <a:pPr algn="ctr"/>
                      <a:r>
                        <a:rPr sz="1125">
                          <a:solidFill>
                            <a:srgbClr val="F8F6FF"/>
                          </a:solidFill>
                          <a:latin typeface="Calibri"/>
                          <a:ea typeface="Calibri"/>
                          <a:cs typeface="Calibri"/>
                        </a:rPr>
                        <a:t>Yes</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b="1">
                          <a:solidFill>
                            <a:srgbClr val="2ED9A4"/>
                          </a:solidFill>
                          <a:latin typeface="Calibri"/>
                          <a:ea typeface="Calibri"/>
                          <a:cs typeface="Calibri"/>
                        </a:rPr>
                        <a:t>Yes</a:t>
                      </a:r>
                    </a:p>
                  </a:txBody>
                  <a:tcPr marL="76200" marR="76200" marT="38100" marB="38100" anchor="ctr">
                    <a:solidFill>
                      <a:srgbClr val="245A50"/>
                    </a:solidFill>
                  </a:tcPr>
                </a:tc>
                <a:extLst>
                  <a:ext uri="{0D108BD9-81ED-4DB2-BD59-A6C34878D82A}">
                    <a16:rowId xmlns:a16="http://schemas.microsoft.com/office/drawing/2014/main" val="10001"/>
                  </a:ext>
                </a:extLst>
              </a:tr>
              <a:tr h="389659">
                <a:tc>
                  <a:txBody>
                    <a:bodyPr/>
                    <a:lstStyle/>
                    <a:p>
                      <a:pPr algn="l"/>
                      <a:r>
                        <a:rPr sz="1125" b="1">
                          <a:solidFill>
                            <a:srgbClr val="F8F6FF"/>
                          </a:solidFill>
                          <a:latin typeface="Calibri"/>
                          <a:ea typeface="Calibri"/>
                          <a:cs typeface="Calibri"/>
                        </a:rPr>
                        <a:t>Caregiver support</a:t>
                      </a:r>
                    </a:p>
                  </a:txBody>
                  <a:tcPr marL="114300" marR="76200" marT="38100" marB="38100" anchor="ctr">
                    <a:solidFill>
                      <a:srgbClr val="3A3160"/>
                    </a:solidFill>
                  </a:tcPr>
                </a:tc>
                <a:tc>
                  <a:txBody>
                    <a:bodyPr/>
                    <a:lstStyle/>
                    <a:p>
                      <a:pPr algn="ctr"/>
                      <a:r>
                        <a:rPr sz="1125">
                          <a:solidFill>
                            <a:srgbClr val="F8F6FF"/>
                          </a:solidFill>
                          <a:latin typeface="Calibri"/>
                          <a:ea typeface="Calibri"/>
                          <a:cs typeface="Calibri"/>
                        </a:rPr>
                        <a:t>Yes</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b="1">
                          <a:solidFill>
                            <a:srgbClr val="2ED9A4"/>
                          </a:solidFill>
                          <a:latin typeface="Calibri"/>
                          <a:ea typeface="Calibri"/>
                          <a:cs typeface="Calibri"/>
                        </a:rPr>
                        <a:t>Yes</a:t>
                      </a:r>
                    </a:p>
                  </a:txBody>
                  <a:tcPr marL="76200" marR="76200" marT="38100" marB="38100" anchor="ctr">
                    <a:solidFill>
                      <a:srgbClr val="245A50"/>
                    </a:solidFill>
                  </a:tcPr>
                </a:tc>
                <a:extLst>
                  <a:ext uri="{0D108BD9-81ED-4DB2-BD59-A6C34878D82A}">
                    <a16:rowId xmlns:a16="http://schemas.microsoft.com/office/drawing/2014/main" val="10002"/>
                  </a:ext>
                </a:extLst>
              </a:tr>
              <a:tr h="389659">
                <a:tc>
                  <a:txBody>
                    <a:bodyPr/>
                    <a:lstStyle/>
                    <a:p>
                      <a:pPr algn="l"/>
                      <a:r>
                        <a:rPr sz="1125" b="1">
                          <a:solidFill>
                            <a:srgbClr val="F8F6FF"/>
                          </a:solidFill>
                          <a:latin typeface="Calibri"/>
                          <a:ea typeface="Calibri"/>
                          <a:cs typeface="Calibri"/>
                        </a:rPr>
                        <a:t>Recurring schedules</a:t>
                      </a:r>
                    </a:p>
                  </a:txBody>
                  <a:tcPr marL="114300" marR="76200" marT="38100" marB="38100" anchor="ctr">
                    <a:solidFill>
                      <a:srgbClr val="3A3160"/>
                    </a:solidFill>
                  </a:tcPr>
                </a:tc>
                <a:tc>
                  <a:txBody>
                    <a:bodyPr/>
                    <a:lstStyle/>
                    <a:p>
                      <a:pPr algn="ctr"/>
                      <a:r>
                        <a:rPr sz="1125">
                          <a:solidFill>
                            <a:srgbClr val="F8F6FF"/>
                          </a:solidFill>
                          <a:latin typeface="Calibri"/>
                          <a:ea typeface="Calibri"/>
                          <a:cs typeface="Calibri"/>
                        </a:rPr>
                        <a:t>Yes</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b="1">
                          <a:solidFill>
                            <a:srgbClr val="2ED9A4"/>
                          </a:solidFill>
                          <a:latin typeface="Calibri"/>
                          <a:ea typeface="Calibri"/>
                          <a:cs typeface="Calibri"/>
                        </a:rPr>
                        <a:t>Yes</a:t>
                      </a:r>
                    </a:p>
                  </a:txBody>
                  <a:tcPr marL="76200" marR="76200" marT="38100" marB="38100" anchor="ctr">
                    <a:solidFill>
                      <a:srgbClr val="245A50"/>
                    </a:solidFill>
                  </a:tcPr>
                </a:tc>
                <a:extLst>
                  <a:ext uri="{0D108BD9-81ED-4DB2-BD59-A6C34878D82A}">
                    <a16:rowId xmlns:a16="http://schemas.microsoft.com/office/drawing/2014/main" val="10003"/>
                  </a:ext>
                </a:extLst>
              </a:tr>
              <a:tr h="389659">
                <a:tc>
                  <a:txBody>
                    <a:bodyPr/>
                    <a:lstStyle/>
                    <a:p>
                      <a:pPr algn="l"/>
                      <a:r>
                        <a:rPr sz="1125" b="1">
                          <a:solidFill>
                            <a:srgbClr val="F8F6FF"/>
                          </a:solidFill>
                          <a:latin typeface="Calibri"/>
                          <a:ea typeface="Calibri"/>
                          <a:cs typeface="Calibri"/>
                        </a:rPr>
                        <a:t>Cognitive games</a:t>
                      </a:r>
                    </a:p>
                  </a:txBody>
                  <a:tcPr marL="114300" marR="76200" marT="38100" marB="38100" anchor="ctr">
                    <a:solidFill>
                      <a:srgbClr val="3A316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Yes</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Yes</a:t>
                      </a:r>
                    </a:p>
                  </a:txBody>
                  <a:tcPr marL="76200" marR="76200" marT="38100" marB="38100" anchor="ctr">
                    <a:solidFill>
                      <a:srgbClr val="2E2750"/>
                    </a:solidFill>
                  </a:tcPr>
                </a:tc>
                <a:tc>
                  <a:txBody>
                    <a:bodyPr/>
                    <a:lstStyle/>
                    <a:p>
                      <a:pPr algn="ctr"/>
                      <a:r>
                        <a:rPr sz="1125" b="1">
                          <a:solidFill>
                            <a:srgbClr val="2ED9A4"/>
                          </a:solidFill>
                          <a:latin typeface="Calibri"/>
                          <a:ea typeface="Calibri"/>
                          <a:cs typeface="Calibri"/>
                        </a:rPr>
                        <a:t>Yes</a:t>
                      </a:r>
                    </a:p>
                  </a:txBody>
                  <a:tcPr marL="76200" marR="76200" marT="38100" marB="38100" anchor="ctr">
                    <a:solidFill>
                      <a:srgbClr val="245A50"/>
                    </a:solidFill>
                  </a:tcPr>
                </a:tc>
                <a:extLst>
                  <a:ext uri="{0D108BD9-81ED-4DB2-BD59-A6C34878D82A}">
                    <a16:rowId xmlns:a16="http://schemas.microsoft.com/office/drawing/2014/main" val="10004"/>
                  </a:ext>
                </a:extLst>
              </a:tr>
              <a:tr h="389659">
                <a:tc>
                  <a:txBody>
                    <a:bodyPr/>
                    <a:lstStyle/>
                    <a:p>
                      <a:pPr algn="l"/>
                      <a:r>
                        <a:rPr sz="1125" b="1">
                          <a:solidFill>
                            <a:srgbClr val="F8F6FF"/>
                          </a:solidFill>
                          <a:latin typeface="Calibri"/>
                          <a:ea typeface="Calibri"/>
                          <a:cs typeface="Calibri"/>
                        </a:rPr>
                        <a:t>Adaptive game difficulty</a:t>
                      </a:r>
                    </a:p>
                  </a:txBody>
                  <a:tcPr marL="114300" marR="76200" marT="38100" marB="38100" anchor="ctr">
                    <a:solidFill>
                      <a:srgbClr val="3A316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Yes</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b="1">
                          <a:solidFill>
                            <a:srgbClr val="2ED9A4"/>
                          </a:solidFill>
                          <a:latin typeface="Calibri"/>
                          <a:ea typeface="Calibri"/>
                          <a:cs typeface="Calibri"/>
                        </a:rPr>
                        <a:t>Yes</a:t>
                      </a:r>
                    </a:p>
                  </a:txBody>
                  <a:tcPr marL="76200" marR="76200" marT="38100" marB="38100" anchor="ctr">
                    <a:solidFill>
                      <a:srgbClr val="245A50"/>
                    </a:solidFill>
                  </a:tcPr>
                </a:tc>
                <a:extLst>
                  <a:ext uri="{0D108BD9-81ED-4DB2-BD59-A6C34878D82A}">
                    <a16:rowId xmlns:a16="http://schemas.microsoft.com/office/drawing/2014/main" val="10005"/>
                  </a:ext>
                </a:extLst>
              </a:tr>
              <a:tr h="389659">
                <a:tc>
                  <a:txBody>
                    <a:bodyPr/>
                    <a:lstStyle/>
                    <a:p>
                      <a:pPr algn="l"/>
                      <a:r>
                        <a:rPr sz="1125" b="1">
                          <a:solidFill>
                            <a:srgbClr val="F8F6FF"/>
                          </a:solidFill>
                          <a:latin typeface="Calibri"/>
                          <a:ea typeface="Calibri"/>
                          <a:cs typeface="Calibri"/>
                        </a:rPr>
                        <a:t>Game performance statistics</a:t>
                      </a:r>
                    </a:p>
                  </a:txBody>
                  <a:tcPr marL="114300" marR="76200" marT="38100" marB="38100" anchor="ctr">
                    <a:solidFill>
                      <a:srgbClr val="3A316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Yes</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Yes</a:t>
                      </a:r>
                    </a:p>
                  </a:txBody>
                  <a:tcPr marL="76200" marR="76200" marT="38100" marB="38100" anchor="ctr">
                    <a:solidFill>
                      <a:srgbClr val="2E2750"/>
                    </a:solidFill>
                  </a:tcPr>
                </a:tc>
                <a:tc>
                  <a:txBody>
                    <a:bodyPr/>
                    <a:lstStyle/>
                    <a:p>
                      <a:pPr algn="ctr"/>
                      <a:r>
                        <a:rPr sz="1125" b="1">
                          <a:solidFill>
                            <a:srgbClr val="2ED9A4"/>
                          </a:solidFill>
                          <a:latin typeface="Calibri"/>
                          <a:ea typeface="Calibri"/>
                          <a:cs typeface="Calibri"/>
                        </a:rPr>
                        <a:t>Yes</a:t>
                      </a:r>
                    </a:p>
                  </a:txBody>
                  <a:tcPr marL="76200" marR="76200" marT="38100" marB="38100" anchor="ctr">
                    <a:solidFill>
                      <a:srgbClr val="245A50"/>
                    </a:solidFill>
                  </a:tcPr>
                </a:tc>
                <a:extLst>
                  <a:ext uri="{0D108BD9-81ED-4DB2-BD59-A6C34878D82A}">
                    <a16:rowId xmlns:a16="http://schemas.microsoft.com/office/drawing/2014/main" val="10006"/>
                  </a:ext>
                </a:extLst>
              </a:tr>
              <a:tr h="389659">
                <a:tc>
                  <a:txBody>
                    <a:bodyPr/>
                    <a:lstStyle/>
                    <a:p>
                      <a:pPr algn="l"/>
                      <a:r>
                        <a:rPr sz="1125" b="1">
                          <a:solidFill>
                            <a:srgbClr val="F8F6FF"/>
                          </a:solidFill>
                          <a:latin typeface="Calibri"/>
                          <a:ea typeface="Calibri"/>
                          <a:cs typeface="Calibri"/>
                        </a:rPr>
                        <a:t>Type &amp; stage-specific games</a:t>
                      </a:r>
                    </a:p>
                  </a:txBody>
                  <a:tcPr marL="114300" marR="76200" marT="38100" marB="38100" anchor="ctr">
                    <a:solidFill>
                      <a:srgbClr val="3A316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b="1">
                          <a:solidFill>
                            <a:srgbClr val="2ED9A4"/>
                          </a:solidFill>
                          <a:latin typeface="Calibri"/>
                          <a:ea typeface="Calibri"/>
                          <a:cs typeface="Calibri"/>
                        </a:rPr>
                        <a:t>Yes</a:t>
                      </a:r>
                    </a:p>
                  </a:txBody>
                  <a:tcPr marL="76200" marR="76200" marT="38100" marB="38100" anchor="ctr">
                    <a:solidFill>
                      <a:srgbClr val="245A50"/>
                    </a:solidFill>
                  </a:tcPr>
                </a:tc>
                <a:extLst>
                  <a:ext uri="{0D108BD9-81ED-4DB2-BD59-A6C34878D82A}">
                    <a16:rowId xmlns:a16="http://schemas.microsoft.com/office/drawing/2014/main" val="10007"/>
                  </a:ext>
                </a:extLst>
              </a:tr>
              <a:tr h="389659">
                <a:tc>
                  <a:txBody>
                    <a:bodyPr/>
                    <a:lstStyle/>
                    <a:p>
                      <a:pPr algn="l"/>
                      <a:r>
                        <a:rPr sz="1125" b="1">
                          <a:solidFill>
                            <a:srgbClr val="F8F6FF"/>
                          </a:solidFill>
                          <a:latin typeface="Calibri"/>
                          <a:ea typeface="Calibri"/>
                          <a:cs typeface="Calibri"/>
                        </a:rPr>
                        <a:t>Caregiver override + history</a:t>
                      </a:r>
                    </a:p>
                  </a:txBody>
                  <a:tcPr marL="114300" marR="76200" marT="38100" marB="38100" anchor="ctr">
                    <a:solidFill>
                      <a:srgbClr val="3A316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b="1">
                          <a:solidFill>
                            <a:srgbClr val="2ED9A4"/>
                          </a:solidFill>
                          <a:latin typeface="Calibri"/>
                          <a:ea typeface="Calibri"/>
                          <a:cs typeface="Calibri"/>
                        </a:rPr>
                        <a:t>Yes</a:t>
                      </a:r>
                    </a:p>
                  </a:txBody>
                  <a:tcPr marL="76200" marR="76200" marT="38100" marB="38100" anchor="ctr">
                    <a:solidFill>
                      <a:srgbClr val="245A50"/>
                    </a:solidFill>
                  </a:tcPr>
                </a:tc>
                <a:extLst>
                  <a:ext uri="{0D108BD9-81ED-4DB2-BD59-A6C34878D82A}">
                    <a16:rowId xmlns:a16="http://schemas.microsoft.com/office/drawing/2014/main" val="10008"/>
                  </a:ext>
                </a:extLst>
              </a:tr>
              <a:tr h="389659">
                <a:tc>
                  <a:txBody>
                    <a:bodyPr/>
                    <a:lstStyle/>
                    <a:p>
                      <a:pPr algn="l"/>
                      <a:r>
                        <a:rPr sz="1125" b="1">
                          <a:solidFill>
                            <a:srgbClr val="F8F6FF"/>
                          </a:solidFill>
                          <a:latin typeface="Calibri"/>
                          <a:ea typeface="Calibri"/>
                          <a:cs typeface="Calibri"/>
                        </a:rPr>
                        <a:t>Risk / attention indicator</a:t>
                      </a:r>
                    </a:p>
                  </a:txBody>
                  <a:tcPr marL="114300" marR="76200" marT="38100" marB="38100" anchor="ctr">
                    <a:solidFill>
                      <a:srgbClr val="3A316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b="1">
                          <a:solidFill>
                            <a:srgbClr val="2ED9A4"/>
                          </a:solidFill>
                          <a:latin typeface="Calibri"/>
                          <a:ea typeface="Calibri"/>
                          <a:cs typeface="Calibri"/>
                        </a:rPr>
                        <a:t>Yes</a:t>
                      </a:r>
                    </a:p>
                  </a:txBody>
                  <a:tcPr marL="76200" marR="76200" marT="38100" marB="38100" anchor="ctr">
                    <a:solidFill>
                      <a:srgbClr val="245A50"/>
                    </a:solidFill>
                  </a:tcPr>
                </a:tc>
                <a:extLst>
                  <a:ext uri="{0D108BD9-81ED-4DB2-BD59-A6C34878D82A}">
                    <a16:rowId xmlns:a16="http://schemas.microsoft.com/office/drawing/2014/main" val="10009"/>
                  </a:ext>
                </a:extLst>
              </a:tr>
              <a:tr h="389659">
                <a:tc>
                  <a:txBody>
                    <a:bodyPr/>
                    <a:lstStyle/>
                    <a:p>
                      <a:pPr algn="l"/>
                      <a:r>
                        <a:rPr sz="1125" b="1">
                          <a:solidFill>
                            <a:srgbClr val="F8F6FF"/>
                          </a:solidFill>
                          <a:latin typeface="Calibri"/>
                          <a:ea typeface="Calibri"/>
                          <a:cs typeface="Calibri"/>
                        </a:rPr>
                        <a:t>Unlockable reward games</a:t>
                      </a:r>
                    </a:p>
                  </a:txBody>
                  <a:tcPr marL="114300" marR="76200" marT="38100" marB="38100" anchor="ctr">
                    <a:solidFill>
                      <a:srgbClr val="3A316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a:solidFill>
                            <a:srgbClr val="F8F6FF"/>
                          </a:solidFill>
                          <a:latin typeface="Calibri"/>
                          <a:ea typeface="Calibri"/>
                          <a:cs typeface="Calibri"/>
                        </a:rPr>
                        <a:t>No</a:t>
                      </a:r>
                    </a:p>
                  </a:txBody>
                  <a:tcPr marL="76200" marR="76200" marT="38100" marB="38100" anchor="ctr">
                    <a:solidFill>
                      <a:srgbClr val="2E2750"/>
                    </a:solidFill>
                  </a:tcPr>
                </a:tc>
                <a:tc>
                  <a:txBody>
                    <a:bodyPr/>
                    <a:lstStyle/>
                    <a:p>
                      <a:pPr algn="ctr"/>
                      <a:r>
                        <a:rPr sz="1125" b="1">
                          <a:solidFill>
                            <a:srgbClr val="2ED9A4"/>
                          </a:solidFill>
                          <a:latin typeface="Calibri"/>
                          <a:ea typeface="Calibri"/>
                          <a:cs typeface="Calibri"/>
                        </a:rPr>
                        <a:t>Yes</a:t>
                      </a:r>
                    </a:p>
                  </a:txBody>
                  <a:tcPr marL="76200" marR="76200" marT="38100" marB="38100" anchor="ctr">
                    <a:solidFill>
                      <a:srgbClr val="245A50"/>
                    </a:solidFill>
                  </a:tcPr>
                </a:tc>
                <a:extLst>
                  <a:ext uri="{0D108BD9-81ED-4DB2-BD59-A6C34878D82A}">
                    <a16:rowId xmlns:a16="http://schemas.microsoft.com/office/drawing/2014/main" val="10010"/>
                  </a:ext>
                </a:extLst>
              </a:tr>
            </a:tbl>
          </a:graphicData>
        </a:graphic>
      </p:graphicFrame>
      <p:sp>
        <p:nvSpPr>
          <p:cNvPr id="6" name="Rectangle 5">
            <a:extLst>
              <a:ext uri="{FF2B5EF4-FFF2-40B4-BE49-F238E27FC236}">
                <a16:creationId xmlns:a16="http://schemas.microsoft.com/office/drawing/2014/main" id="{801ED659-8A3C-4367-BD89-EB98E7F6A5A1}"/>
              </a:ext>
            </a:extLst>
          </p:cNvPr>
          <p:cNvSpPr>
            <a:spLocks noGrp="1"/>
          </p:cNvSpPr>
          <p:nvPr/>
        </p:nvSpPr>
        <p:spPr>
          <a:xfrm>
            <a:off x="533400" y="6543675"/>
            <a:ext cx="9525000" cy="171450"/>
          </a:xfrm>
          <a:prstGeom prst="rect">
            <a:avLst/>
          </a:prstGeom>
          <a:noFill/>
          <a:ln w="0">
            <a:noFill/>
          </a:ln>
        </p:spPr>
        <p:txBody>
          <a:bodyPr wrap="square" lIns="0" tIns="0" rIns="0" bIns="0" anchor="t">
            <a:noAutofit/>
          </a:bodyPr>
          <a:lstStyle/>
          <a:p>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 Final report Table 2.10, pp. 36–37 (condensed to presentation-critical features).</a:t>
            </a:r>
          </a:p>
        </p:txBody>
      </p:sp>
      <p:sp>
        <p:nvSpPr>
          <p:cNvPr id="7" name="Rectangle 6">
            <a:extLst>
              <a:ext uri="{FF2B5EF4-FFF2-40B4-BE49-F238E27FC236}">
                <a16:creationId xmlns:a16="http://schemas.microsoft.com/office/drawing/2014/main" id="{B6AC364E-918D-418C-938A-B19421700C7F}"/>
              </a:ext>
            </a:extLst>
          </p:cNvPr>
          <p:cNvSpPr>
            <a:spLocks noGrp="1"/>
          </p:cNvSpPr>
          <p:nvPr/>
        </p:nvSpPr>
        <p:spPr>
          <a:xfrm>
            <a:off x="11277600" y="6496050"/>
            <a:ext cx="476250" cy="209550"/>
          </a:xfrm>
          <a:prstGeom prst="rect">
            <a:avLst/>
          </a:prstGeom>
          <a:noFill/>
          <a:ln w="0">
            <a:noFill/>
          </a:ln>
        </p:spPr>
        <p:txBody>
          <a:bodyPr wrap="square" lIns="0" tIns="0" rIns="0" bIns="0" anchor="t">
            <a:noAutofit/>
          </a:bodyPr>
          <a:lstStyle/>
          <a:p>
            <a:pPr algn="r">
              <a:defRPr sz="975" b="1">
                <a:solidFill>
                  <a:srgbClr val="B8B0D4"/>
                </a:solidFill>
                <a:latin typeface="Calibri"/>
                <a:ea typeface="Calibri"/>
                <a:cs typeface="Calibri"/>
              </a:defRPr>
            </a:pPr>
            <a:r>
              <a:rPr sz="975" b="1">
                <a:solidFill>
                  <a:srgbClr val="B8B0D4"/>
                </a:solidFill>
                <a:latin typeface="Calibri"/>
                <a:ea typeface="Calibri"/>
                <a:cs typeface="Calibri"/>
              </a:rPr>
              <a:t>06</a:t>
            </a:r>
          </a:p>
        </p:txBody>
      </p:sp>
    </p:spTree>
    <p:extLst>
      <p:ext uri="{BB962C8B-B14F-4D97-AF65-F5344CB8AC3E}">
        <p14:creationId xmlns:p14="http://schemas.microsoft.com/office/powerpoint/2010/main" val="1716358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530"/>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13FE7160-4E25-4081-A0C0-ABB6411E4A5D}"/>
              </a:ext>
            </a:extLst>
          </p:cNvPr>
          <p:cNvSpPr>
            <a:spLocks noGrp="1"/>
          </p:cNvSpPr>
          <p:nvPr/>
        </p:nvSpPr>
        <p:spPr>
          <a:xfrm>
            <a:off x="0" y="0"/>
            <a:ext cx="133350" cy="6858000"/>
          </a:xfrm>
          <a:prstGeom prst="rect">
            <a:avLst/>
          </a:prstGeom>
          <a:solidFill>
            <a:srgbClr val="FF6B62"/>
          </a:solidFill>
          <a:ln w="0">
            <a:noFill/>
          </a:ln>
        </p:spPr>
        <p:txBody>
          <a:bodyPr/>
          <a:lstStyle/>
          <a:p>
            <a:endParaRPr lang="en-MY"/>
          </a:p>
        </p:txBody>
      </p:sp>
      <p:sp>
        <p:nvSpPr>
          <p:cNvPr id="2" name="Rectangle 1">
            <a:extLst>
              <a:ext uri="{FF2B5EF4-FFF2-40B4-BE49-F238E27FC236}">
                <a16:creationId xmlns:a16="http://schemas.microsoft.com/office/drawing/2014/main" id="{91616F85-A78F-43FE-B4C1-B1BEA51EFC9D}"/>
              </a:ext>
            </a:extLst>
          </p:cNvPr>
          <p:cNvSpPr>
            <a:spLocks noGrp="1"/>
          </p:cNvSpPr>
          <p:nvPr/>
        </p:nvSpPr>
        <p:spPr>
          <a:xfrm>
            <a:off x="533400" y="323850"/>
            <a:ext cx="2571750" cy="247650"/>
          </a:xfrm>
          <a:prstGeom prst="rect">
            <a:avLst/>
          </a:prstGeom>
          <a:noFill/>
          <a:ln w="0">
            <a:noFill/>
          </a:ln>
        </p:spPr>
        <p:txBody>
          <a:bodyPr wrap="square" lIns="0" tIns="0" rIns="0" bIns="0" anchor="t">
            <a:noAutofit/>
          </a:bodyPr>
          <a:lstStyle/>
          <a:p>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3 · METHODOLOGY</a:t>
            </a:r>
          </a:p>
        </p:txBody>
      </p:sp>
      <p:sp>
        <p:nvSpPr>
          <p:cNvPr id="3" name="Rectangle 2">
            <a:extLst>
              <a:ext uri="{FF2B5EF4-FFF2-40B4-BE49-F238E27FC236}">
                <a16:creationId xmlns:a16="http://schemas.microsoft.com/office/drawing/2014/main" id="{A0060DC8-993C-424D-A076-8F370DF9B69E}"/>
              </a:ext>
            </a:extLst>
          </p:cNvPr>
          <p:cNvSpPr>
            <a:spLocks noGrp="1"/>
          </p:cNvSpPr>
          <p:nvPr/>
        </p:nvSpPr>
        <p:spPr>
          <a:xfrm>
            <a:off x="533400" y="619125"/>
            <a:ext cx="11049000" cy="533400"/>
          </a:xfrm>
          <a:prstGeom prst="rect">
            <a:avLst/>
          </a:prstGeom>
          <a:noFill/>
          <a:ln w="0">
            <a:noFill/>
          </a:ln>
        </p:spPr>
        <p:txBody>
          <a:bodyPr wrap="square" lIns="0" tIns="0" rIns="0" bIns="0" anchor="t">
            <a:noAutofit/>
          </a:bodyPr>
          <a:lstStyle/>
          <a:p>
            <a:pPr algn="l">
              <a:defRPr sz="2700" b="1">
                <a:solidFill>
                  <a:srgbClr val="F8F6FF"/>
                </a:solidFill>
                <a:latin typeface="Calibri"/>
                <a:ea typeface="Calibri"/>
                <a:cs typeface="Calibri"/>
              </a:defRPr>
            </a:pPr>
            <a:r>
              <a:rPr sz="2700" b="1">
                <a:solidFill>
                  <a:srgbClr val="F8F6FF"/>
                </a:solidFill>
                <a:latin typeface="Calibri"/>
                <a:ea typeface="Calibri"/>
                <a:cs typeface="Calibri"/>
              </a:rPr>
              <a:t>Prototyping model guided the development</a:t>
            </a:r>
          </a:p>
        </p:txBody>
      </p:sp>
      <p:sp>
        <p:nvSpPr>
          <p:cNvPr id="4" name="Rectangle 3">
            <a:extLst>
              <a:ext uri="{FF2B5EF4-FFF2-40B4-BE49-F238E27FC236}">
                <a16:creationId xmlns:a16="http://schemas.microsoft.com/office/drawing/2014/main" id="{8CDF8BEA-E182-4C66-80B6-3D9517E57DF7}"/>
              </a:ext>
            </a:extLst>
          </p:cNvPr>
          <p:cNvSpPr>
            <a:spLocks noGrp="1"/>
          </p:cNvSpPr>
          <p:nvPr/>
        </p:nvSpPr>
        <p:spPr>
          <a:xfrm>
            <a:off x="552450" y="1143000"/>
            <a:ext cx="10668000" cy="323850"/>
          </a:xfrm>
          <a:prstGeom prst="rect">
            <a:avLst/>
          </a:prstGeom>
          <a:noFill/>
          <a:ln w="0">
            <a:noFill/>
          </a:ln>
        </p:spPr>
        <p:txBody>
          <a:bodyPr wrap="square" lIns="0" tIns="0" rIns="0" bIns="0" anchor="t">
            <a:noAutofit/>
          </a:bodyPr>
          <a:lstStyle/>
          <a:p>
            <a:pPr algn="l">
              <a:defRPr sz="1350" b="0">
                <a:solidFill>
                  <a:srgbClr val="B8B0D4"/>
                </a:solidFill>
                <a:latin typeface="Calibri"/>
                <a:ea typeface="Calibri"/>
                <a:cs typeface="Calibri"/>
              </a:defRPr>
            </a:pPr>
            <a:r>
              <a:rPr sz="1350" b="0">
                <a:solidFill>
                  <a:srgbClr val="B8B0D4"/>
                </a:solidFill>
                <a:latin typeface="Calibri"/>
                <a:ea typeface="Calibri"/>
                <a:cs typeface="Calibri"/>
              </a:rPr>
              <a:t>Early visualisation and repeated feedback were used to refine accessibility, flow and functionality.</a:t>
            </a:r>
          </a:p>
        </p:txBody>
      </p:sp>
      <p:sp>
        <p:nvSpPr>
          <p:cNvPr id="5" name="Oval 4">
            <a:extLst>
              <a:ext uri="{FF2B5EF4-FFF2-40B4-BE49-F238E27FC236}">
                <a16:creationId xmlns:a16="http://schemas.microsoft.com/office/drawing/2014/main" id="{BD6E2B72-CE22-4FF7-9D11-AE8C00B14762}"/>
              </a:ext>
            </a:extLst>
          </p:cNvPr>
          <p:cNvSpPr>
            <a:spLocks noGrp="1"/>
          </p:cNvSpPr>
          <p:nvPr/>
        </p:nvSpPr>
        <p:spPr>
          <a:xfrm>
            <a:off x="704850" y="2238375"/>
            <a:ext cx="838200" cy="838200"/>
          </a:xfrm>
          <a:prstGeom prst="ellipse">
            <a:avLst/>
          </a:prstGeom>
          <a:solidFill>
            <a:srgbClr val="3A3160"/>
          </a:solidFill>
          <a:ln w="0">
            <a:noFill/>
          </a:ln>
        </p:spPr>
        <p:txBody>
          <a:bodyPr/>
          <a:lstStyle/>
          <a:p>
            <a:endParaRPr lang="en-MY"/>
          </a:p>
        </p:txBody>
      </p:sp>
      <p:sp>
        <p:nvSpPr>
          <p:cNvPr id="6" name="Rectangle 5">
            <a:extLst>
              <a:ext uri="{FF2B5EF4-FFF2-40B4-BE49-F238E27FC236}">
                <a16:creationId xmlns:a16="http://schemas.microsoft.com/office/drawing/2014/main" id="{CCD14568-0C56-4EFB-B40F-349CC2ED397E}"/>
              </a:ext>
            </a:extLst>
          </p:cNvPr>
          <p:cNvSpPr>
            <a:spLocks noGrp="1"/>
          </p:cNvSpPr>
          <p:nvPr/>
        </p:nvSpPr>
        <p:spPr>
          <a:xfrm>
            <a:off x="704850" y="2457450"/>
            <a:ext cx="838200" cy="361950"/>
          </a:xfrm>
          <a:prstGeom prst="rect">
            <a:avLst/>
          </a:prstGeom>
          <a:noFill/>
          <a:ln w="0">
            <a:noFill/>
          </a:ln>
        </p:spPr>
        <p:txBody>
          <a:bodyPr wrap="square" lIns="0" tIns="0" rIns="0" bIns="0" anchor="ctr">
            <a:noAutofit/>
          </a:bodyPr>
          <a:lstStyle/>
          <a:p>
            <a:pPr algn="ctr">
              <a:defRPr sz="2025" b="1">
                <a:solidFill>
                  <a:srgbClr val="F8F6FF"/>
                </a:solidFill>
                <a:latin typeface="Calibri"/>
                <a:ea typeface="Calibri"/>
                <a:cs typeface="Calibri"/>
              </a:defRPr>
            </a:pPr>
            <a:r>
              <a:rPr sz="2025" b="1">
                <a:solidFill>
                  <a:srgbClr val="F8F6FF"/>
                </a:solidFill>
                <a:latin typeface="Calibri"/>
                <a:ea typeface="Calibri"/>
                <a:cs typeface="Calibri"/>
              </a:rPr>
              <a:t>01</a:t>
            </a:r>
          </a:p>
        </p:txBody>
      </p:sp>
      <p:sp>
        <p:nvSpPr>
          <p:cNvPr id="7" name="Rectangle 6">
            <a:extLst>
              <a:ext uri="{FF2B5EF4-FFF2-40B4-BE49-F238E27FC236}">
                <a16:creationId xmlns:a16="http://schemas.microsoft.com/office/drawing/2014/main" id="{1741406B-20DC-42E0-B12A-3189AA524CA1}"/>
              </a:ext>
            </a:extLst>
          </p:cNvPr>
          <p:cNvSpPr>
            <a:spLocks noGrp="1"/>
          </p:cNvSpPr>
          <p:nvPr/>
        </p:nvSpPr>
        <p:spPr>
          <a:xfrm>
            <a:off x="438150" y="3276600"/>
            <a:ext cx="1371600" cy="285750"/>
          </a:xfrm>
          <a:prstGeom prst="rect">
            <a:avLst/>
          </a:prstGeom>
          <a:noFill/>
          <a:ln w="0">
            <a:noFill/>
          </a:ln>
        </p:spPr>
        <p:txBody>
          <a:bodyPr wrap="square" lIns="0" tIns="0" rIns="0" bIns="0" anchor="t">
            <a:noAutofit/>
          </a:bodyPr>
          <a:lstStyle/>
          <a:p>
            <a:pPr algn="ctr">
              <a:defRPr sz="1575" b="1">
                <a:solidFill>
                  <a:srgbClr val="F8F6FF"/>
                </a:solidFill>
                <a:latin typeface="Calibri"/>
                <a:ea typeface="Calibri"/>
                <a:cs typeface="Calibri"/>
              </a:defRPr>
            </a:pPr>
            <a:r>
              <a:rPr sz="1575" b="1">
                <a:solidFill>
                  <a:srgbClr val="F8F6FF"/>
                </a:solidFill>
                <a:latin typeface="Calibri"/>
                <a:ea typeface="Calibri"/>
                <a:cs typeface="Calibri"/>
              </a:rPr>
              <a:t>Understand</a:t>
            </a:r>
          </a:p>
        </p:txBody>
      </p:sp>
      <p:sp>
        <p:nvSpPr>
          <p:cNvPr id="8" name="Rectangle 7">
            <a:extLst>
              <a:ext uri="{FF2B5EF4-FFF2-40B4-BE49-F238E27FC236}">
                <a16:creationId xmlns:a16="http://schemas.microsoft.com/office/drawing/2014/main" id="{6E751277-E58C-4B65-A028-068600CA623C}"/>
              </a:ext>
            </a:extLst>
          </p:cNvPr>
          <p:cNvSpPr>
            <a:spLocks noGrp="1"/>
          </p:cNvSpPr>
          <p:nvPr/>
        </p:nvSpPr>
        <p:spPr>
          <a:xfrm>
            <a:off x="171450" y="3667125"/>
            <a:ext cx="1905000" cy="628650"/>
          </a:xfrm>
          <a:prstGeom prst="rect">
            <a:avLst/>
          </a:prstGeom>
          <a:noFill/>
          <a:ln w="0">
            <a:noFill/>
          </a:ln>
        </p:spPr>
        <p:txBody>
          <a:bodyPr wrap="square" lIns="0" tIns="0" rIns="0" bIns="0" anchor="t">
            <a:noAutofit/>
          </a:bodyPr>
          <a:lstStyle/>
          <a:p>
            <a:pPr algn="ctr">
              <a:defRPr sz="1125" b="0">
                <a:solidFill>
                  <a:srgbClr val="B8B0D4"/>
                </a:solidFill>
                <a:latin typeface="Calibri"/>
                <a:ea typeface="Calibri"/>
                <a:cs typeface="Calibri"/>
              </a:defRPr>
            </a:pPr>
            <a:r>
              <a:rPr sz="1125" b="0">
                <a:solidFill>
                  <a:srgbClr val="B8B0D4"/>
                </a:solidFill>
                <a:latin typeface="Calibri"/>
                <a:ea typeface="Calibri"/>
                <a:cs typeface="Calibri"/>
              </a:rPr>
              <a:t>Requirements and existing-app review</a:t>
            </a:r>
          </a:p>
        </p:txBody>
      </p:sp>
      <p:sp>
        <p:nvSpPr>
          <p:cNvPr id="9" name="Rectangle 8">
            <a:extLst>
              <a:ext uri="{FF2B5EF4-FFF2-40B4-BE49-F238E27FC236}">
                <a16:creationId xmlns:a16="http://schemas.microsoft.com/office/drawing/2014/main" id="{478419AD-62C8-4220-B74B-F42E6D0C7173}"/>
              </a:ext>
            </a:extLst>
          </p:cNvPr>
          <p:cNvSpPr>
            <a:spLocks noGrp="1"/>
          </p:cNvSpPr>
          <p:nvPr/>
        </p:nvSpPr>
        <p:spPr>
          <a:xfrm>
            <a:off x="1619250" y="2628900"/>
            <a:ext cx="1190625" cy="38100"/>
          </a:xfrm>
          <a:prstGeom prst="rect">
            <a:avLst/>
          </a:prstGeom>
          <a:solidFill>
            <a:srgbClr val="8F87AC"/>
          </a:solidFill>
          <a:ln w="0">
            <a:noFill/>
          </a:ln>
        </p:spPr>
        <p:txBody>
          <a:bodyPr/>
          <a:lstStyle/>
          <a:p>
            <a:endParaRPr lang="en-MY"/>
          </a:p>
        </p:txBody>
      </p:sp>
      <p:sp>
        <p:nvSpPr>
          <p:cNvPr id="10" name="Rectangle 9">
            <a:extLst>
              <a:ext uri="{FF2B5EF4-FFF2-40B4-BE49-F238E27FC236}">
                <a16:creationId xmlns:a16="http://schemas.microsoft.com/office/drawing/2014/main" id="{7C76BE68-5585-4E9E-8784-C0DA88E5DBC0}"/>
              </a:ext>
            </a:extLst>
          </p:cNvPr>
          <p:cNvSpPr>
            <a:spLocks noGrp="1"/>
          </p:cNvSpPr>
          <p:nvPr/>
        </p:nvSpPr>
        <p:spPr>
          <a:xfrm>
            <a:off x="2457450" y="2409825"/>
            <a:ext cx="400050" cy="457200"/>
          </a:xfrm>
          <a:prstGeom prst="rect">
            <a:avLst/>
          </a:prstGeom>
          <a:noFill/>
          <a:ln w="0">
            <a:noFill/>
          </a:ln>
        </p:spPr>
        <p:txBody>
          <a:bodyPr wrap="square" lIns="0" tIns="0" rIns="0" bIns="0" anchor="t">
            <a:noAutofit/>
          </a:bodyPr>
          <a:lstStyle/>
          <a:p>
            <a:pPr algn="ctr">
              <a:defRPr sz="3150" b="0">
                <a:solidFill>
                  <a:srgbClr val="FF6B62"/>
                </a:solidFill>
                <a:latin typeface="Calibri"/>
                <a:ea typeface="Calibri"/>
                <a:cs typeface="Calibri"/>
              </a:defRPr>
            </a:pPr>
            <a:r>
              <a:rPr sz="3150" b="0">
                <a:solidFill>
                  <a:srgbClr val="FF6B62"/>
                </a:solidFill>
                <a:latin typeface="Calibri"/>
                <a:ea typeface="Calibri"/>
                <a:cs typeface="Calibri"/>
              </a:rPr>
              <a:t>›</a:t>
            </a:r>
          </a:p>
        </p:txBody>
      </p:sp>
      <p:sp>
        <p:nvSpPr>
          <p:cNvPr id="11" name="Oval 10">
            <a:extLst>
              <a:ext uri="{FF2B5EF4-FFF2-40B4-BE49-F238E27FC236}">
                <a16:creationId xmlns:a16="http://schemas.microsoft.com/office/drawing/2014/main" id="{8E093C85-43A5-443B-8F18-242C142B7AC6}"/>
              </a:ext>
            </a:extLst>
          </p:cNvPr>
          <p:cNvSpPr>
            <a:spLocks noGrp="1"/>
          </p:cNvSpPr>
          <p:nvPr/>
        </p:nvSpPr>
        <p:spPr>
          <a:xfrm>
            <a:off x="2952750" y="2238375"/>
            <a:ext cx="838200" cy="838200"/>
          </a:xfrm>
          <a:prstGeom prst="ellipse">
            <a:avLst/>
          </a:prstGeom>
          <a:solidFill>
            <a:srgbClr val="3A3160"/>
          </a:solidFill>
          <a:ln w="0">
            <a:noFill/>
          </a:ln>
        </p:spPr>
        <p:txBody>
          <a:bodyPr/>
          <a:lstStyle/>
          <a:p>
            <a:endParaRPr lang="en-MY"/>
          </a:p>
        </p:txBody>
      </p:sp>
      <p:sp>
        <p:nvSpPr>
          <p:cNvPr id="12" name="Rectangle 11">
            <a:extLst>
              <a:ext uri="{FF2B5EF4-FFF2-40B4-BE49-F238E27FC236}">
                <a16:creationId xmlns:a16="http://schemas.microsoft.com/office/drawing/2014/main" id="{218060BF-6006-40EE-8FF4-BFEF3E752566}"/>
              </a:ext>
            </a:extLst>
          </p:cNvPr>
          <p:cNvSpPr>
            <a:spLocks noGrp="1"/>
          </p:cNvSpPr>
          <p:nvPr/>
        </p:nvSpPr>
        <p:spPr>
          <a:xfrm>
            <a:off x="2952750" y="2457450"/>
            <a:ext cx="838200" cy="361950"/>
          </a:xfrm>
          <a:prstGeom prst="rect">
            <a:avLst/>
          </a:prstGeom>
          <a:noFill/>
          <a:ln w="0">
            <a:noFill/>
          </a:ln>
        </p:spPr>
        <p:txBody>
          <a:bodyPr wrap="square" lIns="0" tIns="0" rIns="0" bIns="0" anchor="ctr">
            <a:noAutofit/>
          </a:bodyPr>
          <a:lstStyle/>
          <a:p>
            <a:pPr algn="ctr">
              <a:defRPr sz="2025" b="1">
                <a:solidFill>
                  <a:srgbClr val="F8F6FF"/>
                </a:solidFill>
                <a:latin typeface="Calibri"/>
                <a:ea typeface="Calibri"/>
                <a:cs typeface="Calibri"/>
              </a:defRPr>
            </a:pPr>
            <a:r>
              <a:rPr sz="2025" b="1">
                <a:solidFill>
                  <a:srgbClr val="F8F6FF"/>
                </a:solidFill>
                <a:latin typeface="Calibri"/>
                <a:ea typeface="Calibri"/>
                <a:cs typeface="Calibri"/>
              </a:rPr>
              <a:t>02</a:t>
            </a:r>
          </a:p>
        </p:txBody>
      </p:sp>
      <p:sp>
        <p:nvSpPr>
          <p:cNvPr id="13" name="Rectangle 12">
            <a:extLst>
              <a:ext uri="{FF2B5EF4-FFF2-40B4-BE49-F238E27FC236}">
                <a16:creationId xmlns:a16="http://schemas.microsoft.com/office/drawing/2014/main" id="{0834381C-E620-445F-A810-04FD3E07EEBA}"/>
              </a:ext>
            </a:extLst>
          </p:cNvPr>
          <p:cNvSpPr>
            <a:spLocks noGrp="1"/>
          </p:cNvSpPr>
          <p:nvPr/>
        </p:nvSpPr>
        <p:spPr>
          <a:xfrm>
            <a:off x="2686050" y="3276600"/>
            <a:ext cx="1371600" cy="285750"/>
          </a:xfrm>
          <a:prstGeom prst="rect">
            <a:avLst/>
          </a:prstGeom>
          <a:noFill/>
          <a:ln w="0">
            <a:noFill/>
          </a:ln>
        </p:spPr>
        <p:txBody>
          <a:bodyPr wrap="square" lIns="0" tIns="0" rIns="0" bIns="0" anchor="t">
            <a:noAutofit/>
          </a:bodyPr>
          <a:lstStyle/>
          <a:p>
            <a:pPr algn="ctr">
              <a:defRPr sz="1575" b="1">
                <a:solidFill>
                  <a:srgbClr val="F8F6FF"/>
                </a:solidFill>
                <a:latin typeface="Calibri"/>
                <a:ea typeface="Calibri"/>
                <a:cs typeface="Calibri"/>
              </a:defRPr>
            </a:pPr>
            <a:r>
              <a:rPr sz="1575" b="1">
                <a:solidFill>
                  <a:srgbClr val="F8F6FF"/>
                </a:solidFill>
                <a:latin typeface="Calibri"/>
                <a:ea typeface="Calibri"/>
                <a:cs typeface="Calibri"/>
              </a:rPr>
              <a:t>Prototype</a:t>
            </a:r>
          </a:p>
        </p:txBody>
      </p:sp>
      <p:sp>
        <p:nvSpPr>
          <p:cNvPr id="14" name="Rectangle 13">
            <a:extLst>
              <a:ext uri="{FF2B5EF4-FFF2-40B4-BE49-F238E27FC236}">
                <a16:creationId xmlns:a16="http://schemas.microsoft.com/office/drawing/2014/main" id="{A3AA052B-CA3A-4CCA-86FA-4832219A49D0}"/>
              </a:ext>
            </a:extLst>
          </p:cNvPr>
          <p:cNvSpPr>
            <a:spLocks noGrp="1"/>
          </p:cNvSpPr>
          <p:nvPr/>
        </p:nvSpPr>
        <p:spPr>
          <a:xfrm>
            <a:off x="2419350" y="3667125"/>
            <a:ext cx="1905000" cy="628650"/>
          </a:xfrm>
          <a:prstGeom prst="rect">
            <a:avLst/>
          </a:prstGeom>
          <a:noFill/>
          <a:ln w="0">
            <a:noFill/>
          </a:ln>
        </p:spPr>
        <p:txBody>
          <a:bodyPr wrap="square" lIns="0" tIns="0" rIns="0" bIns="0" anchor="t">
            <a:noAutofit/>
          </a:bodyPr>
          <a:lstStyle/>
          <a:p>
            <a:pPr algn="ctr">
              <a:defRPr sz="1125" b="0">
                <a:solidFill>
                  <a:srgbClr val="B8B0D4"/>
                </a:solidFill>
                <a:latin typeface="Calibri"/>
                <a:ea typeface="Calibri"/>
                <a:cs typeface="Calibri"/>
              </a:defRPr>
            </a:pPr>
            <a:r>
              <a:rPr sz="1125" b="0">
                <a:solidFill>
                  <a:srgbClr val="B8B0D4"/>
                </a:solidFill>
                <a:latin typeface="Calibri"/>
                <a:ea typeface="Calibri"/>
                <a:cs typeface="Calibri"/>
              </a:rPr>
              <a:t>Low-fidelity screens and workflows</a:t>
            </a:r>
          </a:p>
        </p:txBody>
      </p:sp>
      <p:sp>
        <p:nvSpPr>
          <p:cNvPr id="15" name="Rectangle 14">
            <a:extLst>
              <a:ext uri="{FF2B5EF4-FFF2-40B4-BE49-F238E27FC236}">
                <a16:creationId xmlns:a16="http://schemas.microsoft.com/office/drawing/2014/main" id="{E7C6D253-3934-4ED7-B197-1957C69835E3}"/>
              </a:ext>
            </a:extLst>
          </p:cNvPr>
          <p:cNvSpPr>
            <a:spLocks noGrp="1"/>
          </p:cNvSpPr>
          <p:nvPr/>
        </p:nvSpPr>
        <p:spPr>
          <a:xfrm>
            <a:off x="3867150" y="2628900"/>
            <a:ext cx="1190625" cy="38100"/>
          </a:xfrm>
          <a:prstGeom prst="rect">
            <a:avLst/>
          </a:prstGeom>
          <a:solidFill>
            <a:srgbClr val="8F87AC"/>
          </a:solidFill>
          <a:ln w="0">
            <a:noFill/>
          </a:ln>
        </p:spPr>
        <p:txBody>
          <a:bodyPr/>
          <a:lstStyle/>
          <a:p>
            <a:endParaRPr lang="en-MY"/>
          </a:p>
        </p:txBody>
      </p:sp>
      <p:sp>
        <p:nvSpPr>
          <p:cNvPr id="16" name="Rectangle 15">
            <a:extLst>
              <a:ext uri="{FF2B5EF4-FFF2-40B4-BE49-F238E27FC236}">
                <a16:creationId xmlns:a16="http://schemas.microsoft.com/office/drawing/2014/main" id="{E2A5F255-0BD6-4F55-9F91-14BF5EEFB019}"/>
              </a:ext>
            </a:extLst>
          </p:cNvPr>
          <p:cNvSpPr>
            <a:spLocks noGrp="1"/>
          </p:cNvSpPr>
          <p:nvPr/>
        </p:nvSpPr>
        <p:spPr>
          <a:xfrm>
            <a:off x="4705350" y="2409825"/>
            <a:ext cx="400050" cy="457200"/>
          </a:xfrm>
          <a:prstGeom prst="rect">
            <a:avLst/>
          </a:prstGeom>
          <a:noFill/>
          <a:ln w="0">
            <a:noFill/>
          </a:ln>
        </p:spPr>
        <p:txBody>
          <a:bodyPr wrap="square" lIns="0" tIns="0" rIns="0" bIns="0" anchor="t">
            <a:noAutofit/>
          </a:bodyPr>
          <a:lstStyle/>
          <a:p>
            <a:pPr algn="ctr">
              <a:defRPr sz="3150" b="0">
                <a:solidFill>
                  <a:srgbClr val="FF6B62"/>
                </a:solidFill>
                <a:latin typeface="Calibri"/>
                <a:ea typeface="Calibri"/>
                <a:cs typeface="Calibri"/>
              </a:defRPr>
            </a:pPr>
            <a:r>
              <a:rPr sz="3150" b="0">
                <a:solidFill>
                  <a:srgbClr val="FF6B62"/>
                </a:solidFill>
                <a:latin typeface="Calibri"/>
                <a:ea typeface="Calibri"/>
                <a:cs typeface="Calibri"/>
              </a:rPr>
              <a:t>›</a:t>
            </a:r>
          </a:p>
        </p:txBody>
      </p:sp>
      <p:sp>
        <p:nvSpPr>
          <p:cNvPr id="17" name="Oval 16">
            <a:extLst>
              <a:ext uri="{FF2B5EF4-FFF2-40B4-BE49-F238E27FC236}">
                <a16:creationId xmlns:a16="http://schemas.microsoft.com/office/drawing/2014/main" id="{722524CA-F99C-4BFF-9C61-4A34F0B4ACC8}"/>
              </a:ext>
            </a:extLst>
          </p:cNvPr>
          <p:cNvSpPr>
            <a:spLocks noGrp="1"/>
          </p:cNvSpPr>
          <p:nvPr/>
        </p:nvSpPr>
        <p:spPr>
          <a:xfrm>
            <a:off x="5200650" y="2238375"/>
            <a:ext cx="838200" cy="838200"/>
          </a:xfrm>
          <a:prstGeom prst="ellipse">
            <a:avLst/>
          </a:prstGeom>
          <a:solidFill>
            <a:srgbClr val="3A3160"/>
          </a:solidFill>
          <a:ln w="0">
            <a:noFill/>
          </a:ln>
        </p:spPr>
        <p:txBody>
          <a:bodyPr/>
          <a:lstStyle/>
          <a:p>
            <a:endParaRPr lang="en-MY"/>
          </a:p>
        </p:txBody>
      </p:sp>
      <p:sp>
        <p:nvSpPr>
          <p:cNvPr id="18" name="Rectangle 17">
            <a:extLst>
              <a:ext uri="{FF2B5EF4-FFF2-40B4-BE49-F238E27FC236}">
                <a16:creationId xmlns:a16="http://schemas.microsoft.com/office/drawing/2014/main" id="{CD26A199-B645-49A3-B6F9-AAA16103E58B}"/>
              </a:ext>
            </a:extLst>
          </p:cNvPr>
          <p:cNvSpPr>
            <a:spLocks noGrp="1"/>
          </p:cNvSpPr>
          <p:nvPr/>
        </p:nvSpPr>
        <p:spPr>
          <a:xfrm>
            <a:off x="5200650" y="2457450"/>
            <a:ext cx="838200" cy="361950"/>
          </a:xfrm>
          <a:prstGeom prst="rect">
            <a:avLst/>
          </a:prstGeom>
          <a:noFill/>
          <a:ln w="0">
            <a:noFill/>
          </a:ln>
        </p:spPr>
        <p:txBody>
          <a:bodyPr wrap="square" lIns="0" tIns="0" rIns="0" bIns="0" anchor="ctr">
            <a:noAutofit/>
          </a:bodyPr>
          <a:lstStyle/>
          <a:p>
            <a:pPr algn="ctr">
              <a:defRPr sz="2025" b="1">
                <a:solidFill>
                  <a:srgbClr val="F8F6FF"/>
                </a:solidFill>
                <a:latin typeface="Calibri"/>
                <a:ea typeface="Calibri"/>
                <a:cs typeface="Calibri"/>
              </a:defRPr>
            </a:pPr>
            <a:r>
              <a:rPr sz="2025" b="1">
                <a:solidFill>
                  <a:srgbClr val="F8F6FF"/>
                </a:solidFill>
                <a:latin typeface="Calibri"/>
                <a:ea typeface="Calibri"/>
                <a:cs typeface="Calibri"/>
              </a:rPr>
              <a:t>03</a:t>
            </a:r>
          </a:p>
        </p:txBody>
      </p:sp>
      <p:sp>
        <p:nvSpPr>
          <p:cNvPr id="19" name="Rectangle 18">
            <a:extLst>
              <a:ext uri="{FF2B5EF4-FFF2-40B4-BE49-F238E27FC236}">
                <a16:creationId xmlns:a16="http://schemas.microsoft.com/office/drawing/2014/main" id="{715CA9A6-72B7-402D-8075-610308A85D7B}"/>
              </a:ext>
            </a:extLst>
          </p:cNvPr>
          <p:cNvSpPr>
            <a:spLocks noGrp="1"/>
          </p:cNvSpPr>
          <p:nvPr/>
        </p:nvSpPr>
        <p:spPr>
          <a:xfrm>
            <a:off x="4933950" y="3276600"/>
            <a:ext cx="1371600" cy="285750"/>
          </a:xfrm>
          <a:prstGeom prst="rect">
            <a:avLst/>
          </a:prstGeom>
          <a:noFill/>
          <a:ln w="0">
            <a:noFill/>
          </a:ln>
        </p:spPr>
        <p:txBody>
          <a:bodyPr wrap="square" lIns="0" tIns="0" rIns="0" bIns="0" anchor="t">
            <a:noAutofit/>
          </a:bodyPr>
          <a:lstStyle/>
          <a:p>
            <a:pPr algn="ctr">
              <a:defRPr sz="1575" b="1">
                <a:solidFill>
                  <a:srgbClr val="F8F6FF"/>
                </a:solidFill>
                <a:latin typeface="Calibri"/>
                <a:ea typeface="Calibri"/>
                <a:cs typeface="Calibri"/>
              </a:defRPr>
            </a:pPr>
            <a:r>
              <a:rPr sz="1575" b="1">
                <a:solidFill>
                  <a:srgbClr val="F8F6FF"/>
                </a:solidFill>
                <a:latin typeface="Calibri"/>
                <a:ea typeface="Calibri"/>
                <a:cs typeface="Calibri"/>
              </a:rPr>
              <a:t>Evaluate</a:t>
            </a:r>
          </a:p>
        </p:txBody>
      </p:sp>
      <p:sp>
        <p:nvSpPr>
          <p:cNvPr id="20" name="Rectangle 19">
            <a:extLst>
              <a:ext uri="{FF2B5EF4-FFF2-40B4-BE49-F238E27FC236}">
                <a16:creationId xmlns:a16="http://schemas.microsoft.com/office/drawing/2014/main" id="{36386B0E-9FA1-4A5B-982E-D2A9F92FF486}"/>
              </a:ext>
            </a:extLst>
          </p:cNvPr>
          <p:cNvSpPr>
            <a:spLocks noGrp="1"/>
          </p:cNvSpPr>
          <p:nvPr/>
        </p:nvSpPr>
        <p:spPr>
          <a:xfrm>
            <a:off x="4667250" y="3667125"/>
            <a:ext cx="1905000" cy="628650"/>
          </a:xfrm>
          <a:prstGeom prst="rect">
            <a:avLst/>
          </a:prstGeom>
          <a:noFill/>
          <a:ln w="0">
            <a:noFill/>
          </a:ln>
        </p:spPr>
        <p:txBody>
          <a:bodyPr wrap="square" lIns="0" tIns="0" rIns="0" bIns="0" anchor="t">
            <a:noAutofit/>
          </a:bodyPr>
          <a:lstStyle/>
          <a:p>
            <a:pPr algn="ctr">
              <a:defRPr sz="1125" b="0">
                <a:solidFill>
                  <a:srgbClr val="B8B0D4"/>
                </a:solidFill>
                <a:latin typeface="Calibri"/>
                <a:ea typeface="Calibri"/>
                <a:cs typeface="Calibri"/>
              </a:defRPr>
            </a:pPr>
            <a:r>
              <a:rPr sz="1125" b="0">
                <a:solidFill>
                  <a:srgbClr val="B8B0D4"/>
                </a:solidFill>
                <a:latin typeface="Calibri"/>
                <a:ea typeface="Calibri"/>
                <a:cs typeface="Calibri"/>
              </a:rPr>
              <a:t>Feedback from stakeholders</a:t>
            </a:r>
          </a:p>
        </p:txBody>
      </p:sp>
      <p:sp>
        <p:nvSpPr>
          <p:cNvPr id="21" name="Rectangle 20">
            <a:extLst>
              <a:ext uri="{FF2B5EF4-FFF2-40B4-BE49-F238E27FC236}">
                <a16:creationId xmlns:a16="http://schemas.microsoft.com/office/drawing/2014/main" id="{37C8E7FB-6991-4699-AEC9-E2ADD2E496E0}"/>
              </a:ext>
            </a:extLst>
          </p:cNvPr>
          <p:cNvSpPr>
            <a:spLocks noGrp="1"/>
          </p:cNvSpPr>
          <p:nvPr/>
        </p:nvSpPr>
        <p:spPr>
          <a:xfrm>
            <a:off x="6115050" y="2628900"/>
            <a:ext cx="1190625" cy="38100"/>
          </a:xfrm>
          <a:prstGeom prst="rect">
            <a:avLst/>
          </a:prstGeom>
          <a:solidFill>
            <a:srgbClr val="8F87AC"/>
          </a:solidFill>
          <a:ln w="0">
            <a:noFill/>
          </a:ln>
        </p:spPr>
        <p:txBody>
          <a:bodyPr/>
          <a:lstStyle/>
          <a:p>
            <a:endParaRPr lang="en-MY"/>
          </a:p>
        </p:txBody>
      </p:sp>
      <p:sp>
        <p:nvSpPr>
          <p:cNvPr id="22" name="Rectangle 21">
            <a:extLst>
              <a:ext uri="{FF2B5EF4-FFF2-40B4-BE49-F238E27FC236}">
                <a16:creationId xmlns:a16="http://schemas.microsoft.com/office/drawing/2014/main" id="{A0B691C8-C499-497B-8B93-9ED8C8459366}"/>
              </a:ext>
            </a:extLst>
          </p:cNvPr>
          <p:cNvSpPr>
            <a:spLocks noGrp="1"/>
          </p:cNvSpPr>
          <p:nvPr/>
        </p:nvSpPr>
        <p:spPr>
          <a:xfrm>
            <a:off x="6953250" y="2409825"/>
            <a:ext cx="400050" cy="457200"/>
          </a:xfrm>
          <a:prstGeom prst="rect">
            <a:avLst/>
          </a:prstGeom>
          <a:noFill/>
          <a:ln w="0">
            <a:noFill/>
          </a:ln>
        </p:spPr>
        <p:txBody>
          <a:bodyPr wrap="square" lIns="0" tIns="0" rIns="0" bIns="0" anchor="t">
            <a:noAutofit/>
          </a:bodyPr>
          <a:lstStyle/>
          <a:p>
            <a:pPr algn="ctr">
              <a:defRPr sz="3150" b="0">
                <a:solidFill>
                  <a:srgbClr val="FF6B62"/>
                </a:solidFill>
                <a:latin typeface="Calibri"/>
                <a:ea typeface="Calibri"/>
                <a:cs typeface="Calibri"/>
              </a:defRPr>
            </a:pPr>
            <a:r>
              <a:rPr sz="3150" b="0">
                <a:solidFill>
                  <a:srgbClr val="FF6B62"/>
                </a:solidFill>
                <a:latin typeface="Calibri"/>
                <a:ea typeface="Calibri"/>
                <a:cs typeface="Calibri"/>
              </a:rPr>
              <a:t>›</a:t>
            </a:r>
          </a:p>
        </p:txBody>
      </p:sp>
      <p:sp>
        <p:nvSpPr>
          <p:cNvPr id="23" name="Oval 22">
            <a:extLst>
              <a:ext uri="{FF2B5EF4-FFF2-40B4-BE49-F238E27FC236}">
                <a16:creationId xmlns:a16="http://schemas.microsoft.com/office/drawing/2014/main" id="{989BE9D1-AAFD-4109-8F9A-13A593F445F4}"/>
              </a:ext>
            </a:extLst>
          </p:cNvPr>
          <p:cNvSpPr>
            <a:spLocks noGrp="1"/>
          </p:cNvSpPr>
          <p:nvPr/>
        </p:nvSpPr>
        <p:spPr>
          <a:xfrm>
            <a:off x="7448550" y="2238375"/>
            <a:ext cx="838200" cy="838200"/>
          </a:xfrm>
          <a:prstGeom prst="ellipse">
            <a:avLst/>
          </a:prstGeom>
          <a:solidFill>
            <a:srgbClr val="3A3160"/>
          </a:solidFill>
          <a:ln w="0">
            <a:noFill/>
          </a:ln>
        </p:spPr>
        <p:txBody>
          <a:bodyPr/>
          <a:lstStyle/>
          <a:p>
            <a:endParaRPr lang="en-MY"/>
          </a:p>
        </p:txBody>
      </p:sp>
      <p:sp>
        <p:nvSpPr>
          <p:cNvPr id="24" name="Rectangle 23">
            <a:extLst>
              <a:ext uri="{FF2B5EF4-FFF2-40B4-BE49-F238E27FC236}">
                <a16:creationId xmlns:a16="http://schemas.microsoft.com/office/drawing/2014/main" id="{57470204-5CAA-4925-95B6-9CDC0E933C12}"/>
              </a:ext>
            </a:extLst>
          </p:cNvPr>
          <p:cNvSpPr>
            <a:spLocks noGrp="1"/>
          </p:cNvSpPr>
          <p:nvPr/>
        </p:nvSpPr>
        <p:spPr>
          <a:xfrm>
            <a:off x="7448550" y="2457450"/>
            <a:ext cx="838200" cy="361950"/>
          </a:xfrm>
          <a:prstGeom prst="rect">
            <a:avLst/>
          </a:prstGeom>
          <a:noFill/>
          <a:ln w="0">
            <a:noFill/>
          </a:ln>
        </p:spPr>
        <p:txBody>
          <a:bodyPr wrap="square" lIns="0" tIns="0" rIns="0" bIns="0" anchor="ctr">
            <a:noAutofit/>
          </a:bodyPr>
          <a:lstStyle/>
          <a:p>
            <a:pPr algn="ctr">
              <a:defRPr sz="2025" b="1">
                <a:solidFill>
                  <a:srgbClr val="F8F6FF"/>
                </a:solidFill>
                <a:latin typeface="Calibri"/>
                <a:ea typeface="Calibri"/>
                <a:cs typeface="Calibri"/>
              </a:defRPr>
            </a:pPr>
            <a:r>
              <a:rPr sz="2025" b="1">
                <a:solidFill>
                  <a:srgbClr val="F8F6FF"/>
                </a:solidFill>
                <a:latin typeface="Calibri"/>
                <a:ea typeface="Calibri"/>
                <a:cs typeface="Calibri"/>
              </a:rPr>
              <a:t>04</a:t>
            </a:r>
          </a:p>
        </p:txBody>
      </p:sp>
      <p:sp>
        <p:nvSpPr>
          <p:cNvPr id="25" name="Rectangle 24">
            <a:extLst>
              <a:ext uri="{FF2B5EF4-FFF2-40B4-BE49-F238E27FC236}">
                <a16:creationId xmlns:a16="http://schemas.microsoft.com/office/drawing/2014/main" id="{E50B12FF-C336-4112-80A2-A8975E9976A8}"/>
              </a:ext>
            </a:extLst>
          </p:cNvPr>
          <p:cNvSpPr>
            <a:spLocks noGrp="1"/>
          </p:cNvSpPr>
          <p:nvPr/>
        </p:nvSpPr>
        <p:spPr>
          <a:xfrm>
            <a:off x="7181850" y="3276600"/>
            <a:ext cx="1371600" cy="285750"/>
          </a:xfrm>
          <a:prstGeom prst="rect">
            <a:avLst/>
          </a:prstGeom>
          <a:noFill/>
          <a:ln w="0">
            <a:noFill/>
          </a:ln>
        </p:spPr>
        <p:txBody>
          <a:bodyPr wrap="square" lIns="0" tIns="0" rIns="0" bIns="0" anchor="t">
            <a:noAutofit/>
          </a:bodyPr>
          <a:lstStyle/>
          <a:p>
            <a:pPr algn="ctr">
              <a:defRPr sz="1575" b="1">
                <a:solidFill>
                  <a:srgbClr val="F8F6FF"/>
                </a:solidFill>
                <a:latin typeface="Calibri"/>
                <a:ea typeface="Calibri"/>
                <a:cs typeface="Calibri"/>
              </a:defRPr>
            </a:pPr>
            <a:r>
              <a:rPr sz="1575" b="1">
                <a:solidFill>
                  <a:srgbClr val="F8F6FF"/>
                </a:solidFill>
                <a:latin typeface="Calibri"/>
                <a:ea typeface="Calibri"/>
                <a:cs typeface="Calibri"/>
              </a:rPr>
              <a:t>Refine</a:t>
            </a:r>
          </a:p>
        </p:txBody>
      </p:sp>
      <p:sp>
        <p:nvSpPr>
          <p:cNvPr id="26" name="Rectangle 25">
            <a:extLst>
              <a:ext uri="{FF2B5EF4-FFF2-40B4-BE49-F238E27FC236}">
                <a16:creationId xmlns:a16="http://schemas.microsoft.com/office/drawing/2014/main" id="{F24FD040-7060-4B30-A0CB-24FFC9E43E70}"/>
              </a:ext>
            </a:extLst>
          </p:cNvPr>
          <p:cNvSpPr>
            <a:spLocks noGrp="1"/>
          </p:cNvSpPr>
          <p:nvPr/>
        </p:nvSpPr>
        <p:spPr>
          <a:xfrm>
            <a:off x="6915150" y="3667125"/>
            <a:ext cx="1905000" cy="628650"/>
          </a:xfrm>
          <a:prstGeom prst="rect">
            <a:avLst/>
          </a:prstGeom>
          <a:noFill/>
          <a:ln w="0">
            <a:noFill/>
          </a:ln>
        </p:spPr>
        <p:txBody>
          <a:bodyPr wrap="square" lIns="0" tIns="0" rIns="0" bIns="0" anchor="t">
            <a:noAutofit/>
          </a:bodyPr>
          <a:lstStyle/>
          <a:p>
            <a:pPr algn="ctr">
              <a:defRPr sz="1125" b="0">
                <a:solidFill>
                  <a:srgbClr val="B8B0D4"/>
                </a:solidFill>
                <a:latin typeface="Calibri"/>
                <a:ea typeface="Calibri"/>
                <a:cs typeface="Calibri"/>
              </a:defRPr>
            </a:pPr>
            <a:r>
              <a:rPr sz="1125" b="0">
                <a:solidFill>
                  <a:srgbClr val="B8B0D4"/>
                </a:solidFill>
                <a:latin typeface="Calibri"/>
                <a:ea typeface="Calibri"/>
                <a:cs typeface="Calibri"/>
              </a:rPr>
              <a:t>Navigation, readability and missing features</a:t>
            </a:r>
          </a:p>
        </p:txBody>
      </p:sp>
      <p:sp>
        <p:nvSpPr>
          <p:cNvPr id="27" name="Rectangle 26">
            <a:extLst>
              <a:ext uri="{FF2B5EF4-FFF2-40B4-BE49-F238E27FC236}">
                <a16:creationId xmlns:a16="http://schemas.microsoft.com/office/drawing/2014/main" id="{A659A427-EB50-4A08-9EA2-4745B9654E03}"/>
              </a:ext>
            </a:extLst>
          </p:cNvPr>
          <p:cNvSpPr>
            <a:spLocks noGrp="1"/>
          </p:cNvSpPr>
          <p:nvPr/>
        </p:nvSpPr>
        <p:spPr>
          <a:xfrm>
            <a:off x="8362950" y="2628900"/>
            <a:ext cx="1190625" cy="38100"/>
          </a:xfrm>
          <a:prstGeom prst="rect">
            <a:avLst/>
          </a:prstGeom>
          <a:solidFill>
            <a:srgbClr val="8F87AC"/>
          </a:solidFill>
          <a:ln w="0">
            <a:noFill/>
          </a:ln>
        </p:spPr>
        <p:txBody>
          <a:bodyPr/>
          <a:lstStyle/>
          <a:p>
            <a:endParaRPr lang="en-MY"/>
          </a:p>
        </p:txBody>
      </p:sp>
      <p:sp>
        <p:nvSpPr>
          <p:cNvPr id="28" name="Rectangle 27">
            <a:extLst>
              <a:ext uri="{FF2B5EF4-FFF2-40B4-BE49-F238E27FC236}">
                <a16:creationId xmlns:a16="http://schemas.microsoft.com/office/drawing/2014/main" id="{F42EC764-732B-4EFB-8642-472D15DCA3CA}"/>
              </a:ext>
            </a:extLst>
          </p:cNvPr>
          <p:cNvSpPr>
            <a:spLocks noGrp="1"/>
          </p:cNvSpPr>
          <p:nvPr/>
        </p:nvSpPr>
        <p:spPr>
          <a:xfrm>
            <a:off x="9201150" y="2409825"/>
            <a:ext cx="400050" cy="457200"/>
          </a:xfrm>
          <a:prstGeom prst="rect">
            <a:avLst/>
          </a:prstGeom>
          <a:noFill/>
          <a:ln w="0">
            <a:noFill/>
          </a:ln>
        </p:spPr>
        <p:txBody>
          <a:bodyPr wrap="square" lIns="0" tIns="0" rIns="0" bIns="0" anchor="t">
            <a:noAutofit/>
          </a:bodyPr>
          <a:lstStyle/>
          <a:p>
            <a:pPr algn="ctr">
              <a:defRPr sz="3150" b="0">
                <a:solidFill>
                  <a:srgbClr val="FF6B62"/>
                </a:solidFill>
                <a:latin typeface="Calibri"/>
                <a:ea typeface="Calibri"/>
                <a:cs typeface="Calibri"/>
              </a:defRPr>
            </a:pPr>
            <a:r>
              <a:rPr sz="3150" b="0">
                <a:solidFill>
                  <a:srgbClr val="FF6B62"/>
                </a:solidFill>
                <a:latin typeface="Calibri"/>
                <a:ea typeface="Calibri"/>
                <a:cs typeface="Calibri"/>
              </a:rPr>
              <a:t>›</a:t>
            </a:r>
          </a:p>
        </p:txBody>
      </p:sp>
      <p:sp>
        <p:nvSpPr>
          <p:cNvPr id="29" name="Oval 28">
            <a:extLst>
              <a:ext uri="{FF2B5EF4-FFF2-40B4-BE49-F238E27FC236}">
                <a16:creationId xmlns:a16="http://schemas.microsoft.com/office/drawing/2014/main" id="{86EEEA0C-47D4-4C93-AA4B-C8D64DC55025}"/>
              </a:ext>
            </a:extLst>
          </p:cNvPr>
          <p:cNvSpPr>
            <a:spLocks noGrp="1"/>
          </p:cNvSpPr>
          <p:nvPr/>
        </p:nvSpPr>
        <p:spPr>
          <a:xfrm>
            <a:off x="9696450" y="2238375"/>
            <a:ext cx="838200" cy="838200"/>
          </a:xfrm>
          <a:prstGeom prst="ellipse">
            <a:avLst/>
          </a:prstGeom>
          <a:solidFill>
            <a:srgbClr val="FF6B62"/>
          </a:solidFill>
          <a:ln w="0">
            <a:noFill/>
          </a:ln>
        </p:spPr>
        <p:txBody>
          <a:bodyPr/>
          <a:lstStyle/>
          <a:p>
            <a:endParaRPr lang="en-MY"/>
          </a:p>
        </p:txBody>
      </p:sp>
      <p:sp>
        <p:nvSpPr>
          <p:cNvPr id="30" name="Rectangle 29">
            <a:extLst>
              <a:ext uri="{FF2B5EF4-FFF2-40B4-BE49-F238E27FC236}">
                <a16:creationId xmlns:a16="http://schemas.microsoft.com/office/drawing/2014/main" id="{05AAB388-6376-402A-9359-D8E3F845B04D}"/>
              </a:ext>
            </a:extLst>
          </p:cNvPr>
          <p:cNvSpPr>
            <a:spLocks noGrp="1"/>
          </p:cNvSpPr>
          <p:nvPr/>
        </p:nvSpPr>
        <p:spPr>
          <a:xfrm>
            <a:off x="9696450" y="2457450"/>
            <a:ext cx="838200" cy="361950"/>
          </a:xfrm>
          <a:prstGeom prst="rect">
            <a:avLst/>
          </a:prstGeom>
          <a:noFill/>
          <a:ln w="0">
            <a:noFill/>
          </a:ln>
        </p:spPr>
        <p:txBody>
          <a:bodyPr wrap="square" lIns="0" tIns="0" rIns="0" bIns="0" anchor="ctr">
            <a:noAutofit/>
          </a:bodyPr>
          <a:lstStyle/>
          <a:p>
            <a:pPr algn="ctr">
              <a:defRPr sz="2025" b="1">
                <a:solidFill>
                  <a:srgbClr val="F8F6FF"/>
                </a:solidFill>
                <a:latin typeface="Calibri"/>
                <a:ea typeface="Calibri"/>
                <a:cs typeface="Calibri"/>
              </a:defRPr>
            </a:pPr>
            <a:r>
              <a:rPr sz="2025" b="1">
                <a:solidFill>
                  <a:srgbClr val="F8F6FF"/>
                </a:solidFill>
                <a:latin typeface="Calibri"/>
                <a:ea typeface="Calibri"/>
                <a:cs typeface="Calibri"/>
              </a:rPr>
              <a:t>05</a:t>
            </a:r>
          </a:p>
        </p:txBody>
      </p:sp>
      <p:sp>
        <p:nvSpPr>
          <p:cNvPr id="31" name="Rectangle 30">
            <a:extLst>
              <a:ext uri="{FF2B5EF4-FFF2-40B4-BE49-F238E27FC236}">
                <a16:creationId xmlns:a16="http://schemas.microsoft.com/office/drawing/2014/main" id="{7590E4D6-0255-417A-A5BC-390B9413678E}"/>
              </a:ext>
            </a:extLst>
          </p:cNvPr>
          <p:cNvSpPr>
            <a:spLocks noGrp="1"/>
          </p:cNvSpPr>
          <p:nvPr/>
        </p:nvSpPr>
        <p:spPr>
          <a:xfrm>
            <a:off x="9429750" y="3276600"/>
            <a:ext cx="1371600" cy="285750"/>
          </a:xfrm>
          <a:prstGeom prst="rect">
            <a:avLst/>
          </a:prstGeom>
          <a:noFill/>
          <a:ln w="0">
            <a:noFill/>
          </a:ln>
        </p:spPr>
        <p:txBody>
          <a:bodyPr wrap="square" lIns="0" tIns="0" rIns="0" bIns="0" anchor="t">
            <a:noAutofit/>
          </a:bodyPr>
          <a:lstStyle/>
          <a:p>
            <a:pPr algn="ctr">
              <a:defRPr sz="1575" b="1">
                <a:solidFill>
                  <a:srgbClr val="F8F6FF"/>
                </a:solidFill>
                <a:latin typeface="Calibri"/>
                <a:ea typeface="Calibri"/>
                <a:cs typeface="Calibri"/>
              </a:defRPr>
            </a:pPr>
            <a:r>
              <a:rPr sz="1575" b="1">
                <a:solidFill>
                  <a:srgbClr val="F8F6FF"/>
                </a:solidFill>
                <a:latin typeface="Calibri"/>
                <a:ea typeface="Calibri"/>
                <a:cs typeface="Calibri"/>
              </a:rPr>
              <a:t>Validate</a:t>
            </a:r>
          </a:p>
        </p:txBody>
      </p:sp>
      <p:sp>
        <p:nvSpPr>
          <p:cNvPr id="32" name="Rectangle 31">
            <a:extLst>
              <a:ext uri="{FF2B5EF4-FFF2-40B4-BE49-F238E27FC236}">
                <a16:creationId xmlns:a16="http://schemas.microsoft.com/office/drawing/2014/main" id="{64D3CD79-3108-4F34-B038-79DA767BD70E}"/>
              </a:ext>
            </a:extLst>
          </p:cNvPr>
          <p:cNvSpPr>
            <a:spLocks noGrp="1"/>
          </p:cNvSpPr>
          <p:nvPr/>
        </p:nvSpPr>
        <p:spPr>
          <a:xfrm>
            <a:off x="9163050" y="3667125"/>
            <a:ext cx="1905000" cy="628650"/>
          </a:xfrm>
          <a:prstGeom prst="rect">
            <a:avLst/>
          </a:prstGeom>
          <a:noFill/>
          <a:ln w="0">
            <a:noFill/>
          </a:ln>
        </p:spPr>
        <p:txBody>
          <a:bodyPr wrap="square" lIns="0" tIns="0" rIns="0" bIns="0" anchor="t">
            <a:noAutofit/>
          </a:bodyPr>
          <a:lstStyle/>
          <a:p>
            <a:pPr algn="ctr">
              <a:defRPr sz="1125" b="0">
                <a:solidFill>
                  <a:srgbClr val="B8B0D4"/>
                </a:solidFill>
                <a:latin typeface="Calibri"/>
                <a:ea typeface="Calibri"/>
                <a:cs typeface="Calibri"/>
              </a:defRPr>
            </a:pPr>
            <a:r>
              <a:rPr sz="1125" b="0">
                <a:solidFill>
                  <a:srgbClr val="B8B0D4"/>
                </a:solidFill>
                <a:latin typeface="Calibri"/>
                <a:ea typeface="Calibri"/>
                <a:cs typeface="Calibri"/>
              </a:rPr>
              <a:t>Final implementation and testing</a:t>
            </a:r>
          </a:p>
        </p:txBody>
      </p:sp>
      <p:sp>
        <p:nvSpPr>
          <p:cNvPr id="33" name="Rectangle: Rounded Corners 32">
            <a:extLst>
              <a:ext uri="{FF2B5EF4-FFF2-40B4-BE49-F238E27FC236}">
                <a16:creationId xmlns:a16="http://schemas.microsoft.com/office/drawing/2014/main" id="{425E6382-9219-483F-99BF-E1F34FE8F34E}"/>
              </a:ext>
            </a:extLst>
          </p:cNvPr>
          <p:cNvSpPr>
            <a:spLocks noGrp="1"/>
          </p:cNvSpPr>
          <p:nvPr/>
        </p:nvSpPr>
        <p:spPr>
          <a:xfrm>
            <a:off x="1809750" y="4810125"/>
            <a:ext cx="8572500" cy="723900"/>
          </a:xfrm>
          <a:prstGeom prst="roundRect">
            <a:avLst>
              <a:gd name="adj" fmla="val 15789"/>
            </a:avLst>
          </a:prstGeom>
          <a:solidFill>
            <a:srgbClr val="2E2750"/>
          </a:solidFill>
          <a:ln w="0">
            <a:noFill/>
          </a:ln>
        </p:spPr>
        <p:txBody>
          <a:bodyPr/>
          <a:lstStyle/>
          <a:p>
            <a:endParaRPr lang="en-MY"/>
          </a:p>
        </p:txBody>
      </p:sp>
      <p:sp>
        <p:nvSpPr>
          <p:cNvPr id="34" name="Rectangle 33">
            <a:extLst>
              <a:ext uri="{FF2B5EF4-FFF2-40B4-BE49-F238E27FC236}">
                <a16:creationId xmlns:a16="http://schemas.microsoft.com/office/drawing/2014/main" id="{D38F5D90-A864-4B34-8744-78792269A2CD}"/>
              </a:ext>
            </a:extLst>
          </p:cNvPr>
          <p:cNvSpPr>
            <a:spLocks noGrp="1"/>
          </p:cNvSpPr>
          <p:nvPr/>
        </p:nvSpPr>
        <p:spPr>
          <a:xfrm>
            <a:off x="2076450" y="5010150"/>
            <a:ext cx="2000250" cy="247650"/>
          </a:xfrm>
          <a:prstGeom prst="rect">
            <a:avLst/>
          </a:prstGeom>
          <a:noFill/>
          <a:ln w="0">
            <a:noFill/>
          </a:ln>
        </p:spPr>
        <p:txBody>
          <a:bodyPr wrap="square" lIns="0" tIns="0" rIns="0" bIns="0" anchor="t">
            <a:noAutofit/>
          </a:bodyPr>
          <a:lstStyle/>
          <a:p>
            <a:pPr algn="l">
              <a:defRPr sz="1350" b="1">
                <a:solidFill>
                  <a:srgbClr val="FF6B62"/>
                </a:solidFill>
                <a:latin typeface="Calibri"/>
                <a:ea typeface="Calibri"/>
                <a:cs typeface="Calibri"/>
              </a:defRPr>
            </a:pPr>
            <a:r>
              <a:rPr sz="1350" b="1">
                <a:solidFill>
                  <a:srgbClr val="FF6B62"/>
                </a:solidFill>
                <a:latin typeface="Calibri"/>
                <a:ea typeface="Calibri"/>
                <a:cs typeface="Calibri"/>
              </a:rPr>
              <a:t>Why it fit MindCare</a:t>
            </a:r>
          </a:p>
        </p:txBody>
      </p:sp>
      <p:sp>
        <p:nvSpPr>
          <p:cNvPr id="35" name="Rectangle 34">
            <a:extLst>
              <a:ext uri="{FF2B5EF4-FFF2-40B4-BE49-F238E27FC236}">
                <a16:creationId xmlns:a16="http://schemas.microsoft.com/office/drawing/2014/main" id="{AE155948-1CDC-4037-9BFC-5D1A46A82E42}"/>
              </a:ext>
            </a:extLst>
          </p:cNvPr>
          <p:cNvSpPr>
            <a:spLocks noGrp="1"/>
          </p:cNvSpPr>
          <p:nvPr/>
        </p:nvSpPr>
        <p:spPr>
          <a:xfrm>
            <a:off x="4095750" y="4962525"/>
            <a:ext cx="6000750" cy="381000"/>
          </a:xfrm>
          <a:prstGeom prst="rect">
            <a:avLst/>
          </a:prstGeom>
          <a:noFill/>
          <a:ln w="0">
            <a:noFill/>
          </a:ln>
        </p:spPr>
        <p:txBody>
          <a:bodyPr wrap="square" lIns="0" tIns="0" rIns="0" bIns="0" anchor="t">
            <a:noAutofit/>
          </a:bodyPr>
          <a:lstStyle/>
          <a:p>
            <a:pPr algn="l">
              <a:defRPr sz="1275" b="0">
                <a:solidFill>
                  <a:srgbClr val="B8B0D4"/>
                </a:solidFill>
                <a:latin typeface="Calibri"/>
                <a:ea typeface="Calibri"/>
                <a:cs typeface="Calibri"/>
              </a:defRPr>
            </a:pPr>
            <a:r>
              <a:rPr sz="1275" b="0">
                <a:solidFill>
                  <a:srgbClr val="B8B0D4"/>
                </a:solidFill>
                <a:latin typeface="Calibri"/>
                <a:ea typeface="Calibri"/>
                <a:cs typeface="Calibri"/>
              </a:rPr>
              <a:t>Dementia-friendly design required continuous checks of button size, contrast, navigation steps and clarity before the system was finalised.</a:t>
            </a:r>
          </a:p>
        </p:txBody>
      </p:sp>
      <p:sp>
        <p:nvSpPr>
          <p:cNvPr id="36" name="Rectangle 35">
            <a:extLst>
              <a:ext uri="{FF2B5EF4-FFF2-40B4-BE49-F238E27FC236}">
                <a16:creationId xmlns:a16="http://schemas.microsoft.com/office/drawing/2014/main" id="{6C6A71D2-AC8B-4ED9-AA83-DFB499CC80AA}"/>
              </a:ext>
            </a:extLst>
          </p:cNvPr>
          <p:cNvSpPr>
            <a:spLocks noGrp="1"/>
          </p:cNvSpPr>
          <p:nvPr/>
        </p:nvSpPr>
        <p:spPr>
          <a:xfrm>
            <a:off x="533400" y="6543675"/>
            <a:ext cx="9525000" cy="171450"/>
          </a:xfrm>
          <a:prstGeom prst="rect">
            <a:avLst/>
          </a:prstGeom>
          <a:noFill/>
          <a:ln w="0">
            <a:noFill/>
          </a:ln>
        </p:spPr>
        <p:txBody>
          <a:bodyPr wrap="square" lIns="0" tIns="0" rIns="0" bIns="0" anchor="t">
            <a:noAutofit/>
          </a:bodyPr>
          <a:lstStyle/>
          <a:p>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 Final report Chapter 3, pp. 38–40.</a:t>
            </a:r>
          </a:p>
        </p:txBody>
      </p:sp>
      <p:sp>
        <p:nvSpPr>
          <p:cNvPr id="37" name="Rectangle 36">
            <a:extLst>
              <a:ext uri="{FF2B5EF4-FFF2-40B4-BE49-F238E27FC236}">
                <a16:creationId xmlns:a16="http://schemas.microsoft.com/office/drawing/2014/main" id="{A8A65F18-72B6-40CC-B34C-F1D2CCC237D2}"/>
              </a:ext>
            </a:extLst>
          </p:cNvPr>
          <p:cNvSpPr>
            <a:spLocks noGrp="1"/>
          </p:cNvSpPr>
          <p:nvPr/>
        </p:nvSpPr>
        <p:spPr>
          <a:xfrm>
            <a:off x="11277600" y="6496050"/>
            <a:ext cx="476250" cy="209550"/>
          </a:xfrm>
          <a:prstGeom prst="rect">
            <a:avLst/>
          </a:prstGeom>
          <a:noFill/>
          <a:ln w="0">
            <a:noFill/>
          </a:ln>
        </p:spPr>
        <p:txBody>
          <a:bodyPr wrap="square" lIns="0" tIns="0" rIns="0" bIns="0" anchor="t">
            <a:noAutofit/>
          </a:bodyPr>
          <a:lstStyle/>
          <a:p>
            <a:pPr algn="r">
              <a:defRPr sz="975" b="1">
                <a:solidFill>
                  <a:srgbClr val="B8B0D4"/>
                </a:solidFill>
                <a:latin typeface="Calibri"/>
                <a:ea typeface="Calibri"/>
                <a:cs typeface="Calibri"/>
              </a:defRPr>
            </a:pPr>
            <a:r>
              <a:rPr sz="975" b="1">
                <a:solidFill>
                  <a:srgbClr val="B8B0D4"/>
                </a:solidFill>
                <a:latin typeface="Calibri"/>
                <a:ea typeface="Calibri"/>
                <a:cs typeface="Calibri"/>
              </a:rPr>
              <a:t>07</a:t>
            </a:r>
          </a:p>
        </p:txBody>
      </p:sp>
    </p:spTree>
    <p:extLst>
      <p:ext uri="{BB962C8B-B14F-4D97-AF65-F5344CB8AC3E}">
        <p14:creationId xmlns:p14="http://schemas.microsoft.com/office/powerpoint/2010/main" val="1665924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530"/>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3234F3D1-DC13-46D3-BF58-8F85FF48C5D7}"/>
              </a:ext>
            </a:extLst>
          </p:cNvPr>
          <p:cNvSpPr>
            <a:spLocks noGrp="1"/>
          </p:cNvSpPr>
          <p:nvPr/>
        </p:nvSpPr>
        <p:spPr>
          <a:xfrm>
            <a:off x="0" y="0"/>
            <a:ext cx="133350" cy="6858000"/>
          </a:xfrm>
          <a:prstGeom prst="rect">
            <a:avLst/>
          </a:prstGeom>
          <a:solidFill>
            <a:srgbClr val="FF6B62"/>
          </a:solidFill>
          <a:ln w="0">
            <a:noFill/>
          </a:ln>
        </p:spPr>
        <p:txBody>
          <a:bodyPr/>
          <a:lstStyle/>
          <a:p>
            <a:endParaRPr lang="en-MY"/>
          </a:p>
        </p:txBody>
      </p:sp>
      <p:sp>
        <p:nvSpPr>
          <p:cNvPr id="2" name="Rectangle 1">
            <a:extLst>
              <a:ext uri="{FF2B5EF4-FFF2-40B4-BE49-F238E27FC236}">
                <a16:creationId xmlns:a16="http://schemas.microsoft.com/office/drawing/2014/main" id="{EC122263-5228-453C-BE94-E747EEC71100}"/>
              </a:ext>
            </a:extLst>
          </p:cNvPr>
          <p:cNvSpPr>
            <a:spLocks noGrp="1"/>
          </p:cNvSpPr>
          <p:nvPr/>
        </p:nvSpPr>
        <p:spPr>
          <a:xfrm>
            <a:off x="533400" y="323850"/>
            <a:ext cx="2571750" cy="247650"/>
          </a:xfrm>
          <a:prstGeom prst="rect">
            <a:avLst/>
          </a:prstGeom>
          <a:noFill/>
          <a:ln w="0">
            <a:noFill/>
          </a:ln>
        </p:spPr>
        <p:txBody>
          <a:bodyPr wrap="square" lIns="0" tIns="0" rIns="0" bIns="0" anchor="t">
            <a:noAutofit/>
          </a:bodyPr>
          <a:lstStyle/>
          <a:p>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3 · METHODOLOGY</a:t>
            </a:r>
          </a:p>
        </p:txBody>
      </p:sp>
      <p:sp>
        <p:nvSpPr>
          <p:cNvPr id="3" name="Rectangle 2">
            <a:extLst>
              <a:ext uri="{FF2B5EF4-FFF2-40B4-BE49-F238E27FC236}">
                <a16:creationId xmlns:a16="http://schemas.microsoft.com/office/drawing/2014/main" id="{1B368724-CFB6-43F2-8DE0-8B6E6B7EA0B5}"/>
              </a:ext>
            </a:extLst>
          </p:cNvPr>
          <p:cNvSpPr>
            <a:spLocks noGrp="1"/>
          </p:cNvSpPr>
          <p:nvPr/>
        </p:nvSpPr>
        <p:spPr>
          <a:xfrm>
            <a:off x="533400" y="619125"/>
            <a:ext cx="11049000" cy="533400"/>
          </a:xfrm>
          <a:prstGeom prst="rect">
            <a:avLst/>
          </a:prstGeom>
          <a:noFill/>
          <a:ln w="0">
            <a:noFill/>
          </a:ln>
        </p:spPr>
        <p:txBody>
          <a:bodyPr wrap="square" lIns="0" tIns="0" rIns="0" bIns="0" anchor="t">
            <a:noAutofit/>
          </a:bodyPr>
          <a:lstStyle/>
          <a:p>
            <a:pPr algn="l">
              <a:defRPr sz="2700" b="1">
                <a:solidFill>
                  <a:srgbClr val="F8F6FF"/>
                </a:solidFill>
                <a:latin typeface="Calibri"/>
                <a:ea typeface="Calibri"/>
                <a:cs typeface="Calibri"/>
              </a:defRPr>
            </a:pPr>
            <a:r>
              <a:rPr sz="2700" b="1">
                <a:solidFill>
                  <a:srgbClr val="F8F6FF"/>
                </a:solidFill>
                <a:latin typeface="Calibri"/>
                <a:ea typeface="Calibri"/>
                <a:cs typeface="Calibri"/>
              </a:rPr>
              <a:t>From concept to tested system</a:t>
            </a:r>
          </a:p>
        </p:txBody>
      </p:sp>
      <p:sp>
        <p:nvSpPr>
          <p:cNvPr id="4" name="Rectangle 3">
            <a:extLst>
              <a:ext uri="{FF2B5EF4-FFF2-40B4-BE49-F238E27FC236}">
                <a16:creationId xmlns:a16="http://schemas.microsoft.com/office/drawing/2014/main" id="{0CE2F715-D823-4E0F-8082-9D6A5094E717}"/>
              </a:ext>
            </a:extLst>
          </p:cNvPr>
          <p:cNvSpPr>
            <a:spLocks noGrp="1"/>
          </p:cNvSpPr>
          <p:nvPr/>
        </p:nvSpPr>
        <p:spPr>
          <a:xfrm>
            <a:off x="552450" y="1143000"/>
            <a:ext cx="10668000" cy="323850"/>
          </a:xfrm>
          <a:prstGeom prst="rect">
            <a:avLst/>
          </a:prstGeom>
          <a:noFill/>
          <a:ln w="0">
            <a:noFill/>
          </a:ln>
        </p:spPr>
        <p:txBody>
          <a:bodyPr wrap="square" lIns="0" tIns="0" rIns="0" bIns="0" anchor="t">
            <a:noAutofit/>
          </a:bodyPr>
          <a:lstStyle/>
          <a:p>
            <a:pPr algn="l">
              <a:defRPr sz="1350" b="0">
                <a:solidFill>
                  <a:srgbClr val="B8B0D4"/>
                </a:solidFill>
                <a:latin typeface="Calibri"/>
                <a:ea typeface="Calibri"/>
                <a:cs typeface="Calibri"/>
              </a:defRPr>
            </a:pPr>
            <a:r>
              <a:rPr sz="1350" b="0">
                <a:solidFill>
                  <a:srgbClr val="B8B0D4"/>
                </a:solidFill>
                <a:latin typeface="Calibri"/>
                <a:ea typeface="Calibri"/>
                <a:cs typeface="Calibri"/>
              </a:rPr>
              <a:t>The work plan progressed from planning and interface validation to advanced modules and formal evaluation.</a:t>
            </a:r>
          </a:p>
        </p:txBody>
      </p:sp>
      <p:sp>
        <p:nvSpPr>
          <p:cNvPr id="5" name="Rectangle 4">
            <a:extLst>
              <a:ext uri="{FF2B5EF4-FFF2-40B4-BE49-F238E27FC236}">
                <a16:creationId xmlns:a16="http://schemas.microsoft.com/office/drawing/2014/main" id="{20980BA1-A86C-4F1D-8511-7B9B14B0DD97}"/>
              </a:ext>
            </a:extLst>
          </p:cNvPr>
          <p:cNvSpPr>
            <a:spLocks noGrp="1"/>
          </p:cNvSpPr>
          <p:nvPr/>
        </p:nvSpPr>
        <p:spPr>
          <a:xfrm>
            <a:off x="971550" y="3219450"/>
            <a:ext cx="9906000" cy="57150"/>
          </a:xfrm>
          <a:prstGeom prst="rect">
            <a:avLst/>
          </a:prstGeom>
          <a:solidFill>
            <a:srgbClr val="3A3160"/>
          </a:solidFill>
          <a:ln w="0">
            <a:noFill/>
          </a:ln>
        </p:spPr>
        <p:txBody>
          <a:bodyPr/>
          <a:lstStyle/>
          <a:p>
            <a:endParaRPr lang="en-MY"/>
          </a:p>
        </p:txBody>
      </p:sp>
      <p:sp>
        <p:nvSpPr>
          <p:cNvPr id="6" name="Oval 5">
            <a:extLst>
              <a:ext uri="{FF2B5EF4-FFF2-40B4-BE49-F238E27FC236}">
                <a16:creationId xmlns:a16="http://schemas.microsoft.com/office/drawing/2014/main" id="{ACC73D44-BC24-401F-BDC9-42A8EA56E8F6}"/>
              </a:ext>
            </a:extLst>
          </p:cNvPr>
          <p:cNvSpPr>
            <a:spLocks noGrp="1"/>
          </p:cNvSpPr>
          <p:nvPr/>
        </p:nvSpPr>
        <p:spPr>
          <a:xfrm>
            <a:off x="1257300" y="2943225"/>
            <a:ext cx="609600" cy="609600"/>
          </a:xfrm>
          <a:prstGeom prst="ellipse">
            <a:avLst/>
          </a:prstGeom>
          <a:solidFill>
            <a:srgbClr val="7C83FD"/>
          </a:solidFill>
          <a:ln w="0">
            <a:noFill/>
          </a:ln>
        </p:spPr>
        <p:txBody>
          <a:bodyPr/>
          <a:lstStyle/>
          <a:p>
            <a:endParaRPr lang="en-MY"/>
          </a:p>
        </p:txBody>
      </p:sp>
      <p:sp>
        <p:nvSpPr>
          <p:cNvPr id="7" name="Rectangle 6">
            <a:extLst>
              <a:ext uri="{FF2B5EF4-FFF2-40B4-BE49-F238E27FC236}">
                <a16:creationId xmlns:a16="http://schemas.microsoft.com/office/drawing/2014/main" id="{689E4EEC-29FA-4BFA-9C08-77DE825EB378}"/>
              </a:ext>
            </a:extLst>
          </p:cNvPr>
          <p:cNvSpPr>
            <a:spLocks noGrp="1"/>
          </p:cNvSpPr>
          <p:nvPr/>
        </p:nvSpPr>
        <p:spPr>
          <a:xfrm>
            <a:off x="1257300" y="3067050"/>
            <a:ext cx="609600" cy="323850"/>
          </a:xfrm>
          <a:prstGeom prst="rect">
            <a:avLst/>
          </a:prstGeom>
          <a:noFill/>
          <a:ln w="0">
            <a:noFill/>
          </a:ln>
        </p:spPr>
        <p:txBody>
          <a:bodyPr wrap="square" lIns="0" tIns="0" rIns="0" bIns="0" anchor="ctr">
            <a:noAutofit/>
          </a:bodyPr>
          <a:lstStyle/>
          <a:p>
            <a:pPr algn="ctr">
              <a:defRPr sz="1725" b="1">
                <a:solidFill>
                  <a:srgbClr val="F8F6FF"/>
                </a:solidFill>
                <a:latin typeface="Calibri"/>
                <a:ea typeface="Calibri"/>
                <a:cs typeface="Calibri"/>
              </a:defRPr>
            </a:pPr>
            <a:r>
              <a:rPr sz="1725" b="1">
                <a:solidFill>
                  <a:srgbClr val="F8F6FF"/>
                </a:solidFill>
                <a:latin typeface="Calibri"/>
                <a:ea typeface="Calibri"/>
                <a:cs typeface="Calibri"/>
              </a:rPr>
              <a:t>1</a:t>
            </a:r>
          </a:p>
        </p:txBody>
      </p:sp>
      <p:sp>
        <p:nvSpPr>
          <p:cNvPr id="8" name="Rectangle 7">
            <a:extLst>
              <a:ext uri="{FF2B5EF4-FFF2-40B4-BE49-F238E27FC236}">
                <a16:creationId xmlns:a16="http://schemas.microsoft.com/office/drawing/2014/main" id="{283B06B2-2C0C-4BC7-8744-16B79B60F3A3}"/>
              </a:ext>
            </a:extLst>
          </p:cNvPr>
          <p:cNvSpPr>
            <a:spLocks noGrp="1"/>
          </p:cNvSpPr>
          <p:nvPr/>
        </p:nvSpPr>
        <p:spPr>
          <a:xfrm>
            <a:off x="704850" y="1885950"/>
            <a:ext cx="1714500" cy="190500"/>
          </a:xfrm>
          <a:prstGeom prst="rect">
            <a:avLst/>
          </a:prstGeom>
          <a:noFill/>
          <a:ln w="0">
            <a:noFill/>
          </a:ln>
        </p:spPr>
        <p:txBody>
          <a:bodyPr wrap="square" lIns="0" tIns="0" rIns="0" bIns="0" anchor="t">
            <a:noAutofit/>
          </a:bodyPr>
          <a:lstStyle/>
          <a:p>
            <a:pPr algn="ctr">
              <a:defRPr sz="975" b="1">
                <a:solidFill>
                  <a:srgbClr val="7C83FD"/>
                </a:solidFill>
                <a:latin typeface="Calibri"/>
                <a:ea typeface="Calibri"/>
                <a:cs typeface="Calibri"/>
              </a:defRPr>
            </a:pPr>
            <a:r>
              <a:rPr sz="975" b="1">
                <a:solidFill>
                  <a:srgbClr val="7C83FD"/>
                </a:solidFill>
                <a:latin typeface="Calibri"/>
                <a:ea typeface="Calibri"/>
                <a:cs typeface="Calibri"/>
              </a:rPr>
              <a:t>FYP I</a:t>
            </a:r>
          </a:p>
        </p:txBody>
      </p:sp>
      <p:sp>
        <p:nvSpPr>
          <p:cNvPr id="9" name="Rectangle 8">
            <a:extLst>
              <a:ext uri="{FF2B5EF4-FFF2-40B4-BE49-F238E27FC236}">
                <a16:creationId xmlns:a16="http://schemas.microsoft.com/office/drawing/2014/main" id="{A72160D8-5033-4628-99C6-66A3433ED383}"/>
              </a:ext>
            </a:extLst>
          </p:cNvPr>
          <p:cNvSpPr>
            <a:spLocks noGrp="1"/>
          </p:cNvSpPr>
          <p:nvPr/>
        </p:nvSpPr>
        <p:spPr>
          <a:xfrm>
            <a:off x="704850" y="2152650"/>
            <a:ext cx="1714500" cy="400050"/>
          </a:xfrm>
          <a:prstGeom prst="rect">
            <a:avLst/>
          </a:prstGeom>
          <a:noFill/>
          <a:ln w="0">
            <a:noFill/>
          </a:ln>
        </p:spPr>
        <p:txBody>
          <a:bodyPr wrap="square" lIns="0" tIns="0" rIns="0" bIns="0" anchor="t">
            <a:noAutofit/>
          </a:bodyPr>
          <a:lstStyle/>
          <a:p>
            <a:pPr algn="ctr">
              <a:defRPr sz="1725" b="1">
                <a:solidFill>
                  <a:srgbClr val="F8F6FF"/>
                </a:solidFill>
                <a:latin typeface="Calibri"/>
                <a:ea typeface="Calibri"/>
                <a:cs typeface="Calibri"/>
              </a:defRPr>
            </a:pPr>
            <a:r>
              <a:rPr sz="1725" b="1">
                <a:solidFill>
                  <a:srgbClr val="F8F6FF"/>
                </a:solidFill>
                <a:latin typeface="Calibri"/>
                <a:ea typeface="Calibri"/>
                <a:cs typeface="Calibri"/>
              </a:rPr>
              <a:t>Plan &amp; research</a:t>
            </a:r>
          </a:p>
        </p:txBody>
      </p:sp>
      <p:sp>
        <p:nvSpPr>
          <p:cNvPr id="10" name="Rectangle 9">
            <a:extLst>
              <a:ext uri="{FF2B5EF4-FFF2-40B4-BE49-F238E27FC236}">
                <a16:creationId xmlns:a16="http://schemas.microsoft.com/office/drawing/2014/main" id="{DA5F5D00-6DAD-43D7-B2B8-6189BDC1D278}"/>
              </a:ext>
            </a:extLst>
          </p:cNvPr>
          <p:cNvSpPr>
            <a:spLocks noGrp="1"/>
          </p:cNvSpPr>
          <p:nvPr/>
        </p:nvSpPr>
        <p:spPr>
          <a:xfrm>
            <a:off x="704850" y="3714750"/>
            <a:ext cx="1714500" cy="685800"/>
          </a:xfrm>
          <a:prstGeom prst="rect">
            <a:avLst/>
          </a:prstGeom>
          <a:noFill/>
          <a:ln w="0">
            <a:noFill/>
          </a:ln>
        </p:spPr>
        <p:txBody>
          <a:bodyPr wrap="square" lIns="0" tIns="0" rIns="0" bIns="0" anchor="t">
            <a:noAutofit/>
          </a:bodyPr>
          <a:lstStyle/>
          <a:p>
            <a:pPr algn="ctr">
              <a:defRPr sz="1125" b="0">
                <a:solidFill>
                  <a:srgbClr val="B8B0D4"/>
                </a:solidFill>
                <a:latin typeface="Calibri"/>
                <a:ea typeface="Calibri"/>
                <a:cs typeface="Calibri"/>
              </a:defRPr>
            </a:pPr>
            <a:r>
              <a:rPr sz="1125" b="0">
                <a:solidFill>
                  <a:srgbClr val="B8B0D4"/>
                </a:solidFill>
                <a:latin typeface="Calibri"/>
                <a:ea typeface="Calibri"/>
                <a:cs typeface="Calibri"/>
              </a:rPr>
              <a:t>Problems, literature, scope, requirements</a:t>
            </a:r>
          </a:p>
        </p:txBody>
      </p:sp>
      <p:sp>
        <p:nvSpPr>
          <p:cNvPr id="11" name="Oval 10">
            <a:extLst>
              <a:ext uri="{FF2B5EF4-FFF2-40B4-BE49-F238E27FC236}">
                <a16:creationId xmlns:a16="http://schemas.microsoft.com/office/drawing/2014/main" id="{FF051D24-9EAB-41BA-AB97-F431238ECEBF}"/>
              </a:ext>
            </a:extLst>
          </p:cNvPr>
          <p:cNvSpPr>
            <a:spLocks noGrp="1"/>
          </p:cNvSpPr>
          <p:nvPr/>
        </p:nvSpPr>
        <p:spPr>
          <a:xfrm>
            <a:off x="3524250" y="2943225"/>
            <a:ext cx="609600" cy="609600"/>
          </a:xfrm>
          <a:prstGeom prst="ellipse">
            <a:avLst/>
          </a:prstGeom>
          <a:solidFill>
            <a:srgbClr val="7C83FD"/>
          </a:solidFill>
          <a:ln w="0">
            <a:noFill/>
          </a:ln>
        </p:spPr>
        <p:txBody>
          <a:bodyPr/>
          <a:lstStyle/>
          <a:p>
            <a:endParaRPr lang="en-MY"/>
          </a:p>
        </p:txBody>
      </p:sp>
      <p:sp>
        <p:nvSpPr>
          <p:cNvPr id="12" name="Rectangle 11">
            <a:extLst>
              <a:ext uri="{FF2B5EF4-FFF2-40B4-BE49-F238E27FC236}">
                <a16:creationId xmlns:a16="http://schemas.microsoft.com/office/drawing/2014/main" id="{F48AF1D8-3DE1-4055-8EBA-0B048608CA61}"/>
              </a:ext>
            </a:extLst>
          </p:cNvPr>
          <p:cNvSpPr>
            <a:spLocks noGrp="1"/>
          </p:cNvSpPr>
          <p:nvPr/>
        </p:nvSpPr>
        <p:spPr>
          <a:xfrm>
            <a:off x="3524250" y="3067050"/>
            <a:ext cx="609600" cy="323850"/>
          </a:xfrm>
          <a:prstGeom prst="rect">
            <a:avLst/>
          </a:prstGeom>
          <a:noFill/>
          <a:ln w="0">
            <a:noFill/>
          </a:ln>
        </p:spPr>
        <p:txBody>
          <a:bodyPr wrap="square" lIns="0" tIns="0" rIns="0" bIns="0" anchor="ctr">
            <a:noAutofit/>
          </a:bodyPr>
          <a:lstStyle/>
          <a:p>
            <a:pPr algn="ctr">
              <a:defRPr sz="1725" b="1">
                <a:solidFill>
                  <a:srgbClr val="F8F6FF"/>
                </a:solidFill>
                <a:latin typeface="Calibri"/>
                <a:ea typeface="Calibri"/>
                <a:cs typeface="Calibri"/>
              </a:defRPr>
            </a:pPr>
            <a:r>
              <a:rPr sz="1725" b="1">
                <a:solidFill>
                  <a:srgbClr val="F8F6FF"/>
                </a:solidFill>
                <a:latin typeface="Calibri"/>
                <a:ea typeface="Calibri"/>
                <a:cs typeface="Calibri"/>
              </a:rPr>
              <a:t>2</a:t>
            </a:r>
          </a:p>
        </p:txBody>
      </p:sp>
      <p:sp>
        <p:nvSpPr>
          <p:cNvPr id="13" name="Rectangle 12">
            <a:extLst>
              <a:ext uri="{FF2B5EF4-FFF2-40B4-BE49-F238E27FC236}">
                <a16:creationId xmlns:a16="http://schemas.microsoft.com/office/drawing/2014/main" id="{C115A49A-8C58-4516-B7B5-64E16A6C2F9C}"/>
              </a:ext>
            </a:extLst>
          </p:cNvPr>
          <p:cNvSpPr>
            <a:spLocks noGrp="1"/>
          </p:cNvSpPr>
          <p:nvPr/>
        </p:nvSpPr>
        <p:spPr>
          <a:xfrm>
            <a:off x="2971800" y="1885950"/>
            <a:ext cx="1714500" cy="190500"/>
          </a:xfrm>
          <a:prstGeom prst="rect">
            <a:avLst/>
          </a:prstGeom>
          <a:noFill/>
          <a:ln w="0">
            <a:noFill/>
          </a:ln>
        </p:spPr>
        <p:txBody>
          <a:bodyPr wrap="square" lIns="0" tIns="0" rIns="0" bIns="0" anchor="t">
            <a:noAutofit/>
          </a:bodyPr>
          <a:lstStyle/>
          <a:p>
            <a:pPr algn="ctr">
              <a:defRPr sz="975" b="1">
                <a:solidFill>
                  <a:srgbClr val="7C83FD"/>
                </a:solidFill>
                <a:latin typeface="Calibri"/>
                <a:ea typeface="Calibri"/>
                <a:cs typeface="Calibri"/>
              </a:defRPr>
            </a:pPr>
            <a:r>
              <a:rPr sz="975" b="1">
                <a:solidFill>
                  <a:srgbClr val="7C83FD"/>
                </a:solidFill>
                <a:latin typeface="Calibri"/>
                <a:ea typeface="Calibri"/>
                <a:cs typeface="Calibri"/>
              </a:rPr>
              <a:t>ITERATION 1</a:t>
            </a:r>
          </a:p>
        </p:txBody>
      </p:sp>
      <p:sp>
        <p:nvSpPr>
          <p:cNvPr id="14" name="Rectangle 13">
            <a:extLst>
              <a:ext uri="{FF2B5EF4-FFF2-40B4-BE49-F238E27FC236}">
                <a16:creationId xmlns:a16="http://schemas.microsoft.com/office/drawing/2014/main" id="{8426D62E-892C-426E-90DA-0CF5C589D2CB}"/>
              </a:ext>
            </a:extLst>
          </p:cNvPr>
          <p:cNvSpPr>
            <a:spLocks noGrp="1"/>
          </p:cNvSpPr>
          <p:nvPr/>
        </p:nvSpPr>
        <p:spPr>
          <a:xfrm>
            <a:off x="2971800" y="2152650"/>
            <a:ext cx="1714500" cy="400050"/>
          </a:xfrm>
          <a:prstGeom prst="rect">
            <a:avLst/>
          </a:prstGeom>
          <a:noFill/>
          <a:ln w="0">
            <a:noFill/>
          </a:ln>
        </p:spPr>
        <p:txBody>
          <a:bodyPr wrap="square" lIns="0" tIns="0" rIns="0" bIns="0" anchor="t">
            <a:noAutofit/>
          </a:bodyPr>
          <a:lstStyle/>
          <a:p>
            <a:pPr algn="ctr">
              <a:defRPr sz="1725" b="1">
                <a:solidFill>
                  <a:srgbClr val="F8F6FF"/>
                </a:solidFill>
                <a:latin typeface="Calibri"/>
                <a:ea typeface="Calibri"/>
                <a:cs typeface="Calibri"/>
              </a:defRPr>
            </a:pPr>
            <a:r>
              <a:rPr sz="1725" b="1">
                <a:solidFill>
                  <a:srgbClr val="F8F6FF"/>
                </a:solidFill>
                <a:latin typeface="Calibri"/>
                <a:ea typeface="Calibri"/>
                <a:cs typeface="Calibri"/>
              </a:rPr>
              <a:t>Design</a:t>
            </a:r>
          </a:p>
        </p:txBody>
      </p:sp>
      <p:sp>
        <p:nvSpPr>
          <p:cNvPr id="15" name="Rectangle 14">
            <a:extLst>
              <a:ext uri="{FF2B5EF4-FFF2-40B4-BE49-F238E27FC236}">
                <a16:creationId xmlns:a16="http://schemas.microsoft.com/office/drawing/2014/main" id="{D5ABD16E-E723-4E41-AF13-69A499F44470}"/>
              </a:ext>
            </a:extLst>
          </p:cNvPr>
          <p:cNvSpPr>
            <a:spLocks noGrp="1"/>
          </p:cNvSpPr>
          <p:nvPr/>
        </p:nvSpPr>
        <p:spPr>
          <a:xfrm>
            <a:off x="2971800" y="3714750"/>
            <a:ext cx="1714500" cy="685800"/>
          </a:xfrm>
          <a:prstGeom prst="rect">
            <a:avLst/>
          </a:prstGeom>
          <a:noFill/>
          <a:ln w="0">
            <a:noFill/>
          </a:ln>
        </p:spPr>
        <p:txBody>
          <a:bodyPr wrap="square" lIns="0" tIns="0" rIns="0" bIns="0" anchor="t">
            <a:noAutofit/>
          </a:bodyPr>
          <a:lstStyle/>
          <a:p>
            <a:pPr algn="ctr">
              <a:defRPr sz="1125" b="0">
                <a:solidFill>
                  <a:srgbClr val="B8B0D4"/>
                </a:solidFill>
                <a:latin typeface="Calibri"/>
                <a:ea typeface="Calibri"/>
                <a:cs typeface="Calibri"/>
              </a:defRPr>
            </a:pPr>
            <a:r>
              <a:rPr sz="1125" b="0">
                <a:solidFill>
                  <a:srgbClr val="B8B0D4"/>
                </a:solidFill>
                <a:latin typeface="Calibri"/>
                <a:ea typeface="Calibri"/>
                <a:cs typeface="Calibri"/>
              </a:rPr>
              <a:t>Low- and high-fidelity prototypes</a:t>
            </a:r>
          </a:p>
        </p:txBody>
      </p:sp>
      <p:sp>
        <p:nvSpPr>
          <p:cNvPr id="16" name="Oval 15">
            <a:extLst>
              <a:ext uri="{FF2B5EF4-FFF2-40B4-BE49-F238E27FC236}">
                <a16:creationId xmlns:a16="http://schemas.microsoft.com/office/drawing/2014/main" id="{4C2BAC8A-0B4D-4EEF-B73D-A6DA3821AD17}"/>
              </a:ext>
            </a:extLst>
          </p:cNvPr>
          <p:cNvSpPr>
            <a:spLocks noGrp="1"/>
          </p:cNvSpPr>
          <p:nvPr/>
        </p:nvSpPr>
        <p:spPr>
          <a:xfrm>
            <a:off x="5791200" y="2943225"/>
            <a:ext cx="609600" cy="609600"/>
          </a:xfrm>
          <a:prstGeom prst="ellipse">
            <a:avLst/>
          </a:prstGeom>
          <a:solidFill>
            <a:srgbClr val="7C83FD"/>
          </a:solidFill>
          <a:ln w="0">
            <a:noFill/>
          </a:ln>
        </p:spPr>
        <p:txBody>
          <a:bodyPr/>
          <a:lstStyle/>
          <a:p>
            <a:endParaRPr lang="en-MY"/>
          </a:p>
        </p:txBody>
      </p:sp>
      <p:sp>
        <p:nvSpPr>
          <p:cNvPr id="17" name="Rectangle 16">
            <a:extLst>
              <a:ext uri="{FF2B5EF4-FFF2-40B4-BE49-F238E27FC236}">
                <a16:creationId xmlns:a16="http://schemas.microsoft.com/office/drawing/2014/main" id="{94B3E82C-67BC-476F-8B69-4D2B3CA308E1}"/>
              </a:ext>
            </a:extLst>
          </p:cNvPr>
          <p:cNvSpPr>
            <a:spLocks noGrp="1"/>
          </p:cNvSpPr>
          <p:nvPr/>
        </p:nvSpPr>
        <p:spPr>
          <a:xfrm>
            <a:off x="5791200" y="3067050"/>
            <a:ext cx="609600" cy="323850"/>
          </a:xfrm>
          <a:prstGeom prst="rect">
            <a:avLst/>
          </a:prstGeom>
          <a:noFill/>
          <a:ln w="0">
            <a:noFill/>
          </a:ln>
        </p:spPr>
        <p:txBody>
          <a:bodyPr wrap="square" lIns="0" tIns="0" rIns="0" bIns="0" anchor="ctr">
            <a:noAutofit/>
          </a:bodyPr>
          <a:lstStyle/>
          <a:p>
            <a:pPr algn="ctr">
              <a:defRPr sz="1725" b="1">
                <a:solidFill>
                  <a:srgbClr val="F8F6FF"/>
                </a:solidFill>
                <a:latin typeface="Calibri"/>
                <a:ea typeface="Calibri"/>
                <a:cs typeface="Calibri"/>
              </a:defRPr>
            </a:pPr>
            <a:r>
              <a:rPr sz="1725" b="1">
                <a:solidFill>
                  <a:srgbClr val="F8F6FF"/>
                </a:solidFill>
                <a:latin typeface="Calibri"/>
                <a:ea typeface="Calibri"/>
                <a:cs typeface="Calibri"/>
              </a:rPr>
              <a:t>3</a:t>
            </a:r>
          </a:p>
        </p:txBody>
      </p:sp>
      <p:sp>
        <p:nvSpPr>
          <p:cNvPr id="18" name="Rectangle 17">
            <a:extLst>
              <a:ext uri="{FF2B5EF4-FFF2-40B4-BE49-F238E27FC236}">
                <a16:creationId xmlns:a16="http://schemas.microsoft.com/office/drawing/2014/main" id="{0D1A378C-854C-4A5B-B1F4-B3A937102F65}"/>
              </a:ext>
            </a:extLst>
          </p:cNvPr>
          <p:cNvSpPr>
            <a:spLocks noGrp="1"/>
          </p:cNvSpPr>
          <p:nvPr/>
        </p:nvSpPr>
        <p:spPr>
          <a:xfrm>
            <a:off x="5238750" y="1885950"/>
            <a:ext cx="1714500" cy="190500"/>
          </a:xfrm>
          <a:prstGeom prst="rect">
            <a:avLst/>
          </a:prstGeom>
          <a:noFill/>
          <a:ln w="0">
            <a:noFill/>
          </a:ln>
        </p:spPr>
        <p:txBody>
          <a:bodyPr wrap="square" lIns="0" tIns="0" rIns="0" bIns="0" anchor="t">
            <a:noAutofit/>
          </a:bodyPr>
          <a:lstStyle/>
          <a:p>
            <a:pPr algn="ctr">
              <a:defRPr sz="975" b="1">
                <a:solidFill>
                  <a:srgbClr val="7C83FD"/>
                </a:solidFill>
                <a:latin typeface="Calibri"/>
                <a:ea typeface="Calibri"/>
                <a:cs typeface="Calibri"/>
              </a:defRPr>
            </a:pPr>
            <a:r>
              <a:rPr sz="975" b="1">
                <a:solidFill>
                  <a:srgbClr val="7C83FD"/>
                </a:solidFill>
                <a:latin typeface="Calibri"/>
                <a:ea typeface="Calibri"/>
                <a:cs typeface="Calibri"/>
              </a:rPr>
              <a:t>ITERATION 2</a:t>
            </a:r>
          </a:p>
        </p:txBody>
      </p:sp>
      <p:sp>
        <p:nvSpPr>
          <p:cNvPr id="19" name="Rectangle 18">
            <a:extLst>
              <a:ext uri="{FF2B5EF4-FFF2-40B4-BE49-F238E27FC236}">
                <a16:creationId xmlns:a16="http://schemas.microsoft.com/office/drawing/2014/main" id="{164DFF19-A335-488E-A201-150C2DD286B4}"/>
              </a:ext>
            </a:extLst>
          </p:cNvPr>
          <p:cNvSpPr>
            <a:spLocks noGrp="1"/>
          </p:cNvSpPr>
          <p:nvPr/>
        </p:nvSpPr>
        <p:spPr>
          <a:xfrm>
            <a:off x="5238750" y="2152650"/>
            <a:ext cx="1714500" cy="400050"/>
          </a:xfrm>
          <a:prstGeom prst="rect">
            <a:avLst/>
          </a:prstGeom>
          <a:noFill/>
          <a:ln w="0">
            <a:noFill/>
          </a:ln>
        </p:spPr>
        <p:txBody>
          <a:bodyPr wrap="square" lIns="0" tIns="0" rIns="0" bIns="0" anchor="t">
            <a:noAutofit/>
          </a:bodyPr>
          <a:lstStyle/>
          <a:p>
            <a:pPr algn="ctr">
              <a:defRPr sz="1725" b="1">
                <a:solidFill>
                  <a:srgbClr val="F8F6FF"/>
                </a:solidFill>
                <a:latin typeface="Calibri"/>
                <a:ea typeface="Calibri"/>
                <a:cs typeface="Calibri"/>
              </a:defRPr>
            </a:pPr>
            <a:r>
              <a:rPr sz="1725" b="1">
                <a:solidFill>
                  <a:srgbClr val="F8F6FF"/>
                </a:solidFill>
                <a:latin typeface="Calibri"/>
                <a:ea typeface="Calibri"/>
                <a:cs typeface="Calibri"/>
              </a:rPr>
              <a:t>Core build</a:t>
            </a:r>
          </a:p>
        </p:txBody>
      </p:sp>
      <p:sp>
        <p:nvSpPr>
          <p:cNvPr id="20" name="Rectangle 19">
            <a:extLst>
              <a:ext uri="{FF2B5EF4-FFF2-40B4-BE49-F238E27FC236}">
                <a16:creationId xmlns:a16="http://schemas.microsoft.com/office/drawing/2014/main" id="{8EFA876A-D9A8-417A-9E56-CDFBB8042152}"/>
              </a:ext>
            </a:extLst>
          </p:cNvPr>
          <p:cNvSpPr>
            <a:spLocks noGrp="1"/>
          </p:cNvSpPr>
          <p:nvPr/>
        </p:nvSpPr>
        <p:spPr>
          <a:xfrm>
            <a:off x="5238750" y="3714750"/>
            <a:ext cx="1714500" cy="685800"/>
          </a:xfrm>
          <a:prstGeom prst="rect">
            <a:avLst/>
          </a:prstGeom>
          <a:noFill/>
          <a:ln w="0">
            <a:noFill/>
          </a:ln>
        </p:spPr>
        <p:txBody>
          <a:bodyPr wrap="square" lIns="0" tIns="0" rIns="0" bIns="0" anchor="t">
            <a:noAutofit/>
          </a:bodyPr>
          <a:lstStyle/>
          <a:p>
            <a:pPr algn="ctr">
              <a:defRPr sz="1125" b="0">
                <a:solidFill>
                  <a:srgbClr val="B8B0D4"/>
                </a:solidFill>
                <a:latin typeface="Calibri"/>
                <a:ea typeface="Calibri"/>
                <a:cs typeface="Calibri"/>
              </a:defRPr>
            </a:pPr>
            <a:r>
              <a:rPr sz="1125" b="0">
                <a:solidFill>
                  <a:srgbClr val="B8B0D4"/>
                </a:solidFill>
                <a:latin typeface="Calibri"/>
                <a:ea typeface="Calibri"/>
                <a:cs typeface="Calibri"/>
              </a:rPr>
              <a:t>Authentication, patients, tasks, notifications</a:t>
            </a:r>
          </a:p>
        </p:txBody>
      </p:sp>
      <p:sp>
        <p:nvSpPr>
          <p:cNvPr id="21" name="Oval 20">
            <a:extLst>
              <a:ext uri="{FF2B5EF4-FFF2-40B4-BE49-F238E27FC236}">
                <a16:creationId xmlns:a16="http://schemas.microsoft.com/office/drawing/2014/main" id="{F391C9E0-3872-45B4-BA2F-2DFC1F2D8107}"/>
              </a:ext>
            </a:extLst>
          </p:cNvPr>
          <p:cNvSpPr>
            <a:spLocks noGrp="1"/>
          </p:cNvSpPr>
          <p:nvPr/>
        </p:nvSpPr>
        <p:spPr>
          <a:xfrm>
            <a:off x="8058150" y="2943225"/>
            <a:ext cx="609600" cy="609600"/>
          </a:xfrm>
          <a:prstGeom prst="ellipse">
            <a:avLst/>
          </a:prstGeom>
          <a:solidFill>
            <a:srgbClr val="7C83FD"/>
          </a:solidFill>
          <a:ln w="0">
            <a:noFill/>
          </a:ln>
        </p:spPr>
        <p:txBody>
          <a:bodyPr/>
          <a:lstStyle/>
          <a:p>
            <a:endParaRPr lang="en-MY"/>
          </a:p>
        </p:txBody>
      </p:sp>
      <p:sp>
        <p:nvSpPr>
          <p:cNvPr id="22" name="Rectangle 21">
            <a:extLst>
              <a:ext uri="{FF2B5EF4-FFF2-40B4-BE49-F238E27FC236}">
                <a16:creationId xmlns:a16="http://schemas.microsoft.com/office/drawing/2014/main" id="{6D1AD030-2B14-4D56-A145-E8519CB33E05}"/>
              </a:ext>
            </a:extLst>
          </p:cNvPr>
          <p:cNvSpPr>
            <a:spLocks noGrp="1"/>
          </p:cNvSpPr>
          <p:nvPr/>
        </p:nvSpPr>
        <p:spPr>
          <a:xfrm>
            <a:off x="8058150" y="3067050"/>
            <a:ext cx="609600" cy="323850"/>
          </a:xfrm>
          <a:prstGeom prst="rect">
            <a:avLst/>
          </a:prstGeom>
          <a:noFill/>
          <a:ln w="0">
            <a:noFill/>
          </a:ln>
        </p:spPr>
        <p:txBody>
          <a:bodyPr wrap="square" lIns="0" tIns="0" rIns="0" bIns="0" anchor="ctr">
            <a:noAutofit/>
          </a:bodyPr>
          <a:lstStyle/>
          <a:p>
            <a:pPr algn="ctr">
              <a:defRPr sz="1725" b="1">
                <a:solidFill>
                  <a:srgbClr val="F8F6FF"/>
                </a:solidFill>
                <a:latin typeface="Calibri"/>
                <a:ea typeface="Calibri"/>
                <a:cs typeface="Calibri"/>
              </a:defRPr>
            </a:pPr>
            <a:r>
              <a:rPr sz="1725" b="1">
                <a:solidFill>
                  <a:srgbClr val="F8F6FF"/>
                </a:solidFill>
                <a:latin typeface="Calibri"/>
                <a:ea typeface="Calibri"/>
                <a:cs typeface="Calibri"/>
              </a:rPr>
              <a:t>4</a:t>
            </a:r>
          </a:p>
        </p:txBody>
      </p:sp>
      <p:sp>
        <p:nvSpPr>
          <p:cNvPr id="23" name="Rectangle 22">
            <a:extLst>
              <a:ext uri="{FF2B5EF4-FFF2-40B4-BE49-F238E27FC236}">
                <a16:creationId xmlns:a16="http://schemas.microsoft.com/office/drawing/2014/main" id="{DF70584E-0EC4-4337-BF98-5CCBCC994CE9}"/>
              </a:ext>
            </a:extLst>
          </p:cNvPr>
          <p:cNvSpPr>
            <a:spLocks noGrp="1"/>
          </p:cNvSpPr>
          <p:nvPr/>
        </p:nvSpPr>
        <p:spPr>
          <a:xfrm>
            <a:off x="7505700" y="1885950"/>
            <a:ext cx="1714500" cy="190500"/>
          </a:xfrm>
          <a:prstGeom prst="rect">
            <a:avLst/>
          </a:prstGeom>
          <a:noFill/>
          <a:ln w="0">
            <a:noFill/>
          </a:ln>
        </p:spPr>
        <p:txBody>
          <a:bodyPr wrap="square" lIns="0" tIns="0" rIns="0" bIns="0" anchor="t">
            <a:noAutofit/>
          </a:bodyPr>
          <a:lstStyle/>
          <a:p>
            <a:pPr algn="ctr">
              <a:defRPr sz="975" b="1">
                <a:solidFill>
                  <a:srgbClr val="7C83FD"/>
                </a:solidFill>
                <a:latin typeface="Calibri"/>
                <a:ea typeface="Calibri"/>
                <a:cs typeface="Calibri"/>
              </a:defRPr>
            </a:pPr>
            <a:r>
              <a:rPr sz="975" b="1">
                <a:solidFill>
                  <a:srgbClr val="7C83FD"/>
                </a:solidFill>
                <a:latin typeface="Calibri"/>
                <a:ea typeface="Calibri"/>
                <a:cs typeface="Calibri"/>
              </a:rPr>
              <a:t>FYP II</a:t>
            </a:r>
          </a:p>
        </p:txBody>
      </p:sp>
      <p:sp>
        <p:nvSpPr>
          <p:cNvPr id="24" name="Rectangle 23">
            <a:extLst>
              <a:ext uri="{FF2B5EF4-FFF2-40B4-BE49-F238E27FC236}">
                <a16:creationId xmlns:a16="http://schemas.microsoft.com/office/drawing/2014/main" id="{60CC8BFB-D164-416E-BEC2-7DE80F00063A}"/>
              </a:ext>
            </a:extLst>
          </p:cNvPr>
          <p:cNvSpPr>
            <a:spLocks noGrp="1"/>
          </p:cNvSpPr>
          <p:nvPr/>
        </p:nvSpPr>
        <p:spPr>
          <a:xfrm>
            <a:off x="7505700" y="2152650"/>
            <a:ext cx="1714500" cy="400050"/>
          </a:xfrm>
          <a:prstGeom prst="rect">
            <a:avLst/>
          </a:prstGeom>
          <a:noFill/>
          <a:ln w="0">
            <a:noFill/>
          </a:ln>
        </p:spPr>
        <p:txBody>
          <a:bodyPr wrap="square" lIns="0" tIns="0" rIns="0" bIns="0" anchor="t">
            <a:noAutofit/>
          </a:bodyPr>
          <a:lstStyle/>
          <a:p>
            <a:pPr algn="ctr">
              <a:defRPr sz="1725" b="1">
                <a:solidFill>
                  <a:srgbClr val="F8F6FF"/>
                </a:solidFill>
                <a:latin typeface="Calibri"/>
                <a:ea typeface="Calibri"/>
                <a:cs typeface="Calibri"/>
              </a:defRPr>
            </a:pPr>
            <a:r>
              <a:rPr sz="1725" b="1">
                <a:solidFill>
                  <a:srgbClr val="F8F6FF"/>
                </a:solidFill>
                <a:latin typeface="Calibri"/>
                <a:ea typeface="Calibri"/>
                <a:cs typeface="Calibri"/>
              </a:rPr>
              <a:t>Advanced build</a:t>
            </a:r>
          </a:p>
        </p:txBody>
      </p:sp>
      <p:sp>
        <p:nvSpPr>
          <p:cNvPr id="25" name="Rectangle 24">
            <a:extLst>
              <a:ext uri="{FF2B5EF4-FFF2-40B4-BE49-F238E27FC236}">
                <a16:creationId xmlns:a16="http://schemas.microsoft.com/office/drawing/2014/main" id="{83AD7BE1-F50A-4997-A605-798030D82DB6}"/>
              </a:ext>
            </a:extLst>
          </p:cNvPr>
          <p:cNvSpPr>
            <a:spLocks noGrp="1"/>
          </p:cNvSpPr>
          <p:nvPr/>
        </p:nvSpPr>
        <p:spPr>
          <a:xfrm>
            <a:off x="7505700" y="3714750"/>
            <a:ext cx="1714500" cy="685800"/>
          </a:xfrm>
          <a:prstGeom prst="rect">
            <a:avLst/>
          </a:prstGeom>
          <a:noFill/>
          <a:ln w="0">
            <a:noFill/>
          </a:ln>
        </p:spPr>
        <p:txBody>
          <a:bodyPr wrap="square" lIns="0" tIns="0" rIns="0" bIns="0" anchor="t">
            <a:noAutofit/>
          </a:bodyPr>
          <a:lstStyle/>
          <a:p>
            <a:pPr algn="ctr">
              <a:defRPr sz="1125" b="0">
                <a:solidFill>
                  <a:srgbClr val="B8B0D4"/>
                </a:solidFill>
                <a:latin typeface="Calibri"/>
                <a:ea typeface="Calibri"/>
                <a:cs typeface="Calibri"/>
              </a:defRPr>
            </a:pPr>
            <a:r>
              <a:rPr sz="1125" b="0">
                <a:solidFill>
                  <a:srgbClr val="B8B0D4"/>
                </a:solidFill>
                <a:latin typeface="Calibri"/>
                <a:ea typeface="Calibri"/>
                <a:cs typeface="Calibri"/>
              </a:rPr>
              <a:t>Adaptive games, analytics, risk, rewards</a:t>
            </a:r>
          </a:p>
        </p:txBody>
      </p:sp>
      <p:sp>
        <p:nvSpPr>
          <p:cNvPr id="26" name="Oval 25">
            <a:extLst>
              <a:ext uri="{FF2B5EF4-FFF2-40B4-BE49-F238E27FC236}">
                <a16:creationId xmlns:a16="http://schemas.microsoft.com/office/drawing/2014/main" id="{BE7A0C0B-64CE-4807-9CF7-77CD5FAFB83E}"/>
              </a:ext>
            </a:extLst>
          </p:cNvPr>
          <p:cNvSpPr>
            <a:spLocks noGrp="1"/>
          </p:cNvSpPr>
          <p:nvPr/>
        </p:nvSpPr>
        <p:spPr>
          <a:xfrm>
            <a:off x="10325100" y="2943225"/>
            <a:ext cx="609600" cy="609600"/>
          </a:xfrm>
          <a:prstGeom prst="ellipse">
            <a:avLst/>
          </a:prstGeom>
          <a:solidFill>
            <a:srgbClr val="FF6B62"/>
          </a:solidFill>
          <a:ln w="0">
            <a:noFill/>
          </a:ln>
        </p:spPr>
        <p:txBody>
          <a:bodyPr/>
          <a:lstStyle/>
          <a:p>
            <a:endParaRPr lang="en-MY"/>
          </a:p>
        </p:txBody>
      </p:sp>
      <p:sp>
        <p:nvSpPr>
          <p:cNvPr id="27" name="Rectangle 26">
            <a:extLst>
              <a:ext uri="{FF2B5EF4-FFF2-40B4-BE49-F238E27FC236}">
                <a16:creationId xmlns:a16="http://schemas.microsoft.com/office/drawing/2014/main" id="{C08BBD87-4A24-4D9C-A967-8EE38FBD44BE}"/>
              </a:ext>
            </a:extLst>
          </p:cNvPr>
          <p:cNvSpPr>
            <a:spLocks noGrp="1"/>
          </p:cNvSpPr>
          <p:nvPr/>
        </p:nvSpPr>
        <p:spPr>
          <a:xfrm>
            <a:off x="10325100" y="3067050"/>
            <a:ext cx="609600" cy="323850"/>
          </a:xfrm>
          <a:prstGeom prst="rect">
            <a:avLst/>
          </a:prstGeom>
          <a:noFill/>
          <a:ln w="0">
            <a:noFill/>
          </a:ln>
        </p:spPr>
        <p:txBody>
          <a:bodyPr wrap="square" lIns="0" tIns="0" rIns="0" bIns="0" anchor="ctr">
            <a:noAutofit/>
          </a:bodyPr>
          <a:lstStyle/>
          <a:p>
            <a:pPr algn="ctr">
              <a:defRPr sz="1725" b="1">
                <a:solidFill>
                  <a:srgbClr val="F8F6FF"/>
                </a:solidFill>
                <a:latin typeface="Calibri"/>
                <a:ea typeface="Calibri"/>
                <a:cs typeface="Calibri"/>
              </a:defRPr>
            </a:pPr>
            <a:r>
              <a:rPr sz="1725" b="1">
                <a:solidFill>
                  <a:srgbClr val="F8F6FF"/>
                </a:solidFill>
                <a:latin typeface="Calibri"/>
                <a:ea typeface="Calibri"/>
                <a:cs typeface="Calibri"/>
              </a:rPr>
              <a:t>5</a:t>
            </a:r>
          </a:p>
        </p:txBody>
      </p:sp>
      <p:sp>
        <p:nvSpPr>
          <p:cNvPr id="28" name="Rectangle 27">
            <a:extLst>
              <a:ext uri="{FF2B5EF4-FFF2-40B4-BE49-F238E27FC236}">
                <a16:creationId xmlns:a16="http://schemas.microsoft.com/office/drawing/2014/main" id="{93C2CBA8-032D-4A38-8DC6-D59D290832F4}"/>
              </a:ext>
            </a:extLst>
          </p:cNvPr>
          <p:cNvSpPr>
            <a:spLocks noGrp="1"/>
          </p:cNvSpPr>
          <p:nvPr/>
        </p:nvSpPr>
        <p:spPr>
          <a:xfrm>
            <a:off x="9772650" y="1885950"/>
            <a:ext cx="1714500" cy="190500"/>
          </a:xfrm>
          <a:prstGeom prst="rect">
            <a:avLst/>
          </a:prstGeom>
          <a:noFill/>
          <a:ln w="0">
            <a:noFill/>
          </a:ln>
        </p:spPr>
        <p:txBody>
          <a:bodyPr wrap="square" lIns="0" tIns="0" rIns="0" bIns="0" anchor="t">
            <a:noAutofit/>
          </a:bodyPr>
          <a:lstStyle/>
          <a:p>
            <a:pPr algn="ctr">
              <a:defRPr sz="975" b="1">
                <a:solidFill>
                  <a:srgbClr val="FF6B62"/>
                </a:solidFill>
                <a:latin typeface="Calibri"/>
                <a:ea typeface="Calibri"/>
                <a:cs typeface="Calibri"/>
              </a:defRPr>
            </a:pPr>
            <a:r>
              <a:rPr sz="975" b="1">
                <a:solidFill>
                  <a:srgbClr val="FF6B62"/>
                </a:solidFill>
                <a:latin typeface="Calibri"/>
                <a:ea typeface="Calibri"/>
                <a:cs typeface="Calibri"/>
              </a:rPr>
              <a:t>FINAL</a:t>
            </a:r>
          </a:p>
        </p:txBody>
      </p:sp>
      <p:sp>
        <p:nvSpPr>
          <p:cNvPr id="29" name="Rectangle 28">
            <a:extLst>
              <a:ext uri="{FF2B5EF4-FFF2-40B4-BE49-F238E27FC236}">
                <a16:creationId xmlns:a16="http://schemas.microsoft.com/office/drawing/2014/main" id="{6C373DA1-81D9-4BA8-AB7D-4A5504224984}"/>
              </a:ext>
            </a:extLst>
          </p:cNvPr>
          <p:cNvSpPr>
            <a:spLocks noGrp="1"/>
          </p:cNvSpPr>
          <p:nvPr/>
        </p:nvSpPr>
        <p:spPr>
          <a:xfrm>
            <a:off x="9772650" y="2152650"/>
            <a:ext cx="1714500" cy="400050"/>
          </a:xfrm>
          <a:prstGeom prst="rect">
            <a:avLst/>
          </a:prstGeom>
          <a:noFill/>
          <a:ln w="0">
            <a:noFill/>
          </a:ln>
        </p:spPr>
        <p:txBody>
          <a:bodyPr wrap="square" lIns="0" tIns="0" rIns="0" bIns="0" anchor="t">
            <a:noAutofit/>
          </a:bodyPr>
          <a:lstStyle/>
          <a:p>
            <a:pPr algn="ctr">
              <a:defRPr sz="1725" b="1">
                <a:solidFill>
                  <a:srgbClr val="F8F6FF"/>
                </a:solidFill>
                <a:latin typeface="Calibri"/>
                <a:ea typeface="Calibri"/>
                <a:cs typeface="Calibri"/>
              </a:defRPr>
            </a:pPr>
            <a:r>
              <a:rPr sz="1725" b="1">
                <a:solidFill>
                  <a:srgbClr val="F8F6FF"/>
                </a:solidFill>
                <a:latin typeface="Calibri"/>
                <a:ea typeface="Calibri"/>
                <a:cs typeface="Calibri"/>
              </a:rPr>
              <a:t>Verify &amp; present</a:t>
            </a:r>
          </a:p>
        </p:txBody>
      </p:sp>
      <p:sp>
        <p:nvSpPr>
          <p:cNvPr id="30" name="Rectangle 29">
            <a:extLst>
              <a:ext uri="{FF2B5EF4-FFF2-40B4-BE49-F238E27FC236}">
                <a16:creationId xmlns:a16="http://schemas.microsoft.com/office/drawing/2014/main" id="{2786D33E-86C2-433F-B3ED-C706FFACEEAE}"/>
              </a:ext>
            </a:extLst>
          </p:cNvPr>
          <p:cNvSpPr>
            <a:spLocks noGrp="1"/>
          </p:cNvSpPr>
          <p:nvPr/>
        </p:nvSpPr>
        <p:spPr>
          <a:xfrm>
            <a:off x="9772650" y="3714750"/>
            <a:ext cx="1714500" cy="685800"/>
          </a:xfrm>
          <a:prstGeom prst="rect">
            <a:avLst/>
          </a:prstGeom>
          <a:noFill/>
          <a:ln w="0">
            <a:noFill/>
          </a:ln>
        </p:spPr>
        <p:txBody>
          <a:bodyPr wrap="square" lIns="0" tIns="0" rIns="0" bIns="0" anchor="t">
            <a:noAutofit/>
          </a:bodyPr>
          <a:lstStyle/>
          <a:p>
            <a:pPr algn="ctr">
              <a:defRPr sz="1125" b="0">
                <a:solidFill>
                  <a:srgbClr val="B8B0D4"/>
                </a:solidFill>
                <a:latin typeface="Calibri"/>
                <a:ea typeface="Calibri"/>
                <a:cs typeface="Calibri"/>
              </a:defRPr>
            </a:pPr>
            <a:r>
              <a:rPr sz="1125" b="0">
                <a:solidFill>
                  <a:srgbClr val="B8B0D4"/>
                </a:solidFill>
                <a:latin typeface="Calibri"/>
                <a:ea typeface="Calibri"/>
                <a:cs typeface="Calibri"/>
              </a:rPr>
              <a:t>Testing, report, poster, presentation</a:t>
            </a:r>
          </a:p>
        </p:txBody>
      </p:sp>
      <p:sp>
        <p:nvSpPr>
          <p:cNvPr id="31" name="Rectangle 30">
            <a:extLst>
              <a:ext uri="{FF2B5EF4-FFF2-40B4-BE49-F238E27FC236}">
                <a16:creationId xmlns:a16="http://schemas.microsoft.com/office/drawing/2014/main" id="{DC33EAEA-7671-4B86-8B66-B1809282A192}"/>
              </a:ext>
            </a:extLst>
          </p:cNvPr>
          <p:cNvSpPr>
            <a:spLocks noGrp="1"/>
          </p:cNvSpPr>
          <p:nvPr/>
        </p:nvSpPr>
        <p:spPr>
          <a:xfrm>
            <a:off x="2781300" y="4981575"/>
            <a:ext cx="6629400" cy="400050"/>
          </a:xfrm>
          <a:prstGeom prst="rect">
            <a:avLst/>
          </a:prstGeom>
          <a:noFill/>
          <a:ln w="0">
            <a:noFill/>
          </a:ln>
        </p:spPr>
        <p:txBody>
          <a:bodyPr wrap="square" lIns="0" tIns="0" rIns="0" bIns="0" anchor="t">
            <a:noAutofit/>
          </a:bodyPr>
          <a:lstStyle/>
          <a:p>
            <a:pPr algn="ctr">
              <a:defRPr sz="2100" b="1">
                <a:solidFill>
                  <a:srgbClr val="FF6B62"/>
                </a:solidFill>
                <a:latin typeface="Calibri"/>
                <a:ea typeface="Calibri"/>
                <a:cs typeface="Calibri"/>
              </a:defRPr>
            </a:pPr>
            <a:r>
              <a:rPr sz="2100" b="1">
                <a:solidFill>
                  <a:srgbClr val="FF6B62"/>
                </a:solidFill>
                <a:latin typeface="Calibri"/>
                <a:ea typeface="Calibri"/>
                <a:cs typeface="Calibri"/>
              </a:rPr>
              <a:t>The major scope expansion occurred during FYP II</a:t>
            </a:r>
          </a:p>
        </p:txBody>
      </p:sp>
      <p:sp>
        <p:nvSpPr>
          <p:cNvPr id="32" name="Rectangle 31">
            <a:extLst>
              <a:ext uri="{FF2B5EF4-FFF2-40B4-BE49-F238E27FC236}">
                <a16:creationId xmlns:a16="http://schemas.microsoft.com/office/drawing/2014/main" id="{5A6B2B91-77C2-4EB2-A21D-52746D74E47A}"/>
              </a:ext>
            </a:extLst>
          </p:cNvPr>
          <p:cNvSpPr>
            <a:spLocks noGrp="1"/>
          </p:cNvSpPr>
          <p:nvPr/>
        </p:nvSpPr>
        <p:spPr>
          <a:xfrm>
            <a:off x="2381250" y="5476875"/>
            <a:ext cx="7429500" cy="533400"/>
          </a:xfrm>
          <a:prstGeom prst="rect">
            <a:avLst/>
          </a:prstGeom>
          <a:noFill/>
          <a:ln w="0">
            <a:noFill/>
          </a:ln>
        </p:spPr>
        <p:txBody>
          <a:bodyPr wrap="square" lIns="0" tIns="0" rIns="0" bIns="0" anchor="t">
            <a:noAutofit/>
          </a:bodyPr>
          <a:lstStyle/>
          <a:p>
            <a:pPr algn="ctr">
              <a:defRPr sz="1275" b="0">
                <a:solidFill>
                  <a:srgbClr val="B8B0D4"/>
                </a:solidFill>
                <a:latin typeface="Calibri"/>
                <a:ea typeface="Calibri"/>
                <a:cs typeface="Calibri"/>
              </a:defRPr>
            </a:pPr>
            <a:r>
              <a:rPr sz="1275" b="0">
                <a:solidFill>
                  <a:srgbClr val="B8B0D4"/>
                </a:solidFill>
                <a:latin typeface="Calibri"/>
                <a:ea typeface="Calibri"/>
                <a:cs typeface="Calibri"/>
              </a:rPr>
              <a:t>Personalisation, adaptive difficulty, statistics, risk monitoring and complete recurrence handling changed the system from a prototype into a connected care workflow.</a:t>
            </a:r>
          </a:p>
        </p:txBody>
      </p:sp>
      <p:sp>
        <p:nvSpPr>
          <p:cNvPr id="33" name="Rectangle 32">
            <a:extLst>
              <a:ext uri="{FF2B5EF4-FFF2-40B4-BE49-F238E27FC236}">
                <a16:creationId xmlns:a16="http://schemas.microsoft.com/office/drawing/2014/main" id="{A2BE61B2-88AE-49D4-9D22-720A2F198D2C}"/>
              </a:ext>
            </a:extLst>
          </p:cNvPr>
          <p:cNvSpPr>
            <a:spLocks noGrp="1"/>
          </p:cNvSpPr>
          <p:nvPr/>
        </p:nvSpPr>
        <p:spPr>
          <a:xfrm>
            <a:off x="533400" y="6543675"/>
            <a:ext cx="9525000" cy="171450"/>
          </a:xfrm>
          <a:prstGeom prst="rect">
            <a:avLst/>
          </a:prstGeom>
          <a:noFill/>
          <a:ln w="0">
            <a:noFill/>
          </a:ln>
        </p:spPr>
        <p:txBody>
          <a:bodyPr wrap="square" lIns="0" tIns="0" rIns="0" bIns="0" anchor="t">
            <a:noAutofit/>
          </a:bodyPr>
          <a:lstStyle/>
          <a:p>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 Final report WBS, pp. 42–47.</a:t>
            </a:r>
          </a:p>
        </p:txBody>
      </p:sp>
      <p:sp>
        <p:nvSpPr>
          <p:cNvPr id="34" name="Rectangle 33">
            <a:extLst>
              <a:ext uri="{FF2B5EF4-FFF2-40B4-BE49-F238E27FC236}">
                <a16:creationId xmlns:a16="http://schemas.microsoft.com/office/drawing/2014/main" id="{6B7FB200-D7F9-4B61-A452-68C5CFFAB84C}"/>
              </a:ext>
            </a:extLst>
          </p:cNvPr>
          <p:cNvSpPr>
            <a:spLocks noGrp="1"/>
          </p:cNvSpPr>
          <p:nvPr/>
        </p:nvSpPr>
        <p:spPr>
          <a:xfrm>
            <a:off x="11277600" y="6496050"/>
            <a:ext cx="476250" cy="209550"/>
          </a:xfrm>
          <a:prstGeom prst="rect">
            <a:avLst/>
          </a:prstGeom>
          <a:noFill/>
          <a:ln w="0">
            <a:noFill/>
          </a:ln>
        </p:spPr>
        <p:txBody>
          <a:bodyPr wrap="square" lIns="0" tIns="0" rIns="0" bIns="0" anchor="t">
            <a:noAutofit/>
          </a:bodyPr>
          <a:lstStyle/>
          <a:p>
            <a:pPr algn="r">
              <a:defRPr sz="975" b="1">
                <a:solidFill>
                  <a:srgbClr val="B8B0D4"/>
                </a:solidFill>
                <a:latin typeface="Calibri"/>
                <a:ea typeface="Calibri"/>
                <a:cs typeface="Calibri"/>
              </a:defRPr>
            </a:pPr>
            <a:r>
              <a:rPr sz="975" b="1">
                <a:solidFill>
                  <a:srgbClr val="B8B0D4"/>
                </a:solidFill>
                <a:latin typeface="Calibri"/>
                <a:ea typeface="Calibri"/>
                <a:cs typeface="Calibri"/>
              </a:rPr>
              <a:t>08</a:t>
            </a:r>
          </a:p>
        </p:txBody>
      </p:sp>
    </p:spTree>
    <p:extLst>
      <p:ext uri="{BB962C8B-B14F-4D97-AF65-F5344CB8AC3E}">
        <p14:creationId xmlns:p14="http://schemas.microsoft.com/office/powerpoint/2010/main" val="127921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530"/>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569677B4-9AC8-45A1-AB8E-09D196C6F3D9}"/>
              </a:ext>
            </a:extLst>
          </p:cNvPr>
          <p:cNvSpPr>
            <a:spLocks noGrp="1"/>
          </p:cNvSpPr>
          <p:nvPr/>
        </p:nvSpPr>
        <p:spPr>
          <a:xfrm>
            <a:off x="0" y="0"/>
            <a:ext cx="133350" cy="6858000"/>
          </a:xfrm>
          <a:prstGeom prst="rect">
            <a:avLst/>
          </a:prstGeom>
          <a:solidFill>
            <a:srgbClr val="FF6B62"/>
          </a:solidFill>
          <a:ln w="0">
            <a:noFill/>
          </a:ln>
        </p:spPr>
        <p:txBody>
          <a:bodyPr/>
          <a:lstStyle/>
          <a:p>
            <a:endParaRPr lang="en-MY"/>
          </a:p>
        </p:txBody>
      </p:sp>
      <p:sp>
        <p:nvSpPr>
          <p:cNvPr id="2" name="Rectangle 1">
            <a:extLst>
              <a:ext uri="{FF2B5EF4-FFF2-40B4-BE49-F238E27FC236}">
                <a16:creationId xmlns:a16="http://schemas.microsoft.com/office/drawing/2014/main" id="{96E0C09F-A5FA-432F-9338-EAAA72BEECBA}"/>
              </a:ext>
            </a:extLst>
          </p:cNvPr>
          <p:cNvSpPr>
            <a:spLocks noGrp="1"/>
          </p:cNvSpPr>
          <p:nvPr/>
        </p:nvSpPr>
        <p:spPr>
          <a:xfrm>
            <a:off x="533400" y="323850"/>
            <a:ext cx="2571750" cy="247650"/>
          </a:xfrm>
          <a:prstGeom prst="rect">
            <a:avLst/>
          </a:prstGeom>
          <a:noFill/>
          <a:ln w="0">
            <a:noFill/>
          </a:ln>
        </p:spPr>
        <p:txBody>
          <a:bodyPr wrap="square" lIns="0" tIns="0" rIns="0" bIns="0" anchor="t">
            <a:noAutofit/>
          </a:bodyPr>
          <a:lstStyle/>
          <a:p>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4 · REQUIREMENTS</a:t>
            </a:r>
          </a:p>
        </p:txBody>
      </p:sp>
      <p:sp>
        <p:nvSpPr>
          <p:cNvPr id="3" name="Rectangle 2">
            <a:extLst>
              <a:ext uri="{FF2B5EF4-FFF2-40B4-BE49-F238E27FC236}">
                <a16:creationId xmlns:a16="http://schemas.microsoft.com/office/drawing/2014/main" id="{CABC733A-8853-44A5-BE91-39CF1A8F1A70}"/>
              </a:ext>
            </a:extLst>
          </p:cNvPr>
          <p:cNvSpPr>
            <a:spLocks noGrp="1"/>
          </p:cNvSpPr>
          <p:nvPr/>
        </p:nvSpPr>
        <p:spPr>
          <a:xfrm>
            <a:off x="533400" y="619125"/>
            <a:ext cx="11049000" cy="533400"/>
          </a:xfrm>
          <a:prstGeom prst="rect">
            <a:avLst/>
          </a:prstGeom>
          <a:noFill/>
          <a:ln w="0">
            <a:noFill/>
          </a:ln>
        </p:spPr>
        <p:txBody>
          <a:bodyPr wrap="square" lIns="0" tIns="0" rIns="0" bIns="0" anchor="t">
            <a:noAutofit/>
          </a:bodyPr>
          <a:lstStyle/>
          <a:p>
            <a:pPr algn="l">
              <a:defRPr sz="2700" b="1">
                <a:solidFill>
                  <a:srgbClr val="F8F6FF"/>
                </a:solidFill>
                <a:latin typeface="Calibri"/>
                <a:ea typeface="Calibri"/>
                <a:cs typeface="Calibri"/>
              </a:defRPr>
            </a:pPr>
            <a:r>
              <a:rPr sz="2700" b="1">
                <a:solidFill>
                  <a:srgbClr val="F8F6FF"/>
                </a:solidFill>
                <a:latin typeface="Calibri"/>
                <a:ea typeface="Calibri"/>
                <a:cs typeface="Calibri"/>
              </a:rPr>
              <a:t>Functional requirements expanded from 9 to 33</a:t>
            </a:r>
          </a:p>
        </p:txBody>
      </p:sp>
      <p:sp>
        <p:nvSpPr>
          <p:cNvPr id="4" name="Rectangle 3">
            <a:extLst>
              <a:ext uri="{FF2B5EF4-FFF2-40B4-BE49-F238E27FC236}">
                <a16:creationId xmlns:a16="http://schemas.microsoft.com/office/drawing/2014/main" id="{FB425E8F-40CD-47FB-8DED-6012A7CC0274}"/>
              </a:ext>
            </a:extLst>
          </p:cNvPr>
          <p:cNvSpPr>
            <a:spLocks noGrp="1"/>
          </p:cNvSpPr>
          <p:nvPr/>
        </p:nvSpPr>
        <p:spPr>
          <a:xfrm>
            <a:off x="552450" y="1143000"/>
            <a:ext cx="10668000" cy="323850"/>
          </a:xfrm>
          <a:prstGeom prst="rect">
            <a:avLst/>
          </a:prstGeom>
          <a:noFill/>
          <a:ln w="0">
            <a:noFill/>
          </a:ln>
        </p:spPr>
        <p:txBody>
          <a:bodyPr wrap="square" lIns="0" tIns="0" rIns="0" bIns="0" anchor="t">
            <a:noAutofit/>
          </a:bodyPr>
          <a:lstStyle/>
          <a:p>
            <a:pPr algn="l">
              <a:defRPr sz="1350" b="0">
                <a:solidFill>
                  <a:srgbClr val="B8B0D4"/>
                </a:solidFill>
                <a:latin typeface="Calibri"/>
                <a:ea typeface="Calibri"/>
                <a:cs typeface="Calibri"/>
              </a:defRPr>
            </a:pPr>
            <a:r>
              <a:rPr sz="1350" b="0">
                <a:solidFill>
                  <a:srgbClr val="B8B0D4"/>
                </a:solidFill>
                <a:latin typeface="Calibri"/>
                <a:ea typeface="Calibri"/>
                <a:cs typeface="Calibri"/>
              </a:rPr>
              <a:t>The final list converted broad expectations into testable, role-specific behaviour.</a:t>
            </a:r>
          </a:p>
        </p:txBody>
      </p:sp>
      <p:sp>
        <p:nvSpPr>
          <p:cNvPr id="5" name="Rectangle 4">
            <a:extLst>
              <a:ext uri="{FF2B5EF4-FFF2-40B4-BE49-F238E27FC236}">
                <a16:creationId xmlns:a16="http://schemas.microsoft.com/office/drawing/2014/main" id="{3AAE3E9A-DDA7-4139-9CA2-A83B2C33D173}"/>
              </a:ext>
            </a:extLst>
          </p:cNvPr>
          <p:cNvSpPr>
            <a:spLocks noGrp="1"/>
          </p:cNvSpPr>
          <p:nvPr/>
        </p:nvSpPr>
        <p:spPr>
          <a:xfrm>
            <a:off x="781050" y="1819275"/>
            <a:ext cx="1524000" cy="228600"/>
          </a:xfrm>
          <a:prstGeom prst="rect">
            <a:avLst/>
          </a:prstGeom>
          <a:noFill/>
          <a:ln w="0">
            <a:noFill/>
          </a:ln>
        </p:spPr>
        <p:txBody>
          <a:bodyPr wrap="square" lIns="0" tIns="0" rIns="0" bIns="0" anchor="t">
            <a:noAutofit/>
          </a:bodyPr>
          <a:lstStyle/>
          <a:p>
            <a:pPr algn="l">
              <a:defRPr sz="1125" b="1">
                <a:solidFill>
                  <a:srgbClr val="B8B0D4"/>
                </a:solidFill>
                <a:latin typeface="Calibri"/>
                <a:ea typeface="Calibri"/>
                <a:cs typeface="Calibri"/>
              </a:defRPr>
            </a:pPr>
            <a:r>
              <a:rPr sz="1125" b="1">
                <a:solidFill>
                  <a:srgbClr val="B8B0D4"/>
                </a:solidFill>
                <a:latin typeface="Calibri"/>
                <a:ea typeface="Calibri"/>
                <a:cs typeface="Calibri"/>
              </a:rPr>
              <a:t>EARLIER</a:t>
            </a:r>
          </a:p>
        </p:txBody>
      </p:sp>
      <p:sp>
        <p:nvSpPr>
          <p:cNvPr id="6" name="Rectangle 5">
            <a:extLst>
              <a:ext uri="{FF2B5EF4-FFF2-40B4-BE49-F238E27FC236}">
                <a16:creationId xmlns:a16="http://schemas.microsoft.com/office/drawing/2014/main" id="{8803F137-C785-4C57-82EB-3CB72D4AE43E}"/>
              </a:ext>
            </a:extLst>
          </p:cNvPr>
          <p:cNvSpPr>
            <a:spLocks noGrp="1"/>
          </p:cNvSpPr>
          <p:nvPr/>
        </p:nvSpPr>
        <p:spPr>
          <a:xfrm>
            <a:off x="762000" y="2076450"/>
            <a:ext cx="2000250" cy="857250"/>
          </a:xfrm>
          <a:prstGeom prst="rect">
            <a:avLst/>
          </a:prstGeom>
          <a:noFill/>
          <a:ln w="0">
            <a:noFill/>
          </a:ln>
        </p:spPr>
        <p:txBody>
          <a:bodyPr wrap="square" lIns="0" tIns="0" rIns="0" bIns="0" anchor="t">
            <a:noAutofit/>
          </a:bodyPr>
          <a:lstStyle/>
          <a:p>
            <a:pPr algn="l">
              <a:defRPr sz="5850" b="1">
                <a:solidFill>
                  <a:srgbClr val="8F87AC"/>
                </a:solidFill>
                <a:latin typeface="Calibri"/>
                <a:ea typeface="Calibri"/>
                <a:cs typeface="Calibri"/>
              </a:defRPr>
            </a:pPr>
            <a:r>
              <a:rPr sz="5850" b="1">
                <a:solidFill>
                  <a:srgbClr val="8F87AC"/>
                </a:solidFill>
                <a:latin typeface="Calibri"/>
                <a:ea typeface="Calibri"/>
                <a:cs typeface="Calibri"/>
              </a:rPr>
              <a:t>9</a:t>
            </a:r>
          </a:p>
        </p:txBody>
      </p:sp>
      <p:sp>
        <p:nvSpPr>
          <p:cNvPr id="7" name="Rectangle 6">
            <a:extLst>
              <a:ext uri="{FF2B5EF4-FFF2-40B4-BE49-F238E27FC236}">
                <a16:creationId xmlns:a16="http://schemas.microsoft.com/office/drawing/2014/main" id="{B44F6494-27AC-4750-AAFD-E88502834956}"/>
              </a:ext>
            </a:extLst>
          </p:cNvPr>
          <p:cNvSpPr>
            <a:spLocks noGrp="1"/>
          </p:cNvSpPr>
          <p:nvPr/>
        </p:nvSpPr>
        <p:spPr>
          <a:xfrm>
            <a:off x="781050" y="2943225"/>
            <a:ext cx="2095500" cy="285750"/>
          </a:xfrm>
          <a:prstGeom prst="rect">
            <a:avLst/>
          </a:prstGeom>
          <a:noFill/>
          <a:ln w="0">
            <a:noFill/>
          </a:ln>
        </p:spPr>
        <p:txBody>
          <a:bodyPr wrap="square" lIns="0" tIns="0" rIns="0" bIns="0" anchor="t">
            <a:noAutofit/>
          </a:bodyPr>
          <a:lstStyle/>
          <a:p>
            <a:pPr algn="l">
              <a:defRPr sz="1575" b="1">
                <a:solidFill>
                  <a:srgbClr val="F8F6FF"/>
                </a:solidFill>
                <a:latin typeface="Calibri"/>
                <a:ea typeface="Calibri"/>
                <a:cs typeface="Calibri"/>
              </a:defRPr>
            </a:pPr>
            <a:r>
              <a:rPr sz="1575" b="1">
                <a:solidFill>
                  <a:srgbClr val="F8F6FF"/>
                </a:solidFill>
                <a:latin typeface="Calibri"/>
                <a:ea typeface="Calibri"/>
                <a:cs typeface="Calibri"/>
              </a:rPr>
              <a:t>General statements</a:t>
            </a:r>
          </a:p>
        </p:txBody>
      </p:sp>
      <p:sp>
        <p:nvSpPr>
          <p:cNvPr id="8" name="Rectangle 7">
            <a:extLst>
              <a:ext uri="{FF2B5EF4-FFF2-40B4-BE49-F238E27FC236}">
                <a16:creationId xmlns:a16="http://schemas.microsoft.com/office/drawing/2014/main" id="{2A8AD7DA-00E7-49B4-A973-1C0292C91CCD}"/>
              </a:ext>
            </a:extLst>
          </p:cNvPr>
          <p:cNvSpPr>
            <a:spLocks noGrp="1"/>
          </p:cNvSpPr>
          <p:nvPr/>
        </p:nvSpPr>
        <p:spPr>
          <a:xfrm>
            <a:off x="781050" y="3362325"/>
            <a:ext cx="2952750" cy="838200"/>
          </a:xfrm>
          <a:prstGeom prst="rect">
            <a:avLst/>
          </a:prstGeom>
          <a:noFill/>
          <a:ln w="0">
            <a:noFill/>
          </a:ln>
        </p:spPr>
        <p:txBody>
          <a:bodyPr wrap="square" lIns="0" tIns="0" rIns="0" bIns="0" anchor="t">
            <a:noAutofit/>
          </a:bodyPr>
          <a:lstStyle/>
          <a:p>
            <a:pPr algn="l">
              <a:defRPr sz="1275" b="0">
                <a:solidFill>
                  <a:srgbClr val="B8B0D4"/>
                </a:solidFill>
                <a:latin typeface="Calibri"/>
                <a:ea typeface="Calibri"/>
                <a:cs typeface="Calibri"/>
              </a:defRPr>
            </a:pPr>
            <a:r>
              <a:rPr sz="1275" b="0">
                <a:solidFill>
                  <a:srgbClr val="B8B0D4"/>
                </a:solidFill>
                <a:latin typeface="Calibri"/>
                <a:ea typeface="Calibri"/>
                <a:cs typeface="Calibri"/>
              </a:rPr>
              <a:t>Authentication, dashboard, status, notification, games, streaks and basic caregiver monitoring.</a:t>
            </a:r>
          </a:p>
        </p:txBody>
      </p:sp>
      <p:sp>
        <p:nvSpPr>
          <p:cNvPr id="9" name="Rectangle 8">
            <a:extLst>
              <a:ext uri="{FF2B5EF4-FFF2-40B4-BE49-F238E27FC236}">
                <a16:creationId xmlns:a16="http://schemas.microsoft.com/office/drawing/2014/main" id="{C5A7DCFD-2F34-44D4-BB19-4002D111D424}"/>
              </a:ext>
            </a:extLst>
          </p:cNvPr>
          <p:cNvSpPr>
            <a:spLocks noGrp="1"/>
          </p:cNvSpPr>
          <p:nvPr/>
        </p:nvSpPr>
        <p:spPr>
          <a:xfrm>
            <a:off x="3905250" y="2609850"/>
            <a:ext cx="838200" cy="666750"/>
          </a:xfrm>
          <a:prstGeom prst="rect">
            <a:avLst/>
          </a:prstGeom>
          <a:noFill/>
          <a:ln w="0">
            <a:noFill/>
          </a:ln>
        </p:spPr>
        <p:txBody>
          <a:bodyPr wrap="square" lIns="0" tIns="0" rIns="0" bIns="0" anchor="t">
            <a:noAutofit/>
          </a:bodyPr>
          <a:lstStyle/>
          <a:p>
            <a:pPr algn="ctr">
              <a:defRPr sz="4350" b="1">
                <a:solidFill>
                  <a:srgbClr val="FF6B62"/>
                </a:solidFill>
                <a:latin typeface="Calibri"/>
                <a:ea typeface="Calibri"/>
                <a:cs typeface="Calibri"/>
              </a:defRPr>
            </a:pPr>
            <a:r>
              <a:rPr sz="4350" b="1">
                <a:solidFill>
                  <a:srgbClr val="FF6B62"/>
                </a:solidFill>
                <a:latin typeface="Calibri"/>
                <a:ea typeface="Calibri"/>
                <a:cs typeface="Calibri"/>
              </a:rPr>
              <a:t>→</a:t>
            </a:r>
          </a:p>
        </p:txBody>
      </p:sp>
      <p:sp>
        <p:nvSpPr>
          <p:cNvPr id="10" name="Rectangle 9">
            <a:extLst>
              <a:ext uri="{FF2B5EF4-FFF2-40B4-BE49-F238E27FC236}">
                <a16:creationId xmlns:a16="http://schemas.microsoft.com/office/drawing/2014/main" id="{AD2CAEBF-4E74-4FDF-A561-DFE6D8F1BF8B}"/>
              </a:ext>
            </a:extLst>
          </p:cNvPr>
          <p:cNvSpPr>
            <a:spLocks noGrp="1"/>
          </p:cNvSpPr>
          <p:nvPr/>
        </p:nvSpPr>
        <p:spPr>
          <a:xfrm>
            <a:off x="5029200" y="1819275"/>
            <a:ext cx="1524000" cy="228600"/>
          </a:xfrm>
          <a:prstGeom prst="rect">
            <a:avLst/>
          </a:prstGeom>
          <a:noFill/>
          <a:ln w="0">
            <a:noFill/>
          </a:ln>
        </p:spPr>
        <p:txBody>
          <a:bodyPr wrap="square" lIns="0" tIns="0" rIns="0" bIns="0" anchor="t">
            <a:noAutofit/>
          </a:bodyPr>
          <a:lstStyle/>
          <a:p>
            <a:pPr algn="l">
              <a:defRPr sz="1125" b="1">
                <a:solidFill>
                  <a:srgbClr val="FF6B62"/>
                </a:solidFill>
                <a:latin typeface="Calibri"/>
                <a:ea typeface="Calibri"/>
                <a:cs typeface="Calibri"/>
              </a:defRPr>
            </a:pPr>
            <a:r>
              <a:rPr sz="1125" b="1">
                <a:solidFill>
                  <a:srgbClr val="FF6B62"/>
                </a:solidFill>
                <a:latin typeface="Calibri"/>
                <a:ea typeface="Calibri"/>
                <a:cs typeface="Calibri"/>
              </a:rPr>
              <a:t>FINAL</a:t>
            </a:r>
          </a:p>
        </p:txBody>
      </p:sp>
      <p:sp>
        <p:nvSpPr>
          <p:cNvPr id="11" name="Rectangle 10">
            <a:extLst>
              <a:ext uri="{FF2B5EF4-FFF2-40B4-BE49-F238E27FC236}">
                <a16:creationId xmlns:a16="http://schemas.microsoft.com/office/drawing/2014/main" id="{C79B18B3-FC7B-4E1C-8178-0A7311F76501}"/>
              </a:ext>
            </a:extLst>
          </p:cNvPr>
          <p:cNvSpPr>
            <a:spLocks noGrp="1"/>
          </p:cNvSpPr>
          <p:nvPr/>
        </p:nvSpPr>
        <p:spPr>
          <a:xfrm>
            <a:off x="5010150" y="2076450"/>
            <a:ext cx="2190750" cy="857250"/>
          </a:xfrm>
          <a:prstGeom prst="rect">
            <a:avLst/>
          </a:prstGeom>
          <a:noFill/>
          <a:ln w="0">
            <a:noFill/>
          </a:ln>
        </p:spPr>
        <p:txBody>
          <a:bodyPr wrap="square" lIns="0" tIns="0" rIns="0" bIns="0" anchor="t">
            <a:noAutofit/>
          </a:bodyPr>
          <a:lstStyle/>
          <a:p>
            <a:pPr algn="l">
              <a:defRPr sz="5850" b="1">
                <a:solidFill>
                  <a:srgbClr val="FF6B62"/>
                </a:solidFill>
                <a:latin typeface="Calibri"/>
                <a:ea typeface="Calibri"/>
                <a:cs typeface="Calibri"/>
              </a:defRPr>
            </a:pPr>
            <a:r>
              <a:rPr sz="5850" b="1">
                <a:solidFill>
                  <a:srgbClr val="FF6B62"/>
                </a:solidFill>
                <a:latin typeface="Calibri"/>
                <a:ea typeface="Calibri"/>
                <a:cs typeface="Calibri"/>
              </a:rPr>
              <a:t>33</a:t>
            </a:r>
          </a:p>
        </p:txBody>
      </p:sp>
      <p:sp>
        <p:nvSpPr>
          <p:cNvPr id="12" name="Rectangle 11">
            <a:extLst>
              <a:ext uri="{FF2B5EF4-FFF2-40B4-BE49-F238E27FC236}">
                <a16:creationId xmlns:a16="http://schemas.microsoft.com/office/drawing/2014/main" id="{AD7540EF-A0DA-48A6-9765-268B133F544D}"/>
              </a:ext>
            </a:extLst>
          </p:cNvPr>
          <p:cNvSpPr>
            <a:spLocks noGrp="1"/>
          </p:cNvSpPr>
          <p:nvPr/>
        </p:nvSpPr>
        <p:spPr>
          <a:xfrm>
            <a:off x="5029200" y="2943225"/>
            <a:ext cx="2381250" cy="285750"/>
          </a:xfrm>
          <a:prstGeom prst="rect">
            <a:avLst/>
          </a:prstGeom>
          <a:noFill/>
          <a:ln w="0">
            <a:noFill/>
          </a:ln>
        </p:spPr>
        <p:txBody>
          <a:bodyPr wrap="square" lIns="0" tIns="0" rIns="0" bIns="0" anchor="t">
            <a:noAutofit/>
          </a:bodyPr>
          <a:lstStyle/>
          <a:p>
            <a:pPr algn="l">
              <a:defRPr sz="1575" b="1">
                <a:solidFill>
                  <a:srgbClr val="F8F6FF"/>
                </a:solidFill>
                <a:latin typeface="Calibri"/>
                <a:ea typeface="Calibri"/>
                <a:cs typeface="Calibri"/>
              </a:defRPr>
            </a:pPr>
            <a:r>
              <a:rPr sz="1575" b="1">
                <a:solidFill>
                  <a:srgbClr val="F8F6FF"/>
                </a:solidFill>
                <a:latin typeface="Calibri"/>
                <a:ea typeface="Calibri"/>
                <a:cs typeface="Calibri"/>
              </a:rPr>
              <a:t>Traceable requirements</a:t>
            </a:r>
          </a:p>
        </p:txBody>
      </p:sp>
      <p:sp>
        <p:nvSpPr>
          <p:cNvPr id="13" name="Rectangle 12">
            <a:extLst>
              <a:ext uri="{FF2B5EF4-FFF2-40B4-BE49-F238E27FC236}">
                <a16:creationId xmlns:a16="http://schemas.microsoft.com/office/drawing/2014/main" id="{30A79A3D-8FC8-4208-9D6E-5302AE36BE21}"/>
              </a:ext>
            </a:extLst>
          </p:cNvPr>
          <p:cNvSpPr>
            <a:spLocks noGrp="1"/>
          </p:cNvSpPr>
          <p:nvPr/>
        </p:nvSpPr>
        <p:spPr>
          <a:xfrm>
            <a:off x="5029200" y="3362325"/>
            <a:ext cx="3095625" cy="838200"/>
          </a:xfrm>
          <a:prstGeom prst="rect">
            <a:avLst/>
          </a:prstGeom>
          <a:noFill/>
          <a:ln w="0">
            <a:noFill/>
          </a:ln>
        </p:spPr>
        <p:txBody>
          <a:bodyPr wrap="square" lIns="0" tIns="0" rIns="0" bIns="0" anchor="t">
            <a:noAutofit/>
          </a:bodyPr>
          <a:lstStyle/>
          <a:p>
            <a:pPr algn="l">
              <a:defRPr sz="1275" b="0">
                <a:solidFill>
                  <a:srgbClr val="B8B0D4"/>
                </a:solidFill>
                <a:latin typeface="Calibri"/>
                <a:ea typeface="Calibri"/>
                <a:cs typeface="Calibri"/>
              </a:defRPr>
            </a:pPr>
            <a:r>
              <a:rPr sz="1275" b="0">
                <a:solidFill>
                  <a:srgbClr val="B8B0D4"/>
                </a:solidFill>
                <a:latin typeface="Calibri"/>
                <a:ea typeface="Calibri"/>
                <a:cs typeface="Calibri"/>
              </a:rPr>
              <a:t>Each requirement has an FR ID, module and role, enabling direct mapping into unit, integration, system and acceptance tests.</a:t>
            </a:r>
          </a:p>
        </p:txBody>
      </p:sp>
      <p:sp>
        <p:nvSpPr>
          <p:cNvPr id="14" name="Rectangle: Rounded Corners 13">
            <a:extLst>
              <a:ext uri="{FF2B5EF4-FFF2-40B4-BE49-F238E27FC236}">
                <a16:creationId xmlns:a16="http://schemas.microsoft.com/office/drawing/2014/main" id="{28DB8A88-6A2B-4570-9518-420F950D7E23}"/>
              </a:ext>
            </a:extLst>
          </p:cNvPr>
          <p:cNvSpPr>
            <a:spLocks noGrp="1"/>
          </p:cNvSpPr>
          <p:nvPr/>
        </p:nvSpPr>
        <p:spPr>
          <a:xfrm>
            <a:off x="8477250" y="1809750"/>
            <a:ext cx="2857500" cy="3429000"/>
          </a:xfrm>
          <a:prstGeom prst="roundRect">
            <a:avLst>
              <a:gd name="adj" fmla="val 5333"/>
            </a:avLst>
          </a:prstGeom>
          <a:solidFill>
            <a:srgbClr val="2E2750"/>
          </a:solidFill>
          <a:ln w="0">
            <a:noFill/>
          </a:ln>
        </p:spPr>
        <p:txBody>
          <a:bodyPr/>
          <a:lstStyle/>
          <a:p>
            <a:endParaRPr lang="en-MY"/>
          </a:p>
        </p:txBody>
      </p:sp>
      <p:sp>
        <p:nvSpPr>
          <p:cNvPr id="15" name="Rectangle 14">
            <a:extLst>
              <a:ext uri="{FF2B5EF4-FFF2-40B4-BE49-F238E27FC236}">
                <a16:creationId xmlns:a16="http://schemas.microsoft.com/office/drawing/2014/main" id="{6BFBEE45-9E4E-42AA-B241-6D3917F73D41}"/>
              </a:ext>
            </a:extLst>
          </p:cNvPr>
          <p:cNvSpPr>
            <a:spLocks noGrp="1"/>
          </p:cNvSpPr>
          <p:nvPr/>
        </p:nvSpPr>
        <p:spPr>
          <a:xfrm>
            <a:off x="8724900" y="2057400"/>
            <a:ext cx="819150" cy="228600"/>
          </a:xfrm>
          <a:prstGeom prst="rect">
            <a:avLst/>
          </a:prstGeom>
          <a:noFill/>
          <a:ln w="0">
            <a:noFill/>
          </a:ln>
        </p:spPr>
        <p:txBody>
          <a:bodyPr wrap="square" lIns="0" tIns="0" rIns="0" bIns="0" anchor="t">
            <a:noAutofit/>
          </a:bodyPr>
          <a:lstStyle/>
          <a:p>
            <a:pPr algn="l">
              <a:defRPr sz="1050" b="1">
                <a:solidFill>
                  <a:srgbClr val="7C83FD"/>
                </a:solidFill>
                <a:latin typeface="Calibri"/>
                <a:ea typeface="Calibri"/>
                <a:cs typeface="Calibri"/>
              </a:defRPr>
            </a:pPr>
            <a:r>
              <a:rPr sz="1050" b="1">
                <a:solidFill>
                  <a:srgbClr val="7C83FD"/>
                </a:solidFill>
                <a:latin typeface="Calibri"/>
                <a:ea typeface="Calibri"/>
                <a:cs typeface="Calibri"/>
              </a:rPr>
              <a:t>FR01–04</a:t>
            </a:r>
          </a:p>
        </p:txBody>
      </p:sp>
      <p:sp>
        <p:nvSpPr>
          <p:cNvPr id="16" name="Rectangle 15">
            <a:extLst>
              <a:ext uri="{FF2B5EF4-FFF2-40B4-BE49-F238E27FC236}">
                <a16:creationId xmlns:a16="http://schemas.microsoft.com/office/drawing/2014/main" id="{95CF6479-E49C-49D4-BABB-92586382C0E5}"/>
              </a:ext>
            </a:extLst>
          </p:cNvPr>
          <p:cNvSpPr>
            <a:spLocks noGrp="1"/>
          </p:cNvSpPr>
          <p:nvPr/>
        </p:nvSpPr>
        <p:spPr>
          <a:xfrm>
            <a:off x="9582150" y="2057400"/>
            <a:ext cx="1524000" cy="247650"/>
          </a:xfrm>
          <a:prstGeom prst="rect">
            <a:avLst/>
          </a:prstGeom>
          <a:noFill/>
          <a:ln w="0">
            <a:noFill/>
          </a:ln>
        </p:spPr>
        <p:txBody>
          <a:bodyPr wrap="square" lIns="0" tIns="0" rIns="0" bIns="0" anchor="t">
            <a:noAutofit/>
          </a:bodyPr>
          <a:lstStyle/>
          <a:p>
            <a:pPr algn="l">
              <a:defRPr sz="1200" b="0">
                <a:solidFill>
                  <a:srgbClr val="F8F6FF"/>
                </a:solidFill>
                <a:latin typeface="Calibri"/>
                <a:ea typeface="Calibri"/>
                <a:cs typeface="Calibri"/>
              </a:defRPr>
            </a:pPr>
            <a:r>
              <a:rPr sz="1200" b="0">
                <a:solidFill>
                  <a:srgbClr val="F8F6FF"/>
                </a:solidFill>
                <a:latin typeface="Calibri"/>
                <a:ea typeface="Calibri"/>
                <a:cs typeface="Calibri"/>
              </a:rPr>
              <a:t>Access &amp; settings</a:t>
            </a:r>
          </a:p>
        </p:txBody>
      </p:sp>
      <p:sp>
        <p:nvSpPr>
          <p:cNvPr id="17" name="Rectangle 16">
            <a:extLst>
              <a:ext uri="{FF2B5EF4-FFF2-40B4-BE49-F238E27FC236}">
                <a16:creationId xmlns:a16="http://schemas.microsoft.com/office/drawing/2014/main" id="{45FAA414-B3CB-4C10-AF53-8059FAC4AB5F}"/>
              </a:ext>
            </a:extLst>
          </p:cNvPr>
          <p:cNvSpPr>
            <a:spLocks noGrp="1"/>
          </p:cNvSpPr>
          <p:nvPr/>
        </p:nvSpPr>
        <p:spPr>
          <a:xfrm>
            <a:off x="8724900" y="2533650"/>
            <a:ext cx="819150" cy="228600"/>
          </a:xfrm>
          <a:prstGeom prst="rect">
            <a:avLst/>
          </a:prstGeom>
          <a:noFill/>
          <a:ln w="0">
            <a:noFill/>
          </a:ln>
        </p:spPr>
        <p:txBody>
          <a:bodyPr wrap="square" lIns="0" tIns="0" rIns="0" bIns="0" anchor="t">
            <a:noAutofit/>
          </a:bodyPr>
          <a:lstStyle/>
          <a:p>
            <a:pPr algn="l">
              <a:defRPr sz="1050" b="1">
                <a:solidFill>
                  <a:srgbClr val="7C83FD"/>
                </a:solidFill>
                <a:latin typeface="Calibri"/>
                <a:ea typeface="Calibri"/>
                <a:cs typeface="Calibri"/>
              </a:defRPr>
            </a:pPr>
            <a:r>
              <a:rPr sz="1050" b="1">
                <a:solidFill>
                  <a:srgbClr val="7C83FD"/>
                </a:solidFill>
                <a:latin typeface="Calibri"/>
                <a:ea typeface="Calibri"/>
                <a:cs typeface="Calibri"/>
              </a:rPr>
              <a:t>FR05–07</a:t>
            </a:r>
          </a:p>
        </p:txBody>
      </p:sp>
      <p:sp>
        <p:nvSpPr>
          <p:cNvPr id="18" name="Rectangle 17">
            <a:extLst>
              <a:ext uri="{FF2B5EF4-FFF2-40B4-BE49-F238E27FC236}">
                <a16:creationId xmlns:a16="http://schemas.microsoft.com/office/drawing/2014/main" id="{42EF799A-7E59-429D-8D37-FE9BE293C124}"/>
              </a:ext>
            </a:extLst>
          </p:cNvPr>
          <p:cNvSpPr>
            <a:spLocks noGrp="1"/>
          </p:cNvSpPr>
          <p:nvPr/>
        </p:nvSpPr>
        <p:spPr>
          <a:xfrm>
            <a:off x="9582150" y="2533650"/>
            <a:ext cx="1524000" cy="247650"/>
          </a:xfrm>
          <a:prstGeom prst="rect">
            <a:avLst/>
          </a:prstGeom>
          <a:noFill/>
          <a:ln w="0">
            <a:noFill/>
          </a:ln>
        </p:spPr>
        <p:txBody>
          <a:bodyPr wrap="square" lIns="0" tIns="0" rIns="0" bIns="0" anchor="t">
            <a:noAutofit/>
          </a:bodyPr>
          <a:lstStyle/>
          <a:p>
            <a:pPr algn="l">
              <a:defRPr sz="1200" b="0">
                <a:solidFill>
                  <a:srgbClr val="F8F6FF"/>
                </a:solidFill>
                <a:latin typeface="Calibri"/>
                <a:ea typeface="Calibri"/>
                <a:cs typeface="Calibri"/>
              </a:defRPr>
            </a:pPr>
            <a:r>
              <a:rPr sz="1200" b="0">
                <a:solidFill>
                  <a:srgbClr val="F8F6FF"/>
                </a:solidFill>
                <a:latin typeface="Calibri"/>
                <a:ea typeface="Calibri"/>
                <a:cs typeface="Calibri"/>
              </a:rPr>
              <a:t>Cognitive &amp; adaptive</a:t>
            </a:r>
          </a:p>
        </p:txBody>
      </p:sp>
      <p:sp>
        <p:nvSpPr>
          <p:cNvPr id="19" name="Rectangle 18">
            <a:extLst>
              <a:ext uri="{FF2B5EF4-FFF2-40B4-BE49-F238E27FC236}">
                <a16:creationId xmlns:a16="http://schemas.microsoft.com/office/drawing/2014/main" id="{43AF2CE6-B384-4A1A-ADCB-112FB5EDD003}"/>
              </a:ext>
            </a:extLst>
          </p:cNvPr>
          <p:cNvSpPr>
            <a:spLocks noGrp="1"/>
          </p:cNvSpPr>
          <p:nvPr/>
        </p:nvSpPr>
        <p:spPr>
          <a:xfrm>
            <a:off x="8724900" y="3009900"/>
            <a:ext cx="819150" cy="228600"/>
          </a:xfrm>
          <a:prstGeom prst="rect">
            <a:avLst/>
          </a:prstGeom>
          <a:noFill/>
          <a:ln w="0">
            <a:noFill/>
          </a:ln>
        </p:spPr>
        <p:txBody>
          <a:bodyPr wrap="square" lIns="0" tIns="0" rIns="0" bIns="0" anchor="t">
            <a:noAutofit/>
          </a:bodyPr>
          <a:lstStyle/>
          <a:p>
            <a:pPr algn="l">
              <a:defRPr sz="1050" b="1">
                <a:solidFill>
                  <a:srgbClr val="7C83FD"/>
                </a:solidFill>
                <a:latin typeface="Calibri"/>
                <a:ea typeface="Calibri"/>
                <a:cs typeface="Calibri"/>
              </a:defRPr>
            </a:pPr>
            <a:r>
              <a:rPr sz="1050" b="1">
                <a:solidFill>
                  <a:srgbClr val="7C83FD"/>
                </a:solidFill>
                <a:latin typeface="Calibri"/>
                <a:ea typeface="Calibri"/>
                <a:cs typeface="Calibri"/>
              </a:rPr>
              <a:t>FR08–12</a:t>
            </a:r>
          </a:p>
        </p:txBody>
      </p:sp>
      <p:sp>
        <p:nvSpPr>
          <p:cNvPr id="20" name="Rectangle 19">
            <a:extLst>
              <a:ext uri="{FF2B5EF4-FFF2-40B4-BE49-F238E27FC236}">
                <a16:creationId xmlns:a16="http://schemas.microsoft.com/office/drawing/2014/main" id="{F1C85FED-8991-4A71-8909-CA86DF5941A4}"/>
              </a:ext>
            </a:extLst>
          </p:cNvPr>
          <p:cNvSpPr>
            <a:spLocks noGrp="1"/>
          </p:cNvSpPr>
          <p:nvPr/>
        </p:nvSpPr>
        <p:spPr>
          <a:xfrm>
            <a:off x="9582150" y="3009900"/>
            <a:ext cx="1524000" cy="247650"/>
          </a:xfrm>
          <a:prstGeom prst="rect">
            <a:avLst/>
          </a:prstGeom>
          <a:noFill/>
          <a:ln w="0">
            <a:noFill/>
          </a:ln>
        </p:spPr>
        <p:txBody>
          <a:bodyPr wrap="square" lIns="0" tIns="0" rIns="0" bIns="0" anchor="t">
            <a:noAutofit/>
          </a:bodyPr>
          <a:lstStyle/>
          <a:p>
            <a:pPr algn="l">
              <a:defRPr sz="1200" b="0">
                <a:solidFill>
                  <a:srgbClr val="F8F6FF"/>
                </a:solidFill>
                <a:latin typeface="Calibri"/>
                <a:ea typeface="Calibri"/>
                <a:cs typeface="Calibri"/>
              </a:defRPr>
            </a:pPr>
            <a:r>
              <a:rPr sz="1200" b="0">
                <a:solidFill>
                  <a:srgbClr val="F8F6FF"/>
                </a:solidFill>
                <a:latin typeface="Calibri"/>
                <a:ea typeface="Calibri"/>
                <a:cs typeface="Calibri"/>
              </a:rPr>
              <a:t>Gamification</a:t>
            </a:r>
          </a:p>
        </p:txBody>
      </p:sp>
      <p:sp>
        <p:nvSpPr>
          <p:cNvPr id="21" name="Rectangle 20">
            <a:extLst>
              <a:ext uri="{FF2B5EF4-FFF2-40B4-BE49-F238E27FC236}">
                <a16:creationId xmlns:a16="http://schemas.microsoft.com/office/drawing/2014/main" id="{3E315ED7-10DA-4FEC-AFD9-EFC333ADB83E}"/>
              </a:ext>
            </a:extLst>
          </p:cNvPr>
          <p:cNvSpPr>
            <a:spLocks noGrp="1"/>
          </p:cNvSpPr>
          <p:nvPr/>
        </p:nvSpPr>
        <p:spPr>
          <a:xfrm>
            <a:off x="8724900" y="3486150"/>
            <a:ext cx="819150" cy="228600"/>
          </a:xfrm>
          <a:prstGeom prst="rect">
            <a:avLst/>
          </a:prstGeom>
          <a:noFill/>
          <a:ln w="0">
            <a:noFill/>
          </a:ln>
        </p:spPr>
        <p:txBody>
          <a:bodyPr wrap="square" lIns="0" tIns="0" rIns="0" bIns="0" anchor="t">
            <a:noAutofit/>
          </a:bodyPr>
          <a:lstStyle/>
          <a:p>
            <a:pPr algn="l">
              <a:defRPr sz="1050" b="1">
                <a:solidFill>
                  <a:srgbClr val="7C83FD"/>
                </a:solidFill>
                <a:latin typeface="Calibri"/>
                <a:ea typeface="Calibri"/>
                <a:cs typeface="Calibri"/>
              </a:defRPr>
            </a:pPr>
            <a:r>
              <a:rPr sz="1050" b="1">
                <a:solidFill>
                  <a:srgbClr val="7C83FD"/>
                </a:solidFill>
                <a:latin typeface="Calibri"/>
                <a:ea typeface="Calibri"/>
                <a:cs typeface="Calibri"/>
              </a:rPr>
              <a:t>FR13–17</a:t>
            </a:r>
          </a:p>
        </p:txBody>
      </p:sp>
      <p:sp>
        <p:nvSpPr>
          <p:cNvPr id="22" name="Rectangle 21">
            <a:extLst>
              <a:ext uri="{FF2B5EF4-FFF2-40B4-BE49-F238E27FC236}">
                <a16:creationId xmlns:a16="http://schemas.microsoft.com/office/drawing/2014/main" id="{7E85B0E7-F16B-4B9B-96FF-D78BBA131920}"/>
              </a:ext>
            </a:extLst>
          </p:cNvPr>
          <p:cNvSpPr>
            <a:spLocks noGrp="1"/>
          </p:cNvSpPr>
          <p:nvPr/>
        </p:nvSpPr>
        <p:spPr>
          <a:xfrm>
            <a:off x="9582150" y="3486150"/>
            <a:ext cx="1524000" cy="247650"/>
          </a:xfrm>
          <a:prstGeom prst="rect">
            <a:avLst/>
          </a:prstGeom>
          <a:noFill/>
          <a:ln w="0">
            <a:noFill/>
          </a:ln>
        </p:spPr>
        <p:txBody>
          <a:bodyPr wrap="square" lIns="0" tIns="0" rIns="0" bIns="0" anchor="t">
            <a:noAutofit/>
          </a:bodyPr>
          <a:lstStyle/>
          <a:p>
            <a:pPr algn="l">
              <a:defRPr sz="1200" b="0">
                <a:solidFill>
                  <a:srgbClr val="F8F6FF"/>
                </a:solidFill>
                <a:latin typeface="Calibri"/>
                <a:ea typeface="Calibri"/>
                <a:cs typeface="Calibri"/>
              </a:defRPr>
            </a:pPr>
            <a:r>
              <a:rPr sz="1200" b="0" dirty="0">
                <a:solidFill>
                  <a:srgbClr val="F8F6FF"/>
                </a:solidFill>
                <a:latin typeface="Calibri"/>
                <a:ea typeface="Calibri"/>
                <a:cs typeface="Calibri"/>
              </a:rPr>
              <a:t>Patient management</a:t>
            </a:r>
          </a:p>
        </p:txBody>
      </p:sp>
      <p:sp>
        <p:nvSpPr>
          <p:cNvPr id="23" name="Rectangle 22">
            <a:extLst>
              <a:ext uri="{FF2B5EF4-FFF2-40B4-BE49-F238E27FC236}">
                <a16:creationId xmlns:a16="http://schemas.microsoft.com/office/drawing/2014/main" id="{B3A95DFC-E560-4589-AE4C-EF215B385230}"/>
              </a:ext>
            </a:extLst>
          </p:cNvPr>
          <p:cNvSpPr>
            <a:spLocks noGrp="1"/>
          </p:cNvSpPr>
          <p:nvPr/>
        </p:nvSpPr>
        <p:spPr>
          <a:xfrm>
            <a:off x="8724900" y="3962400"/>
            <a:ext cx="819150" cy="228600"/>
          </a:xfrm>
          <a:prstGeom prst="rect">
            <a:avLst/>
          </a:prstGeom>
          <a:noFill/>
          <a:ln w="0">
            <a:noFill/>
          </a:ln>
        </p:spPr>
        <p:txBody>
          <a:bodyPr wrap="square" lIns="0" tIns="0" rIns="0" bIns="0" anchor="t">
            <a:noAutofit/>
          </a:bodyPr>
          <a:lstStyle/>
          <a:p>
            <a:pPr algn="l">
              <a:defRPr sz="1050" b="1">
                <a:solidFill>
                  <a:srgbClr val="FF6B62"/>
                </a:solidFill>
                <a:latin typeface="Calibri"/>
                <a:ea typeface="Calibri"/>
                <a:cs typeface="Calibri"/>
              </a:defRPr>
            </a:pPr>
            <a:r>
              <a:rPr sz="1050" b="1">
                <a:solidFill>
                  <a:srgbClr val="FF6B62"/>
                </a:solidFill>
                <a:latin typeface="Calibri"/>
                <a:ea typeface="Calibri"/>
                <a:cs typeface="Calibri"/>
              </a:rPr>
              <a:t>FR18–31</a:t>
            </a:r>
          </a:p>
        </p:txBody>
      </p:sp>
      <p:sp>
        <p:nvSpPr>
          <p:cNvPr id="24" name="Rectangle 23">
            <a:extLst>
              <a:ext uri="{FF2B5EF4-FFF2-40B4-BE49-F238E27FC236}">
                <a16:creationId xmlns:a16="http://schemas.microsoft.com/office/drawing/2014/main" id="{087A4378-1552-4EA3-8C3E-E35942DF59EC}"/>
              </a:ext>
            </a:extLst>
          </p:cNvPr>
          <p:cNvSpPr>
            <a:spLocks noGrp="1"/>
          </p:cNvSpPr>
          <p:nvPr/>
        </p:nvSpPr>
        <p:spPr>
          <a:xfrm>
            <a:off x="9582150" y="3962400"/>
            <a:ext cx="1524000" cy="247650"/>
          </a:xfrm>
          <a:prstGeom prst="rect">
            <a:avLst/>
          </a:prstGeom>
          <a:noFill/>
          <a:ln w="0">
            <a:noFill/>
          </a:ln>
        </p:spPr>
        <p:txBody>
          <a:bodyPr wrap="square" lIns="0" tIns="0" rIns="0" bIns="0" anchor="t">
            <a:noAutofit/>
          </a:bodyPr>
          <a:lstStyle/>
          <a:p>
            <a:pPr algn="l">
              <a:defRPr sz="1200" b="0">
                <a:solidFill>
                  <a:srgbClr val="F8F6FF"/>
                </a:solidFill>
                <a:latin typeface="Calibri"/>
                <a:ea typeface="Calibri"/>
                <a:cs typeface="Calibri"/>
              </a:defRPr>
            </a:pPr>
            <a:r>
              <a:rPr sz="1200" b="0">
                <a:solidFill>
                  <a:srgbClr val="F8F6FF"/>
                </a:solidFill>
                <a:latin typeface="Calibri"/>
                <a:ea typeface="Calibri"/>
                <a:cs typeface="Calibri"/>
              </a:rPr>
              <a:t>Tasks &amp; reminders</a:t>
            </a:r>
          </a:p>
        </p:txBody>
      </p:sp>
      <p:sp>
        <p:nvSpPr>
          <p:cNvPr id="25" name="Rectangle 24">
            <a:extLst>
              <a:ext uri="{FF2B5EF4-FFF2-40B4-BE49-F238E27FC236}">
                <a16:creationId xmlns:a16="http://schemas.microsoft.com/office/drawing/2014/main" id="{4DC85704-2181-4CCA-8F12-5C4F952E9F8D}"/>
              </a:ext>
            </a:extLst>
          </p:cNvPr>
          <p:cNvSpPr>
            <a:spLocks noGrp="1"/>
          </p:cNvSpPr>
          <p:nvPr/>
        </p:nvSpPr>
        <p:spPr>
          <a:xfrm>
            <a:off x="8724900" y="4438650"/>
            <a:ext cx="819150" cy="228600"/>
          </a:xfrm>
          <a:prstGeom prst="rect">
            <a:avLst/>
          </a:prstGeom>
          <a:noFill/>
          <a:ln w="0">
            <a:noFill/>
          </a:ln>
        </p:spPr>
        <p:txBody>
          <a:bodyPr wrap="square" lIns="0" tIns="0" rIns="0" bIns="0" anchor="t">
            <a:noAutofit/>
          </a:bodyPr>
          <a:lstStyle/>
          <a:p>
            <a:pPr algn="l">
              <a:defRPr sz="1050" b="1">
                <a:solidFill>
                  <a:srgbClr val="7C83FD"/>
                </a:solidFill>
                <a:latin typeface="Calibri"/>
                <a:ea typeface="Calibri"/>
                <a:cs typeface="Calibri"/>
              </a:defRPr>
            </a:pPr>
            <a:r>
              <a:rPr sz="1050" b="1">
                <a:solidFill>
                  <a:srgbClr val="7C83FD"/>
                </a:solidFill>
                <a:latin typeface="Calibri"/>
                <a:ea typeface="Calibri"/>
                <a:cs typeface="Calibri"/>
              </a:rPr>
              <a:t>FR32–33</a:t>
            </a:r>
          </a:p>
        </p:txBody>
      </p:sp>
      <p:sp>
        <p:nvSpPr>
          <p:cNvPr id="26" name="Rectangle 25">
            <a:extLst>
              <a:ext uri="{FF2B5EF4-FFF2-40B4-BE49-F238E27FC236}">
                <a16:creationId xmlns:a16="http://schemas.microsoft.com/office/drawing/2014/main" id="{A28EA6E8-3AC3-4D5D-B6C4-CFC4926DAE63}"/>
              </a:ext>
            </a:extLst>
          </p:cNvPr>
          <p:cNvSpPr>
            <a:spLocks noGrp="1"/>
          </p:cNvSpPr>
          <p:nvPr/>
        </p:nvSpPr>
        <p:spPr>
          <a:xfrm>
            <a:off x="9582150" y="4438650"/>
            <a:ext cx="1524000" cy="247650"/>
          </a:xfrm>
          <a:prstGeom prst="rect">
            <a:avLst/>
          </a:prstGeom>
          <a:noFill/>
          <a:ln w="0">
            <a:noFill/>
          </a:ln>
        </p:spPr>
        <p:txBody>
          <a:bodyPr wrap="square" lIns="0" tIns="0" rIns="0" bIns="0" anchor="t">
            <a:noAutofit/>
          </a:bodyPr>
          <a:lstStyle/>
          <a:p>
            <a:pPr algn="l">
              <a:defRPr sz="1200" b="0">
                <a:solidFill>
                  <a:srgbClr val="F8F6FF"/>
                </a:solidFill>
                <a:latin typeface="Calibri"/>
                <a:ea typeface="Calibri"/>
                <a:cs typeface="Calibri"/>
              </a:defRPr>
            </a:pPr>
            <a:r>
              <a:rPr sz="1200" b="0">
                <a:solidFill>
                  <a:srgbClr val="F8F6FF"/>
                </a:solidFill>
                <a:latin typeface="Calibri"/>
                <a:ea typeface="Calibri"/>
                <a:cs typeface="Calibri"/>
              </a:rPr>
              <a:t>Monitoring &amp; analytics</a:t>
            </a:r>
          </a:p>
        </p:txBody>
      </p:sp>
      <p:sp>
        <p:nvSpPr>
          <p:cNvPr id="27" name="Rectangle: Rounded Corners 26">
            <a:extLst>
              <a:ext uri="{FF2B5EF4-FFF2-40B4-BE49-F238E27FC236}">
                <a16:creationId xmlns:a16="http://schemas.microsoft.com/office/drawing/2014/main" id="{0C23578E-6E31-4EEE-AA2B-F1901168ED80}"/>
              </a:ext>
            </a:extLst>
          </p:cNvPr>
          <p:cNvSpPr>
            <a:spLocks noGrp="1"/>
          </p:cNvSpPr>
          <p:nvPr/>
        </p:nvSpPr>
        <p:spPr>
          <a:xfrm>
            <a:off x="9048750" y="4781550"/>
            <a:ext cx="1695450" cy="323850"/>
          </a:xfrm>
          <a:prstGeom prst="roundRect">
            <a:avLst>
              <a:gd name="adj" fmla="val 35294"/>
            </a:avLst>
          </a:prstGeom>
          <a:solidFill>
            <a:srgbClr val="FF6B62"/>
          </a:solidFill>
          <a:ln w="0">
            <a:noFill/>
          </a:ln>
        </p:spPr>
        <p:txBody>
          <a:bodyPr/>
          <a:lstStyle/>
          <a:p>
            <a:endParaRPr lang="en-MY"/>
          </a:p>
        </p:txBody>
      </p:sp>
      <p:sp>
        <p:nvSpPr>
          <p:cNvPr id="28" name="Rectangle 27">
            <a:extLst>
              <a:ext uri="{FF2B5EF4-FFF2-40B4-BE49-F238E27FC236}">
                <a16:creationId xmlns:a16="http://schemas.microsoft.com/office/drawing/2014/main" id="{DB6173CD-6152-4A2F-BDC7-28B480A66376}"/>
              </a:ext>
            </a:extLst>
          </p:cNvPr>
          <p:cNvSpPr>
            <a:spLocks noGrp="1"/>
          </p:cNvSpPr>
          <p:nvPr/>
        </p:nvSpPr>
        <p:spPr>
          <a:xfrm>
            <a:off x="9048750" y="4791075"/>
            <a:ext cx="1695450" cy="285750"/>
          </a:xfrm>
          <a:prstGeom prst="rect">
            <a:avLst/>
          </a:prstGeom>
          <a:noFill/>
          <a:ln w="0">
            <a:noFill/>
          </a:ln>
        </p:spPr>
        <p:txBody>
          <a:bodyPr wrap="square" lIns="0" tIns="0" rIns="0" bIns="0" anchor="ctr">
            <a:noAutofit/>
          </a:bodyPr>
          <a:lstStyle/>
          <a:p>
            <a:pPr algn="ctr">
              <a:defRPr sz="1125" b="1">
                <a:solidFill>
                  <a:srgbClr val="F8F6FF"/>
                </a:solidFill>
                <a:latin typeface="Calibri"/>
                <a:ea typeface="Calibri"/>
                <a:cs typeface="Calibri"/>
              </a:defRPr>
            </a:pPr>
            <a:r>
              <a:rPr sz="1125" b="1">
                <a:solidFill>
                  <a:srgbClr val="F8F6FF"/>
                </a:solidFill>
                <a:latin typeface="Calibri"/>
                <a:ea typeface="Calibri"/>
                <a:cs typeface="Calibri"/>
              </a:rPr>
              <a:t>6 MODULES</a:t>
            </a:r>
          </a:p>
        </p:txBody>
      </p:sp>
      <p:sp>
        <p:nvSpPr>
          <p:cNvPr id="29" name="Rectangle 28">
            <a:extLst>
              <a:ext uri="{FF2B5EF4-FFF2-40B4-BE49-F238E27FC236}">
                <a16:creationId xmlns:a16="http://schemas.microsoft.com/office/drawing/2014/main" id="{A14D3314-A778-4315-9450-8BEFFB3CC1F0}"/>
              </a:ext>
            </a:extLst>
          </p:cNvPr>
          <p:cNvSpPr>
            <a:spLocks noGrp="1"/>
          </p:cNvSpPr>
          <p:nvPr/>
        </p:nvSpPr>
        <p:spPr>
          <a:xfrm>
            <a:off x="533400" y="6543675"/>
            <a:ext cx="9525000" cy="171450"/>
          </a:xfrm>
          <a:prstGeom prst="rect">
            <a:avLst/>
          </a:prstGeom>
          <a:noFill/>
          <a:ln w="0">
            <a:noFill/>
          </a:ln>
        </p:spPr>
        <p:txBody>
          <a:bodyPr wrap="square" lIns="0" tIns="0" rIns="0" bIns="0" anchor="t">
            <a:noAutofit/>
          </a:bodyPr>
          <a:lstStyle/>
          <a:p>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Sources: earlier proposal pp. 44–45; final report Table 4.1, pp. 51–54.</a:t>
            </a:r>
          </a:p>
        </p:txBody>
      </p:sp>
      <p:sp>
        <p:nvSpPr>
          <p:cNvPr id="30" name="Rectangle 29">
            <a:extLst>
              <a:ext uri="{FF2B5EF4-FFF2-40B4-BE49-F238E27FC236}">
                <a16:creationId xmlns:a16="http://schemas.microsoft.com/office/drawing/2014/main" id="{3D2F8F27-3FED-43E3-BD3B-FB52FC293124}"/>
              </a:ext>
            </a:extLst>
          </p:cNvPr>
          <p:cNvSpPr>
            <a:spLocks noGrp="1"/>
          </p:cNvSpPr>
          <p:nvPr/>
        </p:nvSpPr>
        <p:spPr>
          <a:xfrm>
            <a:off x="11277600" y="6496050"/>
            <a:ext cx="476250" cy="209550"/>
          </a:xfrm>
          <a:prstGeom prst="rect">
            <a:avLst/>
          </a:prstGeom>
          <a:noFill/>
          <a:ln w="0">
            <a:noFill/>
          </a:ln>
        </p:spPr>
        <p:txBody>
          <a:bodyPr wrap="square" lIns="0" tIns="0" rIns="0" bIns="0" anchor="t">
            <a:noAutofit/>
          </a:bodyPr>
          <a:lstStyle/>
          <a:p>
            <a:pPr algn="r">
              <a:defRPr sz="975" b="1">
                <a:solidFill>
                  <a:srgbClr val="B8B0D4"/>
                </a:solidFill>
                <a:latin typeface="Calibri"/>
                <a:ea typeface="Calibri"/>
                <a:cs typeface="Calibri"/>
              </a:defRPr>
            </a:pPr>
            <a:r>
              <a:rPr sz="975" b="1">
                <a:solidFill>
                  <a:srgbClr val="B8B0D4"/>
                </a:solidFill>
                <a:latin typeface="Calibri"/>
                <a:ea typeface="Calibri"/>
                <a:cs typeface="Calibri"/>
              </a:rPr>
              <a:t>09</a:t>
            </a:r>
          </a:p>
        </p:txBody>
      </p:sp>
    </p:spTree>
    <p:extLst>
      <p:ext uri="{BB962C8B-B14F-4D97-AF65-F5344CB8AC3E}">
        <p14:creationId xmlns:p14="http://schemas.microsoft.com/office/powerpoint/2010/main" val="1575141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1530"/>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E0391DB6-8A08-4C94-8E44-4774ED22FE0D}"/>
              </a:ext>
            </a:extLst>
          </p:cNvPr>
          <p:cNvSpPr>
            <a:spLocks noGrp="1"/>
          </p:cNvSpPr>
          <p:nvPr/>
        </p:nvSpPr>
        <p:spPr>
          <a:xfrm>
            <a:off x="0" y="0"/>
            <a:ext cx="133350" cy="6858000"/>
          </a:xfrm>
          <a:prstGeom prst="rect">
            <a:avLst/>
          </a:prstGeom>
          <a:solidFill>
            <a:srgbClr val="FF6B62"/>
          </a:solidFill>
          <a:ln w="0">
            <a:noFill/>
          </a:ln>
        </p:spPr>
        <p:txBody>
          <a:bodyPr/>
          <a:lstStyle/>
          <a:p>
            <a:endParaRPr lang="en-MY"/>
          </a:p>
        </p:txBody>
      </p:sp>
      <p:sp>
        <p:nvSpPr>
          <p:cNvPr id="2" name="Rectangle 1">
            <a:extLst>
              <a:ext uri="{FF2B5EF4-FFF2-40B4-BE49-F238E27FC236}">
                <a16:creationId xmlns:a16="http://schemas.microsoft.com/office/drawing/2014/main" id="{3D91574A-79C4-4D82-BA70-2004E6231A9D}"/>
              </a:ext>
            </a:extLst>
          </p:cNvPr>
          <p:cNvSpPr>
            <a:spLocks noGrp="1"/>
          </p:cNvSpPr>
          <p:nvPr/>
        </p:nvSpPr>
        <p:spPr>
          <a:xfrm>
            <a:off x="533400" y="323850"/>
            <a:ext cx="2571750" cy="247650"/>
          </a:xfrm>
          <a:prstGeom prst="rect">
            <a:avLst/>
          </a:prstGeom>
          <a:noFill/>
          <a:ln w="0">
            <a:noFill/>
          </a:ln>
        </p:spPr>
        <p:txBody>
          <a:bodyPr wrap="square" lIns="0" tIns="0" rIns="0" bIns="0" anchor="t">
            <a:noAutofit/>
          </a:bodyPr>
          <a:lstStyle/>
          <a:p>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4 · REQUIREMENTS</a:t>
            </a:r>
          </a:p>
        </p:txBody>
      </p:sp>
      <p:sp>
        <p:nvSpPr>
          <p:cNvPr id="3" name="Rectangle 2">
            <a:extLst>
              <a:ext uri="{FF2B5EF4-FFF2-40B4-BE49-F238E27FC236}">
                <a16:creationId xmlns:a16="http://schemas.microsoft.com/office/drawing/2014/main" id="{7AB6A1E6-CEBE-44BE-B9C8-592CB616211B}"/>
              </a:ext>
            </a:extLst>
          </p:cNvPr>
          <p:cNvSpPr>
            <a:spLocks noGrp="1"/>
          </p:cNvSpPr>
          <p:nvPr/>
        </p:nvSpPr>
        <p:spPr>
          <a:xfrm>
            <a:off x="533400" y="619125"/>
            <a:ext cx="11049000" cy="533400"/>
          </a:xfrm>
          <a:prstGeom prst="rect">
            <a:avLst/>
          </a:prstGeom>
          <a:noFill/>
          <a:ln w="0">
            <a:noFill/>
          </a:ln>
        </p:spPr>
        <p:txBody>
          <a:bodyPr wrap="square" lIns="0" tIns="0" rIns="0" bIns="0" anchor="t">
            <a:noAutofit/>
          </a:bodyPr>
          <a:lstStyle/>
          <a:p>
            <a:pPr algn="l">
              <a:defRPr sz="2700" b="1">
                <a:solidFill>
                  <a:srgbClr val="F8F6FF"/>
                </a:solidFill>
                <a:latin typeface="Calibri"/>
                <a:ea typeface="Calibri"/>
                <a:cs typeface="Calibri"/>
              </a:defRPr>
            </a:pPr>
            <a:r>
              <a:rPr sz="2700" b="1">
                <a:solidFill>
                  <a:srgbClr val="F8F6FF"/>
                </a:solidFill>
                <a:latin typeface="Calibri"/>
                <a:ea typeface="Calibri"/>
                <a:cs typeface="Calibri"/>
              </a:rPr>
              <a:t>New capabilities added during development</a:t>
            </a:r>
          </a:p>
        </p:txBody>
      </p:sp>
      <p:sp>
        <p:nvSpPr>
          <p:cNvPr id="4" name="Rectangle 3">
            <a:extLst>
              <a:ext uri="{FF2B5EF4-FFF2-40B4-BE49-F238E27FC236}">
                <a16:creationId xmlns:a16="http://schemas.microsoft.com/office/drawing/2014/main" id="{C9C08F07-24F3-4148-BB3A-4543EAEE5126}"/>
              </a:ext>
            </a:extLst>
          </p:cNvPr>
          <p:cNvSpPr>
            <a:spLocks noGrp="1"/>
          </p:cNvSpPr>
          <p:nvPr/>
        </p:nvSpPr>
        <p:spPr>
          <a:xfrm>
            <a:off x="552450" y="1143000"/>
            <a:ext cx="10668000" cy="323850"/>
          </a:xfrm>
          <a:prstGeom prst="rect">
            <a:avLst/>
          </a:prstGeom>
          <a:noFill/>
          <a:ln w="0">
            <a:noFill/>
          </a:ln>
        </p:spPr>
        <p:txBody>
          <a:bodyPr wrap="square" lIns="0" tIns="0" rIns="0" bIns="0" anchor="t">
            <a:noAutofit/>
          </a:bodyPr>
          <a:lstStyle/>
          <a:p>
            <a:pPr algn="l">
              <a:defRPr sz="1350" b="0">
                <a:solidFill>
                  <a:srgbClr val="B8B0D4"/>
                </a:solidFill>
                <a:latin typeface="Calibri"/>
                <a:ea typeface="Calibri"/>
                <a:cs typeface="Calibri"/>
              </a:defRPr>
            </a:pPr>
            <a:r>
              <a:rPr sz="1350" b="0">
                <a:solidFill>
                  <a:srgbClr val="B8B0D4"/>
                </a:solidFill>
                <a:latin typeface="Calibri"/>
                <a:ea typeface="Calibri"/>
                <a:cs typeface="Calibri"/>
              </a:rPr>
              <a:t>These additions account for most of the change between the original proposal and the completed system.</a:t>
            </a:r>
          </a:p>
        </p:txBody>
      </p:sp>
      <p:sp>
        <p:nvSpPr>
          <p:cNvPr id="5" name="Rectangle: Rounded Corners 4">
            <a:extLst>
              <a:ext uri="{FF2B5EF4-FFF2-40B4-BE49-F238E27FC236}">
                <a16:creationId xmlns:a16="http://schemas.microsoft.com/office/drawing/2014/main" id="{EBA7F65E-B5FA-4F9B-888E-537D84124442}"/>
              </a:ext>
            </a:extLst>
          </p:cNvPr>
          <p:cNvSpPr>
            <a:spLocks noGrp="1"/>
          </p:cNvSpPr>
          <p:nvPr/>
        </p:nvSpPr>
        <p:spPr>
          <a:xfrm>
            <a:off x="685800" y="1695450"/>
            <a:ext cx="5219700" cy="1162050"/>
          </a:xfrm>
          <a:prstGeom prst="roundRect">
            <a:avLst>
              <a:gd name="adj" fmla="val 9836"/>
            </a:avLst>
          </a:prstGeom>
          <a:solidFill>
            <a:srgbClr val="2E2750"/>
          </a:solidFill>
          <a:ln w="0">
            <a:noFill/>
          </a:ln>
        </p:spPr>
        <p:txBody>
          <a:bodyPr/>
          <a:lstStyle/>
          <a:p>
            <a:endParaRPr lang="en-MY"/>
          </a:p>
        </p:txBody>
      </p:sp>
      <p:sp>
        <p:nvSpPr>
          <p:cNvPr id="6" name="Rectangle 5">
            <a:extLst>
              <a:ext uri="{FF2B5EF4-FFF2-40B4-BE49-F238E27FC236}">
                <a16:creationId xmlns:a16="http://schemas.microsoft.com/office/drawing/2014/main" id="{4D03C2E7-11FE-47DB-95C0-D1024A548DFE}"/>
              </a:ext>
            </a:extLst>
          </p:cNvPr>
          <p:cNvSpPr>
            <a:spLocks noGrp="1"/>
          </p:cNvSpPr>
          <p:nvPr/>
        </p:nvSpPr>
        <p:spPr>
          <a:xfrm>
            <a:off x="895350" y="1876425"/>
            <a:ext cx="514350" cy="400050"/>
          </a:xfrm>
          <a:prstGeom prst="rect">
            <a:avLst/>
          </a:prstGeom>
          <a:noFill/>
          <a:ln w="0">
            <a:noFill/>
          </a:ln>
        </p:spPr>
        <p:txBody>
          <a:bodyPr wrap="square" lIns="0" tIns="0" rIns="0" bIns="0" anchor="t">
            <a:noAutofit/>
          </a:bodyPr>
          <a:lstStyle/>
          <a:p>
            <a:pPr algn="l">
              <a:defRPr sz="2025" b="1">
                <a:solidFill>
                  <a:srgbClr val="FF6B62"/>
                </a:solidFill>
                <a:latin typeface="Calibri"/>
                <a:ea typeface="Calibri"/>
                <a:cs typeface="Calibri"/>
              </a:defRPr>
            </a:pPr>
            <a:r>
              <a:rPr sz="2025" b="1">
                <a:solidFill>
                  <a:srgbClr val="FF6B62"/>
                </a:solidFill>
                <a:latin typeface="Calibri"/>
                <a:ea typeface="Calibri"/>
                <a:cs typeface="Calibri"/>
              </a:rPr>
              <a:t>01</a:t>
            </a:r>
          </a:p>
        </p:txBody>
      </p:sp>
      <p:sp>
        <p:nvSpPr>
          <p:cNvPr id="7" name="Rectangle 6">
            <a:extLst>
              <a:ext uri="{FF2B5EF4-FFF2-40B4-BE49-F238E27FC236}">
                <a16:creationId xmlns:a16="http://schemas.microsoft.com/office/drawing/2014/main" id="{00F0F9CA-F45C-4381-9094-5545E24204FE}"/>
              </a:ext>
            </a:extLst>
          </p:cNvPr>
          <p:cNvSpPr>
            <a:spLocks noGrp="1"/>
          </p:cNvSpPr>
          <p:nvPr/>
        </p:nvSpPr>
        <p:spPr>
          <a:xfrm>
            <a:off x="1466850" y="1847850"/>
            <a:ext cx="4095750" cy="295275"/>
          </a:xfrm>
          <a:prstGeom prst="rect">
            <a:avLst/>
          </a:prstGeom>
          <a:noFill/>
          <a:ln w="0">
            <a:noFill/>
          </a:ln>
        </p:spPr>
        <p:txBody>
          <a:bodyPr wrap="square" lIns="0" tIns="0" rIns="0" bIns="0" anchor="t">
            <a:noAutofit/>
          </a:bodyPr>
          <a:lstStyle/>
          <a:p>
            <a:pPr algn="l">
              <a:defRPr sz="1650" b="1">
                <a:solidFill>
                  <a:srgbClr val="F8F6FF"/>
                </a:solidFill>
                <a:latin typeface="Calibri"/>
                <a:ea typeface="Calibri"/>
                <a:cs typeface="Calibri"/>
              </a:defRPr>
            </a:pPr>
            <a:r>
              <a:rPr sz="1650" b="1" dirty="0">
                <a:solidFill>
                  <a:srgbClr val="F8F6FF"/>
                </a:solidFill>
                <a:latin typeface="Calibri"/>
                <a:ea typeface="Calibri"/>
                <a:cs typeface="Calibri"/>
              </a:rPr>
              <a:t>Complete recurrence</a:t>
            </a:r>
          </a:p>
        </p:txBody>
      </p:sp>
      <p:sp>
        <p:nvSpPr>
          <p:cNvPr id="8" name="Rectangle 7">
            <a:extLst>
              <a:ext uri="{FF2B5EF4-FFF2-40B4-BE49-F238E27FC236}">
                <a16:creationId xmlns:a16="http://schemas.microsoft.com/office/drawing/2014/main" id="{2F43C685-FF5E-4103-9A29-102EACADB5E3}"/>
              </a:ext>
            </a:extLst>
          </p:cNvPr>
          <p:cNvSpPr>
            <a:spLocks noGrp="1"/>
          </p:cNvSpPr>
          <p:nvPr/>
        </p:nvSpPr>
        <p:spPr>
          <a:xfrm>
            <a:off x="1466850" y="2209800"/>
            <a:ext cx="4114800" cy="514350"/>
          </a:xfrm>
          <a:prstGeom prst="rect">
            <a:avLst/>
          </a:prstGeom>
          <a:noFill/>
          <a:ln w="0">
            <a:noFill/>
          </a:ln>
        </p:spPr>
        <p:txBody>
          <a:bodyPr wrap="square" lIns="0" tIns="0" rIns="0" bIns="0" anchor="t">
            <a:noAutofit/>
          </a:bodyPr>
          <a:lstStyle/>
          <a:p>
            <a:pPr algn="l">
              <a:defRPr sz="1200" b="0">
                <a:solidFill>
                  <a:srgbClr val="B8B0D4"/>
                </a:solidFill>
                <a:latin typeface="Calibri"/>
                <a:ea typeface="Calibri"/>
                <a:cs typeface="Calibri"/>
              </a:defRPr>
            </a:pPr>
            <a:r>
              <a:rPr sz="1200" b="0">
                <a:solidFill>
                  <a:srgbClr val="B8B0D4"/>
                </a:solidFill>
                <a:latin typeface="Calibri"/>
                <a:ea typeface="Calibri"/>
                <a:cs typeface="Calibri"/>
              </a:rPr>
              <a:t>Daily, weekly, monthly, yearly and custom schedules; occurrence-specific status.</a:t>
            </a:r>
          </a:p>
        </p:txBody>
      </p:sp>
      <p:sp>
        <p:nvSpPr>
          <p:cNvPr id="9" name="Rectangle: Rounded Corners 8">
            <a:extLst>
              <a:ext uri="{FF2B5EF4-FFF2-40B4-BE49-F238E27FC236}">
                <a16:creationId xmlns:a16="http://schemas.microsoft.com/office/drawing/2014/main" id="{99722691-F8DA-4096-BA94-6B5A06B3B474}"/>
              </a:ext>
            </a:extLst>
          </p:cNvPr>
          <p:cNvSpPr>
            <a:spLocks noGrp="1"/>
          </p:cNvSpPr>
          <p:nvPr/>
        </p:nvSpPr>
        <p:spPr>
          <a:xfrm>
            <a:off x="6229350" y="1695450"/>
            <a:ext cx="5219700" cy="1162050"/>
          </a:xfrm>
          <a:prstGeom prst="roundRect">
            <a:avLst>
              <a:gd name="adj" fmla="val 9836"/>
            </a:avLst>
          </a:prstGeom>
          <a:solidFill>
            <a:srgbClr val="2E2750"/>
          </a:solidFill>
          <a:ln w="0">
            <a:noFill/>
          </a:ln>
        </p:spPr>
        <p:txBody>
          <a:bodyPr/>
          <a:lstStyle/>
          <a:p>
            <a:endParaRPr lang="en-MY"/>
          </a:p>
        </p:txBody>
      </p:sp>
      <p:sp>
        <p:nvSpPr>
          <p:cNvPr id="10" name="Rectangle 9">
            <a:extLst>
              <a:ext uri="{FF2B5EF4-FFF2-40B4-BE49-F238E27FC236}">
                <a16:creationId xmlns:a16="http://schemas.microsoft.com/office/drawing/2014/main" id="{3B9FDE3E-96A6-47C4-8DA5-AD8D4745D86E}"/>
              </a:ext>
            </a:extLst>
          </p:cNvPr>
          <p:cNvSpPr>
            <a:spLocks noGrp="1"/>
          </p:cNvSpPr>
          <p:nvPr/>
        </p:nvSpPr>
        <p:spPr>
          <a:xfrm>
            <a:off x="6438900" y="1876425"/>
            <a:ext cx="514350" cy="400050"/>
          </a:xfrm>
          <a:prstGeom prst="rect">
            <a:avLst/>
          </a:prstGeom>
          <a:noFill/>
          <a:ln w="0">
            <a:noFill/>
          </a:ln>
        </p:spPr>
        <p:txBody>
          <a:bodyPr wrap="square" lIns="0" tIns="0" rIns="0" bIns="0" anchor="t">
            <a:noAutofit/>
          </a:bodyPr>
          <a:lstStyle/>
          <a:p>
            <a:pPr algn="l">
              <a:defRPr sz="2025" b="1">
                <a:solidFill>
                  <a:srgbClr val="FF6B62"/>
                </a:solidFill>
                <a:latin typeface="Calibri"/>
                <a:ea typeface="Calibri"/>
                <a:cs typeface="Calibri"/>
              </a:defRPr>
            </a:pPr>
            <a:r>
              <a:rPr sz="2025" b="1">
                <a:solidFill>
                  <a:srgbClr val="FF6B62"/>
                </a:solidFill>
                <a:latin typeface="Calibri"/>
                <a:ea typeface="Calibri"/>
                <a:cs typeface="Calibri"/>
              </a:rPr>
              <a:t>02</a:t>
            </a:r>
          </a:p>
        </p:txBody>
      </p:sp>
      <p:sp>
        <p:nvSpPr>
          <p:cNvPr id="11" name="Rectangle 10">
            <a:extLst>
              <a:ext uri="{FF2B5EF4-FFF2-40B4-BE49-F238E27FC236}">
                <a16:creationId xmlns:a16="http://schemas.microsoft.com/office/drawing/2014/main" id="{67DE921D-94C5-44D4-BB3E-AE85F953D948}"/>
              </a:ext>
            </a:extLst>
          </p:cNvPr>
          <p:cNvSpPr>
            <a:spLocks noGrp="1"/>
          </p:cNvSpPr>
          <p:nvPr/>
        </p:nvSpPr>
        <p:spPr>
          <a:xfrm>
            <a:off x="7010400" y="1847850"/>
            <a:ext cx="4095750" cy="295275"/>
          </a:xfrm>
          <a:prstGeom prst="rect">
            <a:avLst/>
          </a:prstGeom>
          <a:noFill/>
          <a:ln w="0">
            <a:noFill/>
          </a:ln>
        </p:spPr>
        <p:txBody>
          <a:bodyPr wrap="square" lIns="0" tIns="0" rIns="0" bIns="0" anchor="t">
            <a:noAutofit/>
          </a:bodyPr>
          <a:lstStyle/>
          <a:p>
            <a:pPr algn="l">
              <a:defRPr sz="1650" b="1">
                <a:solidFill>
                  <a:srgbClr val="F8F6FF"/>
                </a:solidFill>
                <a:latin typeface="Calibri"/>
                <a:ea typeface="Calibri"/>
                <a:cs typeface="Calibri"/>
              </a:defRPr>
            </a:pPr>
            <a:r>
              <a:rPr sz="1650" b="1">
                <a:solidFill>
                  <a:srgbClr val="F8F6FF"/>
                </a:solidFill>
                <a:latin typeface="Calibri"/>
                <a:ea typeface="Calibri"/>
                <a:cs typeface="Calibri"/>
              </a:rPr>
              <a:t>Responsive reminders</a:t>
            </a:r>
          </a:p>
        </p:txBody>
      </p:sp>
      <p:sp>
        <p:nvSpPr>
          <p:cNvPr id="12" name="Rectangle 11">
            <a:extLst>
              <a:ext uri="{FF2B5EF4-FFF2-40B4-BE49-F238E27FC236}">
                <a16:creationId xmlns:a16="http://schemas.microsoft.com/office/drawing/2014/main" id="{8F19B15F-E555-48EE-81E1-F909059E5CA8}"/>
              </a:ext>
            </a:extLst>
          </p:cNvPr>
          <p:cNvSpPr>
            <a:spLocks noGrp="1"/>
          </p:cNvSpPr>
          <p:nvPr/>
        </p:nvSpPr>
        <p:spPr>
          <a:xfrm>
            <a:off x="7010400" y="2209800"/>
            <a:ext cx="4114800" cy="514350"/>
          </a:xfrm>
          <a:prstGeom prst="rect">
            <a:avLst/>
          </a:prstGeom>
          <a:noFill/>
          <a:ln w="0">
            <a:noFill/>
          </a:ln>
        </p:spPr>
        <p:txBody>
          <a:bodyPr wrap="square" lIns="0" tIns="0" rIns="0" bIns="0" anchor="t">
            <a:noAutofit/>
          </a:bodyPr>
          <a:lstStyle/>
          <a:p>
            <a:pPr algn="l">
              <a:defRPr sz="1200" b="0">
                <a:solidFill>
                  <a:srgbClr val="B8B0D4"/>
                </a:solidFill>
                <a:latin typeface="Calibri"/>
                <a:ea typeface="Calibri"/>
                <a:cs typeface="Calibri"/>
              </a:defRPr>
            </a:pPr>
            <a:r>
              <a:rPr sz="1200" b="0">
                <a:solidFill>
                  <a:srgbClr val="B8B0D4"/>
                </a:solidFill>
                <a:latin typeface="Calibri"/>
                <a:ea typeface="Calibri"/>
                <a:cs typeface="Calibri"/>
              </a:rPr>
              <a:t>5–15 minute repetition, sound, Complete/Missed actions and automatic missed handling.</a:t>
            </a:r>
          </a:p>
        </p:txBody>
      </p:sp>
      <p:sp>
        <p:nvSpPr>
          <p:cNvPr id="13" name="Rectangle: Rounded Corners 12">
            <a:extLst>
              <a:ext uri="{FF2B5EF4-FFF2-40B4-BE49-F238E27FC236}">
                <a16:creationId xmlns:a16="http://schemas.microsoft.com/office/drawing/2014/main" id="{C92F52CA-0AAB-4B9D-87F4-2941FC5815E3}"/>
              </a:ext>
            </a:extLst>
          </p:cNvPr>
          <p:cNvSpPr>
            <a:spLocks noGrp="1"/>
          </p:cNvSpPr>
          <p:nvPr/>
        </p:nvSpPr>
        <p:spPr>
          <a:xfrm>
            <a:off x="685800" y="3105150"/>
            <a:ext cx="5219700" cy="1162050"/>
          </a:xfrm>
          <a:prstGeom prst="roundRect">
            <a:avLst>
              <a:gd name="adj" fmla="val 9836"/>
            </a:avLst>
          </a:prstGeom>
          <a:solidFill>
            <a:srgbClr val="3A3160"/>
          </a:solidFill>
          <a:ln w="0">
            <a:noFill/>
          </a:ln>
        </p:spPr>
        <p:txBody>
          <a:bodyPr/>
          <a:lstStyle/>
          <a:p>
            <a:endParaRPr lang="en-MY"/>
          </a:p>
        </p:txBody>
      </p:sp>
      <p:sp>
        <p:nvSpPr>
          <p:cNvPr id="14" name="Rectangle 13">
            <a:extLst>
              <a:ext uri="{FF2B5EF4-FFF2-40B4-BE49-F238E27FC236}">
                <a16:creationId xmlns:a16="http://schemas.microsoft.com/office/drawing/2014/main" id="{B4344EFB-2A43-4DB1-BE98-89535CA94E5D}"/>
              </a:ext>
            </a:extLst>
          </p:cNvPr>
          <p:cNvSpPr>
            <a:spLocks noGrp="1"/>
          </p:cNvSpPr>
          <p:nvPr/>
        </p:nvSpPr>
        <p:spPr>
          <a:xfrm>
            <a:off x="895350" y="3286125"/>
            <a:ext cx="514350" cy="400050"/>
          </a:xfrm>
          <a:prstGeom prst="rect">
            <a:avLst/>
          </a:prstGeom>
          <a:noFill/>
          <a:ln w="0">
            <a:noFill/>
          </a:ln>
        </p:spPr>
        <p:txBody>
          <a:bodyPr wrap="square" lIns="0" tIns="0" rIns="0" bIns="0" anchor="t">
            <a:noAutofit/>
          </a:bodyPr>
          <a:lstStyle/>
          <a:p>
            <a:pPr algn="l">
              <a:defRPr sz="2025" b="1">
                <a:solidFill>
                  <a:srgbClr val="FF6B62"/>
                </a:solidFill>
                <a:latin typeface="Calibri"/>
                <a:ea typeface="Calibri"/>
                <a:cs typeface="Calibri"/>
              </a:defRPr>
            </a:pPr>
            <a:r>
              <a:rPr sz="2025" b="1">
                <a:solidFill>
                  <a:srgbClr val="FF6B62"/>
                </a:solidFill>
                <a:latin typeface="Calibri"/>
                <a:ea typeface="Calibri"/>
                <a:cs typeface="Calibri"/>
              </a:rPr>
              <a:t>03</a:t>
            </a:r>
          </a:p>
        </p:txBody>
      </p:sp>
      <p:sp>
        <p:nvSpPr>
          <p:cNvPr id="15" name="Rectangle 14">
            <a:extLst>
              <a:ext uri="{FF2B5EF4-FFF2-40B4-BE49-F238E27FC236}">
                <a16:creationId xmlns:a16="http://schemas.microsoft.com/office/drawing/2014/main" id="{8635822D-E7A1-42A9-A0E8-4D3E74AAD26C}"/>
              </a:ext>
            </a:extLst>
          </p:cNvPr>
          <p:cNvSpPr>
            <a:spLocks noGrp="1"/>
          </p:cNvSpPr>
          <p:nvPr/>
        </p:nvSpPr>
        <p:spPr>
          <a:xfrm>
            <a:off x="1466850" y="3257550"/>
            <a:ext cx="4095750" cy="295275"/>
          </a:xfrm>
          <a:prstGeom prst="rect">
            <a:avLst/>
          </a:prstGeom>
          <a:noFill/>
          <a:ln w="0">
            <a:noFill/>
          </a:ln>
        </p:spPr>
        <p:txBody>
          <a:bodyPr wrap="square" lIns="0" tIns="0" rIns="0" bIns="0" anchor="t">
            <a:noAutofit/>
          </a:bodyPr>
          <a:lstStyle/>
          <a:p>
            <a:pPr algn="l">
              <a:defRPr sz="1650" b="1">
                <a:solidFill>
                  <a:srgbClr val="F8F6FF"/>
                </a:solidFill>
                <a:latin typeface="Calibri"/>
                <a:ea typeface="Calibri"/>
                <a:cs typeface="Calibri"/>
              </a:defRPr>
            </a:pPr>
            <a:r>
              <a:rPr sz="1650" b="1" dirty="0" err="1">
                <a:solidFill>
                  <a:srgbClr val="F8F6FF"/>
                </a:solidFill>
                <a:latin typeface="Calibri"/>
                <a:ea typeface="Calibri"/>
                <a:cs typeface="Calibri"/>
              </a:rPr>
              <a:t>Personalised</a:t>
            </a:r>
            <a:r>
              <a:rPr sz="1650" b="1" dirty="0">
                <a:solidFill>
                  <a:srgbClr val="F8F6FF"/>
                </a:solidFill>
                <a:latin typeface="Calibri"/>
                <a:ea typeface="Calibri"/>
                <a:cs typeface="Calibri"/>
              </a:rPr>
              <a:t> games</a:t>
            </a:r>
          </a:p>
        </p:txBody>
      </p:sp>
      <p:sp>
        <p:nvSpPr>
          <p:cNvPr id="16" name="Rectangle 15">
            <a:extLst>
              <a:ext uri="{FF2B5EF4-FFF2-40B4-BE49-F238E27FC236}">
                <a16:creationId xmlns:a16="http://schemas.microsoft.com/office/drawing/2014/main" id="{0D9FF465-5F73-403E-A8D8-4ED17D10C610}"/>
              </a:ext>
            </a:extLst>
          </p:cNvPr>
          <p:cNvSpPr>
            <a:spLocks noGrp="1"/>
          </p:cNvSpPr>
          <p:nvPr/>
        </p:nvSpPr>
        <p:spPr>
          <a:xfrm>
            <a:off x="1466850" y="3619500"/>
            <a:ext cx="4114800" cy="514350"/>
          </a:xfrm>
          <a:prstGeom prst="rect">
            <a:avLst/>
          </a:prstGeom>
          <a:noFill/>
          <a:ln w="0">
            <a:noFill/>
          </a:ln>
        </p:spPr>
        <p:txBody>
          <a:bodyPr wrap="square" lIns="0" tIns="0" rIns="0" bIns="0" anchor="t">
            <a:noAutofit/>
          </a:bodyPr>
          <a:lstStyle/>
          <a:p>
            <a:pPr algn="l">
              <a:defRPr sz="1200" b="0">
                <a:solidFill>
                  <a:srgbClr val="B8B0D4"/>
                </a:solidFill>
                <a:latin typeface="Calibri"/>
                <a:ea typeface="Calibri"/>
                <a:cs typeface="Calibri"/>
              </a:defRPr>
            </a:pPr>
            <a:r>
              <a:rPr sz="1200" b="0">
                <a:solidFill>
                  <a:srgbClr val="B8B0D4"/>
                </a:solidFill>
                <a:latin typeface="Calibri"/>
                <a:ea typeface="Calibri"/>
                <a:cs typeface="Calibri"/>
              </a:rPr>
              <a:t>Four type-and-stage game sets with supportive errorless guidance.</a:t>
            </a:r>
          </a:p>
        </p:txBody>
      </p:sp>
      <p:sp>
        <p:nvSpPr>
          <p:cNvPr id="17" name="Rectangle: Rounded Corners 16">
            <a:extLst>
              <a:ext uri="{FF2B5EF4-FFF2-40B4-BE49-F238E27FC236}">
                <a16:creationId xmlns:a16="http://schemas.microsoft.com/office/drawing/2014/main" id="{620DC822-4928-4048-98B7-463803E161CF}"/>
              </a:ext>
            </a:extLst>
          </p:cNvPr>
          <p:cNvSpPr>
            <a:spLocks noGrp="1"/>
          </p:cNvSpPr>
          <p:nvPr/>
        </p:nvSpPr>
        <p:spPr>
          <a:xfrm>
            <a:off x="6229350" y="3105150"/>
            <a:ext cx="5219700" cy="1162050"/>
          </a:xfrm>
          <a:prstGeom prst="roundRect">
            <a:avLst>
              <a:gd name="adj" fmla="val 9836"/>
            </a:avLst>
          </a:prstGeom>
          <a:solidFill>
            <a:srgbClr val="3A3160"/>
          </a:solidFill>
          <a:ln w="0">
            <a:noFill/>
          </a:ln>
        </p:spPr>
        <p:txBody>
          <a:bodyPr/>
          <a:lstStyle/>
          <a:p>
            <a:endParaRPr lang="en-MY"/>
          </a:p>
        </p:txBody>
      </p:sp>
      <p:sp>
        <p:nvSpPr>
          <p:cNvPr id="18" name="Rectangle 17">
            <a:extLst>
              <a:ext uri="{FF2B5EF4-FFF2-40B4-BE49-F238E27FC236}">
                <a16:creationId xmlns:a16="http://schemas.microsoft.com/office/drawing/2014/main" id="{3D86345C-2D0F-4882-B84F-5F328ED1FC69}"/>
              </a:ext>
            </a:extLst>
          </p:cNvPr>
          <p:cNvSpPr>
            <a:spLocks noGrp="1"/>
          </p:cNvSpPr>
          <p:nvPr/>
        </p:nvSpPr>
        <p:spPr>
          <a:xfrm>
            <a:off x="6438900" y="3286125"/>
            <a:ext cx="514350" cy="400050"/>
          </a:xfrm>
          <a:prstGeom prst="rect">
            <a:avLst/>
          </a:prstGeom>
          <a:noFill/>
          <a:ln w="0">
            <a:noFill/>
          </a:ln>
        </p:spPr>
        <p:txBody>
          <a:bodyPr wrap="square" lIns="0" tIns="0" rIns="0" bIns="0" anchor="t">
            <a:noAutofit/>
          </a:bodyPr>
          <a:lstStyle/>
          <a:p>
            <a:pPr algn="l">
              <a:defRPr sz="2025" b="1">
                <a:solidFill>
                  <a:srgbClr val="FF6B62"/>
                </a:solidFill>
                <a:latin typeface="Calibri"/>
                <a:ea typeface="Calibri"/>
                <a:cs typeface="Calibri"/>
              </a:defRPr>
            </a:pPr>
            <a:r>
              <a:rPr sz="2025" b="1">
                <a:solidFill>
                  <a:srgbClr val="FF6B62"/>
                </a:solidFill>
                <a:latin typeface="Calibri"/>
                <a:ea typeface="Calibri"/>
                <a:cs typeface="Calibri"/>
              </a:rPr>
              <a:t>04</a:t>
            </a:r>
          </a:p>
        </p:txBody>
      </p:sp>
      <p:sp>
        <p:nvSpPr>
          <p:cNvPr id="19" name="Rectangle 18">
            <a:extLst>
              <a:ext uri="{FF2B5EF4-FFF2-40B4-BE49-F238E27FC236}">
                <a16:creationId xmlns:a16="http://schemas.microsoft.com/office/drawing/2014/main" id="{F975B479-8455-4943-BECB-0FF8B1ABFA1D}"/>
              </a:ext>
            </a:extLst>
          </p:cNvPr>
          <p:cNvSpPr>
            <a:spLocks noGrp="1"/>
          </p:cNvSpPr>
          <p:nvPr/>
        </p:nvSpPr>
        <p:spPr>
          <a:xfrm>
            <a:off x="7010400" y="3257550"/>
            <a:ext cx="4095750" cy="295275"/>
          </a:xfrm>
          <a:prstGeom prst="rect">
            <a:avLst/>
          </a:prstGeom>
          <a:noFill/>
          <a:ln w="0">
            <a:noFill/>
          </a:ln>
        </p:spPr>
        <p:txBody>
          <a:bodyPr wrap="square" lIns="0" tIns="0" rIns="0" bIns="0" anchor="t">
            <a:noAutofit/>
          </a:bodyPr>
          <a:lstStyle/>
          <a:p>
            <a:pPr algn="l">
              <a:defRPr sz="1650" b="1">
                <a:solidFill>
                  <a:srgbClr val="F8F6FF"/>
                </a:solidFill>
                <a:latin typeface="Calibri"/>
                <a:ea typeface="Calibri"/>
                <a:cs typeface="Calibri"/>
              </a:defRPr>
            </a:pPr>
            <a:r>
              <a:rPr sz="1650" b="1">
                <a:solidFill>
                  <a:srgbClr val="F8F6FF"/>
                </a:solidFill>
                <a:latin typeface="Calibri"/>
                <a:ea typeface="Calibri"/>
                <a:cs typeface="Calibri"/>
              </a:rPr>
              <a:t>Adaptive difficulty</a:t>
            </a:r>
          </a:p>
        </p:txBody>
      </p:sp>
      <p:sp>
        <p:nvSpPr>
          <p:cNvPr id="20" name="Rectangle 19">
            <a:extLst>
              <a:ext uri="{FF2B5EF4-FFF2-40B4-BE49-F238E27FC236}">
                <a16:creationId xmlns:a16="http://schemas.microsoft.com/office/drawing/2014/main" id="{32ECF3CF-7F21-4178-8A46-E01FB3661387}"/>
              </a:ext>
            </a:extLst>
          </p:cNvPr>
          <p:cNvSpPr>
            <a:spLocks noGrp="1"/>
          </p:cNvSpPr>
          <p:nvPr/>
        </p:nvSpPr>
        <p:spPr>
          <a:xfrm>
            <a:off x="7010400" y="3619500"/>
            <a:ext cx="4114800" cy="514350"/>
          </a:xfrm>
          <a:prstGeom prst="rect">
            <a:avLst/>
          </a:prstGeom>
          <a:noFill/>
          <a:ln w="0">
            <a:noFill/>
          </a:ln>
        </p:spPr>
        <p:txBody>
          <a:bodyPr wrap="square" lIns="0" tIns="0" rIns="0" bIns="0" anchor="t">
            <a:noAutofit/>
          </a:bodyPr>
          <a:lstStyle/>
          <a:p>
            <a:pPr algn="l">
              <a:defRPr sz="1200" b="0">
                <a:solidFill>
                  <a:srgbClr val="B8B0D4"/>
                </a:solidFill>
                <a:latin typeface="Calibri"/>
                <a:ea typeface="Calibri"/>
                <a:cs typeface="Calibri"/>
              </a:defRPr>
            </a:pPr>
            <a:r>
              <a:rPr sz="1200" b="0">
                <a:solidFill>
                  <a:srgbClr val="B8B0D4"/>
                </a:solidFill>
                <a:latin typeface="Calibri"/>
                <a:ea typeface="Calibri"/>
                <a:cs typeface="Calibri"/>
              </a:rPr>
              <a:t>Per-game promotion/demotion, caregiver override, freeze/resume and audit history.</a:t>
            </a:r>
          </a:p>
        </p:txBody>
      </p:sp>
      <p:sp>
        <p:nvSpPr>
          <p:cNvPr id="21" name="Rectangle: Rounded Corners 20">
            <a:extLst>
              <a:ext uri="{FF2B5EF4-FFF2-40B4-BE49-F238E27FC236}">
                <a16:creationId xmlns:a16="http://schemas.microsoft.com/office/drawing/2014/main" id="{81C60E1C-543F-4C78-BD49-1C25E202E1C2}"/>
              </a:ext>
            </a:extLst>
          </p:cNvPr>
          <p:cNvSpPr>
            <a:spLocks noGrp="1"/>
          </p:cNvSpPr>
          <p:nvPr/>
        </p:nvSpPr>
        <p:spPr>
          <a:xfrm>
            <a:off x="685800" y="4514850"/>
            <a:ext cx="5219700" cy="1162050"/>
          </a:xfrm>
          <a:prstGeom prst="roundRect">
            <a:avLst>
              <a:gd name="adj" fmla="val 9836"/>
            </a:avLst>
          </a:prstGeom>
          <a:solidFill>
            <a:srgbClr val="2E2750"/>
          </a:solidFill>
          <a:ln w="0">
            <a:noFill/>
          </a:ln>
        </p:spPr>
        <p:txBody>
          <a:bodyPr/>
          <a:lstStyle/>
          <a:p>
            <a:endParaRPr lang="en-MY"/>
          </a:p>
        </p:txBody>
      </p:sp>
      <p:sp>
        <p:nvSpPr>
          <p:cNvPr id="22" name="Rectangle 21">
            <a:extLst>
              <a:ext uri="{FF2B5EF4-FFF2-40B4-BE49-F238E27FC236}">
                <a16:creationId xmlns:a16="http://schemas.microsoft.com/office/drawing/2014/main" id="{87B96BE1-0ED8-4711-9074-40CF3E0A9933}"/>
              </a:ext>
            </a:extLst>
          </p:cNvPr>
          <p:cNvSpPr>
            <a:spLocks noGrp="1"/>
          </p:cNvSpPr>
          <p:nvPr/>
        </p:nvSpPr>
        <p:spPr>
          <a:xfrm>
            <a:off x="895350" y="4695825"/>
            <a:ext cx="514350" cy="400050"/>
          </a:xfrm>
          <a:prstGeom prst="rect">
            <a:avLst/>
          </a:prstGeom>
          <a:noFill/>
          <a:ln w="0">
            <a:noFill/>
          </a:ln>
        </p:spPr>
        <p:txBody>
          <a:bodyPr wrap="square" lIns="0" tIns="0" rIns="0" bIns="0" anchor="t">
            <a:noAutofit/>
          </a:bodyPr>
          <a:lstStyle/>
          <a:p>
            <a:pPr algn="l">
              <a:defRPr sz="2025" b="1">
                <a:solidFill>
                  <a:srgbClr val="FF6B62"/>
                </a:solidFill>
                <a:latin typeface="Calibri"/>
                <a:ea typeface="Calibri"/>
                <a:cs typeface="Calibri"/>
              </a:defRPr>
            </a:pPr>
            <a:r>
              <a:rPr sz="2025" b="1">
                <a:solidFill>
                  <a:srgbClr val="FF6B62"/>
                </a:solidFill>
                <a:latin typeface="Calibri"/>
                <a:ea typeface="Calibri"/>
                <a:cs typeface="Calibri"/>
              </a:rPr>
              <a:t>05</a:t>
            </a:r>
          </a:p>
        </p:txBody>
      </p:sp>
      <p:sp>
        <p:nvSpPr>
          <p:cNvPr id="23" name="Rectangle 22">
            <a:extLst>
              <a:ext uri="{FF2B5EF4-FFF2-40B4-BE49-F238E27FC236}">
                <a16:creationId xmlns:a16="http://schemas.microsoft.com/office/drawing/2014/main" id="{23C24C3F-4827-4B0B-860D-62F147D02CC2}"/>
              </a:ext>
            </a:extLst>
          </p:cNvPr>
          <p:cNvSpPr>
            <a:spLocks noGrp="1"/>
          </p:cNvSpPr>
          <p:nvPr/>
        </p:nvSpPr>
        <p:spPr>
          <a:xfrm>
            <a:off x="1466850" y="4667250"/>
            <a:ext cx="4095750" cy="295275"/>
          </a:xfrm>
          <a:prstGeom prst="rect">
            <a:avLst/>
          </a:prstGeom>
          <a:noFill/>
          <a:ln w="0">
            <a:noFill/>
          </a:ln>
        </p:spPr>
        <p:txBody>
          <a:bodyPr wrap="square" lIns="0" tIns="0" rIns="0" bIns="0" anchor="t">
            <a:noAutofit/>
          </a:bodyPr>
          <a:lstStyle/>
          <a:p>
            <a:pPr algn="l">
              <a:defRPr sz="1650" b="1">
                <a:solidFill>
                  <a:srgbClr val="F8F6FF"/>
                </a:solidFill>
                <a:latin typeface="Calibri"/>
                <a:ea typeface="Calibri"/>
                <a:cs typeface="Calibri"/>
              </a:defRPr>
            </a:pPr>
            <a:r>
              <a:rPr sz="1650" b="1">
                <a:solidFill>
                  <a:srgbClr val="F8F6FF"/>
                </a:solidFill>
                <a:latin typeface="Calibri"/>
                <a:ea typeface="Calibri"/>
                <a:cs typeface="Calibri"/>
              </a:rPr>
              <a:t>Monitoring depth</a:t>
            </a:r>
          </a:p>
        </p:txBody>
      </p:sp>
      <p:sp>
        <p:nvSpPr>
          <p:cNvPr id="24" name="Rectangle 23">
            <a:extLst>
              <a:ext uri="{FF2B5EF4-FFF2-40B4-BE49-F238E27FC236}">
                <a16:creationId xmlns:a16="http://schemas.microsoft.com/office/drawing/2014/main" id="{36AE45BF-1AFE-40A6-AC73-D5EE3550456C}"/>
              </a:ext>
            </a:extLst>
          </p:cNvPr>
          <p:cNvSpPr>
            <a:spLocks noGrp="1"/>
          </p:cNvSpPr>
          <p:nvPr/>
        </p:nvSpPr>
        <p:spPr>
          <a:xfrm>
            <a:off x="1466850" y="5029200"/>
            <a:ext cx="4114800" cy="514350"/>
          </a:xfrm>
          <a:prstGeom prst="rect">
            <a:avLst/>
          </a:prstGeom>
          <a:noFill/>
          <a:ln w="0">
            <a:noFill/>
          </a:ln>
        </p:spPr>
        <p:txBody>
          <a:bodyPr wrap="square" lIns="0" tIns="0" rIns="0" bIns="0" anchor="t">
            <a:noAutofit/>
          </a:bodyPr>
          <a:lstStyle/>
          <a:p>
            <a:pPr algn="l">
              <a:defRPr sz="1200" b="0">
                <a:solidFill>
                  <a:srgbClr val="B8B0D4"/>
                </a:solidFill>
                <a:latin typeface="Calibri"/>
                <a:ea typeface="Calibri"/>
                <a:cs typeface="Calibri"/>
              </a:defRPr>
            </a:pPr>
            <a:r>
              <a:rPr sz="1200" b="0">
                <a:solidFill>
                  <a:srgbClr val="B8B0D4"/>
                </a:solidFill>
                <a:latin typeface="Calibri"/>
                <a:ea typeface="Calibri"/>
                <a:cs typeface="Calibri"/>
              </a:rPr>
              <a:t>Period analytics, trends, rankings, hint use and graded caregiver risk signals.</a:t>
            </a:r>
          </a:p>
        </p:txBody>
      </p:sp>
      <p:sp>
        <p:nvSpPr>
          <p:cNvPr id="25" name="Rectangle: Rounded Corners 24">
            <a:extLst>
              <a:ext uri="{FF2B5EF4-FFF2-40B4-BE49-F238E27FC236}">
                <a16:creationId xmlns:a16="http://schemas.microsoft.com/office/drawing/2014/main" id="{4E2E4847-313C-4394-8FC5-3B50C314D2A9}"/>
              </a:ext>
            </a:extLst>
          </p:cNvPr>
          <p:cNvSpPr>
            <a:spLocks noGrp="1"/>
          </p:cNvSpPr>
          <p:nvPr/>
        </p:nvSpPr>
        <p:spPr>
          <a:xfrm>
            <a:off x="6229350" y="4514850"/>
            <a:ext cx="5219700" cy="1162050"/>
          </a:xfrm>
          <a:prstGeom prst="roundRect">
            <a:avLst>
              <a:gd name="adj" fmla="val 9836"/>
            </a:avLst>
          </a:prstGeom>
          <a:solidFill>
            <a:srgbClr val="2E2750"/>
          </a:solidFill>
          <a:ln w="0">
            <a:noFill/>
          </a:ln>
        </p:spPr>
        <p:txBody>
          <a:bodyPr/>
          <a:lstStyle/>
          <a:p>
            <a:endParaRPr lang="en-MY"/>
          </a:p>
        </p:txBody>
      </p:sp>
      <p:sp>
        <p:nvSpPr>
          <p:cNvPr id="26" name="Rectangle 25">
            <a:extLst>
              <a:ext uri="{FF2B5EF4-FFF2-40B4-BE49-F238E27FC236}">
                <a16:creationId xmlns:a16="http://schemas.microsoft.com/office/drawing/2014/main" id="{176E4847-4BD4-4135-8C1D-2ADB5FCEE5AA}"/>
              </a:ext>
            </a:extLst>
          </p:cNvPr>
          <p:cNvSpPr>
            <a:spLocks noGrp="1"/>
          </p:cNvSpPr>
          <p:nvPr/>
        </p:nvSpPr>
        <p:spPr>
          <a:xfrm>
            <a:off x="6438900" y="4695825"/>
            <a:ext cx="514350" cy="400050"/>
          </a:xfrm>
          <a:prstGeom prst="rect">
            <a:avLst/>
          </a:prstGeom>
          <a:noFill/>
          <a:ln w="0">
            <a:noFill/>
          </a:ln>
        </p:spPr>
        <p:txBody>
          <a:bodyPr wrap="square" lIns="0" tIns="0" rIns="0" bIns="0" anchor="t">
            <a:noAutofit/>
          </a:bodyPr>
          <a:lstStyle/>
          <a:p>
            <a:pPr algn="l">
              <a:defRPr sz="2025" b="1">
                <a:solidFill>
                  <a:srgbClr val="FF6B62"/>
                </a:solidFill>
                <a:latin typeface="Calibri"/>
                <a:ea typeface="Calibri"/>
                <a:cs typeface="Calibri"/>
              </a:defRPr>
            </a:pPr>
            <a:r>
              <a:rPr sz="2025" b="1">
                <a:solidFill>
                  <a:srgbClr val="FF6B62"/>
                </a:solidFill>
                <a:latin typeface="Calibri"/>
                <a:ea typeface="Calibri"/>
                <a:cs typeface="Calibri"/>
              </a:rPr>
              <a:t>06</a:t>
            </a:r>
          </a:p>
        </p:txBody>
      </p:sp>
      <p:sp>
        <p:nvSpPr>
          <p:cNvPr id="27" name="Rectangle 26">
            <a:extLst>
              <a:ext uri="{FF2B5EF4-FFF2-40B4-BE49-F238E27FC236}">
                <a16:creationId xmlns:a16="http://schemas.microsoft.com/office/drawing/2014/main" id="{9EF88F2F-DD80-4F31-BDDF-A05C9FEB49A4}"/>
              </a:ext>
            </a:extLst>
          </p:cNvPr>
          <p:cNvSpPr>
            <a:spLocks noGrp="1"/>
          </p:cNvSpPr>
          <p:nvPr/>
        </p:nvSpPr>
        <p:spPr>
          <a:xfrm>
            <a:off x="7010400" y="4667250"/>
            <a:ext cx="4095750" cy="295275"/>
          </a:xfrm>
          <a:prstGeom prst="rect">
            <a:avLst/>
          </a:prstGeom>
          <a:noFill/>
          <a:ln w="0">
            <a:noFill/>
          </a:ln>
        </p:spPr>
        <p:txBody>
          <a:bodyPr wrap="square" lIns="0" tIns="0" rIns="0" bIns="0" anchor="t">
            <a:noAutofit/>
          </a:bodyPr>
          <a:lstStyle/>
          <a:p>
            <a:pPr algn="l">
              <a:defRPr sz="1650" b="1">
                <a:solidFill>
                  <a:srgbClr val="F8F6FF"/>
                </a:solidFill>
                <a:latin typeface="Calibri"/>
                <a:ea typeface="Calibri"/>
                <a:cs typeface="Calibri"/>
              </a:defRPr>
            </a:pPr>
            <a:r>
              <a:rPr sz="1650" b="1">
                <a:solidFill>
                  <a:srgbClr val="F8F6FF"/>
                </a:solidFill>
                <a:latin typeface="Calibri"/>
                <a:ea typeface="Calibri"/>
                <a:cs typeface="Calibri"/>
              </a:rPr>
              <a:t>Reward pathway</a:t>
            </a:r>
          </a:p>
        </p:txBody>
      </p:sp>
      <p:sp>
        <p:nvSpPr>
          <p:cNvPr id="28" name="Rectangle 27">
            <a:extLst>
              <a:ext uri="{FF2B5EF4-FFF2-40B4-BE49-F238E27FC236}">
                <a16:creationId xmlns:a16="http://schemas.microsoft.com/office/drawing/2014/main" id="{239F2AA5-1092-4C5A-9CDD-4E191C008CF9}"/>
              </a:ext>
            </a:extLst>
          </p:cNvPr>
          <p:cNvSpPr>
            <a:spLocks noGrp="1"/>
          </p:cNvSpPr>
          <p:nvPr/>
        </p:nvSpPr>
        <p:spPr>
          <a:xfrm>
            <a:off x="7010400" y="5029200"/>
            <a:ext cx="4114800" cy="514350"/>
          </a:xfrm>
          <a:prstGeom prst="rect">
            <a:avLst/>
          </a:prstGeom>
          <a:noFill/>
          <a:ln w="0">
            <a:noFill/>
          </a:ln>
        </p:spPr>
        <p:txBody>
          <a:bodyPr wrap="square" lIns="0" tIns="0" rIns="0" bIns="0" anchor="t">
            <a:noAutofit/>
          </a:bodyPr>
          <a:lstStyle/>
          <a:p>
            <a:pPr algn="l">
              <a:defRPr sz="1200" b="0">
                <a:solidFill>
                  <a:srgbClr val="B8B0D4"/>
                </a:solidFill>
                <a:latin typeface="Calibri"/>
                <a:ea typeface="Calibri"/>
                <a:cs typeface="Calibri"/>
              </a:defRPr>
            </a:pPr>
            <a:r>
              <a:rPr sz="1200" b="0">
                <a:solidFill>
                  <a:srgbClr val="B8B0D4"/>
                </a:solidFill>
                <a:latin typeface="Calibri"/>
                <a:ea typeface="Calibri"/>
                <a:cs typeface="Calibri"/>
              </a:rPr>
              <a:t>Daily streak cycle, shared points, levels and points-unlocked Just for Fun games.</a:t>
            </a:r>
          </a:p>
        </p:txBody>
      </p:sp>
      <p:sp>
        <p:nvSpPr>
          <p:cNvPr id="29" name="Rectangle 28">
            <a:extLst>
              <a:ext uri="{FF2B5EF4-FFF2-40B4-BE49-F238E27FC236}">
                <a16:creationId xmlns:a16="http://schemas.microsoft.com/office/drawing/2014/main" id="{67B926DB-443E-41B1-B21E-D2F51E49C891}"/>
              </a:ext>
            </a:extLst>
          </p:cNvPr>
          <p:cNvSpPr>
            <a:spLocks noGrp="1"/>
          </p:cNvSpPr>
          <p:nvPr/>
        </p:nvSpPr>
        <p:spPr>
          <a:xfrm>
            <a:off x="533400" y="6543675"/>
            <a:ext cx="9525000" cy="171450"/>
          </a:xfrm>
          <a:prstGeom prst="rect">
            <a:avLst/>
          </a:prstGeom>
          <a:noFill/>
          <a:ln w="0">
            <a:noFill/>
          </a:ln>
        </p:spPr>
        <p:txBody>
          <a:bodyPr wrap="square" lIns="0" tIns="0" rIns="0" bIns="0" anchor="t">
            <a:noAutofit/>
          </a:bodyPr>
          <a:lstStyle/>
          <a:p>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 Final report Table 4.1 and Chapter 6.</a:t>
            </a:r>
          </a:p>
        </p:txBody>
      </p:sp>
      <p:sp>
        <p:nvSpPr>
          <p:cNvPr id="30" name="Rectangle 29">
            <a:extLst>
              <a:ext uri="{FF2B5EF4-FFF2-40B4-BE49-F238E27FC236}">
                <a16:creationId xmlns:a16="http://schemas.microsoft.com/office/drawing/2014/main" id="{14455D75-38CD-4C33-A8D1-7DE293FC7E46}"/>
              </a:ext>
            </a:extLst>
          </p:cNvPr>
          <p:cNvSpPr>
            <a:spLocks noGrp="1"/>
          </p:cNvSpPr>
          <p:nvPr/>
        </p:nvSpPr>
        <p:spPr>
          <a:xfrm>
            <a:off x="11277600" y="6496050"/>
            <a:ext cx="476250" cy="209550"/>
          </a:xfrm>
          <a:prstGeom prst="rect">
            <a:avLst/>
          </a:prstGeom>
          <a:noFill/>
          <a:ln w="0">
            <a:noFill/>
          </a:ln>
        </p:spPr>
        <p:txBody>
          <a:bodyPr wrap="square" lIns="0" tIns="0" rIns="0" bIns="0" anchor="t">
            <a:noAutofit/>
          </a:bodyPr>
          <a:lstStyle/>
          <a:p>
            <a:pPr algn="r">
              <a:defRPr sz="975" b="1">
                <a:solidFill>
                  <a:srgbClr val="B8B0D4"/>
                </a:solidFill>
                <a:latin typeface="Calibri"/>
                <a:ea typeface="Calibri"/>
                <a:cs typeface="Calibri"/>
              </a:defRPr>
            </a:pPr>
            <a:r>
              <a:rPr sz="975" b="1">
                <a:solidFill>
                  <a:srgbClr val="B8B0D4"/>
                </a:solidFill>
                <a:latin typeface="Calibri"/>
                <a:ea typeface="Calibri"/>
                <a:cs typeface="Calibri"/>
              </a:rPr>
              <a:t>10</a:t>
            </a:r>
          </a:p>
        </p:txBody>
      </p:sp>
    </p:spTree>
    <p:extLst>
      <p:ext uri="{BB962C8B-B14F-4D97-AF65-F5344CB8AC3E}">
        <p14:creationId xmlns:p14="http://schemas.microsoft.com/office/powerpoint/2010/main" val="147087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A153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78D171-871A-455C-AFE4-9796BFF736D8}"/>
              </a:ext>
            </a:extLst>
          </p:cNvPr>
          <p:cNvSpPr>
            <a:spLocks noGrp="1"/>
          </p:cNvSpPr>
          <p:nvPr/>
        </p:nvSpPr>
        <p:spPr>
          <a:xfrm>
            <a:off x="0" y="0"/>
            <a:ext cx="133350" cy="6858000"/>
          </a:xfrm>
          <a:prstGeom prst="rect">
            <a:avLst/>
          </a:prstGeom>
          <a:solidFill>
            <a:srgbClr val="FF6B62"/>
          </a:solidFill>
          <a:ln w="0">
            <a:noFill/>
          </a:ln>
        </p:spPr>
        <p:txBody>
          <a:bodyPr/>
          <a:lstStyle/>
          <a:p>
            <a:endParaRPr lang="en-MY"/>
          </a:p>
        </p:txBody>
      </p:sp>
      <p:sp>
        <p:nvSpPr>
          <p:cNvPr id="2" name="Rectangle 1">
            <a:extLst>
              <a:ext uri="{FF2B5EF4-FFF2-40B4-BE49-F238E27FC236}">
                <a16:creationId xmlns:a16="http://schemas.microsoft.com/office/drawing/2014/main" id="{1D49B7C2-17A8-4BD9-84DF-2AA1D78A56AC}"/>
              </a:ext>
            </a:extLst>
          </p:cNvPr>
          <p:cNvSpPr>
            <a:spLocks noGrp="1"/>
          </p:cNvSpPr>
          <p:nvPr/>
        </p:nvSpPr>
        <p:spPr>
          <a:xfrm>
            <a:off x="533400" y="323850"/>
            <a:ext cx="2571750" cy="247650"/>
          </a:xfrm>
          <a:prstGeom prst="rect">
            <a:avLst/>
          </a:prstGeom>
          <a:noFill/>
          <a:ln w="0">
            <a:noFill/>
          </a:ln>
        </p:spPr>
        <p:txBody>
          <a:bodyPr wrap="square" lIns="0" tIns="0" rIns="0" bIns="0" anchor="t">
            <a:noAutofit/>
          </a:bodyPr>
          <a:lstStyle/>
          <a:p>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4 · REQUIREMENTS</a:t>
            </a:r>
          </a:p>
        </p:txBody>
      </p:sp>
      <p:sp>
        <p:nvSpPr>
          <p:cNvPr id="3" name="Rectangle 2">
            <a:extLst>
              <a:ext uri="{FF2B5EF4-FFF2-40B4-BE49-F238E27FC236}">
                <a16:creationId xmlns:a16="http://schemas.microsoft.com/office/drawing/2014/main" id="{34A3CC78-54BA-483A-9438-8BDFB9787121}"/>
              </a:ext>
            </a:extLst>
          </p:cNvPr>
          <p:cNvSpPr>
            <a:spLocks noGrp="1"/>
          </p:cNvSpPr>
          <p:nvPr/>
        </p:nvSpPr>
        <p:spPr>
          <a:xfrm>
            <a:off x="533400" y="619125"/>
            <a:ext cx="11049000" cy="533400"/>
          </a:xfrm>
          <a:prstGeom prst="rect">
            <a:avLst/>
          </a:prstGeom>
          <a:noFill/>
          <a:ln w="0">
            <a:noFill/>
          </a:ln>
        </p:spPr>
        <p:txBody>
          <a:bodyPr wrap="square" lIns="0" tIns="0" rIns="0" bIns="0" anchor="t">
            <a:noAutofit/>
          </a:bodyPr>
          <a:lstStyle/>
          <a:p>
            <a:pPr algn="l">
              <a:defRPr sz="2700" b="1">
                <a:solidFill>
                  <a:srgbClr val="F8F6FF"/>
                </a:solidFill>
                <a:latin typeface="Calibri"/>
                <a:ea typeface="Calibri"/>
                <a:cs typeface="Calibri"/>
              </a:defRPr>
            </a:pPr>
            <a:r>
              <a:rPr sz="2700" b="1" dirty="0">
                <a:solidFill>
                  <a:srgbClr val="F8F6FF"/>
                </a:solidFill>
                <a:latin typeface="Calibri"/>
                <a:ea typeface="Calibri"/>
                <a:cs typeface="Calibri"/>
              </a:rPr>
              <a:t>Updated use-case diagram</a:t>
            </a:r>
          </a:p>
        </p:txBody>
      </p:sp>
      <p:sp>
        <p:nvSpPr>
          <p:cNvPr id="9" name="Rectangle 8">
            <a:extLst>
              <a:ext uri="{FF2B5EF4-FFF2-40B4-BE49-F238E27FC236}">
                <a16:creationId xmlns:a16="http://schemas.microsoft.com/office/drawing/2014/main" id="{F3B9250B-589C-44F8-8799-37AE5977E00F}"/>
              </a:ext>
            </a:extLst>
          </p:cNvPr>
          <p:cNvSpPr>
            <a:spLocks noGrp="1"/>
          </p:cNvSpPr>
          <p:nvPr/>
        </p:nvSpPr>
        <p:spPr>
          <a:xfrm>
            <a:off x="11277600" y="6496050"/>
            <a:ext cx="476250" cy="209550"/>
          </a:xfrm>
          <a:prstGeom prst="rect">
            <a:avLst/>
          </a:prstGeom>
          <a:noFill/>
          <a:ln w="0">
            <a:noFill/>
          </a:ln>
        </p:spPr>
        <p:txBody>
          <a:bodyPr wrap="square" lIns="0" tIns="0" rIns="0" bIns="0" anchor="t">
            <a:noAutofit/>
          </a:bodyPr>
          <a:lstStyle/>
          <a:p>
            <a:pPr algn="r">
              <a:defRPr sz="975" b="1">
                <a:solidFill>
                  <a:srgbClr val="B8B0D4"/>
                </a:solidFill>
                <a:latin typeface="Calibri"/>
                <a:ea typeface="Calibri"/>
                <a:cs typeface="Calibri"/>
              </a:defRPr>
            </a:pPr>
            <a:r>
              <a:rPr sz="975" b="1">
                <a:solidFill>
                  <a:srgbClr val="B8B0D4"/>
                </a:solidFill>
                <a:latin typeface="Calibri"/>
                <a:ea typeface="Calibri"/>
                <a:cs typeface="Calibri"/>
              </a:rPr>
              <a:t>11</a:t>
            </a:r>
          </a:p>
        </p:txBody>
      </p:sp>
      <p:pic>
        <p:nvPicPr>
          <p:cNvPr id="11" name="Picture 10">
            <a:extLst>
              <a:ext uri="{FF2B5EF4-FFF2-40B4-BE49-F238E27FC236}">
                <a16:creationId xmlns:a16="http://schemas.microsoft.com/office/drawing/2014/main" id="{BC360134-3EFA-3C27-6BAB-6B228EB77EE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40804" y="323850"/>
            <a:ext cx="5736771" cy="6534150"/>
          </a:xfrm>
          <a:prstGeom prst="rect">
            <a:avLst/>
          </a:prstGeom>
          <a:noFill/>
          <a:ln>
            <a:noFill/>
          </a:ln>
        </p:spPr>
      </p:pic>
    </p:spTree>
    <p:extLst>
      <p:ext uri="{BB962C8B-B14F-4D97-AF65-F5344CB8AC3E}">
        <p14:creationId xmlns:p14="http://schemas.microsoft.com/office/powerpoint/2010/main" val="206687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1530"/>
        </a:solidFill>
        <a:effectLst/>
      </p:bgPr>
    </p:bg>
    <p:spTree>
      <p:nvGrpSpPr>
        <p:cNvPr id="1" name="">
          <a:extLst>
            <a:ext uri="{FF2B5EF4-FFF2-40B4-BE49-F238E27FC236}">
              <a16:creationId xmlns:a16="http://schemas.microsoft.com/office/drawing/2014/main" id="{77D89ACA-95E0-C5CA-4838-F71D6784BEF6}"/>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0DC2A1C2-D345-3269-38BA-633616F07EEF}"/>
              </a:ext>
            </a:extLst>
          </p:cNvPr>
          <p:cNvSpPr>
            <a:spLocks noGrp="1"/>
          </p:cNvSpPr>
          <p:nvPr/>
        </p:nvSpPr>
        <p:spPr>
          <a:xfrm>
            <a:off x="0" y="0"/>
            <a:ext cx="133350" cy="6858000"/>
          </a:xfrm>
          <a:prstGeom prst="rect">
            <a:avLst/>
          </a:prstGeom>
          <a:solidFill>
            <a:srgbClr val="FF6B62"/>
          </a:solidFill>
          <a:ln w="0">
            <a:noFill/>
          </a:ln>
        </p:spPr>
        <p:txBody>
          <a:bodyPr/>
          <a:lstStyle/>
          <a:p>
            <a:endParaRPr lang="en-MY"/>
          </a:p>
        </p:txBody>
      </p:sp>
      <p:sp>
        <p:nvSpPr>
          <p:cNvPr id="2" name="Rectangle 1">
            <a:extLst>
              <a:ext uri="{FF2B5EF4-FFF2-40B4-BE49-F238E27FC236}">
                <a16:creationId xmlns:a16="http://schemas.microsoft.com/office/drawing/2014/main" id="{0BB0F03E-F280-6163-C7F6-A582C8C95F74}"/>
              </a:ext>
            </a:extLst>
          </p:cNvPr>
          <p:cNvSpPr>
            <a:spLocks noGrp="1"/>
          </p:cNvSpPr>
          <p:nvPr/>
        </p:nvSpPr>
        <p:spPr>
          <a:xfrm>
            <a:off x="533400" y="323850"/>
            <a:ext cx="2571750" cy="247650"/>
          </a:xfrm>
          <a:prstGeom prst="rect">
            <a:avLst/>
          </a:prstGeom>
          <a:noFill/>
          <a:ln w="0">
            <a:noFill/>
          </a:ln>
        </p:spPr>
        <p:txBody>
          <a:bodyPr wrap="square" lIns="0" tIns="0" rIns="0" bIns="0" anchor="t">
            <a:noAutofit/>
          </a:bodyPr>
          <a:lstStyle/>
          <a:p>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5 · SYSTEM DESIGN</a:t>
            </a:r>
          </a:p>
        </p:txBody>
      </p:sp>
      <p:sp>
        <p:nvSpPr>
          <p:cNvPr id="3" name="Rectangle 2">
            <a:extLst>
              <a:ext uri="{FF2B5EF4-FFF2-40B4-BE49-F238E27FC236}">
                <a16:creationId xmlns:a16="http://schemas.microsoft.com/office/drawing/2014/main" id="{867DCD2C-3EEC-69E5-3CB9-F319D6C564DA}"/>
              </a:ext>
            </a:extLst>
          </p:cNvPr>
          <p:cNvSpPr>
            <a:spLocks noGrp="1"/>
          </p:cNvSpPr>
          <p:nvPr/>
        </p:nvSpPr>
        <p:spPr>
          <a:xfrm>
            <a:off x="533400" y="619125"/>
            <a:ext cx="11049000" cy="533400"/>
          </a:xfrm>
          <a:prstGeom prst="rect">
            <a:avLst/>
          </a:prstGeom>
          <a:noFill/>
          <a:ln w="0">
            <a:noFill/>
          </a:ln>
        </p:spPr>
        <p:txBody>
          <a:bodyPr wrap="square" lIns="0" tIns="0" rIns="0" bIns="0" anchor="t">
            <a:noAutofit/>
          </a:bodyPr>
          <a:lstStyle/>
          <a:p>
            <a:pPr algn="l">
              <a:defRPr sz="2700" b="1">
                <a:solidFill>
                  <a:srgbClr val="F8F6FF"/>
                </a:solidFill>
                <a:latin typeface="Calibri"/>
                <a:ea typeface="Calibri"/>
                <a:cs typeface="Calibri"/>
              </a:defRPr>
            </a:pPr>
            <a:r>
              <a:rPr sz="2700" b="1">
                <a:solidFill>
                  <a:srgbClr val="F8F6FF"/>
                </a:solidFill>
                <a:latin typeface="Calibri"/>
                <a:ea typeface="Calibri"/>
                <a:cs typeface="Calibri"/>
              </a:rPr>
              <a:t>Architecture and data design</a:t>
            </a:r>
          </a:p>
        </p:txBody>
      </p:sp>
      <p:sp>
        <p:nvSpPr>
          <p:cNvPr id="4" name="Rectangle 3">
            <a:extLst>
              <a:ext uri="{FF2B5EF4-FFF2-40B4-BE49-F238E27FC236}">
                <a16:creationId xmlns:a16="http://schemas.microsoft.com/office/drawing/2014/main" id="{4911F3F5-99E0-2C2C-57C1-E54EC2DFE66E}"/>
              </a:ext>
            </a:extLst>
          </p:cNvPr>
          <p:cNvSpPr>
            <a:spLocks noGrp="1"/>
          </p:cNvSpPr>
          <p:nvPr/>
        </p:nvSpPr>
        <p:spPr>
          <a:xfrm>
            <a:off x="552450" y="1143000"/>
            <a:ext cx="10668000" cy="323850"/>
          </a:xfrm>
          <a:prstGeom prst="rect">
            <a:avLst/>
          </a:prstGeom>
          <a:noFill/>
          <a:ln w="0">
            <a:noFill/>
          </a:ln>
        </p:spPr>
        <p:txBody>
          <a:bodyPr wrap="square" lIns="0" tIns="0" rIns="0" bIns="0" anchor="t">
            <a:noAutofit/>
          </a:bodyPr>
          <a:lstStyle/>
          <a:p>
            <a:pPr algn="l">
              <a:defRPr sz="1350" b="0">
                <a:solidFill>
                  <a:srgbClr val="B8B0D4"/>
                </a:solidFill>
                <a:latin typeface="Calibri"/>
                <a:ea typeface="Calibri"/>
                <a:cs typeface="Calibri"/>
              </a:defRPr>
            </a:pPr>
            <a:r>
              <a:rPr sz="1350" b="0">
                <a:solidFill>
                  <a:srgbClr val="B8B0D4"/>
                </a:solidFill>
                <a:latin typeface="Calibri"/>
                <a:ea typeface="Calibri"/>
                <a:cs typeface="Calibri"/>
              </a:rPr>
              <a:t>Insert the final diagrams while retaining this two-part composition.</a:t>
            </a:r>
          </a:p>
        </p:txBody>
      </p:sp>
      <p:sp>
        <p:nvSpPr>
          <p:cNvPr id="11" name="Rectangle 10">
            <a:extLst>
              <a:ext uri="{FF2B5EF4-FFF2-40B4-BE49-F238E27FC236}">
                <a16:creationId xmlns:a16="http://schemas.microsoft.com/office/drawing/2014/main" id="{58049A20-B88D-57A2-FF0B-822997D70F1F}"/>
              </a:ext>
            </a:extLst>
          </p:cNvPr>
          <p:cNvSpPr>
            <a:spLocks noGrp="1"/>
          </p:cNvSpPr>
          <p:nvPr/>
        </p:nvSpPr>
        <p:spPr>
          <a:xfrm>
            <a:off x="11277600" y="6496050"/>
            <a:ext cx="476250" cy="209550"/>
          </a:xfrm>
          <a:prstGeom prst="rect">
            <a:avLst/>
          </a:prstGeom>
          <a:noFill/>
          <a:ln w="0">
            <a:noFill/>
          </a:ln>
        </p:spPr>
        <p:txBody>
          <a:bodyPr wrap="square" lIns="0" tIns="0" rIns="0" bIns="0" anchor="t">
            <a:noAutofit/>
          </a:bodyPr>
          <a:lstStyle/>
          <a:p>
            <a:pPr algn="r">
              <a:defRPr sz="975" b="1">
                <a:solidFill>
                  <a:srgbClr val="B8B0D4"/>
                </a:solidFill>
                <a:latin typeface="Calibri"/>
                <a:ea typeface="Calibri"/>
                <a:cs typeface="Calibri"/>
              </a:defRPr>
            </a:pPr>
            <a:r>
              <a:rPr sz="975" b="1">
                <a:solidFill>
                  <a:srgbClr val="B8B0D4"/>
                </a:solidFill>
                <a:latin typeface="Calibri"/>
                <a:ea typeface="Calibri"/>
                <a:cs typeface="Calibri"/>
              </a:rPr>
              <a:t>12</a:t>
            </a:r>
          </a:p>
        </p:txBody>
      </p:sp>
      <p:pic>
        <p:nvPicPr>
          <p:cNvPr id="14" name="Picture 13">
            <a:extLst>
              <a:ext uri="{FF2B5EF4-FFF2-40B4-BE49-F238E27FC236}">
                <a16:creationId xmlns:a16="http://schemas.microsoft.com/office/drawing/2014/main" id="{E20E13F8-8356-73E9-A6E5-5F0515F1C50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4500" y="1466850"/>
            <a:ext cx="9474200" cy="4980880"/>
          </a:xfrm>
          <a:prstGeom prst="rect">
            <a:avLst/>
          </a:prstGeom>
          <a:noFill/>
          <a:ln>
            <a:noFill/>
          </a:ln>
        </p:spPr>
      </p:pic>
    </p:spTree>
    <p:extLst>
      <p:ext uri="{BB962C8B-B14F-4D97-AF65-F5344CB8AC3E}">
        <p14:creationId xmlns:p14="http://schemas.microsoft.com/office/powerpoint/2010/main" val="15813131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530"/>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506F3E9-A204-489B-B6B3-B4E9AA889B1E}"/>
              </a:ext>
            </a:extLst>
          </p:cNvPr>
          <p:cNvSpPr>
            <a:spLocks noGrp="1"/>
          </p:cNvSpPr>
          <p:nvPr/>
        </p:nvSpPr>
        <p:spPr>
          <a:xfrm>
            <a:off x="0" y="0"/>
            <a:ext cx="133350" cy="6858000"/>
          </a:xfrm>
          <a:prstGeom prst="rect">
            <a:avLst/>
          </a:prstGeom>
          <a:solidFill>
            <a:srgbClr val="FF6B62"/>
          </a:solidFill>
          <a:ln w="0">
            <a:noFill/>
          </a:ln>
        </p:spPr>
        <p:txBody>
          <a:bodyPr/>
          <a:lstStyle/>
          <a:p>
            <a:endParaRPr lang="en-MY"/>
          </a:p>
        </p:txBody>
      </p:sp>
      <p:sp>
        <p:nvSpPr>
          <p:cNvPr id="2" name="Rectangle 1">
            <a:extLst>
              <a:ext uri="{FF2B5EF4-FFF2-40B4-BE49-F238E27FC236}">
                <a16:creationId xmlns:a16="http://schemas.microsoft.com/office/drawing/2014/main" id="{626CB439-980C-44FD-8132-A0C2560834C9}"/>
              </a:ext>
            </a:extLst>
          </p:cNvPr>
          <p:cNvSpPr>
            <a:spLocks noGrp="1"/>
          </p:cNvSpPr>
          <p:nvPr/>
        </p:nvSpPr>
        <p:spPr>
          <a:xfrm>
            <a:off x="533400" y="323850"/>
            <a:ext cx="2571750" cy="247650"/>
          </a:xfrm>
          <a:prstGeom prst="rect">
            <a:avLst/>
          </a:prstGeom>
          <a:noFill/>
          <a:ln w="0">
            <a:noFill/>
          </a:ln>
        </p:spPr>
        <p:txBody>
          <a:bodyPr wrap="square" lIns="0" tIns="0" rIns="0" bIns="0" anchor="t">
            <a:noAutofit/>
          </a:bodyPr>
          <a:lstStyle/>
          <a:p>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5 · SYSTEM DESIGN</a:t>
            </a:r>
          </a:p>
        </p:txBody>
      </p:sp>
      <p:sp>
        <p:nvSpPr>
          <p:cNvPr id="3" name="Rectangle 2">
            <a:extLst>
              <a:ext uri="{FF2B5EF4-FFF2-40B4-BE49-F238E27FC236}">
                <a16:creationId xmlns:a16="http://schemas.microsoft.com/office/drawing/2014/main" id="{9CA7360A-1876-44AD-B131-368C0B9726D7}"/>
              </a:ext>
            </a:extLst>
          </p:cNvPr>
          <p:cNvSpPr>
            <a:spLocks noGrp="1"/>
          </p:cNvSpPr>
          <p:nvPr/>
        </p:nvSpPr>
        <p:spPr>
          <a:xfrm>
            <a:off x="533400" y="619125"/>
            <a:ext cx="11049000" cy="533400"/>
          </a:xfrm>
          <a:prstGeom prst="rect">
            <a:avLst/>
          </a:prstGeom>
          <a:noFill/>
          <a:ln w="0">
            <a:noFill/>
          </a:ln>
        </p:spPr>
        <p:txBody>
          <a:bodyPr wrap="square" lIns="0" tIns="0" rIns="0" bIns="0" anchor="t">
            <a:noAutofit/>
          </a:bodyPr>
          <a:lstStyle/>
          <a:p>
            <a:pPr algn="l">
              <a:defRPr sz="2700" b="1">
                <a:solidFill>
                  <a:srgbClr val="F8F6FF"/>
                </a:solidFill>
                <a:latin typeface="Calibri"/>
                <a:ea typeface="Calibri"/>
                <a:cs typeface="Calibri"/>
              </a:defRPr>
            </a:pPr>
            <a:r>
              <a:rPr sz="2700" b="1">
                <a:solidFill>
                  <a:srgbClr val="F8F6FF"/>
                </a:solidFill>
                <a:latin typeface="Calibri"/>
                <a:ea typeface="Calibri"/>
                <a:cs typeface="Calibri"/>
              </a:rPr>
              <a:t>Architecture and data design</a:t>
            </a:r>
          </a:p>
        </p:txBody>
      </p:sp>
      <p:sp>
        <p:nvSpPr>
          <p:cNvPr id="11" name="Rectangle 10">
            <a:extLst>
              <a:ext uri="{FF2B5EF4-FFF2-40B4-BE49-F238E27FC236}">
                <a16:creationId xmlns:a16="http://schemas.microsoft.com/office/drawing/2014/main" id="{756EF76F-1A2D-4C68-917C-7962FC29F0DE}"/>
              </a:ext>
            </a:extLst>
          </p:cNvPr>
          <p:cNvSpPr>
            <a:spLocks noGrp="1"/>
          </p:cNvSpPr>
          <p:nvPr/>
        </p:nvSpPr>
        <p:spPr>
          <a:xfrm>
            <a:off x="11277600" y="6496050"/>
            <a:ext cx="476250" cy="209550"/>
          </a:xfrm>
          <a:prstGeom prst="rect">
            <a:avLst/>
          </a:prstGeom>
          <a:noFill/>
          <a:ln w="0">
            <a:noFill/>
          </a:ln>
        </p:spPr>
        <p:txBody>
          <a:bodyPr wrap="square" lIns="0" tIns="0" rIns="0" bIns="0" anchor="t">
            <a:noAutofit/>
          </a:bodyPr>
          <a:lstStyle/>
          <a:p>
            <a:pPr algn="r">
              <a:defRPr sz="975" b="1">
                <a:solidFill>
                  <a:srgbClr val="B8B0D4"/>
                </a:solidFill>
                <a:latin typeface="Calibri"/>
                <a:ea typeface="Calibri"/>
                <a:cs typeface="Calibri"/>
              </a:defRPr>
            </a:pPr>
            <a:r>
              <a:rPr sz="975" b="1">
                <a:solidFill>
                  <a:srgbClr val="B8B0D4"/>
                </a:solidFill>
                <a:latin typeface="Calibri"/>
                <a:ea typeface="Calibri"/>
                <a:cs typeface="Calibri"/>
              </a:rPr>
              <a:t>12</a:t>
            </a:r>
          </a:p>
        </p:txBody>
      </p:sp>
      <p:pic>
        <p:nvPicPr>
          <p:cNvPr id="13" name="Picture 12">
            <a:extLst>
              <a:ext uri="{FF2B5EF4-FFF2-40B4-BE49-F238E27FC236}">
                <a16:creationId xmlns:a16="http://schemas.microsoft.com/office/drawing/2014/main" id="{C14E9A74-B0CC-3495-6F2E-AFE931962AD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3901" y="1461770"/>
            <a:ext cx="8567997" cy="4725034"/>
          </a:xfrm>
          <a:prstGeom prst="rect">
            <a:avLst/>
          </a:prstGeom>
          <a:noFill/>
          <a:ln>
            <a:noFill/>
          </a:ln>
        </p:spPr>
      </p:pic>
    </p:spTree>
    <p:extLst>
      <p:ext uri="{BB962C8B-B14F-4D97-AF65-F5344CB8AC3E}">
        <p14:creationId xmlns:p14="http://schemas.microsoft.com/office/powerpoint/2010/main" val="1059993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530"/>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256F6D5-7D8D-484E-8BFB-A642649EF043}"/>
              </a:ext>
            </a:extLst>
          </p:cNvPr>
          <p:cNvSpPr>
            <a:spLocks noGrp="1"/>
          </p:cNvSpPr>
          <p:nvPr/>
        </p:nvSpPr>
        <p:spPr>
          <a:xfrm>
            <a:off x="0" y="0"/>
            <a:ext cx="133350" cy="6858000"/>
          </a:xfrm>
          <a:prstGeom prst="rect">
            <a:avLst/>
          </a:prstGeom>
          <a:solidFill>
            <a:srgbClr val="FF6B62"/>
          </a:solidFill>
          <a:ln w="0">
            <a:noFill/>
          </a:ln>
        </p:spPr>
        <p:txBody>
          <a:bodyPr/>
          <a:lstStyle/>
          <a:p>
            <a:endParaRPr lang="en-MY"/>
          </a:p>
        </p:txBody>
      </p:sp>
      <p:sp>
        <p:nvSpPr>
          <p:cNvPr id="2" name="Rectangle 1">
            <a:extLst>
              <a:ext uri="{FF2B5EF4-FFF2-40B4-BE49-F238E27FC236}">
                <a16:creationId xmlns:a16="http://schemas.microsoft.com/office/drawing/2014/main" id="{F4D758B9-1C98-4EFA-8408-56F01EA27F60}"/>
              </a:ext>
            </a:extLst>
          </p:cNvPr>
          <p:cNvSpPr>
            <a:spLocks noGrp="1"/>
          </p:cNvSpPr>
          <p:nvPr/>
        </p:nvSpPr>
        <p:spPr>
          <a:xfrm>
            <a:off x="533400" y="323850"/>
            <a:ext cx="2571750" cy="247650"/>
          </a:xfrm>
          <a:prstGeom prst="rect">
            <a:avLst/>
          </a:prstGeom>
          <a:noFill/>
          <a:ln w="0">
            <a:noFill/>
          </a:ln>
        </p:spPr>
        <p:txBody>
          <a:bodyPr wrap="square" lIns="0" tIns="0" rIns="0" bIns="0" anchor="t">
            <a:noAutofit/>
          </a:bodyPr>
          <a:lstStyle/>
          <a:p>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6 · IMPLEMENTATION</a:t>
            </a:r>
          </a:p>
        </p:txBody>
      </p:sp>
      <p:sp>
        <p:nvSpPr>
          <p:cNvPr id="3" name="Rectangle 2">
            <a:extLst>
              <a:ext uri="{FF2B5EF4-FFF2-40B4-BE49-F238E27FC236}">
                <a16:creationId xmlns:a16="http://schemas.microsoft.com/office/drawing/2014/main" id="{1F26F069-69B0-4386-AA7A-0A4E01139F9B}"/>
              </a:ext>
            </a:extLst>
          </p:cNvPr>
          <p:cNvSpPr>
            <a:spLocks noGrp="1"/>
          </p:cNvSpPr>
          <p:nvPr/>
        </p:nvSpPr>
        <p:spPr>
          <a:xfrm>
            <a:off x="533400" y="619125"/>
            <a:ext cx="11049000" cy="533400"/>
          </a:xfrm>
          <a:prstGeom prst="rect">
            <a:avLst/>
          </a:prstGeom>
          <a:noFill/>
          <a:ln w="0">
            <a:noFill/>
          </a:ln>
        </p:spPr>
        <p:txBody>
          <a:bodyPr wrap="square" lIns="0" tIns="0" rIns="0" bIns="0" anchor="t">
            <a:noAutofit/>
          </a:bodyPr>
          <a:lstStyle/>
          <a:p>
            <a:pPr algn="l">
              <a:defRPr sz="2700" b="1">
                <a:solidFill>
                  <a:srgbClr val="F8F6FF"/>
                </a:solidFill>
                <a:latin typeface="Calibri"/>
                <a:ea typeface="Calibri"/>
                <a:cs typeface="Calibri"/>
              </a:defRPr>
            </a:pPr>
            <a:r>
              <a:rPr sz="2700" b="1" dirty="0">
                <a:solidFill>
                  <a:srgbClr val="F8F6FF"/>
                </a:solidFill>
                <a:latin typeface="Calibri"/>
                <a:ea typeface="Calibri"/>
                <a:cs typeface="Calibri"/>
              </a:rPr>
              <a:t>The final interface connected both roles</a:t>
            </a:r>
          </a:p>
        </p:txBody>
      </p:sp>
      <p:sp>
        <p:nvSpPr>
          <p:cNvPr id="4" name="Rectangle 3">
            <a:extLst>
              <a:ext uri="{FF2B5EF4-FFF2-40B4-BE49-F238E27FC236}">
                <a16:creationId xmlns:a16="http://schemas.microsoft.com/office/drawing/2014/main" id="{AF1A7F0F-A44A-4B72-AC89-6EC907BD9A55}"/>
              </a:ext>
            </a:extLst>
          </p:cNvPr>
          <p:cNvSpPr>
            <a:spLocks noGrp="1"/>
          </p:cNvSpPr>
          <p:nvPr/>
        </p:nvSpPr>
        <p:spPr>
          <a:xfrm>
            <a:off x="552450" y="1143000"/>
            <a:ext cx="10668000" cy="323850"/>
          </a:xfrm>
          <a:prstGeom prst="rect">
            <a:avLst/>
          </a:prstGeom>
          <a:noFill/>
          <a:ln w="0">
            <a:noFill/>
          </a:ln>
        </p:spPr>
        <p:txBody>
          <a:bodyPr wrap="square" lIns="0" tIns="0" rIns="0" bIns="0" anchor="t">
            <a:noAutofit/>
          </a:bodyPr>
          <a:lstStyle/>
          <a:p>
            <a:pPr algn="l">
              <a:defRPr sz="1350" b="0">
                <a:solidFill>
                  <a:srgbClr val="B8B0D4"/>
                </a:solidFill>
                <a:latin typeface="Calibri"/>
                <a:ea typeface="Calibri"/>
                <a:cs typeface="Calibri"/>
              </a:defRPr>
            </a:pPr>
            <a:r>
              <a:rPr sz="1350" b="0">
                <a:solidFill>
                  <a:srgbClr val="B8B0D4"/>
                </a:solidFill>
                <a:latin typeface="Calibri"/>
                <a:ea typeface="Calibri"/>
                <a:cs typeface="Calibri"/>
              </a:rPr>
              <a:t>A shared visual language was retained while each role received only the controls required for its responsibilities.</a:t>
            </a:r>
          </a:p>
        </p:txBody>
      </p:sp>
      <p:sp>
        <p:nvSpPr>
          <p:cNvPr id="5" name="Rectangle: Rounded Corners 4">
            <a:extLst>
              <a:ext uri="{FF2B5EF4-FFF2-40B4-BE49-F238E27FC236}">
                <a16:creationId xmlns:a16="http://schemas.microsoft.com/office/drawing/2014/main" id="{709FB9DF-208E-4EC1-B1D4-B83303678295}"/>
              </a:ext>
            </a:extLst>
          </p:cNvPr>
          <p:cNvSpPr>
            <a:spLocks noGrp="1"/>
          </p:cNvSpPr>
          <p:nvPr/>
        </p:nvSpPr>
        <p:spPr>
          <a:xfrm>
            <a:off x="666750" y="1828800"/>
            <a:ext cx="4857750" cy="4248150"/>
          </a:xfrm>
          <a:prstGeom prst="roundRect">
            <a:avLst>
              <a:gd name="adj" fmla="val 3587"/>
            </a:avLst>
          </a:prstGeom>
          <a:solidFill>
            <a:srgbClr val="100B22"/>
          </a:solidFill>
          <a:ln w="0">
            <a:noFill/>
          </a:ln>
        </p:spPr>
        <p:txBody>
          <a:bodyPr/>
          <a:lstStyle/>
          <a:p>
            <a:endParaRPr lang="en-MY"/>
          </a:p>
        </p:txBody>
      </p:sp>
      <p:sp>
        <p:nvSpPr>
          <p:cNvPr id="6" name="Rectangle: Rounded Corners 5">
            <a:extLst>
              <a:ext uri="{FF2B5EF4-FFF2-40B4-BE49-F238E27FC236}">
                <a16:creationId xmlns:a16="http://schemas.microsoft.com/office/drawing/2014/main" id="{29975B6A-BC17-42F5-82DA-365BBDBD40AC}"/>
              </a:ext>
            </a:extLst>
          </p:cNvPr>
          <p:cNvSpPr>
            <a:spLocks noGrp="1"/>
          </p:cNvSpPr>
          <p:nvPr/>
        </p:nvSpPr>
        <p:spPr>
          <a:xfrm>
            <a:off x="552450" y="1695450"/>
            <a:ext cx="4933950" cy="4324350"/>
          </a:xfrm>
          <a:prstGeom prst="roundRect">
            <a:avLst>
              <a:gd name="adj" fmla="val 3524"/>
            </a:avLst>
          </a:prstGeom>
          <a:solidFill>
            <a:srgbClr val="3A3160"/>
          </a:solidFill>
          <a:ln w="0">
            <a:noFill/>
          </a:ln>
        </p:spPr>
        <p:txBody>
          <a:bodyPr/>
          <a:lstStyle/>
          <a:p>
            <a:endParaRPr lang="en-MY"/>
          </a:p>
        </p:txBody>
      </p:sp>
      <p:pic>
        <p:nvPicPr>
          <p:cNvPr id="23" name="Picture 22"/>
          <p:cNvPicPr>
            <a:picLocks noChangeAspect="1"/>
          </p:cNvPicPr>
          <p:nvPr/>
        </p:nvPicPr>
        <p:blipFill>
          <a:blip r:embed="rId3"/>
          <a:stretch/>
        </p:blipFill>
        <p:spPr>
          <a:xfrm>
            <a:off x="1003797" y="1733550"/>
            <a:ext cx="4031255" cy="4248150"/>
          </a:xfrm>
          <a:prstGeom prst="roundRect">
            <a:avLst>
              <a:gd name="adj" fmla="val 2691"/>
            </a:avLst>
          </a:prstGeom>
        </p:spPr>
      </p:pic>
      <p:sp>
        <p:nvSpPr>
          <p:cNvPr id="8" name="Rectangle: Rounded Corners 7">
            <a:extLst>
              <a:ext uri="{FF2B5EF4-FFF2-40B4-BE49-F238E27FC236}">
                <a16:creationId xmlns:a16="http://schemas.microsoft.com/office/drawing/2014/main" id="{2C58D1A5-40E2-488E-AD93-1FFDF80D4B17}"/>
              </a:ext>
            </a:extLst>
          </p:cNvPr>
          <p:cNvSpPr>
            <a:spLocks noGrp="1"/>
          </p:cNvSpPr>
          <p:nvPr/>
        </p:nvSpPr>
        <p:spPr>
          <a:xfrm>
            <a:off x="5886450" y="1828800"/>
            <a:ext cx="5676900" cy="4248150"/>
          </a:xfrm>
          <a:prstGeom prst="roundRect">
            <a:avLst>
              <a:gd name="adj" fmla="val 3587"/>
            </a:avLst>
          </a:prstGeom>
          <a:solidFill>
            <a:srgbClr val="100B22"/>
          </a:solidFill>
          <a:ln w="0">
            <a:noFill/>
          </a:ln>
        </p:spPr>
        <p:txBody>
          <a:bodyPr/>
          <a:lstStyle/>
          <a:p>
            <a:endParaRPr lang="en-MY"/>
          </a:p>
        </p:txBody>
      </p:sp>
      <p:sp>
        <p:nvSpPr>
          <p:cNvPr id="9" name="Rectangle: Rounded Corners 8">
            <a:extLst>
              <a:ext uri="{FF2B5EF4-FFF2-40B4-BE49-F238E27FC236}">
                <a16:creationId xmlns:a16="http://schemas.microsoft.com/office/drawing/2014/main" id="{AEC8BCE6-E5DD-4118-B729-E98C0AD54579}"/>
              </a:ext>
            </a:extLst>
          </p:cNvPr>
          <p:cNvSpPr>
            <a:spLocks noGrp="1"/>
          </p:cNvSpPr>
          <p:nvPr/>
        </p:nvSpPr>
        <p:spPr>
          <a:xfrm>
            <a:off x="5772150" y="1695450"/>
            <a:ext cx="5753100" cy="4324350"/>
          </a:xfrm>
          <a:prstGeom prst="roundRect">
            <a:avLst>
              <a:gd name="adj" fmla="val 3524"/>
            </a:avLst>
          </a:prstGeom>
          <a:solidFill>
            <a:srgbClr val="3A3160"/>
          </a:solidFill>
          <a:ln w="0">
            <a:noFill/>
          </a:ln>
        </p:spPr>
        <p:txBody>
          <a:bodyPr/>
          <a:lstStyle/>
          <a:p>
            <a:endParaRPr lang="en-MY"/>
          </a:p>
        </p:txBody>
      </p:sp>
      <p:pic>
        <p:nvPicPr>
          <p:cNvPr id="26" name="Picture 25"/>
          <p:cNvPicPr>
            <a:picLocks noChangeAspect="1"/>
          </p:cNvPicPr>
          <p:nvPr/>
        </p:nvPicPr>
        <p:blipFill>
          <a:blip r:embed="rId4"/>
          <a:stretch/>
        </p:blipFill>
        <p:spPr>
          <a:xfrm>
            <a:off x="6379389" y="1733550"/>
            <a:ext cx="4538622" cy="4248150"/>
          </a:xfrm>
          <a:prstGeom prst="roundRect">
            <a:avLst>
              <a:gd name="adj" fmla="val 2691"/>
            </a:avLst>
          </a:prstGeom>
        </p:spPr>
      </p:pic>
      <p:sp>
        <p:nvSpPr>
          <p:cNvPr id="11" name="Rectangle: Rounded Corners 10">
            <a:extLst>
              <a:ext uri="{FF2B5EF4-FFF2-40B4-BE49-F238E27FC236}">
                <a16:creationId xmlns:a16="http://schemas.microsoft.com/office/drawing/2014/main" id="{8CCE7D0A-7145-499E-8801-828A546DBFCB}"/>
              </a:ext>
            </a:extLst>
          </p:cNvPr>
          <p:cNvSpPr>
            <a:spLocks noGrp="1"/>
          </p:cNvSpPr>
          <p:nvPr/>
        </p:nvSpPr>
        <p:spPr>
          <a:xfrm>
            <a:off x="1371600" y="5638800"/>
            <a:ext cx="3295650" cy="323850"/>
          </a:xfrm>
          <a:prstGeom prst="roundRect">
            <a:avLst>
              <a:gd name="adj" fmla="val 35294"/>
            </a:avLst>
          </a:prstGeom>
          <a:solidFill>
            <a:srgbClr val="FF6B62"/>
          </a:solidFill>
          <a:ln w="0">
            <a:noFill/>
          </a:ln>
        </p:spPr>
        <p:txBody>
          <a:bodyPr/>
          <a:lstStyle/>
          <a:p>
            <a:endParaRPr lang="en-MY"/>
          </a:p>
        </p:txBody>
      </p:sp>
      <p:sp>
        <p:nvSpPr>
          <p:cNvPr id="12" name="Rectangle 11">
            <a:extLst>
              <a:ext uri="{FF2B5EF4-FFF2-40B4-BE49-F238E27FC236}">
                <a16:creationId xmlns:a16="http://schemas.microsoft.com/office/drawing/2014/main" id="{BB88E9FA-3409-4458-8DE9-BB3913C38171}"/>
              </a:ext>
            </a:extLst>
          </p:cNvPr>
          <p:cNvSpPr>
            <a:spLocks noGrp="1"/>
          </p:cNvSpPr>
          <p:nvPr/>
        </p:nvSpPr>
        <p:spPr>
          <a:xfrm>
            <a:off x="1371600" y="5648325"/>
            <a:ext cx="3295650" cy="285750"/>
          </a:xfrm>
          <a:prstGeom prst="rect">
            <a:avLst/>
          </a:prstGeom>
          <a:noFill/>
          <a:ln w="0">
            <a:noFill/>
          </a:ln>
        </p:spPr>
        <p:txBody>
          <a:bodyPr wrap="square" lIns="0" tIns="0" rIns="0" bIns="0" anchor="ctr">
            <a:noAutofit/>
          </a:bodyPr>
          <a:lstStyle/>
          <a:p>
            <a:pPr algn="ctr">
              <a:defRPr sz="1125" b="1">
                <a:solidFill>
                  <a:srgbClr val="F8F6FF"/>
                </a:solidFill>
                <a:latin typeface="Calibri"/>
                <a:ea typeface="Calibri"/>
                <a:cs typeface="Calibri"/>
              </a:defRPr>
            </a:pPr>
            <a:r>
              <a:rPr sz="1125" b="1">
                <a:solidFill>
                  <a:srgbClr val="F8F6FF"/>
                </a:solidFill>
                <a:latin typeface="Calibri"/>
                <a:ea typeface="Calibri"/>
                <a:cs typeface="Calibri"/>
              </a:rPr>
              <a:t>CAREGIVER + PATIENT DASHBOARDS</a:t>
            </a:r>
          </a:p>
        </p:txBody>
      </p:sp>
      <p:sp>
        <p:nvSpPr>
          <p:cNvPr id="13" name="Rectangle: Rounded Corners 12">
            <a:extLst>
              <a:ext uri="{FF2B5EF4-FFF2-40B4-BE49-F238E27FC236}">
                <a16:creationId xmlns:a16="http://schemas.microsoft.com/office/drawing/2014/main" id="{43FD9D9B-4DA2-4E8D-BAA4-65514A50361F}"/>
              </a:ext>
            </a:extLst>
          </p:cNvPr>
          <p:cNvSpPr>
            <a:spLocks noGrp="1"/>
          </p:cNvSpPr>
          <p:nvPr/>
        </p:nvSpPr>
        <p:spPr>
          <a:xfrm>
            <a:off x="7162800" y="5638800"/>
            <a:ext cx="2952750" cy="323850"/>
          </a:xfrm>
          <a:prstGeom prst="roundRect">
            <a:avLst>
              <a:gd name="adj" fmla="val 35294"/>
            </a:avLst>
          </a:prstGeom>
          <a:solidFill>
            <a:srgbClr val="7C83FD"/>
          </a:solidFill>
          <a:ln w="0">
            <a:noFill/>
          </a:ln>
        </p:spPr>
        <p:txBody>
          <a:bodyPr/>
          <a:lstStyle/>
          <a:p>
            <a:endParaRPr lang="en-MY"/>
          </a:p>
        </p:txBody>
      </p:sp>
      <p:sp>
        <p:nvSpPr>
          <p:cNvPr id="14" name="Rectangle 13">
            <a:extLst>
              <a:ext uri="{FF2B5EF4-FFF2-40B4-BE49-F238E27FC236}">
                <a16:creationId xmlns:a16="http://schemas.microsoft.com/office/drawing/2014/main" id="{98FDA718-BF2A-440D-9035-1236C4FB2798}"/>
              </a:ext>
            </a:extLst>
          </p:cNvPr>
          <p:cNvSpPr>
            <a:spLocks noGrp="1"/>
          </p:cNvSpPr>
          <p:nvPr/>
        </p:nvSpPr>
        <p:spPr>
          <a:xfrm>
            <a:off x="7162800" y="5648325"/>
            <a:ext cx="2952750" cy="285750"/>
          </a:xfrm>
          <a:prstGeom prst="rect">
            <a:avLst/>
          </a:prstGeom>
          <a:noFill/>
          <a:ln w="0">
            <a:noFill/>
          </a:ln>
        </p:spPr>
        <p:txBody>
          <a:bodyPr wrap="square" lIns="0" tIns="0" rIns="0" bIns="0" anchor="ctr">
            <a:noAutofit/>
          </a:bodyPr>
          <a:lstStyle/>
          <a:p>
            <a:pPr algn="ctr">
              <a:defRPr sz="1125" b="1">
                <a:solidFill>
                  <a:srgbClr val="F8F6FF"/>
                </a:solidFill>
                <a:latin typeface="Calibri"/>
                <a:ea typeface="Calibri"/>
                <a:cs typeface="Calibri"/>
              </a:defRPr>
            </a:pPr>
            <a:r>
              <a:rPr sz="1125" b="1">
                <a:solidFill>
                  <a:srgbClr val="F8F6FF"/>
                </a:solidFill>
                <a:latin typeface="Calibri"/>
                <a:ea typeface="Calibri"/>
                <a:cs typeface="Calibri"/>
              </a:rPr>
              <a:t>PERSONALISED GAME SETS</a:t>
            </a:r>
          </a:p>
        </p:txBody>
      </p:sp>
      <p:sp>
        <p:nvSpPr>
          <p:cNvPr id="15" name="Rectangle 14">
            <a:extLst>
              <a:ext uri="{FF2B5EF4-FFF2-40B4-BE49-F238E27FC236}">
                <a16:creationId xmlns:a16="http://schemas.microsoft.com/office/drawing/2014/main" id="{8A801347-DDCF-497C-984F-12AE82AECAB7}"/>
              </a:ext>
            </a:extLst>
          </p:cNvPr>
          <p:cNvSpPr>
            <a:spLocks noGrp="1"/>
          </p:cNvSpPr>
          <p:nvPr/>
        </p:nvSpPr>
        <p:spPr>
          <a:xfrm>
            <a:off x="533400" y="6543675"/>
            <a:ext cx="9525000" cy="171450"/>
          </a:xfrm>
          <a:prstGeom prst="rect">
            <a:avLst/>
          </a:prstGeom>
          <a:noFill/>
          <a:ln w="0">
            <a:noFill/>
          </a:ln>
        </p:spPr>
        <p:txBody>
          <a:bodyPr wrap="square" lIns="0" tIns="0" rIns="0" bIns="0" anchor="t">
            <a:noAutofit/>
          </a:bodyPr>
          <a:lstStyle/>
          <a:p>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 Final report Figures 6.6 and 6.19.</a:t>
            </a:r>
          </a:p>
        </p:txBody>
      </p:sp>
      <p:sp>
        <p:nvSpPr>
          <p:cNvPr id="16" name="Rectangle 15">
            <a:extLst>
              <a:ext uri="{FF2B5EF4-FFF2-40B4-BE49-F238E27FC236}">
                <a16:creationId xmlns:a16="http://schemas.microsoft.com/office/drawing/2014/main" id="{7A90DC46-2013-4563-93C7-7F4826295C9F}"/>
              </a:ext>
            </a:extLst>
          </p:cNvPr>
          <p:cNvSpPr>
            <a:spLocks noGrp="1"/>
          </p:cNvSpPr>
          <p:nvPr/>
        </p:nvSpPr>
        <p:spPr>
          <a:xfrm>
            <a:off x="11277600" y="6496050"/>
            <a:ext cx="476250" cy="209550"/>
          </a:xfrm>
          <a:prstGeom prst="rect">
            <a:avLst/>
          </a:prstGeom>
          <a:noFill/>
          <a:ln w="0">
            <a:noFill/>
          </a:ln>
        </p:spPr>
        <p:txBody>
          <a:bodyPr wrap="square" lIns="0" tIns="0" rIns="0" bIns="0" anchor="t">
            <a:noAutofit/>
          </a:bodyPr>
          <a:lstStyle/>
          <a:p>
            <a:pPr algn="r">
              <a:defRPr sz="975" b="1">
                <a:solidFill>
                  <a:srgbClr val="B8B0D4"/>
                </a:solidFill>
                <a:latin typeface="Calibri"/>
                <a:ea typeface="Calibri"/>
                <a:cs typeface="Calibri"/>
              </a:defRPr>
            </a:pPr>
            <a:r>
              <a:rPr sz="975" b="1">
                <a:solidFill>
                  <a:srgbClr val="B8B0D4"/>
                </a:solidFill>
                <a:latin typeface="Calibri"/>
                <a:ea typeface="Calibri"/>
                <a:cs typeface="Calibri"/>
              </a:rPr>
              <a:t>13</a:t>
            </a:r>
          </a:p>
        </p:txBody>
      </p:sp>
    </p:spTree>
    <p:extLst>
      <p:ext uri="{BB962C8B-B14F-4D97-AF65-F5344CB8AC3E}">
        <p14:creationId xmlns:p14="http://schemas.microsoft.com/office/powerpoint/2010/main" val="1418631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A1530"/>
        </a:solidFill>
        <a:effectLst/>
      </p:bgPr>
    </p:bg>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C0C48BDA-C807-4266-8F72-AB4E38E6A3D1}"/>
              </a:ext>
            </a:extLst>
          </p:cNvPr>
          <p:cNvSpPr>
            <a:spLocks noGrp="1"/>
          </p:cNvSpPr>
          <p:nvPr/>
        </p:nvSpPr>
        <p:spPr>
          <a:xfrm>
            <a:off x="0" y="0"/>
            <a:ext cx="133350" cy="6858000"/>
          </a:xfrm>
          <a:prstGeom prst="rect">
            <a:avLst/>
          </a:prstGeom>
          <a:solidFill>
            <a:srgbClr val="FF6B62"/>
          </a:solidFill>
          <a:ln w="0">
            <a:noFill/>
          </a:ln>
        </p:spPr>
        <p:txBody>
          <a:bodyPr/>
          <a:lstStyle/>
          <a:p>
            <a:endParaRPr lang="en-MY"/>
          </a:p>
        </p:txBody>
      </p:sp>
      <p:sp>
        <p:nvSpPr>
          <p:cNvPr id="2" name="Rectangle 1">
            <a:extLst>
              <a:ext uri="{FF2B5EF4-FFF2-40B4-BE49-F238E27FC236}">
                <a16:creationId xmlns:a16="http://schemas.microsoft.com/office/drawing/2014/main" id="{65E37B69-1B27-49A3-A9AE-0B8E14E85BB5}"/>
              </a:ext>
            </a:extLst>
          </p:cNvPr>
          <p:cNvSpPr>
            <a:spLocks noGrp="1"/>
          </p:cNvSpPr>
          <p:nvPr/>
        </p:nvSpPr>
        <p:spPr>
          <a:xfrm>
            <a:off x="533400" y="323850"/>
            <a:ext cx="2571750" cy="247650"/>
          </a:xfrm>
          <a:prstGeom prst="rect">
            <a:avLst/>
          </a:prstGeom>
          <a:noFill/>
          <a:ln w="0">
            <a:noFill/>
          </a:ln>
        </p:spPr>
        <p:txBody>
          <a:bodyPr wrap="square" lIns="0" tIns="0" rIns="0" bIns="0" anchor="t">
            <a:noAutofit/>
          </a:bodyPr>
          <a:lstStyle/>
          <a:p>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6 · IMPLEMENTATION</a:t>
            </a:r>
          </a:p>
        </p:txBody>
      </p:sp>
      <p:sp>
        <p:nvSpPr>
          <p:cNvPr id="3" name="Rectangle 2">
            <a:extLst>
              <a:ext uri="{FF2B5EF4-FFF2-40B4-BE49-F238E27FC236}">
                <a16:creationId xmlns:a16="http://schemas.microsoft.com/office/drawing/2014/main" id="{4023E757-7C84-48F6-89D6-E000D7ECEDB7}"/>
              </a:ext>
            </a:extLst>
          </p:cNvPr>
          <p:cNvSpPr>
            <a:spLocks noGrp="1"/>
          </p:cNvSpPr>
          <p:nvPr/>
        </p:nvSpPr>
        <p:spPr>
          <a:xfrm>
            <a:off x="533400" y="619125"/>
            <a:ext cx="11049000" cy="533400"/>
          </a:xfrm>
          <a:prstGeom prst="rect">
            <a:avLst/>
          </a:prstGeom>
          <a:noFill/>
          <a:ln w="0">
            <a:noFill/>
          </a:ln>
        </p:spPr>
        <p:txBody>
          <a:bodyPr wrap="square" lIns="0" tIns="0" rIns="0" bIns="0" anchor="t">
            <a:noAutofit/>
          </a:bodyPr>
          <a:lstStyle/>
          <a:p>
            <a:pPr algn="l">
              <a:defRPr sz="2700" b="1">
                <a:solidFill>
                  <a:srgbClr val="F8F6FF"/>
                </a:solidFill>
                <a:latin typeface="Calibri"/>
                <a:ea typeface="Calibri"/>
                <a:cs typeface="Calibri"/>
              </a:defRPr>
            </a:pPr>
            <a:r>
              <a:rPr sz="2700" b="1">
                <a:solidFill>
                  <a:srgbClr val="F8F6FF"/>
                </a:solidFill>
                <a:latin typeface="Calibri"/>
                <a:ea typeface="Calibri"/>
                <a:cs typeface="Calibri"/>
              </a:rPr>
              <a:t>Five connected engines made the system work</a:t>
            </a:r>
          </a:p>
        </p:txBody>
      </p:sp>
      <p:sp>
        <p:nvSpPr>
          <p:cNvPr id="4" name="Rectangle 3">
            <a:extLst>
              <a:ext uri="{FF2B5EF4-FFF2-40B4-BE49-F238E27FC236}">
                <a16:creationId xmlns:a16="http://schemas.microsoft.com/office/drawing/2014/main" id="{F1F39FC8-914D-4BE7-91B9-3EBD0403EEF4}"/>
              </a:ext>
            </a:extLst>
          </p:cNvPr>
          <p:cNvSpPr>
            <a:spLocks noGrp="1"/>
          </p:cNvSpPr>
          <p:nvPr/>
        </p:nvSpPr>
        <p:spPr>
          <a:xfrm>
            <a:off x="552450" y="1143000"/>
            <a:ext cx="10668000" cy="323850"/>
          </a:xfrm>
          <a:prstGeom prst="rect">
            <a:avLst/>
          </a:prstGeom>
          <a:noFill/>
          <a:ln w="0">
            <a:noFill/>
          </a:ln>
        </p:spPr>
        <p:txBody>
          <a:bodyPr wrap="square" lIns="0" tIns="0" rIns="0" bIns="0" anchor="t">
            <a:noAutofit/>
          </a:bodyPr>
          <a:lstStyle/>
          <a:p>
            <a:pPr algn="l">
              <a:defRPr sz="1350" b="0">
                <a:solidFill>
                  <a:srgbClr val="B8B0D4"/>
                </a:solidFill>
                <a:latin typeface="Calibri"/>
                <a:ea typeface="Calibri"/>
                <a:cs typeface="Calibri"/>
              </a:defRPr>
            </a:pPr>
            <a:r>
              <a:rPr sz="1350" b="0">
                <a:solidFill>
                  <a:srgbClr val="B8B0D4"/>
                </a:solidFill>
                <a:latin typeface="Calibri"/>
                <a:ea typeface="Calibri"/>
                <a:cs typeface="Calibri"/>
              </a:rPr>
              <a:t>The technical complexity came from coordinating state across roles, dates, notifications and game sessions.</a:t>
            </a:r>
          </a:p>
        </p:txBody>
      </p:sp>
      <p:sp>
        <p:nvSpPr>
          <p:cNvPr id="5" name="Rectangle: Rounded Corners 4">
            <a:extLst>
              <a:ext uri="{FF2B5EF4-FFF2-40B4-BE49-F238E27FC236}">
                <a16:creationId xmlns:a16="http://schemas.microsoft.com/office/drawing/2014/main" id="{2BE118DF-6BC6-4F8F-A618-DD28E926B678}"/>
              </a:ext>
            </a:extLst>
          </p:cNvPr>
          <p:cNvSpPr>
            <a:spLocks noGrp="1"/>
          </p:cNvSpPr>
          <p:nvPr/>
        </p:nvSpPr>
        <p:spPr>
          <a:xfrm>
            <a:off x="590550" y="2000250"/>
            <a:ext cx="2000250" cy="2857500"/>
          </a:xfrm>
          <a:prstGeom prst="roundRect">
            <a:avLst>
              <a:gd name="adj" fmla="val 7619"/>
            </a:avLst>
          </a:prstGeom>
          <a:solidFill>
            <a:srgbClr val="2E2750"/>
          </a:solidFill>
          <a:ln w="0">
            <a:noFill/>
          </a:ln>
        </p:spPr>
        <p:txBody>
          <a:bodyPr/>
          <a:lstStyle/>
          <a:p>
            <a:endParaRPr lang="en-MY"/>
          </a:p>
        </p:txBody>
      </p:sp>
      <p:sp>
        <p:nvSpPr>
          <p:cNvPr id="6" name="Rectangle 5">
            <a:extLst>
              <a:ext uri="{FF2B5EF4-FFF2-40B4-BE49-F238E27FC236}">
                <a16:creationId xmlns:a16="http://schemas.microsoft.com/office/drawing/2014/main" id="{6E58A694-92AE-4D48-BC36-830198F99123}"/>
              </a:ext>
            </a:extLst>
          </p:cNvPr>
          <p:cNvSpPr>
            <a:spLocks noGrp="1"/>
          </p:cNvSpPr>
          <p:nvPr/>
        </p:nvSpPr>
        <p:spPr>
          <a:xfrm>
            <a:off x="781050" y="2238375"/>
            <a:ext cx="1619250" cy="209550"/>
          </a:xfrm>
          <a:prstGeom prst="rect">
            <a:avLst/>
          </a:prstGeom>
          <a:noFill/>
          <a:ln w="0">
            <a:noFill/>
          </a:ln>
        </p:spPr>
        <p:txBody>
          <a:bodyPr wrap="square" lIns="0" tIns="0" rIns="0" bIns="0" anchor="t">
            <a:noAutofit/>
          </a:bodyPr>
          <a:lstStyle/>
          <a:p>
            <a:pPr algn="l">
              <a:defRPr sz="975" b="1">
                <a:solidFill>
                  <a:srgbClr val="7C83FD"/>
                </a:solidFill>
                <a:latin typeface="Calibri"/>
                <a:ea typeface="Calibri"/>
                <a:cs typeface="Calibri"/>
              </a:defRPr>
            </a:pPr>
            <a:r>
              <a:rPr sz="975" b="1">
                <a:solidFill>
                  <a:srgbClr val="7C83FD"/>
                </a:solidFill>
                <a:latin typeface="Calibri"/>
                <a:ea typeface="Calibri"/>
                <a:cs typeface="Calibri"/>
              </a:rPr>
              <a:t>AUTH</a:t>
            </a:r>
          </a:p>
        </p:txBody>
      </p:sp>
      <p:sp>
        <p:nvSpPr>
          <p:cNvPr id="7" name="Rectangle 6">
            <a:extLst>
              <a:ext uri="{FF2B5EF4-FFF2-40B4-BE49-F238E27FC236}">
                <a16:creationId xmlns:a16="http://schemas.microsoft.com/office/drawing/2014/main" id="{0C2A3D1B-5ABA-45A1-BA72-D58B5879523F}"/>
              </a:ext>
            </a:extLst>
          </p:cNvPr>
          <p:cNvSpPr>
            <a:spLocks noGrp="1"/>
          </p:cNvSpPr>
          <p:nvPr/>
        </p:nvSpPr>
        <p:spPr>
          <a:xfrm>
            <a:off x="781050" y="2667000"/>
            <a:ext cx="1619250" cy="609600"/>
          </a:xfrm>
          <a:prstGeom prst="rect">
            <a:avLst/>
          </a:prstGeom>
          <a:noFill/>
          <a:ln w="0">
            <a:noFill/>
          </a:ln>
        </p:spPr>
        <p:txBody>
          <a:bodyPr wrap="square" lIns="0" tIns="0" rIns="0" bIns="0" anchor="t">
            <a:noAutofit/>
          </a:bodyPr>
          <a:lstStyle/>
          <a:p>
            <a:pPr algn="l">
              <a:defRPr sz="3900" b="1">
                <a:solidFill>
                  <a:srgbClr val="8F87AC"/>
                </a:solidFill>
                <a:latin typeface="Calibri"/>
                <a:ea typeface="Calibri"/>
                <a:cs typeface="Calibri"/>
              </a:defRPr>
            </a:pPr>
            <a:r>
              <a:rPr sz="3900" b="1" dirty="0">
                <a:solidFill>
                  <a:srgbClr val="8F87AC"/>
                </a:solidFill>
                <a:latin typeface="Calibri"/>
                <a:ea typeface="Calibri"/>
                <a:cs typeface="Calibri"/>
              </a:rPr>
              <a:t>01</a:t>
            </a:r>
          </a:p>
        </p:txBody>
      </p:sp>
      <p:sp>
        <p:nvSpPr>
          <p:cNvPr id="8" name="Rectangle 7">
            <a:extLst>
              <a:ext uri="{FF2B5EF4-FFF2-40B4-BE49-F238E27FC236}">
                <a16:creationId xmlns:a16="http://schemas.microsoft.com/office/drawing/2014/main" id="{D69597A3-EEB2-462F-B467-AF2EED862E58}"/>
              </a:ext>
            </a:extLst>
          </p:cNvPr>
          <p:cNvSpPr>
            <a:spLocks noGrp="1"/>
          </p:cNvSpPr>
          <p:nvPr/>
        </p:nvSpPr>
        <p:spPr>
          <a:xfrm>
            <a:off x="781050" y="3438525"/>
            <a:ext cx="1619250" cy="552450"/>
          </a:xfrm>
          <a:prstGeom prst="rect">
            <a:avLst/>
          </a:prstGeom>
          <a:noFill/>
          <a:ln w="0">
            <a:noFill/>
          </a:ln>
        </p:spPr>
        <p:txBody>
          <a:bodyPr wrap="square" lIns="0" tIns="0" rIns="0" bIns="0" anchor="t">
            <a:noAutofit/>
          </a:bodyPr>
          <a:lstStyle/>
          <a:p>
            <a:pPr algn="l">
              <a:defRPr sz="1650" b="1">
                <a:solidFill>
                  <a:srgbClr val="F8F6FF"/>
                </a:solidFill>
                <a:latin typeface="Calibri"/>
                <a:ea typeface="Calibri"/>
                <a:cs typeface="Calibri"/>
              </a:defRPr>
            </a:pPr>
            <a:r>
              <a:rPr sz="1650" b="1">
                <a:solidFill>
                  <a:srgbClr val="F8F6FF"/>
                </a:solidFill>
                <a:latin typeface="Calibri"/>
                <a:ea typeface="Calibri"/>
                <a:cs typeface="Calibri"/>
              </a:rPr>
              <a:t>Role routing</a:t>
            </a:r>
          </a:p>
        </p:txBody>
      </p:sp>
      <p:sp>
        <p:nvSpPr>
          <p:cNvPr id="9" name="Rectangle 8">
            <a:extLst>
              <a:ext uri="{FF2B5EF4-FFF2-40B4-BE49-F238E27FC236}">
                <a16:creationId xmlns:a16="http://schemas.microsoft.com/office/drawing/2014/main" id="{ED335B2C-11D0-4E7D-B904-4E562FDF3F74}"/>
              </a:ext>
            </a:extLst>
          </p:cNvPr>
          <p:cNvSpPr>
            <a:spLocks noGrp="1"/>
          </p:cNvSpPr>
          <p:nvPr/>
        </p:nvSpPr>
        <p:spPr>
          <a:xfrm>
            <a:off x="781050" y="4095750"/>
            <a:ext cx="1619250" cy="609600"/>
          </a:xfrm>
          <a:prstGeom prst="rect">
            <a:avLst/>
          </a:prstGeom>
          <a:noFill/>
          <a:ln w="0">
            <a:noFill/>
          </a:ln>
        </p:spPr>
        <p:txBody>
          <a:bodyPr wrap="square" lIns="0" tIns="0" rIns="0" bIns="0" anchor="t">
            <a:noAutofit/>
          </a:bodyPr>
          <a:lstStyle/>
          <a:p>
            <a:pPr algn="l">
              <a:defRPr sz="1125" b="0">
                <a:solidFill>
                  <a:srgbClr val="B8B0D4"/>
                </a:solidFill>
                <a:latin typeface="Calibri"/>
                <a:ea typeface="Calibri"/>
                <a:cs typeface="Calibri"/>
              </a:defRPr>
            </a:pPr>
            <a:r>
              <a:rPr sz="1125" b="0">
                <a:solidFill>
                  <a:srgbClr val="B8B0D4"/>
                </a:solidFill>
                <a:latin typeface="Calibri"/>
                <a:ea typeface="Calibri"/>
                <a:cs typeface="Calibri"/>
              </a:rPr>
              <a:t>Firebase authentication and role-aware navigation</a:t>
            </a:r>
          </a:p>
        </p:txBody>
      </p:sp>
      <p:sp>
        <p:nvSpPr>
          <p:cNvPr id="10" name="Rectangle: Rounded Corners 9">
            <a:extLst>
              <a:ext uri="{FF2B5EF4-FFF2-40B4-BE49-F238E27FC236}">
                <a16:creationId xmlns:a16="http://schemas.microsoft.com/office/drawing/2014/main" id="{32ED8D4C-6E9A-42AD-9158-7567B812572E}"/>
              </a:ext>
            </a:extLst>
          </p:cNvPr>
          <p:cNvSpPr>
            <a:spLocks noGrp="1"/>
          </p:cNvSpPr>
          <p:nvPr/>
        </p:nvSpPr>
        <p:spPr>
          <a:xfrm>
            <a:off x="2876550" y="2000250"/>
            <a:ext cx="2000250" cy="2857500"/>
          </a:xfrm>
          <a:prstGeom prst="roundRect">
            <a:avLst>
              <a:gd name="adj" fmla="val 7619"/>
            </a:avLst>
          </a:prstGeom>
          <a:solidFill>
            <a:srgbClr val="2E2750"/>
          </a:solidFill>
          <a:ln w="0">
            <a:noFill/>
          </a:ln>
        </p:spPr>
        <p:txBody>
          <a:bodyPr/>
          <a:lstStyle/>
          <a:p>
            <a:endParaRPr lang="en-MY"/>
          </a:p>
        </p:txBody>
      </p:sp>
      <p:sp>
        <p:nvSpPr>
          <p:cNvPr id="11" name="Rectangle 10">
            <a:extLst>
              <a:ext uri="{FF2B5EF4-FFF2-40B4-BE49-F238E27FC236}">
                <a16:creationId xmlns:a16="http://schemas.microsoft.com/office/drawing/2014/main" id="{4C311A39-E53E-4469-8A89-4B204F86ADF9}"/>
              </a:ext>
            </a:extLst>
          </p:cNvPr>
          <p:cNvSpPr>
            <a:spLocks noGrp="1"/>
          </p:cNvSpPr>
          <p:nvPr/>
        </p:nvSpPr>
        <p:spPr>
          <a:xfrm>
            <a:off x="3067050" y="2238375"/>
            <a:ext cx="1619250" cy="209550"/>
          </a:xfrm>
          <a:prstGeom prst="rect">
            <a:avLst/>
          </a:prstGeom>
          <a:noFill/>
          <a:ln w="0">
            <a:noFill/>
          </a:ln>
        </p:spPr>
        <p:txBody>
          <a:bodyPr wrap="square" lIns="0" tIns="0" rIns="0" bIns="0" anchor="t">
            <a:noAutofit/>
          </a:bodyPr>
          <a:lstStyle/>
          <a:p>
            <a:pPr algn="l">
              <a:defRPr sz="975" b="1">
                <a:solidFill>
                  <a:srgbClr val="7C83FD"/>
                </a:solidFill>
                <a:latin typeface="Calibri"/>
                <a:ea typeface="Calibri"/>
                <a:cs typeface="Calibri"/>
              </a:defRPr>
            </a:pPr>
            <a:r>
              <a:rPr sz="975" b="1">
                <a:solidFill>
                  <a:srgbClr val="7C83FD"/>
                </a:solidFill>
                <a:latin typeface="Calibri"/>
                <a:ea typeface="Calibri"/>
                <a:cs typeface="Calibri"/>
              </a:rPr>
              <a:t>TASKS</a:t>
            </a:r>
          </a:p>
        </p:txBody>
      </p:sp>
      <p:sp>
        <p:nvSpPr>
          <p:cNvPr id="12" name="Rectangle 11">
            <a:extLst>
              <a:ext uri="{FF2B5EF4-FFF2-40B4-BE49-F238E27FC236}">
                <a16:creationId xmlns:a16="http://schemas.microsoft.com/office/drawing/2014/main" id="{43BEE417-054C-4035-A19A-695F5525F780}"/>
              </a:ext>
            </a:extLst>
          </p:cNvPr>
          <p:cNvSpPr>
            <a:spLocks noGrp="1"/>
          </p:cNvSpPr>
          <p:nvPr/>
        </p:nvSpPr>
        <p:spPr>
          <a:xfrm>
            <a:off x="3067050" y="2667000"/>
            <a:ext cx="1619250" cy="609600"/>
          </a:xfrm>
          <a:prstGeom prst="rect">
            <a:avLst/>
          </a:prstGeom>
          <a:noFill/>
          <a:ln w="0">
            <a:noFill/>
          </a:ln>
        </p:spPr>
        <p:txBody>
          <a:bodyPr wrap="square" lIns="0" tIns="0" rIns="0" bIns="0" anchor="t">
            <a:noAutofit/>
          </a:bodyPr>
          <a:lstStyle/>
          <a:p>
            <a:pPr algn="l">
              <a:defRPr sz="3900" b="1">
                <a:solidFill>
                  <a:srgbClr val="8F87AC"/>
                </a:solidFill>
                <a:latin typeface="Calibri"/>
                <a:ea typeface="Calibri"/>
                <a:cs typeface="Calibri"/>
              </a:defRPr>
            </a:pPr>
            <a:r>
              <a:rPr sz="3900" b="1" dirty="0">
                <a:solidFill>
                  <a:srgbClr val="8F87AC"/>
                </a:solidFill>
                <a:latin typeface="Calibri"/>
                <a:ea typeface="Calibri"/>
                <a:cs typeface="Calibri"/>
              </a:rPr>
              <a:t>02</a:t>
            </a:r>
          </a:p>
        </p:txBody>
      </p:sp>
      <p:sp>
        <p:nvSpPr>
          <p:cNvPr id="13" name="Rectangle 12">
            <a:extLst>
              <a:ext uri="{FF2B5EF4-FFF2-40B4-BE49-F238E27FC236}">
                <a16:creationId xmlns:a16="http://schemas.microsoft.com/office/drawing/2014/main" id="{1D8F89EA-C5B5-4A45-9F6C-A89EE6C26FE6}"/>
              </a:ext>
            </a:extLst>
          </p:cNvPr>
          <p:cNvSpPr>
            <a:spLocks noGrp="1"/>
          </p:cNvSpPr>
          <p:nvPr/>
        </p:nvSpPr>
        <p:spPr>
          <a:xfrm>
            <a:off x="3067050" y="3438525"/>
            <a:ext cx="1619250" cy="552450"/>
          </a:xfrm>
          <a:prstGeom prst="rect">
            <a:avLst/>
          </a:prstGeom>
          <a:noFill/>
          <a:ln w="0">
            <a:noFill/>
          </a:ln>
        </p:spPr>
        <p:txBody>
          <a:bodyPr wrap="square" lIns="0" tIns="0" rIns="0" bIns="0" anchor="t">
            <a:noAutofit/>
          </a:bodyPr>
          <a:lstStyle/>
          <a:p>
            <a:pPr algn="l">
              <a:defRPr sz="1650" b="1">
                <a:solidFill>
                  <a:srgbClr val="F8F6FF"/>
                </a:solidFill>
                <a:latin typeface="Calibri"/>
                <a:ea typeface="Calibri"/>
                <a:cs typeface="Calibri"/>
              </a:defRPr>
            </a:pPr>
            <a:r>
              <a:rPr sz="1650" b="1">
                <a:solidFill>
                  <a:srgbClr val="F8F6FF"/>
                </a:solidFill>
                <a:latin typeface="Calibri"/>
                <a:ea typeface="Calibri"/>
                <a:cs typeface="Calibri"/>
              </a:rPr>
              <a:t>Occurrence model</a:t>
            </a:r>
          </a:p>
        </p:txBody>
      </p:sp>
      <p:sp>
        <p:nvSpPr>
          <p:cNvPr id="14" name="Rectangle 13">
            <a:extLst>
              <a:ext uri="{FF2B5EF4-FFF2-40B4-BE49-F238E27FC236}">
                <a16:creationId xmlns:a16="http://schemas.microsoft.com/office/drawing/2014/main" id="{BC778E77-41CD-41B1-B732-67C7645C8013}"/>
              </a:ext>
            </a:extLst>
          </p:cNvPr>
          <p:cNvSpPr>
            <a:spLocks noGrp="1"/>
          </p:cNvSpPr>
          <p:nvPr/>
        </p:nvSpPr>
        <p:spPr>
          <a:xfrm>
            <a:off x="3067050" y="4095750"/>
            <a:ext cx="1619250" cy="609600"/>
          </a:xfrm>
          <a:prstGeom prst="rect">
            <a:avLst/>
          </a:prstGeom>
          <a:noFill/>
          <a:ln w="0">
            <a:noFill/>
          </a:ln>
        </p:spPr>
        <p:txBody>
          <a:bodyPr wrap="square" lIns="0" tIns="0" rIns="0" bIns="0" anchor="t">
            <a:noAutofit/>
          </a:bodyPr>
          <a:lstStyle/>
          <a:p>
            <a:pPr algn="l">
              <a:defRPr sz="1125" b="0">
                <a:solidFill>
                  <a:srgbClr val="B8B0D4"/>
                </a:solidFill>
                <a:latin typeface="Calibri"/>
                <a:ea typeface="Calibri"/>
                <a:cs typeface="Calibri"/>
              </a:defRPr>
            </a:pPr>
            <a:r>
              <a:rPr sz="1125" b="0">
                <a:solidFill>
                  <a:srgbClr val="B8B0D4"/>
                </a:solidFill>
                <a:latin typeface="Calibri"/>
                <a:ea typeface="Calibri"/>
                <a:cs typeface="Calibri"/>
              </a:rPr>
              <a:t>Recurring series produced date-specific statuses</a:t>
            </a:r>
          </a:p>
        </p:txBody>
      </p:sp>
      <p:sp>
        <p:nvSpPr>
          <p:cNvPr id="15" name="Rectangle: Rounded Corners 14">
            <a:extLst>
              <a:ext uri="{FF2B5EF4-FFF2-40B4-BE49-F238E27FC236}">
                <a16:creationId xmlns:a16="http://schemas.microsoft.com/office/drawing/2014/main" id="{838E211C-6571-49A5-9D19-8BD431A2702A}"/>
              </a:ext>
            </a:extLst>
          </p:cNvPr>
          <p:cNvSpPr>
            <a:spLocks noGrp="1"/>
          </p:cNvSpPr>
          <p:nvPr/>
        </p:nvSpPr>
        <p:spPr>
          <a:xfrm>
            <a:off x="5162550" y="2000250"/>
            <a:ext cx="2000250" cy="2857500"/>
          </a:xfrm>
          <a:prstGeom prst="roundRect">
            <a:avLst>
              <a:gd name="adj" fmla="val 7619"/>
            </a:avLst>
          </a:prstGeom>
          <a:solidFill>
            <a:srgbClr val="2E2750"/>
          </a:solidFill>
          <a:ln w="0">
            <a:noFill/>
          </a:ln>
        </p:spPr>
        <p:txBody>
          <a:bodyPr/>
          <a:lstStyle/>
          <a:p>
            <a:endParaRPr lang="en-MY"/>
          </a:p>
        </p:txBody>
      </p:sp>
      <p:sp>
        <p:nvSpPr>
          <p:cNvPr id="16" name="Rectangle 15">
            <a:extLst>
              <a:ext uri="{FF2B5EF4-FFF2-40B4-BE49-F238E27FC236}">
                <a16:creationId xmlns:a16="http://schemas.microsoft.com/office/drawing/2014/main" id="{0FCA91F7-FF9D-4DA9-85E9-AAB6807E0BB5}"/>
              </a:ext>
            </a:extLst>
          </p:cNvPr>
          <p:cNvSpPr>
            <a:spLocks noGrp="1"/>
          </p:cNvSpPr>
          <p:nvPr/>
        </p:nvSpPr>
        <p:spPr>
          <a:xfrm>
            <a:off x="5353050" y="2238375"/>
            <a:ext cx="1619250" cy="209550"/>
          </a:xfrm>
          <a:prstGeom prst="rect">
            <a:avLst/>
          </a:prstGeom>
          <a:noFill/>
          <a:ln w="0">
            <a:noFill/>
          </a:ln>
        </p:spPr>
        <p:txBody>
          <a:bodyPr wrap="square" lIns="0" tIns="0" rIns="0" bIns="0" anchor="t">
            <a:noAutofit/>
          </a:bodyPr>
          <a:lstStyle/>
          <a:p>
            <a:pPr algn="l">
              <a:defRPr sz="975" b="1">
                <a:solidFill>
                  <a:srgbClr val="7C83FD"/>
                </a:solidFill>
                <a:latin typeface="Calibri"/>
                <a:ea typeface="Calibri"/>
                <a:cs typeface="Calibri"/>
              </a:defRPr>
            </a:pPr>
            <a:r>
              <a:rPr sz="975" b="1">
                <a:solidFill>
                  <a:srgbClr val="7C83FD"/>
                </a:solidFill>
                <a:latin typeface="Calibri"/>
                <a:ea typeface="Calibri"/>
                <a:cs typeface="Calibri"/>
              </a:rPr>
              <a:t>ALERTS</a:t>
            </a:r>
          </a:p>
        </p:txBody>
      </p:sp>
      <p:sp>
        <p:nvSpPr>
          <p:cNvPr id="17" name="Rectangle 16">
            <a:extLst>
              <a:ext uri="{FF2B5EF4-FFF2-40B4-BE49-F238E27FC236}">
                <a16:creationId xmlns:a16="http://schemas.microsoft.com/office/drawing/2014/main" id="{40DAAAA2-1A2A-4BC4-807F-0309E3FEFFF1}"/>
              </a:ext>
            </a:extLst>
          </p:cNvPr>
          <p:cNvSpPr>
            <a:spLocks noGrp="1"/>
          </p:cNvSpPr>
          <p:nvPr/>
        </p:nvSpPr>
        <p:spPr>
          <a:xfrm>
            <a:off x="5353050" y="2667000"/>
            <a:ext cx="1619250" cy="609600"/>
          </a:xfrm>
          <a:prstGeom prst="rect">
            <a:avLst/>
          </a:prstGeom>
          <a:noFill/>
          <a:ln w="0">
            <a:noFill/>
          </a:ln>
        </p:spPr>
        <p:txBody>
          <a:bodyPr wrap="square" lIns="0" tIns="0" rIns="0" bIns="0" anchor="t">
            <a:noAutofit/>
          </a:bodyPr>
          <a:lstStyle/>
          <a:p>
            <a:pPr algn="l">
              <a:defRPr sz="3900" b="1">
                <a:solidFill>
                  <a:srgbClr val="8F87AC"/>
                </a:solidFill>
                <a:latin typeface="Calibri"/>
                <a:ea typeface="Calibri"/>
                <a:cs typeface="Calibri"/>
              </a:defRPr>
            </a:pPr>
            <a:r>
              <a:rPr sz="3900" b="1">
                <a:solidFill>
                  <a:srgbClr val="8F87AC"/>
                </a:solidFill>
                <a:latin typeface="Calibri"/>
                <a:ea typeface="Calibri"/>
                <a:cs typeface="Calibri"/>
              </a:rPr>
              <a:t>03</a:t>
            </a:r>
          </a:p>
        </p:txBody>
      </p:sp>
      <p:sp>
        <p:nvSpPr>
          <p:cNvPr id="18" name="Rectangle 17">
            <a:extLst>
              <a:ext uri="{FF2B5EF4-FFF2-40B4-BE49-F238E27FC236}">
                <a16:creationId xmlns:a16="http://schemas.microsoft.com/office/drawing/2014/main" id="{86EFBDA8-7F7B-45F7-8279-01FBB3286154}"/>
              </a:ext>
            </a:extLst>
          </p:cNvPr>
          <p:cNvSpPr>
            <a:spLocks noGrp="1"/>
          </p:cNvSpPr>
          <p:nvPr/>
        </p:nvSpPr>
        <p:spPr>
          <a:xfrm>
            <a:off x="5353050" y="3438525"/>
            <a:ext cx="1619250" cy="552450"/>
          </a:xfrm>
          <a:prstGeom prst="rect">
            <a:avLst/>
          </a:prstGeom>
          <a:noFill/>
          <a:ln w="0">
            <a:noFill/>
          </a:ln>
        </p:spPr>
        <p:txBody>
          <a:bodyPr wrap="square" lIns="0" tIns="0" rIns="0" bIns="0" anchor="t">
            <a:noAutofit/>
          </a:bodyPr>
          <a:lstStyle/>
          <a:p>
            <a:pPr algn="l">
              <a:defRPr sz="1650" b="1">
                <a:solidFill>
                  <a:srgbClr val="F8F6FF"/>
                </a:solidFill>
                <a:latin typeface="Calibri"/>
                <a:ea typeface="Calibri"/>
                <a:cs typeface="Calibri"/>
              </a:defRPr>
            </a:pPr>
            <a:r>
              <a:rPr sz="1650" b="1">
                <a:solidFill>
                  <a:srgbClr val="F8F6FF"/>
                </a:solidFill>
                <a:latin typeface="Calibri"/>
                <a:ea typeface="Calibri"/>
                <a:cs typeface="Calibri"/>
              </a:rPr>
              <a:t>Reminder lifecycle</a:t>
            </a:r>
          </a:p>
        </p:txBody>
      </p:sp>
      <p:sp>
        <p:nvSpPr>
          <p:cNvPr id="19" name="Rectangle 18">
            <a:extLst>
              <a:ext uri="{FF2B5EF4-FFF2-40B4-BE49-F238E27FC236}">
                <a16:creationId xmlns:a16="http://schemas.microsoft.com/office/drawing/2014/main" id="{E4B2812D-6590-49CF-88CD-6158E3362CFA}"/>
              </a:ext>
            </a:extLst>
          </p:cNvPr>
          <p:cNvSpPr>
            <a:spLocks noGrp="1"/>
          </p:cNvSpPr>
          <p:nvPr/>
        </p:nvSpPr>
        <p:spPr>
          <a:xfrm>
            <a:off x="5353050" y="4095750"/>
            <a:ext cx="1619250" cy="609600"/>
          </a:xfrm>
          <a:prstGeom prst="rect">
            <a:avLst/>
          </a:prstGeom>
          <a:noFill/>
          <a:ln w="0">
            <a:noFill/>
          </a:ln>
        </p:spPr>
        <p:txBody>
          <a:bodyPr wrap="square" lIns="0" tIns="0" rIns="0" bIns="0" anchor="t">
            <a:noAutofit/>
          </a:bodyPr>
          <a:lstStyle/>
          <a:p>
            <a:pPr algn="l">
              <a:defRPr sz="1125" b="0">
                <a:solidFill>
                  <a:srgbClr val="B8B0D4"/>
                </a:solidFill>
                <a:latin typeface="Calibri"/>
                <a:ea typeface="Calibri"/>
                <a:cs typeface="Calibri"/>
              </a:defRPr>
            </a:pPr>
            <a:r>
              <a:rPr sz="1125" b="0">
                <a:solidFill>
                  <a:srgbClr val="B8B0D4"/>
                </a:solidFill>
                <a:latin typeface="Calibri"/>
                <a:ea typeface="Calibri"/>
                <a:cs typeface="Calibri"/>
              </a:rPr>
              <a:t>Repeat until response; cancel or mark missed</a:t>
            </a:r>
          </a:p>
        </p:txBody>
      </p:sp>
      <p:sp>
        <p:nvSpPr>
          <p:cNvPr id="20" name="Rectangle: Rounded Corners 19">
            <a:extLst>
              <a:ext uri="{FF2B5EF4-FFF2-40B4-BE49-F238E27FC236}">
                <a16:creationId xmlns:a16="http://schemas.microsoft.com/office/drawing/2014/main" id="{2A6D64D9-E648-41DB-802E-F32FBE01939E}"/>
              </a:ext>
            </a:extLst>
          </p:cNvPr>
          <p:cNvSpPr>
            <a:spLocks noGrp="1"/>
          </p:cNvSpPr>
          <p:nvPr/>
        </p:nvSpPr>
        <p:spPr>
          <a:xfrm>
            <a:off x="7448550" y="2000250"/>
            <a:ext cx="2000250" cy="2857500"/>
          </a:xfrm>
          <a:prstGeom prst="roundRect">
            <a:avLst>
              <a:gd name="adj" fmla="val 7619"/>
            </a:avLst>
          </a:prstGeom>
          <a:solidFill>
            <a:srgbClr val="3A3160"/>
          </a:solidFill>
          <a:ln w="0">
            <a:noFill/>
          </a:ln>
        </p:spPr>
        <p:txBody>
          <a:bodyPr/>
          <a:lstStyle/>
          <a:p>
            <a:endParaRPr lang="en-MY"/>
          </a:p>
        </p:txBody>
      </p:sp>
      <p:sp>
        <p:nvSpPr>
          <p:cNvPr id="21" name="Rectangle 20">
            <a:extLst>
              <a:ext uri="{FF2B5EF4-FFF2-40B4-BE49-F238E27FC236}">
                <a16:creationId xmlns:a16="http://schemas.microsoft.com/office/drawing/2014/main" id="{F31A2706-2833-40B6-B26B-906B37BE204C}"/>
              </a:ext>
            </a:extLst>
          </p:cNvPr>
          <p:cNvSpPr>
            <a:spLocks noGrp="1"/>
          </p:cNvSpPr>
          <p:nvPr/>
        </p:nvSpPr>
        <p:spPr>
          <a:xfrm>
            <a:off x="7639050" y="2238375"/>
            <a:ext cx="1619250" cy="209550"/>
          </a:xfrm>
          <a:prstGeom prst="rect">
            <a:avLst/>
          </a:prstGeom>
          <a:noFill/>
          <a:ln w="0">
            <a:noFill/>
          </a:ln>
        </p:spPr>
        <p:txBody>
          <a:bodyPr wrap="square" lIns="0" tIns="0" rIns="0" bIns="0" anchor="t">
            <a:noAutofit/>
          </a:bodyPr>
          <a:lstStyle/>
          <a:p>
            <a:pPr algn="l">
              <a:defRPr sz="975" b="1">
                <a:solidFill>
                  <a:srgbClr val="FF6B62"/>
                </a:solidFill>
                <a:latin typeface="Calibri"/>
                <a:ea typeface="Calibri"/>
                <a:cs typeface="Calibri"/>
              </a:defRPr>
            </a:pPr>
            <a:r>
              <a:rPr sz="975" b="1">
                <a:solidFill>
                  <a:srgbClr val="FF6B62"/>
                </a:solidFill>
                <a:latin typeface="Calibri"/>
                <a:ea typeface="Calibri"/>
                <a:cs typeface="Calibri"/>
              </a:rPr>
              <a:t>GAMES</a:t>
            </a:r>
          </a:p>
        </p:txBody>
      </p:sp>
      <p:sp>
        <p:nvSpPr>
          <p:cNvPr id="22" name="Rectangle 21">
            <a:extLst>
              <a:ext uri="{FF2B5EF4-FFF2-40B4-BE49-F238E27FC236}">
                <a16:creationId xmlns:a16="http://schemas.microsoft.com/office/drawing/2014/main" id="{0CDF1067-FEC7-4EB1-AA41-BAFDA8530A88}"/>
              </a:ext>
            </a:extLst>
          </p:cNvPr>
          <p:cNvSpPr>
            <a:spLocks noGrp="1"/>
          </p:cNvSpPr>
          <p:nvPr/>
        </p:nvSpPr>
        <p:spPr>
          <a:xfrm>
            <a:off x="7639050" y="2667000"/>
            <a:ext cx="1619250" cy="609600"/>
          </a:xfrm>
          <a:prstGeom prst="rect">
            <a:avLst/>
          </a:prstGeom>
          <a:noFill/>
          <a:ln w="0">
            <a:noFill/>
          </a:ln>
        </p:spPr>
        <p:txBody>
          <a:bodyPr wrap="square" lIns="0" tIns="0" rIns="0" bIns="0" anchor="t">
            <a:noAutofit/>
          </a:bodyPr>
          <a:lstStyle/>
          <a:p>
            <a:pPr algn="l">
              <a:defRPr sz="3900" b="1">
                <a:solidFill>
                  <a:srgbClr val="FF6B62"/>
                </a:solidFill>
                <a:latin typeface="Calibri"/>
                <a:ea typeface="Calibri"/>
                <a:cs typeface="Calibri"/>
              </a:defRPr>
            </a:pPr>
            <a:r>
              <a:rPr sz="3900" b="1">
                <a:solidFill>
                  <a:srgbClr val="FF6B62"/>
                </a:solidFill>
                <a:latin typeface="Calibri"/>
                <a:ea typeface="Calibri"/>
                <a:cs typeface="Calibri"/>
              </a:rPr>
              <a:t>04</a:t>
            </a:r>
          </a:p>
        </p:txBody>
      </p:sp>
      <p:sp>
        <p:nvSpPr>
          <p:cNvPr id="23" name="Rectangle 22">
            <a:extLst>
              <a:ext uri="{FF2B5EF4-FFF2-40B4-BE49-F238E27FC236}">
                <a16:creationId xmlns:a16="http://schemas.microsoft.com/office/drawing/2014/main" id="{E6A1C35D-8C15-4299-8D39-322A2B12B62E}"/>
              </a:ext>
            </a:extLst>
          </p:cNvPr>
          <p:cNvSpPr>
            <a:spLocks noGrp="1"/>
          </p:cNvSpPr>
          <p:nvPr/>
        </p:nvSpPr>
        <p:spPr>
          <a:xfrm>
            <a:off x="7639050" y="3438525"/>
            <a:ext cx="1619250" cy="552450"/>
          </a:xfrm>
          <a:prstGeom prst="rect">
            <a:avLst/>
          </a:prstGeom>
          <a:noFill/>
          <a:ln w="0">
            <a:noFill/>
          </a:ln>
        </p:spPr>
        <p:txBody>
          <a:bodyPr wrap="square" lIns="0" tIns="0" rIns="0" bIns="0" anchor="t">
            <a:noAutofit/>
          </a:bodyPr>
          <a:lstStyle/>
          <a:p>
            <a:pPr algn="l">
              <a:defRPr sz="1650" b="1">
                <a:solidFill>
                  <a:srgbClr val="F8F6FF"/>
                </a:solidFill>
                <a:latin typeface="Calibri"/>
                <a:ea typeface="Calibri"/>
                <a:cs typeface="Calibri"/>
              </a:defRPr>
            </a:pPr>
            <a:r>
              <a:rPr sz="1650" b="1">
                <a:solidFill>
                  <a:srgbClr val="F8F6FF"/>
                </a:solidFill>
                <a:latin typeface="Calibri"/>
                <a:ea typeface="Calibri"/>
                <a:cs typeface="Calibri"/>
              </a:rPr>
              <a:t>Adaptive state</a:t>
            </a:r>
          </a:p>
        </p:txBody>
      </p:sp>
      <p:sp>
        <p:nvSpPr>
          <p:cNvPr id="24" name="Rectangle 23">
            <a:extLst>
              <a:ext uri="{FF2B5EF4-FFF2-40B4-BE49-F238E27FC236}">
                <a16:creationId xmlns:a16="http://schemas.microsoft.com/office/drawing/2014/main" id="{979A7618-99AA-4C78-827E-1AC044551ADC}"/>
              </a:ext>
            </a:extLst>
          </p:cNvPr>
          <p:cNvSpPr>
            <a:spLocks noGrp="1"/>
          </p:cNvSpPr>
          <p:nvPr/>
        </p:nvSpPr>
        <p:spPr>
          <a:xfrm>
            <a:off x="7639050" y="4095750"/>
            <a:ext cx="1619250" cy="609600"/>
          </a:xfrm>
          <a:prstGeom prst="rect">
            <a:avLst/>
          </a:prstGeom>
          <a:noFill/>
          <a:ln w="0">
            <a:noFill/>
          </a:ln>
        </p:spPr>
        <p:txBody>
          <a:bodyPr wrap="square" lIns="0" tIns="0" rIns="0" bIns="0" anchor="t">
            <a:noAutofit/>
          </a:bodyPr>
          <a:lstStyle/>
          <a:p>
            <a:pPr algn="l">
              <a:defRPr sz="1125" b="0">
                <a:solidFill>
                  <a:srgbClr val="B8B0D4"/>
                </a:solidFill>
                <a:latin typeface="Calibri"/>
                <a:ea typeface="Calibri"/>
                <a:cs typeface="Calibri"/>
              </a:defRPr>
            </a:pPr>
            <a:r>
              <a:rPr sz="1125" b="0">
                <a:solidFill>
                  <a:srgbClr val="B8B0D4"/>
                </a:solidFill>
                <a:latin typeface="Calibri"/>
                <a:ea typeface="Calibri"/>
                <a:cs typeface="Calibri"/>
              </a:rPr>
              <a:t>Session accuracy and hints drove per-game levels</a:t>
            </a:r>
          </a:p>
        </p:txBody>
      </p:sp>
      <p:sp>
        <p:nvSpPr>
          <p:cNvPr id="25" name="Rectangle: Rounded Corners 24">
            <a:extLst>
              <a:ext uri="{FF2B5EF4-FFF2-40B4-BE49-F238E27FC236}">
                <a16:creationId xmlns:a16="http://schemas.microsoft.com/office/drawing/2014/main" id="{645F8DCD-2420-4C2D-AC4B-8FEA6655659D}"/>
              </a:ext>
            </a:extLst>
          </p:cNvPr>
          <p:cNvSpPr>
            <a:spLocks noGrp="1"/>
          </p:cNvSpPr>
          <p:nvPr/>
        </p:nvSpPr>
        <p:spPr>
          <a:xfrm>
            <a:off x="9734550" y="2000250"/>
            <a:ext cx="2000250" cy="2857500"/>
          </a:xfrm>
          <a:prstGeom prst="roundRect">
            <a:avLst>
              <a:gd name="adj" fmla="val 7619"/>
            </a:avLst>
          </a:prstGeom>
          <a:solidFill>
            <a:srgbClr val="2E2750"/>
          </a:solidFill>
          <a:ln w="0">
            <a:noFill/>
          </a:ln>
        </p:spPr>
        <p:txBody>
          <a:bodyPr/>
          <a:lstStyle/>
          <a:p>
            <a:endParaRPr lang="en-MY"/>
          </a:p>
        </p:txBody>
      </p:sp>
      <p:sp>
        <p:nvSpPr>
          <p:cNvPr id="26" name="Rectangle 25">
            <a:extLst>
              <a:ext uri="{FF2B5EF4-FFF2-40B4-BE49-F238E27FC236}">
                <a16:creationId xmlns:a16="http://schemas.microsoft.com/office/drawing/2014/main" id="{04209BD4-1819-409D-A01A-ECDEE7737B32}"/>
              </a:ext>
            </a:extLst>
          </p:cNvPr>
          <p:cNvSpPr>
            <a:spLocks noGrp="1"/>
          </p:cNvSpPr>
          <p:nvPr/>
        </p:nvSpPr>
        <p:spPr>
          <a:xfrm>
            <a:off x="9925050" y="2238375"/>
            <a:ext cx="1619250" cy="209550"/>
          </a:xfrm>
          <a:prstGeom prst="rect">
            <a:avLst/>
          </a:prstGeom>
          <a:noFill/>
          <a:ln w="0">
            <a:noFill/>
          </a:ln>
        </p:spPr>
        <p:txBody>
          <a:bodyPr wrap="square" lIns="0" tIns="0" rIns="0" bIns="0" anchor="t">
            <a:noAutofit/>
          </a:bodyPr>
          <a:lstStyle/>
          <a:p>
            <a:pPr algn="l">
              <a:defRPr sz="975" b="1">
                <a:solidFill>
                  <a:srgbClr val="7C83FD"/>
                </a:solidFill>
                <a:latin typeface="Calibri"/>
                <a:ea typeface="Calibri"/>
                <a:cs typeface="Calibri"/>
              </a:defRPr>
            </a:pPr>
            <a:r>
              <a:rPr sz="975" b="1">
                <a:solidFill>
                  <a:srgbClr val="7C83FD"/>
                </a:solidFill>
                <a:latin typeface="Calibri"/>
                <a:ea typeface="Calibri"/>
                <a:cs typeface="Calibri"/>
              </a:rPr>
              <a:t>RISK</a:t>
            </a:r>
          </a:p>
        </p:txBody>
      </p:sp>
      <p:sp>
        <p:nvSpPr>
          <p:cNvPr id="27" name="Rectangle 26">
            <a:extLst>
              <a:ext uri="{FF2B5EF4-FFF2-40B4-BE49-F238E27FC236}">
                <a16:creationId xmlns:a16="http://schemas.microsoft.com/office/drawing/2014/main" id="{8F9C43CA-FB6F-406C-B0EA-88B3AFD46D1B}"/>
              </a:ext>
            </a:extLst>
          </p:cNvPr>
          <p:cNvSpPr>
            <a:spLocks noGrp="1"/>
          </p:cNvSpPr>
          <p:nvPr/>
        </p:nvSpPr>
        <p:spPr>
          <a:xfrm>
            <a:off x="9925050" y="2667000"/>
            <a:ext cx="1619250" cy="609600"/>
          </a:xfrm>
          <a:prstGeom prst="rect">
            <a:avLst/>
          </a:prstGeom>
          <a:noFill/>
          <a:ln w="0">
            <a:noFill/>
          </a:ln>
        </p:spPr>
        <p:txBody>
          <a:bodyPr wrap="square" lIns="0" tIns="0" rIns="0" bIns="0" anchor="t">
            <a:noAutofit/>
          </a:bodyPr>
          <a:lstStyle/>
          <a:p>
            <a:pPr algn="l">
              <a:defRPr sz="3900" b="1">
                <a:solidFill>
                  <a:srgbClr val="8F87AC"/>
                </a:solidFill>
                <a:latin typeface="Calibri"/>
                <a:ea typeface="Calibri"/>
                <a:cs typeface="Calibri"/>
              </a:defRPr>
            </a:pPr>
            <a:r>
              <a:rPr sz="3900" b="1">
                <a:solidFill>
                  <a:srgbClr val="8F87AC"/>
                </a:solidFill>
                <a:latin typeface="Calibri"/>
                <a:ea typeface="Calibri"/>
                <a:cs typeface="Calibri"/>
              </a:rPr>
              <a:t>05</a:t>
            </a:r>
          </a:p>
        </p:txBody>
      </p:sp>
      <p:sp>
        <p:nvSpPr>
          <p:cNvPr id="28" name="Rectangle 27">
            <a:extLst>
              <a:ext uri="{FF2B5EF4-FFF2-40B4-BE49-F238E27FC236}">
                <a16:creationId xmlns:a16="http://schemas.microsoft.com/office/drawing/2014/main" id="{B5F65447-7B57-4BD6-8728-E3D186279C47}"/>
              </a:ext>
            </a:extLst>
          </p:cNvPr>
          <p:cNvSpPr>
            <a:spLocks noGrp="1"/>
          </p:cNvSpPr>
          <p:nvPr/>
        </p:nvSpPr>
        <p:spPr>
          <a:xfrm>
            <a:off x="9925050" y="3438525"/>
            <a:ext cx="1619250" cy="552450"/>
          </a:xfrm>
          <a:prstGeom prst="rect">
            <a:avLst/>
          </a:prstGeom>
          <a:noFill/>
          <a:ln w="0">
            <a:noFill/>
          </a:ln>
        </p:spPr>
        <p:txBody>
          <a:bodyPr wrap="square" lIns="0" tIns="0" rIns="0" bIns="0" anchor="t">
            <a:noAutofit/>
          </a:bodyPr>
          <a:lstStyle/>
          <a:p>
            <a:pPr algn="l">
              <a:defRPr sz="1650" b="1">
                <a:solidFill>
                  <a:srgbClr val="F8F6FF"/>
                </a:solidFill>
                <a:latin typeface="Calibri"/>
                <a:ea typeface="Calibri"/>
                <a:cs typeface="Calibri"/>
              </a:defRPr>
            </a:pPr>
            <a:r>
              <a:rPr sz="1650" b="1">
                <a:solidFill>
                  <a:srgbClr val="F8F6FF"/>
                </a:solidFill>
                <a:latin typeface="Calibri"/>
                <a:ea typeface="Calibri"/>
                <a:cs typeface="Calibri"/>
              </a:rPr>
              <a:t>Caregiver signal</a:t>
            </a:r>
          </a:p>
        </p:txBody>
      </p:sp>
      <p:sp>
        <p:nvSpPr>
          <p:cNvPr id="29" name="Rectangle 28">
            <a:extLst>
              <a:ext uri="{FF2B5EF4-FFF2-40B4-BE49-F238E27FC236}">
                <a16:creationId xmlns:a16="http://schemas.microsoft.com/office/drawing/2014/main" id="{727A37F7-754B-455F-8862-E0E09F27686C}"/>
              </a:ext>
            </a:extLst>
          </p:cNvPr>
          <p:cNvSpPr>
            <a:spLocks noGrp="1"/>
          </p:cNvSpPr>
          <p:nvPr/>
        </p:nvSpPr>
        <p:spPr>
          <a:xfrm>
            <a:off x="9925050" y="4095750"/>
            <a:ext cx="1619250" cy="609600"/>
          </a:xfrm>
          <a:prstGeom prst="rect">
            <a:avLst/>
          </a:prstGeom>
          <a:noFill/>
          <a:ln w="0">
            <a:noFill/>
          </a:ln>
        </p:spPr>
        <p:txBody>
          <a:bodyPr wrap="square" lIns="0" tIns="0" rIns="0" bIns="0" anchor="t">
            <a:noAutofit/>
          </a:bodyPr>
          <a:lstStyle/>
          <a:p>
            <a:pPr algn="l">
              <a:defRPr sz="1125" b="0">
                <a:solidFill>
                  <a:srgbClr val="B8B0D4"/>
                </a:solidFill>
                <a:latin typeface="Calibri"/>
                <a:ea typeface="Calibri"/>
                <a:cs typeface="Calibri"/>
              </a:defRPr>
            </a:pPr>
            <a:r>
              <a:rPr sz="1125" b="0">
                <a:solidFill>
                  <a:srgbClr val="B8B0D4"/>
                </a:solidFill>
                <a:latin typeface="Calibri"/>
                <a:ea typeface="Calibri"/>
                <a:cs typeface="Calibri"/>
              </a:rPr>
              <a:t>Missed tasks, decline and inactivity were combined</a:t>
            </a:r>
          </a:p>
        </p:txBody>
      </p:sp>
      <p:sp>
        <p:nvSpPr>
          <p:cNvPr id="30" name="Rectangle: Rounded Corners 29">
            <a:extLst>
              <a:ext uri="{FF2B5EF4-FFF2-40B4-BE49-F238E27FC236}">
                <a16:creationId xmlns:a16="http://schemas.microsoft.com/office/drawing/2014/main" id="{C63DA912-905D-44EE-AE8C-4C48A5BA0EC6}"/>
              </a:ext>
            </a:extLst>
          </p:cNvPr>
          <p:cNvSpPr>
            <a:spLocks noGrp="1"/>
          </p:cNvSpPr>
          <p:nvPr/>
        </p:nvSpPr>
        <p:spPr>
          <a:xfrm>
            <a:off x="1924050" y="5286375"/>
            <a:ext cx="8343900" cy="514350"/>
          </a:xfrm>
          <a:prstGeom prst="roundRect">
            <a:avLst>
              <a:gd name="adj" fmla="val 22222"/>
            </a:avLst>
          </a:prstGeom>
          <a:solidFill>
            <a:srgbClr val="100B22"/>
          </a:solidFill>
          <a:ln w="0">
            <a:noFill/>
          </a:ln>
        </p:spPr>
        <p:txBody>
          <a:bodyPr/>
          <a:lstStyle/>
          <a:p>
            <a:endParaRPr lang="en-MY"/>
          </a:p>
        </p:txBody>
      </p:sp>
      <p:sp>
        <p:nvSpPr>
          <p:cNvPr id="31" name="Rectangle 30">
            <a:extLst>
              <a:ext uri="{FF2B5EF4-FFF2-40B4-BE49-F238E27FC236}">
                <a16:creationId xmlns:a16="http://schemas.microsoft.com/office/drawing/2014/main" id="{AFBC096A-9BFE-40C6-B2E8-266B78E705CD}"/>
              </a:ext>
            </a:extLst>
          </p:cNvPr>
          <p:cNvSpPr>
            <a:spLocks noGrp="1"/>
          </p:cNvSpPr>
          <p:nvPr/>
        </p:nvSpPr>
        <p:spPr>
          <a:xfrm>
            <a:off x="2143125" y="5429250"/>
            <a:ext cx="7905750" cy="247650"/>
          </a:xfrm>
          <a:prstGeom prst="rect">
            <a:avLst/>
          </a:prstGeom>
          <a:noFill/>
          <a:ln w="0">
            <a:noFill/>
          </a:ln>
        </p:spPr>
        <p:txBody>
          <a:bodyPr wrap="square" lIns="0" tIns="0" rIns="0" bIns="0" anchor="t">
            <a:noAutofit/>
          </a:bodyPr>
          <a:lstStyle/>
          <a:p>
            <a:pPr algn="ctr">
              <a:defRPr sz="1350" b="1">
                <a:solidFill>
                  <a:srgbClr val="2ED9A4"/>
                </a:solidFill>
                <a:latin typeface="Calibri"/>
                <a:ea typeface="Calibri"/>
                <a:cs typeface="Calibri"/>
              </a:defRPr>
            </a:pPr>
            <a:r>
              <a:rPr sz="1350" b="1">
                <a:solidFill>
                  <a:srgbClr val="2ED9A4"/>
                </a:solidFill>
                <a:latin typeface="Calibri"/>
                <a:ea typeface="Calibri"/>
                <a:cs typeface="Calibri"/>
              </a:rPr>
              <a:t>Core data path: user action → validated Firestore write → reactive UI update → analytics/history</a:t>
            </a:r>
          </a:p>
        </p:txBody>
      </p:sp>
      <p:sp>
        <p:nvSpPr>
          <p:cNvPr id="32" name="Rectangle 31">
            <a:extLst>
              <a:ext uri="{FF2B5EF4-FFF2-40B4-BE49-F238E27FC236}">
                <a16:creationId xmlns:a16="http://schemas.microsoft.com/office/drawing/2014/main" id="{474A161F-95B0-4E9F-B6EA-F4192373096C}"/>
              </a:ext>
            </a:extLst>
          </p:cNvPr>
          <p:cNvSpPr>
            <a:spLocks noGrp="1"/>
          </p:cNvSpPr>
          <p:nvPr/>
        </p:nvSpPr>
        <p:spPr>
          <a:xfrm>
            <a:off x="533400" y="6543675"/>
            <a:ext cx="9525000" cy="171450"/>
          </a:xfrm>
          <a:prstGeom prst="rect">
            <a:avLst/>
          </a:prstGeom>
          <a:noFill/>
          <a:ln w="0">
            <a:noFill/>
          </a:ln>
        </p:spPr>
        <p:txBody>
          <a:bodyPr wrap="square" lIns="0" tIns="0" rIns="0" bIns="0" anchor="t">
            <a:noAutofit/>
          </a:bodyPr>
          <a:lstStyle/>
          <a:p>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 Final report Chapter 6, pp. 121–152.</a:t>
            </a:r>
          </a:p>
        </p:txBody>
      </p:sp>
      <p:sp>
        <p:nvSpPr>
          <p:cNvPr id="33" name="Rectangle 32">
            <a:extLst>
              <a:ext uri="{FF2B5EF4-FFF2-40B4-BE49-F238E27FC236}">
                <a16:creationId xmlns:a16="http://schemas.microsoft.com/office/drawing/2014/main" id="{3C6E56C3-D23C-4828-B875-5C3A179B9BF9}"/>
              </a:ext>
            </a:extLst>
          </p:cNvPr>
          <p:cNvSpPr>
            <a:spLocks noGrp="1"/>
          </p:cNvSpPr>
          <p:nvPr/>
        </p:nvSpPr>
        <p:spPr>
          <a:xfrm>
            <a:off x="11277600" y="6496050"/>
            <a:ext cx="476250" cy="209550"/>
          </a:xfrm>
          <a:prstGeom prst="rect">
            <a:avLst/>
          </a:prstGeom>
          <a:noFill/>
          <a:ln w="0">
            <a:noFill/>
          </a:ln>
        </p:spPr>
        <p:txBody>
          <a:bodyPr wrap="square" lIns="0" tIns="0" rIns="0" bIns="0" anchor="t">
            <a:noAutofit/>
          </a:bodyPr>
          <a:lstStyle/>
          <a:p>
            <a:pPr algn="r">
              <a:defRPr sz="975" b="1">
                <a:solidFill>
                  <a:srgbClr val="B8B0D4"/>
                </a:solidFill>
                <a:latin typeface="Calibri"/>
                <a:ea typeface="Calibri"/>
                <a:cs typeface="Calibri"/>
              </a:defRPr>
            </a:pPr>
            <a:r>
              <a:rPr sz="975" b="1">
                <a:solidFill>
                  <a:srgbClr val="B8B0D4"/>
                </a:solidFill>
                <a:latin typeface="Calibri"/>
                <a:ea typeface="Calibri"/>
                <a:cs typeface="Calibri"/>
              </a:rPr>
              <a:t>14</a:t>
            </a:r>
          </a:p>
        </p:txBody>
      </p:sp>
    </p:spTree>
    <p:extLst>
      <p:ext uri="{BB962C8B-B14F-4D97-AF65-F5344CB8AC3E}">
        <p14:creationId xmlns:p14="http://schemas.microsoft.com/office/powerpoint/2010/main" val="10672139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A1530"/>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A052D9C8-647B-41A9-90B8-0157E96E7BDA}"/>
              </a:ext>
            </a:extLst>
          </p:cNvPr>
          <p:cNvSpPr>
            <a:spLocks noGrp="1"/>
          </p:cNvSpPr>
          <p:nvPr/>
        </p:nvSpPr>
        <p:spPr>
          <a:xfrm>
            <a:off x="0" y="0"/>
            <a:ext cx="133350" cy="6858000"/>
          </a:xfrm>
          <a:prstGeom prst="rect">
            <a:avLst/>
          </a:prstGeom>
          <a:solidFill>
            <a:srgbClr val="FF6B62"/>
          </a:solidFill>
          <a:ln w="0">
            <a:noFill/>
          </a:ln>
        </p:spPr>
        <p:txBody>
          <a:bodyPr/>
          <a:lstStyle/>
          <a:p>
            <a:endParaRPr lang="en-MY"/>
          </a:p>
        </p:txBody>
      </p:sp>
      <p:sp>
        <p:nvSpPr>
          <p:cNvPr id="2" name="Rectangle 1">
            <a:extLst>
              <a:ext uri="{FF2B5EF4-FFF2-40B4-BE49-F238E27FC236}">
                <a16:creationId xmlns:a16="http://schemas.microsoft.com/office/drawing/2014/main" id="{FA9A3337-0220-43DA-A5ED-71DDF4354920}"/>
              </a:ext>
            </a:extLst>
          </p:cNvPr>
          <p:cNvSpPr>
            <a:spLocks noGrp="1"/>
          </p:cNvSpPr>
          <p:nvPr/>
        </p:nvSpPr>
        <p:spPr>
          <a:xfrm>
            <a:off x="533400" y="323850"/>
            <a:ext cx="2571750" cy="247650"/>
          </a:xfrm>
          <a:prstGeom prst="rect">
            <a:avLst/>
          </a:prstGeom>
          <a:noFill/>
          <a:ln w="0">
            <a:noFill/>
          </a:ln>
        </p:spPr>
        <p:txBody>
          <a:bodyPr wrap="square" lIns="0" tIns="0" rIns="0" bIns="0" anchor="t">
            <a:noAutofit/>
          </a:bodyPr>
          <a:lstStyle/>
          <a:p>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6 · IMPLEMENTATION</a:t>
            </a:r>
          </a:p>
        </p:txBody>
      </p:sp>
      <p:sp>
        <p:nvSpPr>
          <p:cNvPr id="3" name="Rectangle 2">
            <a:extLst>
              <a:ext uri="{FF2B5EF4-FFF2-40B4-BE49-F238E27FC236}">
                <a16:creationId xmlns:a16="http://schemas.microsoft.com/office/drawing/2014/main" id="{4A57F70A-7369-4F66-815A-A16F7F431084}"/>
              </a:ext>
            </a:extLst>
          </p:cNvPr>
          <p:cNvSpPr>
            <a:spLocks noGrp="1"/>
          </p:cNvSpPr>
          <p:nvPr/>
        </p:nvSpPr>
        <p:spPr>
          <a:xfrm>
            <a:off x="533400" y="619125"/>
            <a:ext cx="11049000" cy="533400"/>
          </a:xfrm>
          <a:prstGeom prst="rect">
            <a:avLst/>
          </a:prstGeom>
          <a:noFill/>
          <a:ln w="0">
            <a:noFill/>
          </a:ln>
        </p:spPr>
        <p:txBody>
          <a:bodyPr wrap="square" lIns="0" tIns="0" rIns="0" bIns="0" anchor="t">
            <a:noAutofit/>
          </a:bodyPr>
          <a:lstStyle/>
          <a:p>
            <a:pPr algn="l">
              <a:defRPr sz="2700" b="1">
                <a:solidFill>
                  <a:srgbClr val="F8F6FF"/>
                </a:solidFill>
                <a:latin typeface="Calibri"/>
                <a:ea typeface="Calibri"/>
                <a:cs typeface="Calibri"/>
              </a:defRPr>
            </a:pPr>
            <a:r>
              <a:rPr sz="2700" b="1">
                <a:solidFill>
                  <a:srgbClr val="F8F6FF"/>
                </a:solidFill>
                <a:latin typeface="Calibri"/>
                <a:ea typeface="Calibri"/>
                <a:cs typeface="Calibri"/>
              </a:rPr>
              <a:t>Insert implementation evidence</a:t>
            </a:r>
          </a:p>
        </p:txBody>
      </p:sp>
      <p:sp>
        <p:nvSpPr>
          <p:cNvPr id="4" name="Rectangle 3">
            <a:extLst>
              <a:ext uri="{FF2B5EF4-FFF2-40B4-BE49-F238E27FC236}">
                <a16:creationId xmlns:a16="http://schemas.microsoft.com/office/drawing/2014/main" id="{DC979B62-7E49-4ADC-A63A-7E988B04A1D2}"/>
              </a:ext>
            </a:extLst>
          </p:cNvPr>
          <p:cNvSpPr>
            <a:spLocks noGrp="1"/>
          </p:cNvSpPr>
          <p:nvPr/>
        </p:nvSpPr>
        <p:spPr>
          <a:xfrm>
            <a:off x="552450" y="1143000"/>
            <a:ext cx="10668000" cy="323850"/>
          </a:xfrm>
          <a:prstGeom prst="rect">
            <a:avLst/>
          </a:prstGeom>
          <a:noFill/>
          <a:ln w="0">
            <a:noFill/>
          </a:ln>
        </p:spPr>
        <p:txBody>
          <a:bodyPr wrap="square" lIns="0" tIns="0" rIns="0" bIns="0" anchor="t">
            <a:noAutofit/>
          </a:bodyPr>
          <a:lstStyle/>
          <a:p>
            <a:pPr algn="l">
              <a:defRPr sz="1350" b="0">
                <a:solidFill>
                  <a:srgbClr val="B8B0D4"/>
                </a:solidFill>
                <a:latin typeface="Calibri"/>
                <a:ea typeface="Calibri"/>
                <a:cs typeface="Calibri"/>
              </a:defRPr>
            </a:pPr>
            <a:r>
              <a:rPr sz="1350" b="0">
                <a:solidFill>
                  <a:srgbClr val="B8B0D4"/>
                </a:solidFill>
                <a:latin typeface="Calibri"/>
                <a:ea typeface="Calibri"/>
                <a:cs typeface="Calibri"/>
              </a:rPr>
              <a:t>Use this slide for the diagrams or code snippets that best demonstrate technical complexity.</a:t>
            </a:r>
          </a:p>
        </p:txBody>
      </p:sp>
      <p:sp>
        <p:nvSpPr>
          <p:cNvPr id="5" name="Rectangle: Rounded Corners 4">
            <a:extLst>
              <a:ext uri="{FF2B5EF4-FFF2-40B4-BE49-F238E27FC236}">
                <a16:creationId xmlns:a16="http://schemas.microsoft.com/office/drawing/2014/main" id="{59BA11DA-C1EF-46EF-A4DD-416CADA97CD7}"/>
              </a:ext>
            </a:extLst>
          </p:cNvPr>
          <p:cNvSpPr>
            <a:spLocks noGrp="1"/>
          </p:cNvSpPr>
          <p:nvPr/>
        </p:nvSpPr>
        <p:spPr>
          <a:xfrm>
            <a:off x="590550" y="1809750"/>
            <a:ext cx="3486150" cy="3771900"/>
          </a:xfrm>
          <a:prstGeom prst="roundRect">
            <a:avLst>
              <a:gd name="adj" fmla="val 4372"/>
            </a:avLst>
          </a:prstGeom>
          <a:solidFill>
            <a:srgbClr val="2E2750"/>
          </a:solidFill>
          <a:ln w="19050">
            <a:solidFill>
              <a:srgbClr val="7C83FD"/>
            </a:solidFill>
            <a:prstDash val="dash"/>
          </a:ln>
        </p:spPr>
        <p:txBody>
          <a:bodyPr/>
          <a:lstStyle/>
          <a:p>
            <a:endParaRPr lang="en-MY"/>
          </a:p>
        </p:txBody>
      </p:sp>
      <p:sp>
        <p:nvSpPr>
          <p:cNvPr id="6" name="Oval 5">
            <a:extLst>
              <a:ext uri="{FF2B5EF4-FFF2-40B4-BE49-F238E27FC236}">
                <a16:creationId xmlns:a16="http://schemas.microsoft.com/office/drawing/2014/main" id="{C37E39B7-3C36-42DC-AC7E-C9EC919F75F0}"/>
              </a:ext>
            </a:extLst>
          </p:cNvPr>
          <p:cNvSpPr>
            <a:spLocks noGrp="1"/>
          </p:cNvSpPr>
          <p:nvPr/>
        </p:nvSpPr>
        <p:spPr>
          <a:xfrm>
            <a:off x="857250" y="2095500"/>
            <a:ext cx="514350" cy="514350"/>
          </a:xfrm>
          <a:prstGeom prst="ellipse">
            <a:avLst/>
          </a:prstGeom>
          <a:solidFill>
            <a:srgbClr val="7C83FD"/>
          </a:solidFill>
          <a:ln w="0">
            <a:noFill/>
          </a:ln>
        </p:spPr>
        <p:txBody>
          <a:bodyPr/>
          <a:lstStyle/>
          <a:p>
            <a:endParaRPr lang="en-MY"/>
          </a:p>
        </p:txBody>
      </p:sp>
      <p:sp>
        <p:nvSpPr>
          <p:cNvPr id="7" name="Rectangle 6">
            <a:extLst>
              <a:ext uri="{FF2B5EF4-FFF2-40B4-BE49-F238E27FC236}">
                <a16:creationId xmlns:a16="http://schemas.microsoft.com/office/drawing/2014/main" id="{35DEA3A4-FA54-4619-8361-557EED005929}"/>
              </a:ext>
            </a:extLst>
          </p:cNvPr>
          <p:cNvSpPr>
            <a:spLocks noGrp="1"/>
          </p:cNvSpPr>
          <p:nvPr/>
        </p:nvSpPr>
        <p:spPr>
          <a:xfrm>
            <a:off x="857250" y="2209800"/>
            <a:ext cx="514350" cy="266700"/>
          </a:xfrm>
          <a:prstGeom prst="rect">
            <a:avLst/>
          </a:prstGeom>
          <a:noFill/>
          <a:ln w="0">
            <a:noFill/>
          </a:ln>
        </p:spPr>
        <p:txBody>
          <a:bodyPr wrap="square" lIns="0" tIns="0" rIns="0" bIns="0" anchor="ctr">
            <a:noAutofit/>
          </a:bodyPr>
          <a:lstStyle/>
          <a:p>
            <a:pPr algn="ctr">
              <a:defRPr sz="1500" b="1">
                <a:solidFill>
                  <a:srgbClr val="F8F6FF"/>
                </a:solidFill>
                <a:latin typeface="Calibri"/>
                <a:ea typeface="Calibri"/>
                <a:cs typeface="Calibri"/>
              </a:defRPr>
            </a:pPr>
            <a:r>
              <a:rPr sz="1500" b="1">
                <a:solidFill>
                  <a:srgbClr val="F8F6FF"/>
                </a:solidFill>
                <a:latin typeface="Calibri"/>
                <a:ea typeface="Calibri"/>
                <a:cs typeface="Calibri"/>
              </a:rPr>
              <a:t>A</a:t>
            </a:r>
          </a:p>
        </p:txBody>
      </p:sp>
      <p:sp>
        <p:nvSpPr>
          <p:cNvPr id="8" name="Rectangle 7">
            <a:extLst>
              <a:ext uri="{FF2B5EF4-FFF2-40B4-BE49-F238E27FC236}">
                <a16:creationId xmlns:a16="http://schemas.microsoft.com/office/drawing/2014/main" id="{80CD5666-67CB-4973-A916-0D66C70E18D3}"/>
              </a:ext>
            </a:extLst>
          </p:cNvPr>
          <p:cNvSpPr>
            <a:spLocks noGrp="1"/>
          </p:cNvSpPr>
          <p:nvPr/>
        </p:nvSpPr>
        <p:spPr>
          <a:xfrm>
            <a:off x="857250" y="2895600"/>
            <a:ext cx="2952750" cy="609600"/>
          </a:xfrm>
          <a:prstGeom prst="rect">
            <a:avLst/>
          </a:prstGeom>
          <a:noFill/>
          <a:ln w="0">
            <a:noFill/>
          </a:ln>
        </p:spPr>
        <p:txBody>
          <a:bodyPr wrap="square" lIns="0" tIns="0" rIns="0" bIns="0" anchor="t">
            <a:noAutofit/>
          </a:bodyPr>
          <a:lstStyle/>
          <a:p>
            <a:pPr algn="l">
              <a:defRPr sz="1800" b="1">
                <a:solidFill>
                  <a:srgbClr val="F8F6FF"/>
                </a:solidFill>
                <a:latin typeface="Calibri"/>
                <a:ea typeface="Calibri"/>
                <a:cs typeface="Calibri"/>
              </a:defRPr>
            </a:pPr>
            <a:r>
              <a:rPr sz="1800" b="1">
                <a:solidFill>
                  <a:srgbClr val="F8F6FF"/>
                </a:solidFill>
                <a:latin typeface="Calibri"/>
                <a:ea typeface="Calibri"/>
                <a:cs typeface="Calibri"/>
              </a:rPr>
              <a:t>Recurrence + notification flow</a:t>
            </a:r>
          </a:p>
        </p:txBody>
      </p:sp>
      <p:sp>
        <p:nvSpPr>
          <p:cNvPr id="9" name="Rectangle 8">
            <a:extLst>
              <a:ext uri="{FF2B5EF4-FFF2-40B4-BE49-F238E27FC236}">
                <a16:creationId xmlns:a16="http://schemas.microsoft.com/office/drawing/2014/main" id="{6A764CFA-353C-4C57-B4F7-42E5F2AF4DF1}"/>
              </a:ext>
            </a:extLst>
          </p:cNvPr>
          <p:cNvSpPr>
            <a:spLocks noGrp="1"/>
          </p:cNvSpPr>
          <p:nvPr/>
        </p:nvSpPr>
        <p:spPr>
          <a:xfrm>
            <a:off x="857250" y="3724275"/>
            <a:ext cx="2952750" cy="857250"/>
          </a:xfrm>
          <a:prstGeom prst="rect">
            <a:avLst/>
          </a:prstGeom>
          <a:noFill/>
          <a:ln w="0">
            <a:noFill/>
          </a:ln>
        </p:spPr>
        <p:txBody>
          <a:bodyPr wrap="square" lIns="0" tIns="0" rIns="0" bIns="0" anchor="t">
            <a:noAutofit/>
          </a:bodyPr>
          <a:lstStyle/>
          <a:p>
            <a:pPr algn="l">
              <a:defRPr sz="1275" b="0">
                <a:solidFill>
                  <a:srgbClr val="B8B0D4"/>
                </a:solidFill>
                <a:latin typeface="Calibri"/>
                <a:ea typeface="Calibri"/>
                <a:cs typeface="Calibri"/>
              </a:defRPr>
            </a:pPr>
            <a:r>
              <a:rPr sz="1275" b="0">
                <a:solidFill>
                  <a:srgbClr val="B8B0D4"/>
                </a:solidFill>
                <a:latin typeface="Calibri"/>
                <a:ea typeface="Calibri"/>
                <a:cs typeface="Calibri"/>
              </a:rPr>
              <a:t>Create series → generate occurrence → notify → response → cancel / missed</a:t>
            </a:r>
          </a:p>
        </p:txBody>
      </p:sp>
      <p:sp>
        <p:nvSpPr>
          <p:cNvPr id="10" name="Rectangle 9">
            <a:extLst>
              <a:ext uri="{FF2B5EF4-FFF2-40B4-BE49-F238E27FC236}">
                <a16:creationId xmlns:a16="http://schemas.microsoft.com/office/drawing/2014/main" id="{478CBBFC-B7D0-46A2-B920-AFFB0DFB54A8}"/>
              </a:ext>
            </a:extLst>
          </p:cNvPr>
          <p:cNvSpPr>
            <a:spLocks noGrp="1"/>
          </p:cNvSpPr>
          <p:nvPr/>
        </p:nvSpPr>
        <p:spPr>
          <a:xfrm>
            <a:off x="857250" y="4972050"/>
            <a:ext cx="2952750" cy="228600"/>
          </a:xfrm>
          <a:prstGeom prst="rect">
            <a:avLst/>
          </a:prstGeom>
          <a:noFill/>
          <a:ln w="0">
            <a:noFill/>
          </a:ln>
        </p:spPr>
        <p:txBody>
          <a:bodyPr wrap="square" lIns="0" tIns="0" rIns="0" bIns="0" anchor="t">
            <a:noAutofit/>
          </a:bodyPr>
          <a:lstStyle/>
          <a:p>
            <a:pPr algn="ctr">
              <a:defRPr sz="975" b="1">
                <a:solidFill>
                  <a:srgbClr val="8F87AC"/>
                </a:solidFill>
                <a:latin typeface="Calibri"/>
                <a:ea typeface="Calibri"/>
                <a:cs typeface="Calibri"/>
              </a:defRPr>
            </a:pPr>
            <a:r>
              <a:rPr sz="975" b="1">
                <a:solidFill>
                  <a:srgbClr val="8F87AC"/>
                </a:solidFill>
                <a:latin typeface="Calibri"/>
                <a:ea typeface="Calibri"/>
                <a:cs typeface="Calibri"/>
              </a:rPr>
              <a:t>DROP DIAGRAM / CODE HERE</a:t>
            </a:r>
          </a:p>
        </p:txBody>
      </p:sp>
      <p:sp>
        <p:nvSpPr>
          <p:cNvPr id="11" name="Rectangle: Rounded Corners 10">
            <a:extLst>
              <a:ext uri="{FF2B5EF4-FFF2-40B4-BE49-F238E27FC236}">
                <a16:creationId xmlns:a16="http://schemas.microsoft.com/office/drawing/2014/main" id="{3528DB8D-02A6-47C2-9FAE-A6CA5D1B37E6}"/>
              </a:ext>
            </a:extLst>
          </p:cNvPr>
          <p:cNvSpPr>
            <a:spLocks noGrp="1"/>
          </p:cNvSpPr>
          <p:nvPr/>
        </p:nvSpPr>
        <p:spPr>
          <a:xfrm>
            <a:off x="4419600" y="1809750"/>
            <a:ext cx="3486150" cy="3771900"/>
          </a:xfrm>
          <a:prstGeom prst="roundRect">
            <a:avLst>
              <a:gd name="adj" fmla="val 4372"/>
            </a:avLst>
          </a:prstGeom>
          <a:solidFill>
            <a:srgbClr val="2E2750"/>
          </a:solidFill>
          <a:ln w="19050">
            <a:solidFill>
              <a:srgbClr val="FF6B62"/>
            </a:solidFill>
            <a:prstDash val="dash"/>
          </a:ln>
        </p:spPr>
        <p:txBody>
          <a:bodyPr/>
          <a:lstStyle/>
          <a:p>
            <a:endParaRPr lang="en-MY"/>
          </a:p>
        </p:txBody>
      </p:sp>
      <p:sp>
        <p:nvSpPr>
          <p:cNvPr id="12" name="Oval 11">
            <a:extLst>
              <a:ext uri="{FF2B5EF4-FFF2-40B4-BE49-F238E27FC236}">
                <a16:creationId xmlns:a16="http://schemas.microsoft.com/office/drawing/2014/main" id="{8887FE0C-D85F-4DB6-8CD5-1C8DFB8DD521}"/>
              </a:ext>
            </a:extLst>
          </p:cNvPr>
          <p:cNvSpPr>
            <a:spLocks noGrp="1"/>
          </p:cNvSpPr>
          <p:nvPr/>
        </p:nvSpPr>
        <p:spPr>
          <a:xfrm>
            <a:off x="4686300" y="2095500"/>
            <a:ext cx="514350" cy="514350"/>
          </a:xfrm>
          <a:prstGeom prst="ellipse">
            <a:avLst/>
          </a:prstGeom>
          <a:solidFill>
            <a:srgbClr val="FF6B62"/>
          </a:solidFill>
          <a:ln w="0">
            <a:noFill/>
          </a:ln>
        </p:spPr>
        <p:txBody>
          <a:bodyPr/>
          <a:lstStyle/>
          <a:p>
            <a:endParaRPr lang="en-MY"/>
          </a:p>
        </p:txBody>
      </p:sp>
      <p:sp>
        <p:nvSpPr>
          <p:cNvPr id="13" name="Rectangle 12">
            <a:extLst>
              <a:ext uri="{FF2B5EF4-FFF2-40B4-BE49-F238E27FC236}">
                <a16:creationId xmlns:a16="http://schemas.microsoft.com/office/drawing/2014/main" id="{35694A2F-6F58-4B1C-A5B8-8FCBBF512645}"/>
              </a:ext>
            </a:extLst>
          </p:cNvPr>
          <p:cNvSpPr>
            <a:spLocks noGrp="1"/>
          </p:cNvSpPr>
          <p:nvPr/>
        </p:nvSpPr>
        <p:spPr>
          <a:xfrm>
            <a:off x="4686300" y="2209800"/>
            <a:ext cx="514350" cy="266700"/>
          </a:xfrm>
          <a:prstGeom prst="rect">
            <a:avLst/>
          </a:prstGeom>
          <a:noFill/>
          <a:ln w="0">
            <a:noFill/>
          </a:ln>
        </p:spPr>
        <p:txBody>
          <a:bodyPr wrap="square" lIns="0" tIns="0" rIns="0" bIns="0" anchor="ctr">
            <a:noAutofit/>
          </a:bodyPr>
          <a:lstStyle/>
          <a:p>
            <a:pPr algn="ctr">
              <a:defRPr sz="1500" b="1">
                <a:solidFill>
                  <a:srgbClr val="F8F6FF"/>
                </a:solidFill>
                <a:latin typeface="Calibri"/>
                <a:ea typeface="Calibri"/>
                <a:cs typeface="Calibri"/>
              </a:defRPr>
            </a:pPr>
            <a:r>
              <a:rPr sz="1500" b="1">
                <a:solidFill>
                  <a:srgbClr val="F8F6FF"/>
                </a:solidFill>
                <a:latin typeface="Calibri"/>
                <a:ea typeface="Calibri"/>
                <a:cs typeface="Calibri"/>
              </a:rPr>
              <a:t>B</a:t>
            </a:r>
          </a:p>
        </p:txBody>
      </p:sp>
      <p:sp>
        <p:nvSpPr>
          <p:cNvPr id="14" name="Rectangle 13">
            <a:extLst>
              <a:ext uri="{FF2B5EF4-FFF2-40B4-BE49-F238E27FC236}">
                <a16:creationId xmlns:a16="http://schemas.microsoft.com/office/drawing/2014/main" id="{8BD022F4-82C9-4D0D-B29A-C3699F49A7EA}"/>
              </a:ext>
            </a:extLst>
          </p:cNvPr>
          <p:cNvSpPr>
            <a:spLocks noGrp="1"/>
          </p:cNvSpPr>
          <p:nvPr/>
        </p:nvSpPr>
        <p:spPr>
          <a:xfrm>
            <a:off x="4686300" y="2895600"/>
            <a:ext cx="2952750" cy="609600"/>
          </a:xfrm>
          <a:prstGeom prst="rect">
            <a:avLst/>
          </a:prstGeom>
          <a:noFill/>
          <a:ln w="0">
            <a:noFill/>
          </a:ln>
        </p:spPr>
        <p:txBody>
          <a:bodyPr wrap="square" lIns="0" tIns="0" rIns="0" bIns="0" anchor="t">
            <a:noAutofit/>
          </a:bodyPr>
          <a:lstStyle/>
          <a:p>
            <a:pPr algn="l">
              <a:defRPr sz="1800" b="1">
                <a:solidFill>
                  <a:srgbClr val="F8F6FF"/>
                </a:solidFill>
                <a:latin typeface="Calibri"/>
                <a:ea typeface="Calibri"/>
                <a:cs typeface="Calibri"/>
              </a:defRPr>
            </a:pPr>
            <a:r>
              <a:rPr sz="1800" b="1">
                <a:solidFill>
                  <a:srgbClr val="F8F6FF"/>
                </a:solidFill>
                <a:latin typeface="Calibri"/>
                <a:ea typeface="Calibri"/>
                <a:cs typeface="Calibri"/>
              </a:rPr>
              <a:t>Adaptive difficulty transaction</a:t>
            </a:r>
          </a:p>
        </p:txBody>
      </p:sp>
      <p:sp>
        <p:nvSpPr>
          <p:cNvPr id="15" name="Rectangle 14">
            <a:extLst>
              <a:ext uri="{FF2B5EF4-FFF2-40B4-BE49-F238E27FC236}">
                <a16:creationId xmlns:a16="http://schemas.microsoft.com/office/drawing/2014/main" id="{6A9DA51C-1EE4-4597-BBA7-25D46859C3F8}"/>
              </a:ext>
            </a:extLst>
          </p:cNvPr>
          <p:cNvSpPr>
            <a:spLocks noGrp="1"/>
          </p:cNvSpPr>
          <p:nvPr/>
        </p:nvSpPr>
        <p:spPr>
          <a:xfrm>
            <a:off x="4686300" y="3724275"/>
            <a:ext cx="2952750" cy="857250"/>
          </a:xfrm>
          <a:prstGeom prst="rect">
            <a:avLst/>
          </a:prstGeom>
          <a:noFill/>
          <a:ln w="0">
            <a:noFill/>
          </a:ln>
        </p:spPr>
        <p:txBody>
          <a:bodyPr wrap="square" lIns="0" tIns="0" rIns="0" bIns="0" anchor="t">
            <a:noAutofit/>
          </a:bodyPr>
          <a:lstStyle/>
          <a:p>
            <a:pPr algn="l">
              <a:defRPr sz="1275" b="0">
                <a:solidFill>
                  <a:srgbClr val="B8B0D4"/>
                </a:solidFill>
                <a:latin typeface="Calibri"/>
                <a:ea typeface="Calibri"/>
                <a:cs typeface="Calibri"/>
              </a:defRPr>
            </a:pPr>
            <a:r>
              <a:rPr sz="1275" b="0">
                <a:solidFill>
                  <a:srgbClr val="B8B0D4"/>
                </a:solidFill>
                <a:latin typeface="Calibri"/>
                <a:ea typeface="Calibri"/>
                <a:cs typeface="Calibri"/>
              </a:rPr>
              <a:t>Record session → evaluate thresholds → update state → append history</a:t>
            </a:r>
          </a:p>
        </p:txBody>
      </p:sp>
      <p:sp>
        <p:nvSpPr>
          <p:cNvPr id="16" name="Rectangle 15">
            <a:extLst>
              <a:ext uri="{FF2B5EF4-FFF2-40B4-BE49-F238E27FC236}">
                <a16:creationId xmlns:a16="http://schemas.microsoft.com/office/drawing/2014/main" id="{31DBBAF1-7815-4843-8891-E03FD6325B46}"/>
              </a:ext>
            </a:extLst>
          </p:cNvPr>
          <p:cNvSpPr>
            <a:spLocks noGrp="1"/>
          </p:cNvSpPr>
          <p:nvPr/>
        </p:nvSpPr>
        <p:spPr>
          <a:xfrm>
            <a:off x="4686300" y="4972050"/>
            <a:ext cx="2952750" cy="228600"/>
          </a:xfrm>
          <a:prstGeom prst="rect">
            <a:avLst/>
          </a:prstGeom>
          <a:noFill/>
          <a:ln w="0">
            <a:noFill/>
          </a:ln>
        </p:spPr>
        <p:txBody>
          <a:bodyPr wrap="square" lIns="0" tIns="0" rIns="0" bIns="0" anchor="t">
            <a:noAutofit/>
          </a:bodyPr>
          <a:lstStyle/>
          <a:p>
            <a:pPr algn="ctr">
              <a:defRPr sz="975" b="1">
                <a:solidFill>
                  <a:srgbClr val="8F87AC"/>
                </a:solidFill>
                <a:latin typeface="Calibri"/>
                <a:ea typeface="Calibri"/>
                <a:cs typeface="Calibri"/>
              </a:defRPr>
            </a:pPr>
            <a:r>
              <a:rPr sz="975" b="1">
                <a:solidFill>
                  <a:srgbClr val="8F87AC"/>
                </a:solidFill>
                <a:latin typeface="Calibri"/>
                <a:ea typeface="Calibri"/>
                <a:cs typeface="Calibri"/>
              </a:rPr>
              <a:t>DROP DIAGRAM / CODE HERE</a:t>
            </a:r>
          </a:p>
        </p:txBody>
      </p:sp>
      <p:sp>
        <p:nvSpPr>
          <p:cNvPr id="17" name="Rectangle: Rounded Corners 16">
            <a:extLst>
              <a:ext uri="{FF2B5EF4-FFF2-40B4-BE49-F238E27FC236}">
                <a16:creationId xmlns:a16="http://schemas.microsoft.com/office/drawing/2014/main" id="{C4C3634A-AC0B-4EE3-82AC-577940041F0A}"/>
              </a:ext>
            </a:extLst>
          </p:cNvPr>
          <p:cNvSpPr>
            <a:spLocks noGrp="1"/>
          </p:cNvSpPr>
          <p:nvPr/>
        </p:nvSpPr>
        <p:spPr>
          <a:xfrm>
            <a:off x="8248650" y="1809750"/>
            <a:ext cx="3486150" cy="3771900"/>
          </a:xfrm>
          <a:prstGeom prst="roundRect">
            <a:avLst>
              <a:gd name="adj" fmla="val 4372"/>
            </a:avLst>
          </a:prstGeom>
          <a:solidFill>
            <a:srgbClr val="2E2750"/>
          </a:solidFill>
          <a:ln w="19050">
            <a:solidFill>
              <a:srgbClr val="7C83FD"/>
            </a:solidFill>
            <a:prstDash val="dash"/>
          </a:ln>
        </p:spPr>
        <p:txBody>
          <a:bodyPr/>
          <a:lstStyle/>
          <a:p>
            <a:endParaRPr lang="en-MY"/>
          </a:p>
        </p:txBody>
      </p:sp>
      <p:sp>
        <p:nvSpPr>
          <p:cNvPr id="18" name="Oval 17">
            <a:extLst>
              <a:ext uri="{FF2B5EF4-FFF2-40B4-BE49-F238E27FC236}">
                <a16:creationId xmlns:a16="http://schemas.microsoft.com/office/drawing/2014/main" id="{D9F42A20-3DAF-4736-A6F8-A71883041B68}"/>
              </a:ext>
            </a:extLst>
          </p:cNvPr>
          <p:cNvSpPr>
            <a:spLocks noGrp="1"/>
          </p:cNvSpPr>
          <p:nvPr/>
        </p:nvSpPr>
        <p:spPr>
          <a:xfrm>
            <a:off x="8515350" y="2095500"/>
            <a:ext cx="514350" cy="514350"/>
          </a:xfrm>
          <a:prstGeom prst="ellipse">
            <a:avLst/>
          </a:prstGeom>
          <a:solidFill>
            <a:srgbClr val="7C83FD"/>
          </a:solidFill>
          <a:ln w="0">
            <a:noFill/>
          </a:ln>
        </p:spPr>
        <p:txBody>
          <a:bodyPr/>
          <a:lstStyle/>
          <a:p>
            <a:endParaRPr lang="en-MY"/>
          </a:p>
        </p:txBody>
      </p:sp>
      <p:sp>
        <p:nvSpPr>
          <p:cNvPr id="19" name="Rectangle 18">
            <a:extLst>
              <a:ext uri="{FF2B5EF4-FFF2-40B4-BE49-F238E27FC236}">
                <a16:creationId xmlns:a16="http://schemas.microsoft.com/office/drawing/2014/main" id="{34DE096C-FCBA-4254-8E3F-EF54A6B83A3C}"/>
              </a:ext>
            </a:extLst>
          </p:cNvPr>
          <p:cNvSpPr>
            <a:spLocks noGrp="1"/>
          </p:cNvSpPr>
          <p:nvPr/>
        </p:nvSpPr>
        <p:spPr>
          <a:xfrm>
            <a:off x="8515350" y="2209800"/>
            <a:ext cx="514350" cy="266700"/>
          </a:xfrm>
          <a:prstGeom prst="rect">
            <a:avLst/>
          </a:prstGeom>
          <a:noFill/>
          <a:ln w="0">
            <a:noFill/>
          </a:ln>
        </p:spPr>
        <p:txBody>
          <a:bodyPr wrap="square" lIns="0" tIns="0" rIns="0" bIns="0" anchor="ctr">
            <a:noAutofit/>
          </a:bodyPr>
          <a:lstStyle/>
          <a:p>
            <a:pPr algn="ctr">
              <a:defRPr sz="1500" b="1">
                <a:solidFill>
                  <a:srgbClr val="F8F6FF"/>
                </a:solidFill>
                <a:latin typeface="Calibri"/>
                <a:ea typeface="Calibri"/>
                <a:cs typeface="Calibri"/>
              </a:defRPr>
            </a:pPr>
            <a:r>
              <a:rPr sz="1500" b="1">
                <a:solidFill>
                  <a:srgbClr val="F8F6FF"/>
                </a:solidFill>
                <a:latin typeface="Calibri"/>
                <a:ea typeface="Calibri"/>
                <a:cs typeface="Calibri"/>
              </a:rPr>
              <a:t>C</a:t>
            </a:r>
          </a:p>
        </p:txBody>
      </p:sp>
      <p:sp>
        <p:nvSpPr>
          <p:cNvPr id="20" name="Rectangle 19">
            <a:extLst>
              <a:ext uri="{FF2B5EF4-FFF2-40B4-BE49-F238E27FC236}">
                <a16:creationId xmlns:a16="http://schemas.microsoft.com/office/drawing/2014/main" id="{FECE9AE9-AD4E-4DBA-B57B-E4A2F7DE31B8}"/>
              </a:ext>
            </a:extLst>
          </p:cNvPr>
          <p:cNvSpPr>
            <a:spLocks noGrp="1"/>
          </p:cNvSpPr>
          <p:nvPr/>
        </p:nvSpPr>
        <p:spPr>
          <a:xfrm>
            <a:off x="8515350" y="2895600"/>
            <a:ext cx="2952750" cy="609600"/>
          </a:xfrm>
          <a:prstGeom prst="rect">
            <a:avLst/>
          </a:prstGeom>
          <a:noFill/>
          <a:ln w="0">
            <a:noFill/>
          </a:ln>
        </p:spPr>
        <p:txBody>
          <a:bodyPr wrap="square" lIns="0" tIns="0" rIns="0" bIns="0" anchor="t">
            <a:noAutofit/>
          </a:bodyPr>
          <a:lstStyle/>
          <a:p>
            <a:pPr algn="l">
              <a:defRPr sz="1800" b="1">
                <a:solidFill>
                  <a:srgbClr val="F8F6FF"/>
                </a:solidFill>
                <a:latin typeface="Calibri"/>
                <a:ea typeface="Calibri"/>
                <a:cs typeface="Calibri"/>
              </a:defRPr>
            </a:pPr>
            <a:r>
              <a:rPr sz="1800" b="1">
                <a:solidFill>
                  <a:srgbClr val="F8F6FF"/>
                </a:solidFill>
                <a:latin typeface="Calibri"/>
                <a:ea typeface="Calibri"/>
                <a:cs typeface="Calibri"/>
              </a:rPr>
              <a:t>Risk classification</a:t>
            </a:r>
          </a:p>
        </p:txBody>
      </p:sp>
      <p:sp>
        <p:nvSpPr>
          <p:cNvPr id="21" name="Rectangle 20">
            <a:extLst>
              <a:ext uri="{FF2B5EF4-FFF2-40B4-BE49-F238E27FC236}">
                <a16:creationId xmlns:a16="http://schemas.microsoft.com/office/drawing/2014/main" id="{EA25C4B5-D782-4C6C-B03F-D8BD5825D499}"/>
              </a:ext>
            </a:extLst>
          </p:cNvPr>
          <p:cNvSpPr>
            <a:spLocks noGrp="1"/>
          </p:cNvSpPr>
          <p:nvPr/>
        </p:nvSpPr>
        <p:spPr>
          <a:xfrm>
            <a:off x="8515350" y="3724275"/>
            <a:ext cx="2952750" cy="857250"/>
          </a:xfrm>
          <a:prstGeom prst="rect">
            <a:avLst/>
          </a:prstGeom>
          <a:noFill/>
          <a:ln w="0">
            <a:noFill/>
          </a:ln>
        </p:spPr>
        <p:txBody>
          <a:bodyPr wrap="square" lIns="0" tIns="0" rIns="0" bIns="0" anchor="t">
            <a:noAutofit/>
          </a:bodyPr>
          <a:lstStyle/>
          <a:p>
            <a:pPr algn="l">
              <a:defRPr sz="1275" b="0">
                <a:solidFill>
                  <a:srgbClr val="B8B0D4"/>
                </a:solidFill>
                <a:latin typeface="Calibri"/>
                <a:ea typeface="Calibri"/>
                <a:cs typeface="Calibri"/>
              </a:defRPr>
            </a:pPr>
            <a:r>
              <a:rPr sz="1275" b="0">
                <a:solidFill>
                  <a:srgbClr val="B8B0D4"/>
                </a:solidFill>
                <a:latin typeface="Calibri"/>
                <a:ea typeface="Calibri"/>
                <a:cs typeface="Calibri"/>
              </a:rPr>
              <a:t>Task misses + performance decline + inactivity → monitor / at risk</a:t>
            </a:r>
          </a:p>
        </p:txBody>
      </p:sp>
      <p:sp>
        <p:nvSpPr>
          <p:cNvPr id="22" name="Rectangle 21">
            <a:extLst>
              <a:ext uri="{FF2B5EF4-FFF2-40B4-BE49-F238E27FC236}">
                <a16:creationId xmlns:a16="http://schemas.microsoft.com/office/drawing/2014/main" id="{2617F904-0A41-4447-B403-7D2B1A51C276}"/>
              </a:ext>
            </a:extLst>
          </p:cNvPr>
          <p:cNvSpPr>
            <a:spLocks noGrp="1"/>
          </p:cNvSpPr>
          <p:nvPr/>
        </p:nvSpPr>
        <p:spPr>
          <a:xfrm>
            <a:off x="8515350" y="4972050"/>
            <a:ext cx="2952750" cy="228600"/>
          </a:xfrm>
          <a:prstGeom prst="rect">
            <a:avLst/>
          </a:prstGeom>
          <a:noFill/>
          <a:ln w="0">
            <a:noFill/>
          </a:ln>
        </p:spPr>
        <p:txBody>
          <a:bodyPr wrap="square" lIns="0" tIns="0" rIns="0" bIns="0" anchor="t">
            <a:noAutofit/>
          </a:bodyPr>
          <a:lstStyle/>
          <a:p>
            <a:pPr algn="ctr">
              <a:defRPr sz="975" b="1">
                <a:solidFill>
                  <a:srgbClr val="8F87AC"/>
                </a:solidFill>
                <a:latin typeface="Calibri"/>
                <a:ea typeface="Calibri"/>
                <a:cs typeface="Calibri"/>
              </a:defRPr>
            </a:pPr>
            <a:r>
              <a:rPr sz="975" b="1">
                <a:solidFill>
                  <a:srgbClr val="8F87AC"/>
                </a:solidFill>
                <a:latin typeface="Calibri"/>
                <a:ea typeface="Calibri"/>
                <a:cs typeface="Calibri"/>
              </a:rPr>
              <a:t>DROP DIAGRAM / CODE HERE</a:t>
            </a:r>
          </a:p>
        </p:txBody>
      </p:sp>
      <p:sp>
        <p:nvSpPr>
          <p:cNvPr id="23" name="Rectangle 22">
            <a:extLst>
              <a:ext uri="{FF2B5EF4-FFF2-40B4-BE49-F238E27FC236}">
                <a16:creationId xmlns:a16="http://schemas.microsoft.com/office/drawing/2014/main" id="{0FD08F3F-A284-4048-A6C7-466079B577BB}"/>
              </a:ext>
            </a:extLst>
          </p:cNvPr>
          <p:cNvSpPr>
            <a:spLocks noGrp="1"/>
          </p:cNvSpPr>
          <p:nvPr/>
        </p:nvSpPr>
        <p:spPr>
          <a:xfrm>
            <a:off x="11277600" y="6496050"/>
            <a:ext cx="476250" cy="209550"/>
          </a:xfrm>
          <a:prstGeom prst="rect">
            <a:avLst/>
          </a:prstGeom>
          <a:noFill/>
          <a:ln w="0">
            <a:noFill/>
          </a:ln>
        </p:spPr>
        <p:txBody>
          <a:bodyPr wrap="square" lIns="0" tIns="0" rIns="0" bIns="0" anchor="t">
            <a:noAutofit/>
          </a:bodyPr>
          <a:lstStyle/>
          <a:p>
            <a:pPr algn="r">
              <a:defRPr sz="975" b="1">
                <a:solidFill>
                  <a:srgbClr val="B8B0D4"/>
                </a:solidFill>
                <a:latin typeface="Calibri"/>
                <a:ea typeface="Calibri"/>
                <a:cs typeface="Calibri"/>
              </a:defRPr>
            </a:pPr>
            <a:r>
              <a:rPr sz="975" b="1">
                <a:solidFill>
                  <a:srgbClr val="B8B0D4"/>
                </a:solidFill>
                <a:latin typeface="Calibri"/>
                <a:ea typeface="Calibri"/>
                <a:cs typeface="Calibri"/>
              </a:rPr>
              <a:t>15</a:t>
            </a:r>
          </a:p>
        </p:txBody>
      </p:sp>
    </p:spTree>
    <p:extLst>
      <p:ext uri="{BB962C8B-B14F-4D97-AF65-F5344CB8AC3E}">
        <p14:creationId xmlns:p14="http://schemas.microsoft.com/office/powerpoint/2010/main" val="11736825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A1530"/>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8A58C70A-5485-4449-938E-BB20D4F35641}"/>
              </a:ext>
            </a:extLst>
          </p:cNvPr>
          <p:cNvSpPr>
            <a:spLocks noGrp="1"/>
          </p:cNvSpPr>
          <p:nvPr/>
        </p:nvSpPr>
        <p:spPr>
          <a:xfrm>
            <a:off x="0" y="0"/>
            <a:ext cx="133350" cy="6858000"/>
          </a:xfrm>
          <a:prstGeom prst="rect">
            <a:avLst/>
          </a:prstGeom>
          <a:solidFill>
            <a:srgbClr val="FF6B62"/>
          </a:solidFill>
          <a:ln w="0">
            <a:noFill/>
          </a:ln>
        </p:spPr>
        <p:txBody>
          <a:bodyPr/>
          <a:lstStyle/>
          <a:p>
            <a:endParaRPr lang="en-MY"/>
          </a:p>
        </p:txBody>
      </p:sp>
      <p:sp>
        <p:nvSpPr>
          <p:cNvPr id="2" name="Rectangle 1">
            <a:extLst>
              <a:ext uri="{FF2B5EF4-FFF2-40B4-BE49-F238E27FC236}">
                <a16:creationId xmlns:a16="http://schemas.microsoft.com/office/drawing/2014/main" id="{5EC49A63-38AD-4CF2-8E56-956671ADF2E6}"/>
              </a:ext>
            </a:extLst>
          </p:cNvPr>
          <p:cNvSpPr>
            <a:spLocks noGrp="1"/>
          </p:cNvSpPr>
          <p:nvPr/>
        </p:nvSpPr>
        <p:spPr>
          <a:xfrm>
            <a:off x="533400" y="323850"/>
            <a:ext cx="2571750" cy="247650"/>
          </a:xfrm>
          <a:prstGeom prst="rect">
            <a:avLst/>
          </a:prstGeom>
          <a:noFill/>
          <a:ln w="0">
            <a:noFill/>
          </a:ln>
        </p:spPr>
        <p:txBody>
          <a:bodyPr wrap="square" lIns="0" tIns="0" rIns="0" bIns="0" anchor="t">
            <a:noAutofit/>
          </a:bodyPr>
          <a:lstStyle/>
          <a:p>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7 · SYSTEM TESTING</a:t>
            </a:r>
          </a:p>
        </p:txBody>
      </p:sp>
      <p:sp>
        <p:nvSpPr>
          <p:cNvPr id="3" name="Rectangle 2">
            <a:extLst>
              <a:ext uri="{FF2B5EF4-FFF2-40B4-BE49-F238E27FC236}">
                <a16:creationId xmlns:a16="http://schemas.microsoft.com/office/drawing/2014/main" id="{3CC95ECD-17E6-40F0-ABFB-2D3971E2B53D}"/>
              </a:ext>
            </a:extLst>
          </p:cNvPr>
          <p:cNvSpPr>
            <a:spLocks noGrp="1"/>
          </p:cNvSpPr>
          <p:nvPr/>
        </p:nvSpPr>
        <p:spPr>
          <a:xfrm>
            <a:off x="533400" y="619125"/>
            <a:ext cx="11049000" cy="533400"/>
          </a:xfrm>
          <a:prstGeom prst="rect">
            <a:avLst/>
          </a:prstGeom>
          <a:noFill/>
          <a:ln w="0">
            <a:noFill/>
          </a:ln>
        </p:spPr>
        <p:txBody>
          <a:bodyPr wrap="square" lIns="0" tIns="0" rIns="0" bIns="0" anchor="t">
            <a:noAutofit/>
          </a:bodyPr>
          <a:lstStyle/>
          <a:p>
            <a:pPr algn="l">
              <a:defRPr sz="2700" b="1">
                <a:solidFill>
                  <a:srgbClr val="F8F6FF"/>
                </a:solidFill>
                <a:latin typeface="Calibri"/>
                <a:ea typeface="Calibri"/>
                <a:cs typeface="Calibri"/>
              </a:defRPr>
            </a:pPr>
            <a:r>
              <a:rPr sz="2700" b="1">
                <a:solidFill>
                  <a:srgbClr val="F8F6FF"/>
                </a:solidFill>
                <a:latin typeface="Calibri"/>
                <a:ea typeface="Calibri"/>
                <a:cs typeface="Calibri"/>
              </a:rPr>
              <a:t>Testing covered logic, integration, workflows and acceptance</a:t>
            </a:r>
          </a:p>
        </p:txBody>
      </p:sp>
      <p:sp>
        <p:nvSpPr>
          <p:cNvPr id="4" name="Rectangle 3">
            <a:extLst>
              <a:ext uri="{FF2B5EF4-FFF2-40B4-BE49-F238E27FC236}">
                <a16:creationId xmlns:a16="http://schemas.microsoft.com/office/drawing/2014/main" id="{CADE07A5-2E37-4E69-9827-AD16927BC2AB}"/>
              </a:ext>
            </a:extLst>
          </p:cNvPr>
          <p:cNvSpPr>
            <a:spLocks noGrp="1"/>
          </p:cNvSpPr>
          <p:nvPr/>
        </p:nvSpPr>
        <p:spPr>
          <a:xfrm>
            <a:off x="552450" y="1143000"/>
            <a:ext cx="10668000" cy="323850"/>
          </a:xfrm>
          <a:prstGeom prst="rect">
            <a:avLst/>
          </a:prstGeom>
          <a:noFill/>
          <a:ln w="0">
            <a:noFill/>
          </a:ln>
        </p:spPr>
        <p:txBody>
          <a:bodyPr wrap="square" lIns="0" tIns="0" rIns="0" bIns="0" anchor="t">
            <a:noAutofit/>
          </a:bodyPr>
          <a:lstStyle/>
          <a:p>
            <a:pPr algn="l">
              <a:defRPr sz="1350" b="0">
                <a:solidFill>
                  <a:srgbClr val="B8B0D4"/>
                </a:solidFill>
                <a:latin typeface="Calibri"/>
                <a:ea typeface="Calibri"/>
                <a:cs typeface="Calibri"/>
              </a:defRPr>
            </a:pPr>
            <a:r>
              <a:rPr sz="1350" b="0">
                <a:solidFill>
                  <a:srgbClr val="B8B0D4"/>
                </a:solidFill>
                <a:latin typeface="Calibri"/>
                <a:ea typeface="Calibri"/>
                <a:cs typeface="Calibri"/>
              </a:rPr>
              <a:t>The final report documented tests from isolated functions through complete caregiver and patient journeys.</a:t>
            </a:r>
          </a:p>
        </p:txBody>
      </p:sp>
      <p:sp>
        <p:nvSpPr>
          <p:cNvPr id="5" name="Rectangle: Rounded Corners 4">
            <a:extLst>
              <a:ext uri="{FF2B5EF4-FFF2-40B4-BE49-F238E27FC236}">
                <a16:creationId xmlns:a16="http://schemas.microsoft.com/office/drawing/2014/main" id="{109CD618-C0ED-4BC4-A975-98268313FD01}"/>
              </a:ext>
            </a:extLst>
          </p:cNvPr>
          <p:cNvSpPr>
            <a:spLocks noGrp="1"/>
          </p:cNvSpPr>
          <p:nvPr/>
        </p:nvSpPr>
        <p:spPr>
          <a:xfrm>
            <a:off x="685800" y="2000250"/>
            <a:ext cx="2419350" cy="2857500"/>
          </a:xfrm>
          <a:prstGeom prst="roundRect">
            <a:avLst>
              <a:gd name="adj" fmla="val 6299"/>
            </a:avLst>
          </a:prstGeom>
          <a:solidFill>
            <a:srgbClr val="2E2750"/>
          </a:solidFill>
          <a:ln w="0">
            <a:noFill/>
          </a:ln>
        </p:spPr>
        <p:txBody>
          <a:bodyPr/>
          <a:lstStyle/>
          <a:p>
            <a:endParaRPr lang="en-MY"/>
          </a:p>
        </p:txBody>
      </p:sp>
      <p:sp>
        <p:nvSpPr>
          <p:cNvPr id="6" name="Rectangle 5">
            <a:extLst>
              <a:ext uri="{FF2B5EF4-FFF2-40B4-BE49-F238E27FC236}">
                <a16:creationId xmlns:a16="http://schemas.microsoft.com/office/drawing/2014/main" id="{64F8E58D-FE80-48DB-AB3F-E285448BDC45}"/>
              </a:ext>
            </a:extLst>
          </p:cNvPr>
          <p:cNvSpPr>
            <a:spLocks noGrp="1"/>
          </p:cNvSpPr>
          <p:nvPr/>
        </p:nvSpPr>
        <p:spPr>
          <a:xfrm>
            <a:off x="876300" y="2266950"/>
            <a:ext cx="2038350" cy="704850"/>
          </a:xfrm>
          <a:prstGeom prst="rect">
            <a:avLst/>
          </a:prstGeom>
          <a:noFill/>
          <a:ln w="0">
            <a:noFill/>
          </a:ln>
        </p:spPr>
        <p:txBody>
          <a:bodyPr wrap="square" lIns="0" tIns="0" rIns="0" bIns="0" anchor="t">
            <a:noAutofit/>
          </a:bodyPr>
          <a:lstStyle/>
          <a:p>
            <a:pPr algn="ctr">
              <a:defRPr sz="4350" b="1">
                <a:solidFill>
                  <a:srgbClr val="7C83FD"/>
                </a:solidFill>
                <a:latin typeface="Calibri"/>
                <a:ea typeface="Calibri"/>
                <a:cs typeface="Calibri"/>
              </a:defRPr>
            </a:pPr>
            <a:r>
              <a:rPr sz="4350" b="1">
                <a:solidFill>
                  <a:srgbClr val="7C83FD"/>
                </a:solidFill>
                <a:latin typeface="Calibri"/>
                <a:ea typeface="Calibri"/>
                <a:cs typeface="Calibri"/>
              </a:rPr>
              <a:t>14</a:t>
            </a:r>
          </a:p>
        </p:txBody>
      </p:sp>
      <p:sp>
        <p:nvSpPr>
          <p:cNvPr id="7" name="Rectangle 6">
            <a:extLst>
              <a:ext uri="{FF2B5EF4-FFF2-40B4-BE49-F238E27FC236}">
                <a16:creationId xmlns:a16="http://schemas.microsoft.com/office/drawing/2014/main" id="{2C8204B9-8BCA-4494-814A-F6C7C8B39C1A}"/>
              </a:ext>
            </a:extLst>
          </p:cNvPr>
          <p:cNvSpPr>
            <a:spLocks noGrp="1"/>
          </p:cNvSpPr>
          <p:nvPr/>
        </p:nvSpPr>
        <p:spPr>
          <a:xfrm>
            <a:off x="876300" y="3105150"/>
            <a:ext cx="2038350" cy="285750"/>
          </a:xfrm>
          <a:prstGeom prst="rect">
            <a:avLst/>
          </a:prstGeom>
          <a:noFill/>
          <a:ln w="0">
            <a:noFill/>
          </a:ln>
        </p:spPr>
        <p:txBody>
          <a:bodyPr wrap="square" lIns="0" tIns="0" rIns="0" bIns="0" anchor="t">
            <a:noAutofit/>
          </a:bodyPr>
          <a:lstStyle/>
          <a:p>
            <a:pPr algn="ctr">
              <a:defRPr sz="1275" b="1">
                <a:solidFill>
                  <a:srgbClr val="F8F6FF"/>
                </a:solidFill>
                <a:latin typeface="Calibri"/>
                <a:ea typeface="Calibri"/>
                <a:cs typeface="Calibri"/>
              </a:defRPr>
            </a:pPr>
            <a:r>
              <a:rPr sz="1275" b="1">
                <a:solidFill>
                  <a:srgbClr val="F8F6FF"/>
                </a:solidFill>
                <a:latin typeface="Calibri"/>
                <a:ea typeface="Calibri"/>
                <a:cs typeface="Calibri"/>
              </a:rPr>
              <a:t>UNIT CASES</a:t>
            </a:r>
          </a:p>
        </p:txBody>
      </p:sp>
      <p:sp>
        <p:nvSpPr>
          <p:cNvPr id="8" name="Rectangle 7">
            <a:extLst>
              <a:ext uri="{FF2B5EF4-FFF2-40B4-BE49-F238E27FC236}">
                <a16:creationId xmlns:a16="http://schemas.microsoft.com/office/drawing/2014/main" id="{27BB72AA-5F4F-49D1-A230-63E43F81FD91}"/>
              </a:ext>
            </a:extLst>
          </p:cNvPr>
          <p:cNvSpPr>
            <a:spLocks noGrp="1"/>
          </p:cNvSpPr>
          <p:nvPr/>
        </p:nvSpPr>
        <p:spPr>
          <a:xfrm>
            <a:off x="923925" y="3638550"/>
            <a:ext cx="1943100" cy="914400"/>
          </a:xfrm>
          <a:prstGeom prst="rect">
            <a:avLst/>
          </a:prstGeom>
          <a:noFill/>
          <a:ln w="0">
            <a:noFill/>
          </a:ln>
        </p:spPr>
        <p:txBody>
          <a:bodyPr wrap="square" lIns="0" tIns="0" rIns="0" bIns="0" anchor="t">
            <a:noAutofit/>
          </a:bodyPr>
          <a:lstStyle/>
          <a:p>
            <a:pPr algn="ctr">
              <a:defRPr sz="1125" b="0">
                <a:solidFill>
                  <a:srgbClr val="B8B0D4"/>
                </a:solidFill>
                <a:latin typeface="Calibri"/>
                <a:ea typeface="Calibri"/>
                <a:cs typeface="Calibri"/>
              </a:defRPr>
            </a:pPr>
            <a:r>
              <a:rPr sz="1125" b="0">
                <a:solidFill>
                  <a:srgbClr val="B8B0D4"/>
                </a:solidFill>
                <a:latin typeface="Calibri"/>
                <a:ea typeface="Calibri"/>
                <a:cs typeface="Calibri"/>
              </a:rPr>
              <a:t>Authentication, recurrence, game calculations, gamification and risk rules</a:t>
            </a:r>
          </a:p>
        </p:txBody>
      </p:sp>
      <p:sp>
        <p:nvSpPr>
          <p:cNvPr id="9" name="Rectangle: Rounded Corners 8">
            <a:extLst>
              <a:ext uri="{FF2B5EF4-FFF2-40B4-BE49-F238E27FC236}">
                <a16:creationId xmlns:a16="http://schemas.microsoft.com/office/drawing/2014/main" id="{C824233E-96BF-48F3-BD09-78953292EBB5}"/>
              </a:ext>
            </a:extLst>
          </p:cNvPr>
          <p:cNvSpPr>
            <a:spLocks noGrp="1"/>
          </p:cNvSpPr>
          <p:nvPr/>
        </p:nvSpPr>
        <p:spPr>
          <a:xfrm>
            <a:off x="3448050" y="2000250"/>
            <a:ext cx="2419350" cy="2857500"/>
          </a:xfrm>
          <a:prstGeom prst="roundRect">
            <a:avLst>
              <a:gd name="adj" fmla="val 6299"/>
            </a:avLst>
          </a:prstGeom>
          <a:solidFill>
            <a:srgbClr val="2E2750"/>
          </a:solidFill>
          <a:ln w="0">
            <a:noFill/>
          </a:ln>
        </p:spPr>
        <p:txBody>
          <a:bodyPr/>
          <a:lstStyle/>
          <a:p>
            <a:endParaRPr lang="en-MY"/>
          </a:p>
        </p:txBody>
      </p:sp>
      <p:sp>
        <p:nvSpPr>
          <p:cNvPr id="10" name="Rectangle 9">
            <a:extLst>
              <a:ext uri="{FF2B5EF4-FFF2-40B4-BE49-F238E27FC236}">
                <a16:creationId xmlns:a16="http://schemas.microsoft.com/office/drawing/2014/main" id="{CCE542F3-11CD-46C4-8D08-D09E6F2C6F45}"/>
              </a:ext>
            </a:extLst>
          </p:cNvPr>
          <p:cNvSpPr>
            <a:spLocks noGrp="1"/>
          </p:cNvSpPr>
          <p:nvPr/>
        </p:nvSpPr>
        <p:spPr>
          <a:xfrm>
            <a:off x="3638550" y="2266950"/>
            <a:ext cx="2038350" cy="704850"/>
          </a:xfrm>
          <a:prstGeom prst="rect">
            <a:avLst/>
          </a:prstGeom>
          <a:noFill/>
          <a:ln w="0">
            <a:noFill/>
          </a:ln>
        </p:spPr>
        <p:txBody>
          <a:bodyPr wrap="square" lIns="0" tIns="0" rIns="0" bIns="0" anchor="t">
            <a:noAutofit/>
          </a:bodyPr>
          <a:lstStyle/>
          <a:p>
            <a:pPr algn="ctr">
              <a:defRPr sz="4350" b="1">
                <a:solidFill>
                  <a:srgbClr val="7C83FD"/>
                </a:solidFill>
                <a:latin typeface="Calibri"/>
                <a:ea typeface="Calibri"/>
                <a:cs typeface="Calibri"/>
              </a:defRPr>
            </a:pPr>
            <a:r>
              <a:rPr sz="4350" b="1">
                <a:solidFill>
                  <a:srgbClr val="7C83FD"/>
                </a:solidFill>
                <a:latin typeface="Calibri"/>
                <a:ea typeface="Calibri"/>
                <a:cs typeface="Calibri"/>
              </a:rPr>
              <a:t>9</a:t>
            </a:r>
          </a:p>
        </p:txBody>
      </p:sp>
      <p:sp>
        <p:nvSpPr>
          <p:cNvPr id="11" name="Rectangle 10">
            <a:extLst>
              <a:ext uri="{FF2B5EF4-FFF2-40B4-BE49-F238E27FC236}">
                <a16:creationId xmlns:a16="http://schemas.microsoft.com/office/drawing/2014/main" id="{21953A33-FF37-4F4A-B4B5-18B3B0DC1672}"/>
              </a:ext>
            </a:extLst>
          </p:cNvPr>
          <p:cNvSpPr>
            <a:spLocks noGrp="1"/>
          </p:cNvSpPr>
          <p:nvPr/>
        </p:nvSpPr>
        <p:spPr>
          <a:xfrm>
            <a:off x="3638550" y="3105150"/>
            <a:ext cx="2038350" cy="285750"/>
          </a:xfrm>
          <a:prstGeom prst="rect">
            <a:avLst/>
          </a:prstGeom>
          <a:noFill/>
          <a:ln w="0">
            <a:noFill/>
          </a:ln>
        </p:spPr>
        <p:txBody>
          <a:bodyPr wrap="square" lIns="0" tIns="0" rIns="0" bIns="0" anchor="t">
            <a:noAutofit/>
          </a:bodyPr>
          <a:lstStyle/>
          <a:p>
            <a:pPr algn="ctr">
              <a:defRPr sz="1275" b="1">
                <a:solidFill>
                  <a:srgbClr val="F8F6FF"/>
                </a:solidFill>
                <a:latin typeface="Calibri"/>
                <a:ea typeface="Calibri"/>
                <a:cs typeface="Calibri"/>
              </a:defRPr>
            </a:pPr>
            <a:r>
              <a:rPr sz="1275" b="1">
                <a:solidFill>
                  <a:srgbClr val="F8F6FF"/>
                </a:solidFill>
                <a:latin typeface="Calibri"/>
                <a:ea typeface="Calibri"/>
                <a:cs typeface="Calibri"/>
              </a:rPr>
              <a:t>INTEGRATION FLOWS</a:t>
            </a:r>
          </a:p>
        </p:txBody>
      </p:sp>
      <p:sp>
        <p:nvSpPr>
          <p:cNvPr id="12" name="Rectangle 11">
            <a:extLst>
              <a:ext uri="{FF2B5EF4-FFF2-40B4-BE49-F238E27FC236}">
                <a16:creationId xmlns:a16="http://schemas.microsoft.com/office/drawing/2014/main" id="{125EDA2E-CE28-4722-BF88-DD52F7B59AF8}"/>
              </a:ext>
            </a:extLst>
          </p:cNvPr>
          <p:cNvSpPr>
            <a:spLocks noGrp="1"/>
          </p:cNvSpPr>
          <p:nvPr/>
        </p:nvSpPr>
        <p:spPr>
          <a:xfrm>
            <a:off x="3686175" y="3638550"/>
            <a:ext cx="1943100" cy="914400"/>
          </a:xfrm>
          <a:prstGeom prst="rect">
            <a:avLst/>
          </a:prstGeom>
          <a:noFill/>
          <a:ln w="0">
            <a:noFill/>
          </a:ln>
        </p:spPr>
        <p:txBody>
          <a:bodyPr wrap="square" lIns="0" tIns="0" rIns="0" bIns="0" anchor="t">
            <a:noAutofit/>
          </a:bodyPr>
          <a:lstStyle/>
          <a:p>
            <a:pPr algn="ctr">
              <a:defRPr sz="1125" b="0">
                <a:solidFill>
                  <a:srgbClr val="B8B0D4"/>
                </a:solidFill>
                <a:latin typeface="Calibri"/>
                <a:ea typeface="Calibri"/>
                <a:cs typeface="Calibri"/>
              </a:defRPr>
            </a:pPr>
            <a:r>
              <a:rPr sz="1125" b="0">
                <a:solidFill>
                  <a:srgbClr val="B8B0D4"/>
                </a:solidFill>
                <a:latin typeface="Calibri"/>
                <a:ea typeface="Calibri"/>
                <a:cs typeface="Calibri"/>
              </a:rPr>
              <a:t>Cross-module task, notification, game, analytics and risk interactions</a:t>
            </a:r>
          </a:p>
        </p:txBody>
      </p:sp>
      <p:sp>
        <p:nvSpPr>
          <p:cNvPr id="13" name="Rectangle: Rounded Corners 12">
            <a:extLst>
              <a:ext uri="{FF2B5EF4-FFF2-40B4-BE49-F238E27FC236}">
                <a16:creationId xmlns:a16="http://schemas.microsoft.com/office/drawing/2014/main" id="{B0B8A017-0674-495C-B55A-3950929F3D7C}"/>
              </a:ext>
            </a:extLst>
          </p:cNvPr>
          <p:cNvSpPr>
            <a:spLocks noGrp="1"/>
          </p:cNvSpPr>
          <p:nvPr/>
        </p:nvSpPr>
        <p:spPr>
          <a:xfrm>
            <a:off x="6210300" y="2000250"/>
            <a:ext cx="2419350" cy="2857500"/>
          </a:xfrm>
          <a:prstGeom prst="roundRect">
            <a:avLst>
              <a:gd name="adj" fmla="val 6299"/>
            </a:avLst>
          </a:prstGeom>
          <a:solidFill>
            <a:srgbClr val="2E2750"/>
          </a:solidFill>
          <a:ln w="0">
            <a:noFill/>
          </a:ln>
        </p:spPr>
        <p:txBody>
          <a:bodyPr/>
          <a:lstStyle/>
          <a:p>
            <a:endParaRPr lang="en-MY"/>
          </a:p>
        </p:txBody>
      </p:sp>
      <p:sp>
        <p:nvSpPr>
          <p:cNvPr id="14" name="Rectangle 13">
            <a:extLst>
              <a:ext uri="{FF2B5EF4-FFF2-40B4-BE49-F238E27FC236}">
                <a16:creationId xmlns:a16="http://schemas.microsoft.com/office/drawing/2014/main" id="{71A8EC87-109D-40FC-B0CD-FC4E29679E56}"/>
              </a:ext>
            </a:extLst>
          </p:cNvPr>
          <p:cNvSpPr>
            <a:spLocks noGrp="1"/>
          </p:cNvSpPr>
          <p:nvPr/>
        </p:nvSpPr>
        <p:spPr>
          <a:xfrm>
            <a:off x="6400800" y="2266950"/>
            <a:ext cx="2038350" cy="704850"/>
          </a:xfrm>
          <a:prstGeom prst="rect">
            <a:avLst/>
          </a:prstGeom>
          <a:noFill/>
          <a:ln w="0">
            <a:noFill/>
          </a:ln>
        </p:spPr>
        <p:txBody>
          <a:bodyPr wrap="square" lIns="0" tIns="0" rIns="0" bIns="0" anchor="t">
            <a:noAutofit/>
          </a:bodyPr>
          <a:lstStyle/>
          <a:p>
            <a:pPr algn="ctr">
              <a:defRPr sz="4350" b="1">
                <a:solidFill>
                  <a:srgbClr val="7C83FD"/>
                </a:solidFill>
                <a:latin typeface="Calibri"/>
                <a:ea typeface="Calibri"/>
                <a:cs typeface="Calibri"/>
              </a:defRPr>
            </a:pPr>
            <a:r>
              <a:rPr sz="4350" b="1">
                <a:solidFill>
                  <a:srgbClr val="7C83FD"/>
                </a:solidFill>
                <a:latin typeface="Calibri"/>
                <a:ea typeface="Calibri"/>
                <a:cs typeface="Calibri"/>
              </a:rPr>
              <a:t>17</a:t>
            </a:r>
          </a:p>
        </p:txBody>
      </p:sp>
      <p:sp>
        <p:nvSpPr>
          <p:cNvPr id="15" name="Rectangle 14">
            <a:extLst>
              <a:ext uri="{FF2B5EF4-FFF2-40B4-BE49-F238E27FC236}">
                <a16:creationId xmlns:a16="http://schemas.microsoft.com/office/drawing/2014/main" id="{2F8DE065-F2EB-4D4F-B6D7-ACE810D781AB}"/>
              </a:ext>
            </a:extLst>
          </p:cNvPr>
          <p:cNvSpPr>
            <a:spLocks noGrp="1"/>
          </p:cNvSpPr>
          <p:nvPr/>
        </p:nvSpPr>
        <p:spPr>
          <a:xfrm>
            <a:off x="6400800" y="3105150"/>
            <a:ext cx="2038350" cy="285750"/>
          </a:xfrm>
          <a:prstGeom prst="rect">
            <a:avLst/>
          </a:prstGeom>
          <a:noFill/>
          <a:ln w="0">
            <a:noFill/>
          </a:ln>
        </p:spPr>
        <p:txBody>
          <a:bodyPr wrap="square" lIns="0" tIns="0" rIns="0" bIns="0" anchor="t">
            <a:noAutofit/>
          </a:bodyPr>
          <a:lstStyle/>
          <a:p>
            <a:pPr algn="ctr">
              <a:defRPr sz="1275" b="1">
                <a:solidFill>
                  <a:srgbClr val="F8F6FF"/>
                </a:solidFill>
                <a:latin typeface="Calibri"/>
                <a:ea typeface="Calibri"/>
                <a:cs typeface="Calibri"/>
              </a:defRPr>
            </a:pPr>
            <a:r>
              <a:rPr sz="1275" b="1">
                <a:solidFill>
                  <a:srgbClr val="F8F6FF"/>
                </a:solidFill>
                <a:latin typeface="Calibri"/>
                <a:ea typeface="Calibri"/>
                <a:cs typeface="Calibri"/>
              </a:rPr>
              <a:t>SYSTEM SCENARIOS</a:t>
            </a:r>
          </a:p>
        </p:txBody>
      </p:sp>
      <p:sp>
        <p:nvSpPr>
          <p:cNvPr id="16" name="Rectangle 15">
            <a:extLst>
              <a:ext uri="{FF2B5EF4-FFF2-40B4-BE49-F238E27FC236}">
                <a16:creationId xmlns:a16="http://schemas.microsoft.com/office/drawing/2014/main" id="{9CDDCEAD-0A1D-4B9E-AE0D-8D73B51E73C5}"/>
              </a:ext>
            </a:extLst>
          </p:cNvPr>
          <p:cNvSpPr>
            <a:spLocks noGrp="1"/>
          </p:cNvSpPr>
          <p:nvPr/>
        </p:nvSpPr>
        <p:spPr>
          <a:xfrm>
            <a:off x="6448425" y="3638550"/>
            <a:ext cx="1943100" cy="914400"/>
          </a:xfrm>
          <a:prstGeom prst="rect">
            <a:avLst/>
          </a:prstGeom>
          <a:noFill/>
          <a:ln w="0">
            <a:noFill/>
          </a:ln>
        </p:spPr>
        <p:txBody>
          <a:bodyPr wrap="square" lIns="0" tIns="0" rIns="0" bIns="0" anchor="t">
            <a:noAutofit/>
          </a:bodyPr>
          <a:lstStyle/>
          <a:p>
            <a:pPr algn="ctr">
              <a:defRPr sz="1125" b="0">
                <a:solidFill>
                  <a:srgbClr val="B8B0D4"/>
                </a:solidFill>
                <a:latin typeface="Calibri"/>
                <a:ea typeface="Calibri"/>
                <a:cs typeface="Calibri"/>
              </a:defRPr>
            </a:pPr>
            <a:r>
              <a:rPr sz="1125" b="0">
                <a:solidFill>
                  <a:srgbClr val="B8B0D4"/>
                </a:solidFill>
                <a:latin typeface="Calibri"/>
                <a:ea typeface="Calibri"/>
                <a:cs typeface="Calibri"/>
              </a:rPr>
              <a:t>End-to-end caregiver and patient workflows</a:t>
            </a:r>
          </a:p>
        </p:txBody>
      </p:sp>
      <p:sp>
        <p:nvSpPr>
          <p:cNvPr id="17" name="Rectangle: Rounded Corners 16">
            <a:extLst>
              <a:ext uri="{FF2B5EF4-FFF2-40B4-BE49-F238E27FC236}">
                <a16:creationId xmlns:a16="http://schemas.microsoft.com/office/drawing/2014/main" id="{6A2364AC-35D0-4B29-93D8-099CC96C71F2}"/>
              </a:ext>
            </a:extLst>
          </p:cNvPr>
          <p:cNvSpPr>
            <a:spLocks noGrp="1"/>
          </p:cNvSpPr>
          <p:nvPr/>
        </p:nvSpPr>
        <p:spPr>
          <a:xfrm>
            <a:off x="8972550" y="2000250"/>
            <a:ext cx="2419350" cy="2857500"/>
          </a:xfrm>
          <a:prstGeom prst="roundRect">
            <a:avLst>
              <a:gd name="adj" fmla="val 6299"/>
            </a:avLst>
          </a:prstGeom>
          <a:solidFill>
            <a:srgbClr val="3A3160"/>
          </a:solidFill>
          <a:ln w="0">
            <a:noFill/>
          </a:ln>
        </p:spPr>
        <p:txBody>
          <a:bodyPr/>
          <a:lstStyle/>
          <a:p>
            <a:endParaRPr lang="en-MY"/>
          </a:p>
        </p:txBody>
      </p:sp>
      <p:sp>
        <p:nvSpPr>
          <p:cNvPr id="18" name="Rectangle 17">
            <a:extLst>
              <a:ext uri="{FF2B5EF4-FFF2-40B4-BE49-F238E27FC236}">
                <a16:creationId xmlns:a16="http://schemas.microsoft.com/office/drawing/2014/main" id="{FAE137F0-D08E-4E1F-91B4-B6F4DD9CE67D}"/>
              </a:ext>
            </a:extLst>
          </p:cNvPr>
          <p:cNvSpPr>
            <a:spLocks noGrp="1"/>
          </p:cNvSpPr>
          <p:nvPr/>
        </p:nvSpPr>
        <p:spPr>
          <a:xfrm>
            <a:off x="9163050" y="2266950"/>
            <a:ext cx="2038350" cy="704850"/>
          </a:xfrm>
          <a:prstGeom prst="rect">
            <a:avLst/>
          </a:prstGeom>
          <a:noFill/>
          <a:ln w="0">
            <a:noFill/>
          </a:ln>
        </p:spPr>
        <p:txBody>
          <a:bodyPr wrap="square" lIns="0" tIns="0" rIns="0" bIns="0" anchor="t">
            <a:noAutofit/>
          </a:bodyPr>
          <a:lstStyle/>
          <a:p>
            <a:pPr algn="ctr">
              <a:defRPr sz="4350" b="1">
                <a:solidFill>
                  <a:srgbClr val="FF6B62"/>
                </a:solidFill>
                <a:latin typeface="Calibri"/>
                <a:ea typeface="Calibri"/>
                <a:cs typeface="Calibri"/>
              </a:defRPr>
            </a:pPr>
            <a:r>
              <a:rPr sz="4350" b="1">
                <a:solidFill>
                  <a:srgbClr val="FF6B62"/>
                </a:solidFill>
                <a:latin typeface="Calibri"/>
                <a:ea typeface="Calibri"/>
                <a:cs typeface="Calibri"/>
              </a:rPr>
              <a:t>34</a:t>
            </a:r>
          </a:p>
        </p:txBody>
      </p:sp>
      <p:sp>
        <p:nvSpPr>
          <p:cNvPr id="19" name="Rectangle 18">
            <a:extLst>
              <a:ext uri="{FF2B5EF4-FFF2-40B4-BE49-F238E27FC236}">
                <a16:creationId xmlns:a16="http://schemas.microsoft.com/office/drawing/2014/main" id="{6B4B1924-94F7-4FEF-BEFE-0A7CD4D46F9B}"/>
              </a:ext>
            </a:extLst>
          </p:cNvPr>
          <p:cNvSpPr>
            <a:spLocks noGrp="1"/>
          </p:cNvSpPr>
          <p:nvPr/>
        </p:nvSpPr>
        <p:spPr>
          <a:xfrm>
            <a:off x="9163050" y="3105150"/>
            <a:ext cx="2038350" cy="285750"/>
          </a:xfrm>
          <a:prstGeom prst="rect">
            <a:avLst/>
          </a:prstGeom>
          <a:noFill/>
          <a:ln w="0">
            <a:noFill/>
          </a:ln>
        </p:spPr>
        <p:txBody>
          <a:bodyPr wrap="square" lIns="0" tIns="0" rIns="0" bIns="0" anchor="t">
            <a:noAutofit/>
          </a:bodyPr>
          <a:lstStyle/>
          <a:p>
            <a:pPr algn="ctr">
              <a:defRPr sz="1275" b="1">
                <a:solidFill>
                  <a:srgbClr val="F8F6FF"/>
                </a:solidFill>
                <a:latin typeface="Calibri"/>
                <a:ea typeface="Calibri"/>
                <a:cs typeface="Calibri"/>
              </a:defRPr>
            </a:pPr>
            <a:r>
              <a:rPr sz="1275" b="1">
                <a:solidFill>
                  <a:srgbClr val="F8F6FF"/>
                </a:solidFill>
                <a:latin typeface="Calibri"/>
                <a:ea typeface="Calibri"/>
                <a:cs typeface="Calibri"/>
              </a:rPr>
              <a:t>UAT CASES</a:t>
            </a:r>
          </a:p>
        </p:txBody>
      </p:sp>
      <p:sp>
        <p:nvSpPr>
          <p:cNvPr id="20" name="Rectangle 19">
            <a:extLst>
              <a:ext uri="{FF2B5EF4-FFF2-40B4-BE49-F238E27FC236}">
                <a16:creationId xmlns:a16="http://schemas.microsoft.com/office/drawing/2014/main" id="{D2775534-0B0E-4417-9186-30F955CEA25F}"/>
              </a:ext>
            </a:extLst>
          </p:cNvPr>
          <p:cNvSpPr>
            <a:spLocks noGrp="1"/>
          </p:cNvSpPr>
          <p:nvPr/>
        </p:nvSpPr>
        <p:spPr>
          <a:xfrm>
            <a:off x="9210675" y="3638550"/>
            <a:ext cx="1943100" cy="914400"/>
          </a:xfrm>
          <a:prstGeom prst="rect">
            <a:avLst/>
          </a:prstGeom>
          <a:noFill/>
          <a:ln w="0">
            <a:noFill/>
          </a:ln>
        </p:spPr>
        <p:txBody>
          <a:bodyPr wrap="square" lIns="0" tIns="0" rIns="0" bIns="0" anchor="t">
            <a:noAutofit/>
          </a:bodyPr>
          <a:lstStyle/>
          <a:p>
            <a:pPr algn="ctr">
              <a:defRPr sz="1125" b="0">
                <a:solidFill>
                  <a:srgbClr val="B8B0D4"/>
                </a:solidFill>
                <a:latin typeface="Calibri"/>
                <a:ea typeface="Calibri"/>
                <a:cs typeface="Calibri"/>
              </a:defRPr>
            </a:pPr>
            <a:r>
              <a:rPr sz="1125" b="0">
                <a:solidFill>
                  <a:srgbClr val="B8B0D4"/>
                </a:solidFill>
                <a:latin typeface="Calibri"/>
                <a:ea typeface="Calibri"/>
                <a:cs typeface="Calibri"/>
              </a:rPr>
              <a:t>19 caregiver + 15 patient acceptance checks</a:t>
            </a:r>
          </a:p>
        </p:txBody>
      </p:sp>
      <p:sp>
        <p:nvSpPr>
          <p:cNvPr id="21" name="Rectangle 20">
            <a:extLst>
              <a:ext uri="{FF2B5EF4-FFF2-40B4-BE49-F238E27FC236}">
                <a16:creationId xmlns:a16="http://schemas.microsoft.com/office/drawing/2014/main" id="{A65993F4-D846-40F4-AFAF-BB5AEC15AE63}"/>
              </a:ext>
            </a:extLst>
          </p:cNvPr>
          <p:cNvSpPr>
            <a:spLocks noGrp="1"/>
          </p:cNvSpPr>
          <p:nvPr/>
        </p:nvSpPr>
        <p:spPr>
          <a:xfrm>
            <a:off x="685800" y="5257800"/>
            <a:ext cx="1428750" cy="228600"/>
          </a:xfrm>
          <a:prstGeom prst="rect">
            <a:avLst/>
          </a:prstGeom>
          <a:noFill/>
          <a:ln w="0">
            <a:noFill/>
          </a:ln>
        </p:spPr>
        <p:txBody>
          <a:bodyPr wrap="square" lIns="0" tIns="0" rIns="0" bIns="0" anchor="t">
            <a:noAutofit/>
          </a:bodyPr>
          <a:lstStyle/>
          <a:p>
            <a:pPr algn="l">
              <a:defRPr sz="1200" b="1">
                <a:solidFill>
                  <a:srgbClr val="FF6B62"/>
                </a:solidFill>
                <a:latin typeface="Calibri"/>
                <a:ea typeface="Calibri"/>
                <a:cs typeface="Calibri"/>
              </a:defRPr>
            </a:pPr>
            <a:r>
              <a:rPr sz="1200" b="1">
                <a:solidFill>
                  <a:srgbClr val="FF6B62"/>
                </a:solidFill>
                <a:latin typeface="Calibri"/>
                <a:ea typeface="Calibri"/>
                <a:cs typeface="Calibri"/>
              </a:rPr>
              <a:t>Testing focus</a:t>
            </a:r>
          </a:p>
        </p:txBody>
      </p:sp>
      <p:sp>
        <p:nvSpPr>
          <p:cNvPr id="22" name="Rectangle 21">
            <a:extLst>
              <a:ext uri="{FF2B5EF4-FFF2-40B4-BE49-F238E27FC236}">
                <a16:creationId xmlns:a16="http://schemas.microsoft.com/office/drawing/2014/main" id="{98D262CB-323D-4ECB-A799-742B60C823CD}"/>
              </a:ext>
            </a:extLst>
          </p:cNvPr>
          <p:cNvSpPr>
            <a:spLocks noGrp="1"/>
          </p:cNvSpPr>
          <p:nvPr/>
        </p:nvSpPr>
        <p:spPr>
          <a:xfrm>
            <a:off x="2114550" y="5219700"/>
            <a:ext cx="8858250" cy="495300"/>
          </a:xfrm>
          <a:prstGeom prst="rect">
            <a:avLst/>
          </a:prstGeom>
          <a:noFill/>
          <a:ln w="0">
            <a:noFill/>
          </a:ln>
        </p:spPr>
        <p:txBody>
          <a:bodyPr wrap="square" lIns="0" tIns="0" rIns="0" bIns="0" anchor="t">
            <a:noAutofit/>
          </a:bodyPr>
          <a:lstStyle/>
          <a:p>
            <a:pPr algn="l">
              <a:defRPr sz="1350" b="0">
                <a:solidFill>
                  <a:srgbClr val="B8B0D4"/>
                </a:solidFill>
                <a:latin typeface="Calibri"/>
                <a:ea typeface="Calibri"/>
                <a:cs typeface="Calibri"/>
              </a:defRPr>
            </a:pPr>
            <a:r>
              <a:rPr sz="1350" b="0">
                <a:solidFill>
                  <a:srgbClr val="B8B0D4"/>
                </a:solidFill>
                <a:latin typeface="Calibri"/>
                <a:ea typeface="Calibri"/>
                <a:cs typeface="Calibri"/>
              </a:rPr>
              <a:t>The most important checks followed the full chains: recurrence → reminder → status → points/progress, and game session → adaptive difficulty → statistics/history.</a:t>
            </a:r>
          </a:p>
        </p:txBody>
      </p:sp>
      <p:sp>
        <p:nvSpPr>
          <p:cNvPr id="23" name="Rectangle 22">
            <a:extLst>
              <a:ext uri="{FF2B5EF4-FFF2-40B4-BE49-F238E27FC236}">
                <a16:creationId xmlns:a16="http://schemas.microsoft.com/office/drawing/2014/main" id="{F71B20CD-DD93-4BFE-BD4B-DBBEC106E3B4}"/>
              </a:ext>
            </a:extLst>
          </p:cNvPr>
          <p:cNvSpPr>
            <a:spLocks noGrp="1"/>
          </p:cNvSpPr>
          <p:nvPr/>
        </p:nvSpPr>
        <p:spPr>
          <a:xfrm>
            <a:off x="533400" y="6543675"/>
            <a:ext cx="9525000" cy="171450"/>
          </a:xfrm>
          <a:prstGeom prst="rect">
            <a:avLst/>
          </a:prstGeom>
          <a:noFill/>
          <a:ln w="0">
            <a:noFill/>
          </a:ln>
        </p:spPr>
        <p:txBody>
          <a:bodyPr wrap="square" lIns="0" tIns="0" rIns="0" bIns="0" anchor="t">
            <a:noAutofit/>
          </a:bodyPr>
          <a:lstStyle/>
          <a:p>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 Final report Chapter 7, Tables 7.1–7.9.</a:t>
            </a:r>
          </a:p>
        </p:txBody>
      </p:sp>
      <p:sp>
        <p:nvSpPr>
          <p:cNvPr id="24" name="Rectangle 23">
            <a:extLst>
              <a:ext uri="{FF2B5EF4-FFF2-40B4-BE49-F238E27FC236}">
                <a16:creationId xmlns:a16="http://schemas.microsoft.com/office/drawing/2014/main" id="{D296AC48-3C73-4E75-81F2-759EA2CB06E0}"/>
              </a:ext>
            </a:extLst>
          </p:cNvPr>
          <p:cNvSpPr>
            <a:spLocks noGrp="1"/>
          </p:cNvSpPr>
          <p:nvPr/>
        </p:nvSpPr>
        <p:spPr>
          <a:xfrm>
            <a:off x="11277600" y="6496050"/>
            <a:ext cx="476250" cy="209550"/>
          </a:xfrm>
          <a:prstGeom prst="rect">
            <a:avLst/>
          </a:prstGeom>
          <a:noFill/>
          <a:ln w="0">
            <a:noFill/>
          </a:ln>
        </p:spPr>
        <p:txBody>
          <a:bodyPr wrap="square" lIns="0" tIns="0" rIns="0" bIns="0" anchor="t">
            <a:noAutofit/>
          </a:bodyPr>
          <a:lstStyle/>
          <a:p>
            <a:pPr algn="r">
              <a:defRPr sz="975" b="1">
                <a:solidFill>
                  <a:srgbClr val="B8B0D4"/>
                </a:solidFill>
                <a:latin typeface="Calibri"/>
                <a:ea typeface="Calibri"/>
                <a:cs typeface="Calibri"/>
              </a:defRPr>
            </a:pPr>
            <a:r>
              <a:rPr sz="975" b="1">
                <a:solidFill>
                  <a:srgbClr val="B8B0D4"/>
                </a:solidFill>
                <a:latin typeface="Calibri"/>
                <a:ea typeface="Calibri"/>
                <a:cs typeface="Calibri"/>
              </a:rPr>
              <a:t>16</a:t>
            </a:r>
          </a:p>
        </p:txBody>
      </p:sp>
    </p:spTree>
    <p:extLst>
      <p:ext uri="{BB962C8B-B14F-4D97-AF65-F5344CB8AC3E}">
        <p14:creationId xmlns:p14="http://schemas.microsoft.com/office/powerpoint/2010/main" val="16968353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A1530"/>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1BFB731E-FC8C-4B4D-825E-725E308BA829}"/>
              </a:ext>
            </a:extLst>
          </p:cNvPr>
          <p:cNvSpPr>
            <a:spLocks noGrp="1"/>
          </p:cNvSpPr>
          <p:nvPr/>
        </p:nvSpPr>
        <p:spPr>
          <a:xfrm>
            <a:off x="0" y="0"/>
            <a:ext cx="133350" cy="6858000"/>
          </a:xfrm>
          <a:prstGeom prst="rect">
            <a:avLst/>
          </a:prstGeom>
          <a:solidFill>
            <a:srgbClr val="FF6B62"/>
          </a:solidFill>
          <a:ln w="0">
            <a:noFill/>
          </a:ln>
        </p:spPr>
        <p:txBody>
          <a:bodyPr/>
          <a:lstStyle/>
          <a:p>
            <a:endParaRPr lang="en-MY"/>
          </a:p>
        </p:txBody>
      </p:sp>
      <p:sp>
        <p:nvSpPr>
          <p:cNvPr id="2" name="Rectangle 1">
            <a:extLst>
              <a:ext uri="{FF2B5EF4-FFF2-40B4-BE49-F238E27FC236}">
                <a16:creationId xmlns:a16="http://schemas.microsoft.com/office/drawing/2014/main" id="{F39CDD43-C721-4DE8-926E-33D3D49E8B60}"/>
              </a:ext>
            </a:extLst>
          </p:cNvPr>
          <p:cNvSpPr>
            <a:spLocks noGrp="1"/>
          </p:cNvSpPr>
          <p:nvPr/>
        </p:nvSpPr>
        <p:spPr>
          <a:xfrm>
            <a:off x="533400" y="323850"/>
            <a:ext cx="2571750" cy="247650"/>
          </a:xfrm>
          <a:prstGeom prst="rect">
            <a:avLst/>
          </a:prstGeom>
          <a:noFill/>
          <a:ln w="0">
            <a:noFill/>
          </a:ln>
        </p:spPr>
        <p:txBody>
          <a:bodyPr wrap="square" lIns="0" tIns="0" rIns="0" bIns="0" anchor="t">
            <a:noAutofit/>
          </a:bodyPr>
          <a:lstStyle/>
          <a:p>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7 · SYSTEM TESTING</a:t>
            </a:r>
          </a:p>
        </p:txBody>
      </p:sp>
      <p:sp>
        <p:nvSpPr>
          <p:cNvPr id="3" name="Rectangle 2">
            <a:extLst>
              <a:ext uri="{FF2B5EF4-FFF2-40B4-BE49-F238E27FC236}">
                <a16:creationId xmlns:a16="http://schemas.microsoft.com/office/drawing/2014/main" id="{B2A2E42C-F674-4F95-93FC-80BA1EE3AED1}"/>
              </a:ext>
            </a:extLst>
          </p:cNvPr>
          <p:cNvSpPr>
            <a:spLocks noGrp="1"/>
          </p:cNvSpPr>
          <p:nvPr/>
        </p:nvSpPr>
        <p:spPr>
          <a:xfrm>
            <a:off x="533400" y="619125"/>
            <a:ext cx="11049000" cy="533400"/>
          </a:xfrm>
          <a:prstGeom prst="rect">
            <a:avLst/>
          </a:prstGeom>
          <a:noFill/>
          <a:ln w="0">
            <a:noFill/>
          </a:ln>
        </p:spPr>
        <p:txBody>
          <a:bodyPr wrap="square" lIns="0" tIns="0" rIns="0" bIns="0" anchor="t">
            <a:noAutofit/>
          </a:bodyPr>
          <a:lstStyle/>
          <a:p>
            <a:pPr algn="l">
              <a:defRPr sz="2700" b="1">
                <a:solidFill>
                  <a:srgbClr val="F8F6FF"/>
                </a:solidFill>
                <a:latin typeface="Calibri"/>
                <a:ea typeface="Calibri"/>
                <a:cs typeface="Calibri"/>
              </a:defRPr>
            </a:pPr>
            <a:r>
              <a:rPr sz="2700" b="1">
                <a:solidFill>
                  <a:srgbClr val="F8F6FF"/>
                </a:solidFill>
                <a:latin typeface="Calibri"/>
                <a:ea typeface="Calibri"/>
                <a:cs typeface="Calibri"/>
              </a:rPr>
              <a:t>All 34 user-acceptance cases passed</a:t>
            </a:r>
          </a:p>
        </p:txBody>
      </p:sp>
      <p:sp>
        <p:nvSpPr>
          <p:cNvPr id="4" name="Rectangle 3">
            <a:extLst>
              <a:ext uri="{FF2B5EF4-FFF2-40B4-BE49-F238E27FC236}">
                <a16:creationId xmlns:a16="http://schemas.microsoft.com/office/drawing/2014/main" id="{CFAC9C22-2D1A-4EBE-88F6-6CEF825DB55A}"/>
              </a:ext>
            </a:extLst>
          </p:cNvPr>
          <p:cNvSpPr>
            <a:spLocks noGrp="1"/>
          </p:cNvSpPr>
          <p:nvPr/>
        </p:nvSpPr>
        <p:spPr>
          <a:xfrm>
            <a:off x="552450" y="1143000"/>
            <a:ext cx="10668000" cy="323850"/>
          </a:xfrm>
          <a:prstGeom prst="rect">
            <a:avLst/>
          </a:prstGeom>
          <a:noFill/>
          <a:ln w="0">
            <a:noFill/>
          </a:ln>
        </p:spPr>
        <p:txBody>
          <a:bodyPr wrap="square" lIns="0" tIns="0" rIns="0" bIns="0" anchor="t">
            <a:noAutofit/>
          </a:bodyPr>
          <a:lstStyle/>
          <a:p>
            <a:pPr algn="l">
              <a:defRPr sz="1350" b="0">
                <a:solidFill>
                  <a:srgbClr val="B8B0D4"/>
                </a:solidFill>
                <a:latin typeface="Calibri"/>
                <a:ea typeface="Calibri"/>
                <a:cs typeface="Calibri"/>
              </a:defRPr>
            </a:pPr>
            <a:r>
              <a:rPr sz="1350" b="0">
                <a:solidFill>
                  <a:srgbClr val="B8B0D4"/>
                </a:solidFill>
                <a:latin typeface="Calibri"/>
                <a:ea typeface="Calibri"/>
                <a:cs typeface="Calibri"/>
              </a:rPr>
              <a:t>Both roles accepted the workflows relevant to their responsibilities.</a:t>
            </a:r>
          </a:p>
        </p:txBody>
      </p:sp>
      <p:sp>
        <p:nvSpPr>
          <p:cNvPr id="5" name="Rectangle: Rounded Corners 4">
            <a:extLst>
              <a:ext uri="{FF2B5EF4-FFF2-40B4-BE49-F238E27FC236}">
                <a16:creationId xmlns:a16="http://schemas.microsoft.com/office/drawing/2014/main" id="{4E934F4B-2DE6-413F-B065-0CCDC72B2845}"/>
              </a:ext>
            </a:extLst>
          </p:cNvPr>
          <p:cNvSpPr>
            <a:spLocks noGrp="1"/>
          </p:cNvSpPr>
          <p:nvPr/>
        </p:nvSpPr>
        <p:spPr>
          <a:xfrm>
            <a:off x="685800" y="1866900"/>
            <a:ext cx="3143250" cy="1009650"/>
          </a:xfrm>
          <a:prstGeom prst="roundRect">
            <a:avLst>
              <a:gd name="adj" fmla="val 11321"/>
            </a:avLst>
          </a:prstGeom>
          <a:solidFill>
            <a:srgbClr val="2E2750"/>
          </a:solidFill>
          <a:ln w="0">
            <a:noFill/>
          </a:ln>
        </p:spPr>
        <p:txBody>
          <a:bodyPr/>
          <a:lstStyle/>
          <a:p>
            <a:endParaRPr lang="en-MY"/>
          </a:p>
        </p:txBody>
      </p:sp>
      <p:sp>
        <p:nvSpPr>
          <p:cNvPr id="6" name="Rectangle: Rounded Corners 5">
            <a:extLst>
              <a:ext uri="{FF2B5EF4-FFF2-40B4-BE49-F238E27FC236}">
                <a16:creationId xmlns:a16="http://schemas.microsoft.com/office/drawing/2014/main" id="{0666BBB3-9E1E-4779-808D-BE2C2D5300D2}"/>
              </a:ext>
            </a:extLst>
          </p:cNvPr>
          <p:cNvSpPr>
            <a:spLocks noGrp="1"/>
          </p:cNvSpPr>
          <p:nvPr/>
        </p:nvSpPr>
        <p:spPr>
          <a:xfrm>
            <a:off x="857250" y="2038350"/>
            <a:ext cx="457200" cy="76200"/>
          </a:xfrm>
          <a:prstGeom prst="roundRect">
            <a:avLst>
              <a:gd name="adj" fmla="val 50000"/>
            </a:avLst>
          </a:prstGeom>
          <a:solidFill>
            <a:srgbClr val="FFB020"/>
          </a:solidFill>
          <a:ln w="0">
            <a:noFill/>
          </a:ln>
        </p:spPr>
        <p:txBody>
          <a:bodyPr/>
          <a:lstStyle/>
          <a:p>
            <a:endParaRPr lang="en-MY"/>
          </a:p>
        </p:txBody>
      </p:sp>
      <p:sp>
        <p:nvSpPr>
          <p:cNvPr id="7" name="Rectangle 6">
            <a:extLst>
              <a:ext uri="{FF2B5EF4-FFF2-40B4-BE49-F238E27FC236}">
                <a16:creationId xmlns:a16="http://schemas.microsoft.com/office/drawing/2014/main" id="{4F233212-1AB6-4B6A-8C75-39984E10B882}"/>
              </a:ext>
            </a:extLst>
          </p:cNvPr>
          <p:cNvSpPr>
            <a:spLocks noGrp="1"/>
          </p:cNvSpPr>
          <p:nvPr/>
        </p:nvSpPr>
        <p:spPr>
          <a:xfrm>
            <a:off x="857250" y="2162175"/>
            <a:ext cx="2800350" cy="381000"/>
          </a:xfrm>
          <a:prstGeom prst="rect">
            <a:avLst/>
          </a:prstGeom>
          <a:noFill/>
          <a:ln w="0">
            <a:noFill/>
          </a:ln>
        </p:spPr>
        <p:txBody>
          <a:bodyPr wrap="square" lIns="0" tIns="0" rIns="0" bIns="0" anchor="t">
            <a:noAutofit/>
          </a:bodyPr>
          <a:lstStyle/>
          <a:p>
            <a:pPr algn="l">
              <a:defRPr sz="2550" b="1">
                <a:solidFill>
                  <a:srgbClr val="F8F6FF"/>
                </a:solidFill>
                <a:latin typeface="Calibri"/>
                <a:ea typeface="Calibri"/>
                <a:cs typeface="Calibri"/>
              </a:defRPr>
            </a:pPr>
            <a:r>
              <a:rPr sz="2550" b="1">
                <a:solidFill>
                  <a:srgbClr val="F8F6FF"/>
                </a:solidFill>
                <a:latin typeface="Calibri"/>
                <a:ea typeface="Calibri"/>
                <a:cs typeface="Calibri"/>
              </a:rPr>
              <a:t>19 / 19</a:t>
            </a:r>
          </a:p>
        </p:txBody>
      </p:sp>
      <p:sp>
        <p:nvSpPr>
          <p:cNvPr id="8" name="Rectangle 7">
            <a:extLst>
              <a:ext uri="{FF2B5EF4-FFF2-40B4-BE49-F238E27FC236}">
                <a16:creationId xmlns:a16="http://schemas.microsoft.com/office/drawing/2014/main" id="{33501E4B-0EB8-45AF-A68C-C84E2908B3F3}"/>
              </a:ext>
            </a:extLst>
          </p:cNvPr>
          <p:cNvSpPr>
            <a:spLocks noGrp="1"/>
          </p:cNvSpPr>
          <p:nvPr/>
        </p:nvSpPr>
        <p:spPr>
          <a:xfrm>
            <a:off x="857250" y="2590800"/>
            <a:ext cx="2800350" cy="209550"/>
          </a:xfrm>
          <a:prstGeom prst="rect">
            <a:avLst/>
          </a:prstGeom>
          <a:noFill/>
          <a:ln w="0">
            <a:noFill/>
          </a:ln>
        </p:spPr>
        <p:txBody>
          <a:bodyPr wrap="square" lIns="0" tIns="0" rIns="0" bIns="0" anchor="t">
            <a:noAutofit/>
          </a:bodyPr>
          <a:lstStyle/>
          <a:p>
            <a:pPr algn="l">
              <a:defRPr sz="1050" b="0">
                <a:solidFill>
                  <a:srgbClr val="B8B0D4"/>
                </a:solidFill>
                <a:latin typeface="Calibri"/>
                <a:ea typeface="Calibri"/>
                <a:cs typeface="Calibri"/>
              </a:defRPr>
            </a:pPr>
            <a:r>
              <a:rPr sz="1050" b="0">
                <a:solidFill>
                  <a:srgbClr val="B8B0D4"/>
                </a:solidFill>
                <a:latin typeface="Calibri"/>
                <a:ea typeface="Calibri"/>
                <a:cs typeface="Calibri"/>
              </a:rPr>
              <a:t>caregiver acceptance cases passed</a:t>
            </a:r>
          </a:p>
        </p:txBody>
      </p:sp>
      <p:sp>
        <p:nvSpPr>
          <p:cNvPr id="9" name="Rectangle: Rounded Corners 8">
            <a:extLst>
              <a:ext uri="{FF2B5EF4-FFF2-40B4-BE49-F238E27FC236}">
                <a16:creationId xmlns:a16="http://schemas.microsoft.com/office/drawing/2014/main" id="{55AE9F65-A984-4B00-9BCF-FB3B734FB856}"/>
              </a:ext>
            </a:extLst>
          </p:cNvPr>
          <p:cNvSpPr>
            <a:spLocks noGrp="1"/>
          </p:cNvSpPr>
          <p:nvPr/>
        </p:nvSpPr>
        <p:spPr>
          <a:xfrm>
            <a:off x="4095750" y="1866900"/>
            <a:ext cx="3143250" cy="1009650"/>
          </a:xfrm>
          <a:prstGeom prst="roundRect">
            <a:avLst>
              <a:gd name="adj" fmla="val 11321"/>
            </a:avLst>
          </a:prstGeom>
          <a:solidFill>
            <a:srgbClr val="2E2750"/>
          </a:solidFill>
          <a:ln w="0">
            <a:noFill/>
          </a:ln>
        </p:spPr>
        <p:txBody>
          <a:bodyPr/>
          <a:lstStyle/>
          <a:p>
            <a:endParaRPr lang="en-MY"/>
          </a:p>
        </p:txBody>
      </p:sp>
      <p:sp>
        <p:nvSpPr>
          <p:cNvPr id="10" name="Rectangle: Rounded Corners 9">
            <a:extLst>
              <a:ext uri="{FF2B5EF4-FFF2-40B4-BE49-F238E27FC236}">
                <a16:creationId xmlns:a16="http://schemas.microsoft.com/office/drawing/2014/main" id="{4B495D57-5DF7-4FEB-A06C-5132A87D74A2}"/>
              </a:ext>
            </a:extLst>
          </p:cNvPr>
          <p:cNvSpPr>
            <a:spLocks noGrp="1"/>
          </p:cNvSpPr>
          <p:nvPr/>
        </p:nvSpPr>
        <p:spPr>
          <a:xfrm>
            <a:off x="4267200" y="2038350"/>
            <a:ext cx="457200" cy="76200"/>
          </a:xfrm>
          <a:prstGeom prst="roundRect">
            <a:avLst>
              <a:gd name="adj" fmla="val 50000"/>
            </a:avLst>
          </a:prstGeom>
          <a:solidFill>
            <a:srgbClr val="2ED9A4"/>
          </a:solidFill>
          <a:ln w="0">
            <a:noFill/>
          </a:ln>
        </p:spPr>
        <p:txBody>
          <a:bodyPr/>
          <a:lstStyle/>
          <a:p>
            <a:endParaRPr lang="en-MY"/>
          </a:p>
        </p:txBody>
      </p:sp>
      <p:sp>
        <p:nvSpPr>
          <p:cNvPr id="11" name="Rectangle 10">
            <a:extLst>
              <a:ext uri="{FF2B5EF4-FFF2-40B4-BE49-F238E27FC236}">
                <a16:creationId xmlns:a16="http://schemas.microsoft.com/office/drawing/2014/main" id="{BA8C0E66-E5B4-4DEB-87DF-2C2D3D0CB68E}"/>
              </a:ext>
            </a:extLst>
          </p:cNvPr>
          <p:cNvSpPr>
            <a:spLocks noGrp="1"/>
          </p:cNvSpPr>
          <p:nvPr/>
        </p:nvSpPr>
        <p:spPr>
          <a:xfrm>
            <a:off x="4267200" y="2162175"/>
            <a:ext cx="2800350" cy="381000"/>
          </a:xfrm>
          <a:prstGeom prst="rect">
            <a:avLst/>
          </a:prstGeom>
          <a:noFill/>
          <a:ln w="0">
            <a:noFill/>
          </a:ln>
        </p:spPr>
        <p:txBody>
          <a:bodyPr wrap="square" lIns="0" tIns="0" rIns="0" bIns="0" anchor="t">
            <a:noAutofit/>
          </a:bodyPr>
          <a:lstStyle/>
          <a:p>
            <a:pPr algn="l">
              <a:defRPr sz="2550" b="1">
                <a:solidFill>
                  <a:srgbClr val="F8F6FF"/>
                </a:solidFill>
                <a:latin typeface="Calibri"/>
                <a:ea typeface="Calibri"/>
                <a:cs typeface="Calibri"/>
              </a:defRPr>
            </a:pPr>
            <a:r>
              <a:rPr sz="2550" b="1">
                <a:solidFill>
                  <a:srgbClr val="F8F6FF"/>
                </a:solidFill>
                <a:latin typeface="Calibri"/>
                <a:ea typeface="Calibri"/>
                <a:cs typeface="Calibri"/>
              </a:rPr>
              <a:t>15 / 15</a:t>
            </a:r>
          </a:p>
        </p:txBody>
      </p:sp>
      <p:sp>
        <p:nvSpPr>
          <p:cNvPr id="12" name="Rectangle 11">
            <a:extLst>
              <a:ext uri="{FF2B5EF4-FFF2-40B4-BE49-F238E27FC236}">
                <a16:creationId xmlns:a16="http://schemas.microsoft.com/office/drawing/2014/main" id="{3D10AA29-8F07-44A4-9B23-0143C6F759FD}"/>
              </a:ext>
            </a:extLst>
          </p:cNvPr>
          <p:cNvSpPr>
            <a:spLocks noGrp="1"/>
          </p:cNvSpPr>
          <p:nvPr/>
        </p:nvSpPr>
        <p:spPr>
          <a:xfrm>
            <a:off x="4267200" y="2590800"/>
            <a:ext cx="2800350" cy="209550"/>
          </a:xfrm>
          <a:prstGeom prst="rect">
            <a:avLst/>
          </a:prstGeom>
          <a:noFill/>
          <a:ln w="0">
            <a:noFill/>
          </a:ln>
        </p:spPr>
        <p:txBody>
          <a:bodyPr wrap="square" lIns="0" tIns="0" rIns="0" bIns="0" anchor="t">
            <a:noAutofit/>
          </a:bodyPr>
          <a:lstStyle/>
          <a:p>
            <a:pPr algn="l">
              <a:defRPr sz="1050" b="0">
                <a:solidFill>
                  <a:srgbClr val="B8B0D4"/>
                </a:solidFill>
                <a:latin typeface="Calibri"/>
                <a:ea typeface="Calibri"/>
                <a:cs typeface="Calibri"/>
              </a:defRPr>
            </a:pPr>
            <a:r>
              <a:rPr sz="1050" b="0">
                <a:solidFill>
                  <a:srgbClr val="B8B0D4"/>
                </a:solidFill>
                <a:latin typeface="Calibri"/>
                <a:ea typeface="Calibri"/>
                <a:cs typeface="Calibri"/>
              </a:rPr>
              <a:t>patient acceptance cases passed</a:t>
            </a:r>
          </a:p>
        </p:txBody>
      </p:sp>
      <p:sp>
        <p:nvSpPr>
          <p:cNvPr id="13" name="Rectangle: Rounded Corners 12">
            <a:extLst>
              <a:ext uri="{FF2B5EF4-FFF2-40B4-BE49-F238E27FC236}">
                <a16:creationId xmlns:a16="http://schemas.microsoft.com/office/drawing/2014/main" id="{F88934E4-C35C-4BDD-A194-272A267D2B0E}"/>
              </a:ext>
            </a:extLst>
          </p:cNvPr>
          <p:cNvSpPr>
            <a:spLocks noGrp="1"/>
          </p:cNvSpPr>
          <p:nvPr/>
        </p:nvSpPr>
        <p:spPr>
          <a:xfrm>
            <a:off x="7505700" y="1866900"/>
            <a:ext cx="3143250" cy="1009650"/>
          </a:xfrm>
          <a:prstGeom prst="roundRect">
            <a:avLst>
              <a:gd name="adj" fmla="val 11321"/>
            </a:avLst>
          </a:prstGeom>
          <a:solidFill>
            <a:srgbClr val="2E2750"/>
          </a:solidFill>
          <a:ln w="0">
            <a:noFill/>
          </a:ln>
        </p:spPr>
        <p:txBody>
          <a:bodyPr/>
          <a:lstStyle/>
          <a:p>
            <a:endParaRPr lang="en-MY"/>
          </a:p>
        </p:txBody>
      </p:sp>
      <p:sp>
        <p:nvSpPr>
          <p:cNvPr id="14" name="Rectangle: Rounded Corners 13">
            <a:extLst>
              <a:ext uri="{FF2B5EF4-FFF2-40B4-BE49-F238E27FC236}">
                <a16:creationId xmlns:a16="http://schemas.microsoft.com/office/drawing/2014/main" id="{F8509A4A-C2A4-4712-B812-C317E465E7AB}"/>
              </a:ext>
            </a:extLst>
          </p:cNvPr>
          <p:cNvSpPr>
            <a:spLocks noGrp="1"/>
          </p:cNvSpPr>
          <p:nvPr/>
        </p:nvSpPr>
        <p:spPr>
          <a:xfrm>
            <a:off x="7677150" y="2038350"/>
            <a:ext cx="457200" cy="76200"/>
          </a:xfrm>
          <a:prstGeom prst="roundRect">
            <a:avLst>
              <a:gd name="adj" fmla="val 50000"/>
            </a:avLst>
          </a:prstGeom>
          <a:solidFill>
            <a:srgbClr val="FF6B62"/>
          </a:solidFill>
          <a:ln w="0">
            <a:noFill/>
          </a:ln>
        </p:spPr>
        <p:txBody>
          <a:bodyPr/>
          <a:lstStyle/>
          <a:p>
            <a:endParaRPr lang="en-MY"/>
          </a:p>
        </p:txBody>
      </p:sp>
      <p:sp>
        <p:nvSpPr>
          <p:cNvPr id="15" name="Rectangle 14">
            <a:extLst>
              <a:ext uri="{FF2B5EF4-FFF2-40B4-BE49-F238E27FC236}">
                <a16:creationId xmlns:a16="http://schemas.microsoft.com/office/drawing/2014/main" id="{203EAE49-9CE7-4CC3-A339-669AD23BFF2D}"/>
              </a:ext>
            </a:extLst>
          </p:cNvPr>
          <p:cNvSpPr>
            <a:spLocks noGrp="1"/>
          </p:cNvSpPr>
          <p:nvPr/>
        </p:nvSpPr>
        <p:spPr>
          <a:xfrm>
            <a:off x="7677150" y="2162175"/>
            <a:ext cx="2800350" cy="381000"/>
          </a:xfrm>
          <a:prstGeom prst="rect">
            <a:avLst/>
          </a:prstGeom>
          <a:noFill/>
          <a:ln w="0">
            <a:noFill/>
          </a:ln>
        </p:spPr>
        <p:txBody>
          <a:bodyPr wrap="square" lIns="0" tIns="0" rIns="0" bIns="0" anchor="t">
            <a:noAutofit/>
          </a:bodyPr>
          <a:lstStyle/>
          <a:p>
            <a:pPr algn="l">
              <a:defRPr sz="2550" b="1">
                <a:solidFill>
                  <a:srgbClr val="F8F6FF"/>
                </a:solidFill>
                <a:latin typeface="Calibri"/>
                <a:ea typeface="Calibri"/>
                <a:cs typeface="Calibri"/>
              </a:defRPr>
            </a:pPr>
            <a:r>
              <a:rPr sz="2550" b="1">
                <a:solidFill>
                  <a:srgbClr val="F8F6FF"/>
                </a:solidFill>
                <a:latin typeface="Calibri"/>
                <a:ea typeface="Calibri"/>
                <a:cs typeface="Calibri"/>
              </a:rPr>
              <a:t>100%</a:t>
            </a:r>
          </a:p>
        </p:txBody>
      </p:sp>
      <p:sp>
        <p:nvSpPr>
          <p:cNvPr id="16" name="Rectangle 15">
            <a:extLst>
              <a:ext uri="{FF2B5EF4-FFF2-40B4-BE49-F238E27FC236}">
                <a16:creationId xmlns:a16="http://schemas.microsoft.com/office/drawing/2014/main" id="{79951A91-A0C9-43D7-8E3A-57B506FCE7BD}"/>
              </a:ext>
            </a:extLst>
          </p:cNvPr>
          <p:cNvSpPr>
            <a:spLocks noGrp="1"/>
          </p:cNvSpPr>
          <p:nvPr/>
        </p:nvSpPr>
        <p:spPr>
          <a:xfrm>
            <a:off x="7677150" y="2590800"/>
            <a:ext cx="2800350" cy="209550"/>
          </a:xfrm>
          <a:prstGeom prst="rect">
            <a:avLst/>
          </a:prstGeom>
          <a:noFill/>
          <a:ln w="0">
            <a:noFill/>
          </a:ln>
        </p:spPr>
        <p:txBody>
          <a:bodyPr wrap="square" lIns="0" tIns="0" rIns="0" bIns="0" anchor="t">
            <a:noAutofit/>
          </a:bodyPr>
          <a:lstStyle/>
          <a:p>
            <a:pPr algn="l">
              <a:defRPr sz="1050" b="0">
                <a:solidFill>
                  <a:srgbClr val="B8B0D4"/>
                </a:solidFill>
                <a:latin typeface="Calibri"/>
                <a:ea typeface="Calibri"/>
                <a:cs typeface="Calibri"/>
              </a:defRPr>
            </a:pPr>
            <a:r>
              <a:rPr sz="1050" b="0">
                <a:solidFill>
                  <a:srgbClr val="B8B0D4"/>
                </a:solidFill>
                <a:latin typeface="Calibri"/>
                <a:ea typeface="Calibri"/>
                <a:cs typeface="Calibri"/>
              </a:rPr>
              <a:t>overall UAT pass rate</a:t>
            </a:r>
          </a:p>
        </p:txBody>
      </p:sp>
      <p:sp>
        <p:nvSpPr>
          <p:cNvPr id="17" name="Rectangle: Rounded Corners 16">
            <a:extLst>
              <a:ext uri="{FF2B5EF4-FFF2-40B4-BE49-F238E27FC236}">
                <a16:creationId xmlns:a16="http://schemas.microsoft.com/office/drawing/2014/main" id="{455201CE-F9C1-44EE-86FE-44A218B4D99A}"/>
              </a:ext>
            </a:extLst>
          </p:cNvPr>
          <p:cNvSpPr>
            <a:spLocks noGrp="1"/>
          </p:cNvSpPr>
          <p:nvPr/>
        </p:nvSpPr>
        <p:spPr>
          <a:xfrm>
            <a:off x="685800" y="3238500"/>
            <a:ext cx="9963150" cy="2114550"/>
          </a:xfrm>
          <a:prstGeom prst="roundRect">
            <a:avLst>
              <a:gd name="adj" fmla="val 7207"/>
            </a:avLst>
          </a:prstGeom>
          <a:solidFill>
            <a:srgbClr val="2E2750"/>
          </a:solidFill>
          <a:ln w="0">
            <a:noFill/>
          </a:ln>
        </p:spPr>
        <p:txBody>
          <a:bodyPr/>
          <a:lstStyle/>
          <a:p>
            <a:endParaRPr lang="en-MY"/>
          </a:p>
        </p:txBody>
      </p:sp>
      <p:sp>
        <p:nvSpPr>
          <p:cNvPr id="18" name="Rectangle 17">
            <a:extLst>
              <a:ext uri="{FF2B5EF4-FFF2-40B4-BE49-F238E27FC236}">
                <a16:creationId xmlns:a16="http://schemas.microsoft.com/office/drawing/2014/main" id="{C076F6A4-087F-4A5A-956D-A79F8515657F}"/>
              </a:ext>
            </a:extLst>
          </p:cNvPr>
          <p:cNvSpPr>
            <a:spLocks noGrp="1"/>
          </p:cNvSpPr>
          <p:nvPr/>
        </p:nvSpPr>
        <p:spPr>
          <a:xfrm>
            <a:off x="952500" y="3495675"/>
            <a:ext cx="266700" cy="238125"/>
          </a:xfrm>
          <a:prstGeom prst="rect">
            <a:avLst/>
          </a:prstGeom>
          <a:noFill/>
          <a:ln w="0">
            <a:noFill/>
          </a:ln>
        </p:spPr>
        <p:txBody>
          <a:bodyPr wrap="square" lIns="0" tIns="0" rIns="0" bIns="0" anchor="t">
            <a:noAutofit/>
          </a:bodyPr>
          <a:lstStyle/>
          <a:p>
            <a:pPr algn="ctr">
              <a:defRPr sz="1500" b="1">
                <a:solidFill>
                  <a:srgbClr val="2ED9A4"/>
                </a:solidFill>
                <a:latin typeface="Calibri"/>
                <a:ea typeface="Calibri"/>
                <a:cs typeface="Calibri"/>
              </a:defRPr>
            </a:pPr>
            <a:r>
              <a:rPr sz="1500" b="1">
                <a:solidFill>
                  <a:srgbClr val="2ED9A4"/>
                </a:solidFill>
                <a:latin typeface="Calibri"/>
                <a:ea typeface="Calibri"/>
                <a:cs typeface="Calibri"/>
              </a:rPr>
              <a:t>✓</a:t>
            </a:r>
          </a:p>
        </p:txBody>
      </p:sp>
      <p:sp>
        <p:nvSpPr>
          <p:cNvPr id="19" name="Rectangle 18">
            <a:extLst>
              <a:ext uri="{FF2B5EF4-FFF2-40B4-BE49-F238E27FC236}">
                <a16:creationId xmlns:a16="http://schemas.microsoft.com/office/drawing/2014/main" id="{FE2FA0D4-02FC-4A95-82F6-C467753ADCCA}"/>
              </a:ext>
            </a:extLst>
          </p:cNvPr>
          <p:cNvSpPr>
            <a:spLocks noGrp="1"/>
          </p:cNvSpPr>
          <p:nvPr/>
        </p:nvSpPr>
        <p:spPr>
          <a:xfrm>
            <a:off x="1390650" y="3495675"/>
            <a:ext cx="1809750" cy="238125"/>
          </a:xfrm>
          <a:prstGeom prst="rect">
            <a:avLst/>
          </a:prstGeom>
          <a:noFill/>
          <a:ln w="0">
            <a:noFill/>
          </a:ln>
        </p:spPr>
        <p:txBody>
          <a:bodyPr wrap="square" lIns="0" tIns="0" rIns="0" bIns="0" anchor="t">
            <a:noAutofit/>
          </a:bodyPr>
          <a:lstStyle/>
          <a:p>
            <a:pPr algn="l">
              <a:defRPr sz="1275" b="1">
                <a:solidFill>
                  <a:srgbClr val="F8F6FF"/>
                </a:solidFill>
                <a:latin typeface="Calibri"/>
                <a:ea typeface="Calibri"/>
                <a:cs typeface="Calibri"/>
              </a:defRPr>
            </a:pPr>
            <a:r>
              <a:rPr sz="1275" b="1">
                <a:solidFill>
                  <a:srgbClr val="F8F6FF"/>
                </a:solidFill>
                <a:latin typeface="Calibri"/>
                <a:ea typeface="Calibri"/>
                <a:cs typeface="Calibri"/>
              </a:rPr>
              <a:t>Role separation</a:t>
            </a:r>
          </a:p>
        </p:txBody>
      </p:sp>
      <p:sp>
        <p:nvSpPr>
          <p:cNvPr id="20" name="Rectangle 19">
            <a:extLst>
              <a:ext uri="{FF2B5EF4-FFF2-40B4-BE49-F238E27FC236}">
                <a16:creationId xmlns:a16="http://schemas.microsoft.com/office/drawing/2014/main" id="{01167964-FDA6-4D69-80D7-3E00A6C31126}"/>
              </a:ext>
            </a:extLst>
          </p:cNvPr>
          <p:cNvSpPr>
            <a:spLocks noGrp="1"/>
          </p:cNvSpPr>
          <p:nvPr/>
        </p:nvSpPr>
        <p:spPr>
          <a:xfrm>
            <a:off x="3314700" y="3495675"/>
            <a:ext cx="6953250" cy="266700"/>
          </a:xfrm>
          <a:prstGeom prst="rect">
            <a:avLst/>
          </a:prstGeom>
          <a:noFill/>
          <a:ln w="0">
            <a:noFill/>
          </a:ln>
        </p:spPr>
        <p:txBody>
          <a:bodyPr wrap="square" lIns="0" tIns="0" rIns="0" bIns="0" anchor="t">
            <a:noAutofit/>
          </a:bodyPr>
          <a:lstStyle/>
          <a:p>
            <a:pPr algn="l">
              <a:defRPr sz="1200" b="0">
                <a:solidFill>
                  <a:srgbClr val="B8B0D4"/>
                </a:solidFill>
                <a:latin typeface="Calibri"/>
                <a:ea typeface="Calibri"/>
                <a:cs typeface="Calibri"/>
              </a:defRPr>
            </a:pPr>
            <a:r>
              <a:rPr sz="1200" b="0">
                <a:solidFill>
                  <a:srgbClr val="B8B0D4"/>
                </a:solidFill>
                <a:latin typeface="Calibri"/>
                <a:ea typeface="Calibri"/>
                <a:cs typeface="Calibri"/>
              </a:rPr>
              <a:t>Correct dashboards, navigation and logout locations</a:t>
            </a:r>
          </a:p>
        </p:txBody>
      </p:sp>
      <p:sp>
        <p:nvSpPr>
          <p:cNvPr id="21" name="Rectangle 20">
            <a:extLst>
              <a:ext uri="{FF2B5EF4-FFF2-40B4-BE49-F238E27FC236}">
                <a16:creationId xmlns:a16="http://schemas.microsoft.com/office/drawing/2014/main" id="{84D73500-5765-4CE0-BA07-CCA455F8E748}"/>
              </a:ext>
            </a:extLst>
          </p:cNvPr>
          <p:cNvSpPr>
            <a:spLocks noGrp="1"/>
          </p:cNvSpPr>
          <p:nvPr/>
        </p:nvSpPr>
        <p:spPr>
          <a:xfrm>
            <a:off x="952500" y="3905250"/>
            <a:ext cx="266700" cy="238125"/>
          </a:xfrm>
          <a:prstGeom prst="rect">
            <a:avLst/>
          </a:prstGeom>
          <a:noFill/>
          <a:ln w="0">
            <a:noFill/>
          </a:ln>
        </p:spPr>
        <p:txBody>
          <a:bodyPr wrap="square" lIns="0" tIns="0" rIns="0" bIns="0" anchor="t">
            <a:noAutofit/>
          </a:bodyPr>
          <a:lstStyle/>
          <a:p>
            <a:pPr algn="ctr">
              <a:defRPr sz="1500" b="1">
                <a:solidFill>
                  <a:srgbClr val="2ED9A4"/>
                </a:solidFill>
                <a:latin typeface="Calibri"/>
                <a:ea typeface="Calibri"/>
                <a:cs typeface="Calibri"/>
              </a:defRPr>
            </a:pPr>
            <a:r>
              <a:rPr sz="1500" b="1">
                <a:solidFill>
                  <a:srgbClr val="2ED9A4"/>
                </a:solidFill>
                <a:latin typeface="Calibri"/>
                <a:ea typeface="Calibri"/>
                <a:cs typeface="Calibri"/>
              </a:rPr>
              <a:t>✓</a:t>
            </a:r>
          </a:p>
        </p:txBody>
      </p:sp>
      <p:sp>
        <p:nvSpPr>
          <p:cNvPr id="22" name="Rectangle 21">
            <a:extLst>
              <a:ext uri="{FF2B5EF4-FFF2-40B4-BE49-F238E27FC236}">
                <a16:creationId xmlns:a16="http://schemas.microsoft.com/office/drawing/2014/main" id="{190FF452-CD78-4A71-9140-F688CA3786E4}"/>
              </a:ext>
            </a:extLst>
          </p:cNvPr>
          <p:cNvSpPr>
            <a:spLocks noGrp="1"/>
          </p:cNvSpPr>
          <p:nvPr/>
        </p:nvSpPr>
        <p:spPr>
          <a:xfrm>
            <a:off x="1390650" y="3905250"/>
            <a:ext cx="1809750" cy="238125"/>
          </a:xfrm>
          <a:prstGeom prst="rect">
            <a:avLst/>
          </a:prstGeom>
          <a:noFill/>
          <a:ln w="0">
            <a:noFill/>
          </a:ln>
        </p:spPr>
        <p:txBody>
          <a:bodyPr wrap="square" lIns="0" tIns="0" rIns="0" bIns="0" anchor="t">
            <a:noAutofit/>
          </a:bodyPr>
          <a:lstStyle/>
          <a:p>
            <a:pPr algn="l">
              <a:defRPr sz="1275" b="1">
                <a:solidFill>
                  <a:srgbClr val="F8F6FF"/>
                </a:solidFill>
                <a:latin typeface="Calibri"/>
                <a:ea typeface="Calibri"/>
                <a:cs typeface="Calibri"/>
              </a:defRPr>
            </a:pPr>
            <a:r>
              <a:rPr sz="1275" b="1">
                <a:solidFill>
                  <a:srgbClr val="F8F6FF"/>
                </a:solidFill>
                <a:latin typeface="Calibri"/>
                <a:ea typeface="Calibri"/>
                <a:cs typeface="Calibri"/>
              </a:rPr>
              <a:t>Task lifecycle</a:t>
            </a:r>
          </a:p>
        </p:txBody>
      </p:sp>
      <p:sp>
        <p:nvSpPr>
          <p:cNvPr id="23" name="Rectangle 22">
            <a:extLst>
              <a:ext uri="{FF2B5EF4-FFF2-40B4-BE49-F238E27FC236}">
                <a16:creationId xmlns:a16="http://schemas.microsoft.com/office/drawing/2014/main" id="{6C7332B4-B0C0-4CF5-90CC-13013D82FFAF}"/>
              </a:ext>
            </a:extLst>
          </p:cNvPr>
          <p:cNvSpPr>
            <a:spLocks noGrp="1"/>
          </p:cNvSpPr>
          <p:nvPr/>
        </p:nvSpPr>
        <p:spPr>
          <a:xfrm>
            <a:off x="3314700" y="3905250"/>
            <a:ext cx="6953250" cy="266700"/>
          </a:xfrm>
          <a:prstGeom prst="rect">
            <a:avLst/>
          </a:prstGeom>
          <a:noFill/>
          <a:ln w="0">
            <a:noFill/>
          </a:ln>
        </p:spPr>
        <p:txBody>
          <a:bodyPr wrap="square" lIns="0" tIns="0" rIns="0" bIns="0" anchor="t">
            <a:noAutofit/>
          </a:bodyPr>
          <a:lstStyle/>
          <a:p>
            <a:pPr algn="l">
              <a:defRPr sz="1200" b="0">
                <a:solidFill>
                  <a:srgbClr val="B8B0D4"/>
                </a:solidFill>
                <a:latin typeface="Calibri"/>
                <a:ea typeface="Calibri"/>
                <a:cs typeface="Calibri"/>
              </a:defRPr>
            </a:pPr>
            <a:r>
              <a:rPr sz="1200" b="0">
                <a:solidFill>
                  <a:srgbClr val="B8B0D4"/>
                </a:solidFill>
                <a:latin typeface="Calibri"/>
                <a:ea typeface="Calibri"/>
                <a:cs typeface="Calibri"/>
              </a:rPr>
              <a:t>Create, recur, remind, respond, edit, delete and monitor</a:t>
            </a:r>
          </a:p>
        </p:txBody>
      </p:sp>
      <p:sp>
        <p:nvSpPr>
          <p:cNvPr id="24" name="Rectangle 23">
            <a:extLst>
              <a:ext uri="{FF2B5EF4-FFF2-40B4-BE49-F238E27FC236}">
                <a16:creationId xmlns:a16="http://schemas.microsoft.com/office/drawing/2014/main" id="{49E55725-AD2D-42FF-B48C-CE3DE600C75F}"/>
              </a:ext>
            </a:extLst>
          </p:cNvPr>
          <p:cNvSpPr>
            <a:spLocks noGrp="1"/>
          </p:cNvSpPr>
          <p:nvPr/>
        </p:nvSpPr>
        <p:spPr>
          <a:xfrm>
            <a:off x="952500" y="4314825"/>
            <a:ext cx="266700" cy="238125"/>
          </a:xfrm>
          <a:prstGeom prst="rect">
            <a:avLst/>
          </a:prstGeom>
          <a:noFill/>
          <a:ln w="0">
            <a:noFill/>
          </a:ln>
        </p:spPr>
        <p:txBody>
          <a:bodyPr wrap="square" lIns="0" tIns="0" rIns="0" bIns="0" anchor="t">
            <a:noAutofit/>
          </a:bodyPr>
          <a:lstStyle/>
          <a:p>
            <a:pPr algn="ctr">
              <a:defRPr sz="1500" b="1">
                <a:solidFill>
                  <a:srgbClr val="2ED9A4"/>
                </a:solidFill>
                <a:latin typeface="Calibri"/>
                <a:ea typeface="Calibri"/>
                <a:cs typeface="Calibri"/>
              </a:defRPr>
            </a:pPr>
            <a:r>
              <a:rPr sz="1500" b="1">
                <a:solidFill>
                  <a:srgbClr val="2ED9A4"/>
                </a:solidFill>
                <a:latin typeface="Calibri"/>
                <a:ea typeface="Calibri"/>
                <a:cs typeface="Calibri"/>
              </a:rPr>
              <a:t>✓</a:t>
            </a:r>
          </a:p>
        </p:txBody>
      </p:sp>
      <p:sp>
        <p:nvSpPr>
          <p:cNvPr id="25" name="Rectangle 24">
            <a:extLst>
              <a:ext uri="{FF2B5EF4-FFF2-40B4-BE49-F238E27FC236}">
                <a16:creationId xmlns:a16="http://schemas.microsoft.com/office/drawing/2014/main" id="{CA695742-4315-4162-921E-1E70366AA013}"/>
              </a:ext>
            </a:extLst>
          </p:cNvPr>
          <p:cNvSpPr>
            <a:spLocks noGrp="1"/>
          </p:cNvSpPr>
          <p:nvPr/>
        </p:nvSpPr>
        <p:spPr>
          <a:xfrm>
            <a:off x="1390650" y="4314825"/>
            <a:ext cx="1809750" cy="238125"/>
          </a:xfrm>
          <a:prstGeom prst="rect">
            <a:avLst/>
          </a:prstGeom>
          <a:noFill/>
          <a:ln w="0">
            <a:noFill/>
          </a:ln>
        </p:spPr>
        <p:txBody>
          <a:bodyPr wrap="square" lIns="0" tIns="0" rIns="0" bIns="0" anchor="t">
            <a:noAutofit/>
          </a:bodyPr>
          <a:lstStyle/>
          <a:p>
            <a:pPr algn="l">
              <a:defRPr sz="1275" b="1">
                <a:solidFill>
                  <a:srgbClr val="F8F6FF"/>
                </a:solidFill>
                <a:latin typeface="Calibri"/>
                <a:ea typeface="Calibri"/>
                <a:cs typeface="Calibri"/>
              </a:defRPr>
            </a:pPr>
            <a:r>
              <a:rPr sz="1275" b="1">
                <a:solidFill>
                  <a:srgbClr val="F8F6FF"/>
                </a:solidFill>
                <a:latin typeface="Calibri"/>
                <a:ea typeface="Calibri"/>
                <a:cs typeface="Calibri"/>
              </a:rPr>
              <a:t>Adaptive cognition</a:t>
            </a:r>
          </a:p>
        </p:txBody>
      </p:sp>
      <p:sp>
        <p:nvSpPr>
          <p:cNvPr id="26" name="Rectangle 25">
            <a:extLst>
              <a:ext uri="{FF2B5EF4-FFF2-40B4-BE49-F238E27FC236}">
                <a16:creationId xmlns:a16="http://schemas.microsoft.com/office/drawing/2014/main" id="{1C53F192-1213-406A-AC83-AEE9AD0E1DE6}"/>
              </a:ext>
            </a:extLst>
          </p:cNvPr>
          <p:cNvSpPr>
            <a:spLocks noGrp="1"/>
          </p:cNvSpPr>
          <p:nvPr/>
        </p:nvSpPr>
        <p:spPr>
          <a:xfrm>
            <a:off x="3314700" y="4314825"/>
            <a:ext cx="6953250" cy="266700"/>
          </a:xfrm>
          <a:prstGeom prst="rect">
            <a:avLst/>
          </a:prstGeom>
          <a:noFill/>
          <a:ln w="0">
            <a:noFill/>
          </a:ln>
        </p:spPr>
        <p:txBody>
          <a:bodyPr wrap="square" lIns="0" tIns="0" rIns="0" bIns="0" anchor="t">
            <a:noAutofit/>
          </a:bodyPr>
          <a:lstStyle/>
          <a:p>
            <a:pPr algn="l">
              <a:defRPr sz="1200" b="0">
                <a:solidFill>
                  <a:srgbClr val="B8B0D4"/>
                </a:solidFill>
                <a:latin typeface="Calibri"/>
                <a:ea typeface="Calibri"/>
                <a:cs typeface="Calibri"/>
              </a:defRPr>
            </a:pPr>
            <a:r>
              <a:rPr sz="1200" b="0">
                <a:solidFill>
                  <a:srgbClr val="B8B0D4"/>
                </a:solidFill>
                <a:latin typeface="Calibri"/>
                <a:ea typeface="Calibri"/>
                <a:cs typeface="Calibri"/>
              </a:rPr>
              <a:t>Correct game set, supportive guidance and independent level adjustment</a:t>
            </a:r>
          </a:p>
        </p:txBody>
      </p:sp>
      <p:sp>
        <p:nvSpPr>
          <p:cNvPr id="27" name="Rectangle 26">
            <a:extLst>
              <a:ext uri="{FF2B5EF4-FFF2-40B4-BE49-F238E27FC236}">
                <a16:creationId xmlns:a16="http://schemas.microsoft.com/office/drawing/2014/main" id="{C8BDAA69-807F-4558-B870-EB37A2ED98E3}"/>
              </a:ext>
            </a:extLst>
          </p:cNvPr>
          <p:cNvSpPr>
            <a:spLocks noGrp="1"/>
          </p:cNvSpPr>
          <p:nvPr/>
        </p:nvSpPr>
        <p:spPr>
          <a:xfrm>
            <a:off x="952500" y="4724400"/>
            <a:ext cx="266700" cy="238125"/>
          </a:xfrm>
          <a:prstGeom prst="rect">
            <a:avLst/>
          </a:prstGeom>
          <a:noFill/>
          <a:ln w="0">
            <a:noFill/>
          </a:ln>
        </p:spPr>
        <p:txBody>
          <a:bodyPr wrap="square" lIns="0" tIns="0" rIns="0" bIns="0" anchor="t">
            <a:noAutofit/>
          </a:bodyPr>
          <a:lstStyle/>
          <a:p>
            <a:pPr algn="ctr">
              <a:defRPr sz="1500" b="1">
                <a:solidFill>
                  <a:srgbClr val="2ED9A4"/>
                </a:solidFill>
                <a:latin typeface="Calibri"/>
                <a:ea typeface="Calibri"/>
                <a:cs typeface="Calibri"/>
              </a:defRPr>
            </a:pPr>
            <a:r>
              <a:rPr sz="1500" b="1">
                <a:solidFill>
                  <a:srgbClr val="2ED9A4"/>
                </a:solidFill>
                <a:latin typeface="Calibri"/>
                <a:ea typeface="Calibri"/>
                <a:cs typeface="Calibri"/>
              </a:rPr>
              <a:t>✓</a:t>
            </a:r>
          </a:p>
        </p:txBody>
      </p:sp>
      <p:sp>
        <p:nvSpPr>
          <p:cNvPr id="28" name="Rectangle 27">
            <a:extLst>
              <a:ext uri="{FF2B5EF4-FFF2-40B4-BE49-F238E27FC236}">
                <a16:creationId xmlns:a16="http://schemas.microsoft.com/office/drawing/2014/main" id="{C3E30D63-94A6-4D55-9CD1-29A65812F6DB}"/>
              </a:ext>
            </a:extLst>
          </p:cNvPr>
          <p:cNvSpPr>
            <a:spLocks noGrp="1"/>
          </p:cNvSpPr>
          <p:nvPr/>
        </p:nvSpPr>
        <p:spPr>
          <a:xfrm>
            <a:off x="1390650" y="4724400"/>
            <a:ext cx="1809750" cy="238125"/>
          </a:xfrm>
          <a:prstGeom prst="rect">
            <a:avLst/>
          </a:prstGeom>
          <a:noFill/>
          <a:ln w="0">
            <a:noFill/>
          </a:ln>
        </p:spPr>
        <p:txBody>
          <a:bodyPr wrap="square" lIns="0" tIns="0" rIns="0" bIns="0" anchor="t">
            <a:noAutofit/>
          </a:bodyPr>
          <a:lstStyle/>
          <a:p>
            <a:pPr algn="l">
              <a:defRPr sz="1275" b="1">
                <a:solidFill>
                  <a:srgbClr val="F8F6FF"/>
                </a:solidFill>
                <a:latin typeface="Calibri"/>
                <a:ea typeface="Calibri"/>
                <a:cs typeface="Calibri"/>
              </a:defRPr>
            </a:pPr>
            <a:r>
              <a:rPr sz="1275" b="1">
                <a:solidFill>
                  <a:srgbClr val="F8F6FF"/>
                </a:solidFill>
                <a:latin typeface="Calibri"/>
                <a:ea typeface="Calibri"/>
                <a:cs typeface="Calibri"/>
              </a:rPr>
              <a:t>Motivation</a:t>
            </a:r>
          </a:p>
        </p:txBody>
      </p:sp>
      <p:sp>
        <p:nvSpPr>
          <p:cNvPr id="29" name="Rectangle 28">
            <a:extLst>
              <a:ext uri="{FF2B5EF4-FFF2-40B4-BE49-F238E27FC236}">
                <a16:creationId xmlns:a16="http://schemas.microsoft.com/office/drawing/2014/main" id="{F624EA14-4084-4047-B168-EC7FDE4C1D04}"/>
              </a:ext>
            </a:extLst>
          </p:cNvPr>
          <p:cNvSpPr>
            <a:spLocks noGrp="1"/>
          </p:cNvSpPr>
          <p:nvPr/>
        </p:nvSpPr>
        <p:spPr>
          <a:xfrm>
            <a:off x="3314700" y="4724400"/>
            <a:ext cx="6953250" cy="266700"/>
          </a:xfrm>
          <a:prstGeom prst="rect">
            <a:avLst/>
          </a:prstGeom>
          <a:noFill/>
          <a:ln w="0">
            <a:noFill/>
          </a:ln>
        </p:spPr>
        <p:txBody>
          <a:bodyPr wrap="square" lIns="0" tIns="0" rIns="0" bIns="0" anchor="t">
            <a:noAutofit/>
          </a:bodyPr>
          <a:lstStyle/>
          <a:p>
            <a:pPr algn="l">
              <a:defRPr sz="1200" b="0">
                <a:solidFill>
                  <a:srgbClr val="B8B0D4"/>
                </a:solidFill>
                <a:latin typeface="Calibri"/>
                <a:ea typeface="Calibri"/>
                <a:cs typeface="Calibri"/>
              </a:defRPr>
            </a:pPr>
            <a:r>
              <a:rPr sz="1200" b="0">
                <a:solidFill>
                  <a:srgbClr val="B8B0D4"/>
                </a:solidFill>
                <a:latin typeface="Calibri"/>
                <a:ea typeface="Calibri"/>
                <a:cs typeface="Calibri"/>
              </a:rPr>
              <a:t>Daily streak, shared points, level progress and reward unlocking</a:t>
            </a:r>
          </a:p>
        </p:txBody>
      </p:sp>
      <p:sp>
        <p:nvSpPr>
          <p:cNvPr id="30" name="Rectangle 29">
            <a:extLst>
              <a:ext uri="{FF2B5EF4-FFF2-40B4-BE49-F238E27FC236}">
                <a16:creationId xmlns:a16="http://schemas.microsoft.com/office/drawing/2014/main" id="{24BB3D5A-C07E-4F9A-B386-0B17ECD913B3}"/>
              </a:ext>
            </a:extLst>
          </p:cNvPr>
          <p:cNvSpPr>
            <a:spLocks noGrp="1"/>
          </p:cNvSpPr>
          <p:nvPr/>
        </p:nvSpPr>
        <p:spPr>
          <a:xfrm>
            <a:off x="533400" y="6543675"/>
            <a:ext cx="9525000" cy="171450"/>
          </a:xfrm>
          <a:prstGeom prst="rect">
            <a:avLst/>
          </a:prstGeom>
          <a:noFill/>
          <a:ln w="0">
            <a:noFill/>
          </a:ln>
        </p:spPr>
        <p:txBody>
          <a:bodyPr wrap="square" lIns="0" tIns="0" rIns="0" bIns="0" anchor="t">
            <a:noAutofit/>
          </a:bodyPr>
          <a:lstStyle/>
          <a:p>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 Final report Table 7.9, pp. 216–223.</a:t>
            </a:r>
          </a:p>
        </p:txBody>
      </p:sp>
      <p:sp>
        <p:nvSpPr>
          <p:cNvPr id="31" name="Rectangle 30">
            <a:extLst>
              <a:ext uri="{FF2B5EF4-FFF2-40B4-BE49-F238E27FC236}">
                <a16:creationId xmlns:a16="http://schemas.microsoft.com/office/drawing/2014/main" id="{6CB1F212-880C-4AD6-B299-B7457AAEB838}"/>
              </a:ext>
            </a:extLst>
          </p:cNvPr>
          <p:cNvSpPr>
            <a:spLocks noGrp="1"/>
          </p:cNvSpPr>
          <p:nvPr/>
        </p:nvSpPr>
        <p:spPr>
          <a:xfrm>
            <a:off x="11277600" y="6496050"/>
            <a:ext cx="476250" cy="209550"/>
          </a:xfrm>
          <a:prstGeom prst="rect">
            <a:avLst/>
          </a:prstGeom>
          <a:noFill/>
          <a:ln w="0">
            <a:noFill/>
          </a:ln>
        </p:spPr>
        <p:txBody>
          <a:bodyPr wrap="square" lIns="0" tIns="0" rIns="0" bIns="0" anchor="t">
            <a:noAutofit/>
          </a:bodyPr>
          <a:lstStyle/>
          <a:p>
            <a:pPr algn="r">
              <a:defRPr sz="975" b="1">
                <a:solidFill>
                  <a:srgbClr val="B8B0D4"/>
                </a:solidFill>
                <a:latin typeface="Calibri"/>
                <a:ea typeface="Calibri"/>
                <a:cs typeface="Calibri"/>
              </a:defRPr>
            </a:pPr>
            <a:r>
              <a:rPr sz="975" b="1">
                <a:solidFill>
                  <a:srgbClr val="B8B0D4"/>
                </a:solidFill>
                <a:latin typeface="Calibri"/>
                <a:ea typeface="Calibri"/>
                <a:cs typeface="Calibri"/>
              </a:rPr>
              <a:t>17</a:t>
            </a:r>
          </a:p>
        </p:txBody>
      </p:sp>
    </p:spTree>
    <p:extLst>
      <p:ext uri="{BB962C8B-B14F-4D97-AF65-F5344CB8AC3E}">
        <p14:creationId xmlns:p14="http://schemas.microsoft.com/office/powerpoint/2010/main" val="14336506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A1530"/>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BB93E5B-A657-45B6-B17F-487E0EFCCC22}"/>
              </a:ext>
            </a:extLst>
          </p:cNvPr>
          <p:cNvSpPr>
            <a:spLocks noGrp="1"/>
          </p:cNvSpPr>
          <p:nvPr/>
        </p:nvSpPr>
        <p:spPr>
          <a:xfrm>
            <a:off x="0" y="0"/>
            <a:ext cx="133350" cy="6858000"/>
          </a:xfrm>
          <a:prstGeom prst="rect">
            <a:avLst/>
          </a:prstGeom>
          <a:solidFill>
            <a:srgbClr val="FF6B62"/>
          </a:solidFill>
          <a:ln w="0">
            <a:noFill/>
          </a:ln>
        </p:spPr>
        <p:txBody>
          <a:bodyPr/>
          <a:lstStyle/>
          <a:p>
            <a:endParaRPr lang="en-MY"/>
          </a:p>
        </p:txBody>
      </p:sp>
      <p:sp>
        <p:nvSpPr>
          <p:cNvPr id="2" name="Rectangle 1">
            <a:extLst>
              <a:ext uri="{FF2B5EF4-FFF2-40B4-BE49-F238E27FC236}">
                <a16:creationId xmlns:a16="http://schemas.microsoft.com/office/drawing/2014/main" id="{2E8D82D1-9926-48B7-B590-4FA594C0FCB7}"/>
              </a:ext>
            </a:extLst>
          </p:cNvPr>
          <p:cNvSpPr>
            <a:spLocks noGrp="1"/>
          </p:cNvSpPr>
          <p:nvPr/>
        </p:nvSpPr>
        <p:spPr>
          <a:xfrm>
            <a:off x="533400" y="323850"/>
            <a:ext cx="2571750" cy="247650"/>
          </a:xfrm>
          <a:prstGeom prst="rect">
            <a:avLst/>
          </a:prstGeom>
          <a:noFill/>
          <a:ln w="0">
            <a:noFill/>
          </a:ln>
        </p:spPr>
        <p:txBody>
          <a:bodyPr wrap="square" lIns="0" tIns="0" rIns="0" bIns="0" anchor="t">
            <a:noAutofit/>
          </a:bodyPr>
          <a:lstStyle/>
          <a:p>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7 · SYSTEM TESTING</a:t>
            </a:r>
          </a:p>
        </p:txBody>
      </p:sp>
      <p:sp>
        <p:nvSpPr>
          <p:cNvPr id="3" name="Rectangle 2">
            <a:extLst>
              <a:ext uri="{FF2B5EF4-FFF2-40B4-BE49-F238E27FC236}">
                <a16:creationId xmlns:a16="http://schemas.microsoft.com/office/drawing/2014/main" id="{7683013F-4E7E-4964-B0DB-7BCF6A3E87D3}"/>
              </a:ext>
            </a:extLst>
          </p:cNvPr>
          <p:cNvSpPr>
            <a:spLocks noGrp="1"/>
          </p:cNvSpPr>
          <p:nvPr/>
        </p:nvSpPr>
        <p:spPr>
          <a:xfrm>
            <a:off x="533400" y="619125"/>
            <a:ext cx="11049000" cy="533400"/>
          </a:xfrm>
          <a:prstGeom prst="rect">
            <a:avLst/>
          </a:prstGeom>
          <a:noFill/>
          <a:ln w="0">
            <a:noFill/>
          </a:ln>
        </p:spPr>
        <p:txBody>
          <a:bodyPr wrap="square" lIns="0" tIns="0" rIns="0" bIns="0" anchor="t">
            <a:noAutofit/>
          </a:bodyPr>
          <a:lstStyle/>
          <a:p>
            <a:pPr algn="l">
              <a:defRPr sz="2700" b="1">
                <a:solidFill>
                  <a:srgbClr val="F8F6FF"/>
                </a:solidFill>
                <a:latin typeface="Calibri"/>
                <a:ea typeface="Calibri"/>
                <a:cs typeface="Calibri"/>
              </a:defRPr>
            </a:pPr>
            <a:r>
              <a:rPr sz="2700" b="1">
                <a:solidFill>
                  <a:srgbClr val="F8F6FF"/>
                </a:solidFill>
                <a:latin typeface="Calibri"/>
                <a:ea typeface="Calibri"/>
                <a:cs typeface="Calibri"/>
              </a:rPr>
              <a:t>Usability exceeded the target</a:t>
            </a:r>
          </a:p>
        </p:txBody>
      </p:sp>
      <p:sp>
        <p:nvSpPr>
          <p:cNvPr id="4" name="Rectangle 3">
            <a:extLst>
              <a:ext uri="{FF2B5EF4-FFF2-40B4-BE49-F238E27FC236}">
                <a16:creationId xmlns:a16="http://schemas.microsoft.com/office/drawing/2014/main" id="{F087FAE9-B0A3-4B37-A68C-200D24E71CBC}"/>
              </a:ext>
            </a:extLst>
          </p:cNvPr>
          <p:cNvSpPr>
            <a:spLocks noGrp="1"/>
          </p:cNvSpPr>
          <p:nvPr/>
        </p:nvSpPr>
        <p:spPr>
          <a:xfrm>
            <a:off x="552450" y="1143000"/>
            <a:ext cx="10668000" cy="323850"/>
          </a:xfrm>
          <a:prstGeom prst="rect">
            <a:avLst/>
          </a:prstGeom>
          <a:noFill/>
          <a:ln w="0">
            <a:noFill/>
          </a:ln>
        </p:spPr>
        <p:txBody>
          <a:bodyPr wrap="square" lIns="0" tIns="0" rIns="0" bIns="0" anchor="t">
            <a:noAutofit/>
          </a:bodyPr>
          <a:lstStyle/>
          <a:p>
            <a:pPr algn="l">
              <a:defRPr sz="1350" b="0">
                <a:solidFill>
                  <a:srgbClr val="B8B0D4"/>
                </a:solidFill>
                <a:latin typeface="Calibri"/>
                <a:ea typeface="Calibri"/>
                <a:cs typeface="Calibri"/>
              </a:defRPr>
            </a:pPr>
            <a:r>
              <a:rPr sz="1350" b="0">
                <a:solidFill>
                  <a:srgbClr val="B8B0D4"/>
                </a:solidFill>
                <a:latin typeface="Calibri"/>
                <a:ea typeface="Calibri"/>
                <a:cs typeface="Calibri"/>
              </a:rPr>
              <a:t>Five participants produced an average System Usability Scale score of 91.0.</a:t>
            </a:r>
          </a:p>
        </p:txBody>
      </p:sp>
      <p:graphicFrame>
        <p:nvGraphicFramePr>
          <p:cNvPr id="19" name="Chart"/>
          <p:cNvGraphicFramePr/>
          <p:nvPr/>
        </p:nvGraphicFramePr>
        <p:xfrm>
          <a:off x="666750" y="1762125"/>
          <a:ext cx="7620000" cy="3857625"/>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Rounded Corners 5">
            <a:extLst>
              <a:ext uri="{FF2B5EF4-FFF2-40B4-BE49-F238E27FC236}">
                <a16:creationId xmlns:a16="http://schemas.microsoft.com/office/drawing/2014/main" id="{27113299-065A-4CB3-BBBF-41ECF07E76FF}"/>
              </a:ext>
            </a:extLst>
          </p:cNvPr>
          <p:cNvSpPr>
            <a:spLocks noGrp="1"/>
          </p:cNvSpPr>
          <p:nvPr/>
        </p:nvSpPr>
        <p:spPr>
          <a:xfrm>
            <a:off x="8667750" y="1828800"/>
            <a:ext cx="2647950" cy="1714500"/>
          </a:xfrm>
          <a:prstGeom prst="roundRect">
            <a:avLst>
              <a:gd name="adj" fmla="val 8889"/>
            </a:avLst>
          </a:prstGeom>
          <a:solidFill>
            <a:srgbClr val="2E2750"/>
          </a:solidFill>
          <a:ln w="0">
            <a:noFill/>
          </a:ln>
        </p:spPr>
        <p:txBody>
          <a:bodyPr/>
          <a:lstStyle/>
          <a:p>
            <a:endParaRPr lang="en-MY"/>
          </a:p>
        </p:txBody>
      </p:sp>
      <p:sp>
        <p:nvSpPr>
          <p:cNvPr id="7" name="Rectangle 6">
            <a:extLst>
              <a:ext uri="{FF2B5EF4-FFF2-40B4-BE49-F238E27FC236}">
                <a16:creationId xmlns:a16="http://schemas.microsoft.com/office/drawing/2014/main" id="{FD556CDF-E8F8-4906-8CEF-8106BF48AF4E}"/>
              </a:ext>
            </a:extLst>
          </p:cNvPr>
          <p:cNvSpPr>
            <a:spLocks noGrp="1"/>
          </p:cNvSpPr>
          <p:nvPr/>
        </p:nvSpPr>
        <p:spPr>
          <a:xfrm>
            <a:off x="8858250" y="2057400"/>
            <a:ext cx="2266950" cy="685800"/>
          </a:xfrm>
          <a:prstGeom prst="rect">
            <a:avLst/>
          </a:prstGeom>
          <a:noFill/>
          <a:ln w="0">
            <a:noFill/>
          </a:ln>
        </p:spPr>
        <p:txBody>
          <a:bodyPr wrap="square" lIns="0" tIns="0" rIns="0" bIns="0" anchor="t">
            <a:noAutofit/>
          </a:bodyPr>
          <a:lstStyle/>
          <a:p>
            <a:pPr algn="ctr">
              <a:defRPr sz="4350" b="1">
                <a:solidFill>
                  <a:srgbClr val="2ED9A4"/>
                </a:solidFill>
                <a:latin typeface="Calibri"/>
                <a:ea typeface="Calibri"/>
                <a:cs typeface="Calibri"/>
              </a:defRPr>
            </a:pPr>
            <a:r>
              <a:rPr sz="4350" b="1">
                <a:solidFill>
                  <a:srgbClr val="2ED9A4"/>
                </a:solidFill>
                <a:latin typeface="Calibri"/>
                <a:ea typeface="Calibri"/>
                <a:cs typeface="Calibri"/>
              </a:rPr>
              <a:t>91.0</a:t>
            </a:r>
          </a:p>
        </p:txBody>
      </p:sp>
      <p:sp>
        <p:nvSpPr>
          <p:cNvPr id="8" name="Rectangle 7">
            <a:extLst>
              <a:ext uri="{FF2B5EF4-FFF2-40B4-BE49-F238E27FC236}">
                <a16:creationId xmlns:a16="http://schemas.microsoft.com/office/drawing/2014/main" id="{5145D121-0DA9-4528-8F62-58DBB96750A5}"/>
              </a:ext>
            </a:extLst>
          </p:cNvPr>
          <p:cNvSpPr>
            <a:spLocks noGrp="1"/>
          </p:cNvSpPr>
          <p:nvPr/>
        </p:nvSpPr>
        <p:spPr>
          <a:xfrm>
            <a:off x="8858250" y="2838450"/>
            <a:ext cx="2266950" cy="228600"/>
          </a:xfrm>
          <a:prstGeom prst="rect">
            <a:avLst/>
          </a:prstGeom>
          <a:noFill/>
          <a:ln w="0">
            <a:noFill/>
          </a:ln>
        </p:spPr>
        <p:txBody>
          <a:bodyPr wrap="square" lIns="0" tIns="0" rIns="0" bIns="0" anchor="t">
            <a:noAutofit/>
          </a:bodyPr>
          <a:lstStyle/>
          <a:p>
            <a:pPr algn="ctr">
              <a:defRPr sz="1125" b="1">
                <a:solidFill>
                  <a:srgbClr val="B8B0D4"/>
                </a:solidFill>
                <a:latin typeface="Calibri"/>
                <a:ea typeface="Calibri"/>
                <a:cs typeface="Calibri"/>
              </a:defRPr>
            </a:pPr>
            <a:r>
              <a:rPr sz="1125" b="1">
                <a:solidFill>
                  <a:srgbClr val="B8B0D4"/>
                </a:solidFill>
                <a:latin typeface="Calibri"/>
                <a:ea typeface="Calibri"/>
                <a:cs typeface="Calibri"/>
              </a:rPr>
              <a:t>AVERAGE SUS</a:t>
            </a:r>
          </a:p>
        </p:txBody>
      </p:sp>
      <p:sp>
        <p:nvSpPr>
          <p:cNvPr id="9" name="Rectangle: Rounded Corners 8">
            <a:extLst>
              <a:ext uri="{FF2B5EF4-FFF2-40B4-BE49-F238E27FC236}">
                <a16:creationId xmlns:a16="http://schemas.microsoft.com/office/drawing/2014/main" id="{3736D1DB-6CE3-41F4-8984-58380DE63C67}"/>
              </a:ext>
            </a:extLst>
          </p:cNvPr>
          <p:cNvSpPr>
            <a:spLocks noGrp="1"/>
          </p:cNvSpPr>
          <p:nvPr/>
        </p:nvSpPr>
        <p:spPr>
          <a:xfrm>
            <a:off x="8972550" y="3771900"/>
            <a:ext cx="2057400" cy="323850"/>
          </a:xfrm>
          <a:prstGeom prst="roundRect">
            <a:avLst>
              <a:gd name="adj" fmla="val 35294"/>
            </a:avLst>
          </a:prstGeom>
          <a:solidFill>
            <a:srgbClr val="FF6B62"/>
          </a:solidFill>
          <a:ln w="0">
            <a:noFill/>
          </a:ln>
        </p:spPr>
        <p:txBody>
          <a:bodyPr/>
          <a:lstStyle/>
          <a:p>
            <a:endParaRPr lang="en-MY"/>
          </a:p>
        </p:txBody>
      </p:sp>
      <p:sp>
        <p:nvSpPr>
          <p:cNvPr id="10" name="Rectangle 9">
            <a:extLst>
              <a:ext uri="{FF2B5EF4-FFF2-40B4-BE49-F238E27FC236}">
                <a16:creationId xmlns:a16="http://schemas.microsoft.com/office/drawing/2014/main" id="{22F1B092-86B8-46FD-9D38-F54E640F4BEE}"/>
              </a:ext>
            </a:extLst>
          </p:cNvPr>
          <p:cNvSpPr>
            <a:spLocks noGrp="1"/>
          </p:cNvSpPr>
          <p:nvPr/>
        </p:nvSpPr>
        <p:spPr>
          <a:xfrm>
            <a:off x="8972550" y="3781425"/>
            <a:ext cx="2057400" cy="285750"/>
          </a:xfrm>
          <a:prstGeom prst="rect">
            <a:avLst/>
          </a:prstGeom>
          <a:noFill/>
          <a:ln w="0">
            <a:noFill/>
          </a:ln>
        </p:spPr>
        <p:txBody>
          <a:bodyPr wrap="square" lIns="0" tIns="0" rIns="0" bIns="0" anchor="ctr">
            <a:noAutofit/>
          </a:bodyPr>
          <a:lstStyle/>
          <a:p>
            <a:pPr algn="ctr">
              <a:defRPr sz="1125" b="1">
                <a:solidFill>
                  <a:srgbClr val="F8F6FF"/>
                </a:solidFill>
                <a:latin typeface="Calibri"/>
                <a:ea typeface="Calibri"/>
                <a:cs typeface="Calibri"/>
              </a:defRPr>
            </a:pPr>
            <a:r>
              <a:rPr sz="1125" b="1">
                <a:solidFill>
                  <a:srgbClr val="F8F6FF"/>
                </a:solidFill>
                <a:latin typeface="Calibri"/>
                <a:ea typeface="Calibri"/>
                <a:cs typeface="Calibri"/>
              </a:rPr>
              <a:t>+6.0 ABOVE TARGET</a:t>
            </a:r>
          </a:p>
        </p:txBody>
      </p:sp>
      <p:sp>
        <p:nvSpPr>
          <p:cNvPr id="11" name="Rectangle 10">
            <a:extLst>
              <a:ext uri="{FF2B5EF4-FFF2-40B4-BE49-F238E27FC236}">
                <a16:creationId xmlns:a16="http://schemas.microsoft.com/office/drawing/2014/main" id="{D1610962-4390-449E-9C9D-60F5B6BCC5A8}"/>
              </a:ext>
            </a:extLst>
          </p:cNvPr>
          <p:cNvSpPr>
            <a:spLocks noGrp="1"/>
          </p:cNvSpPr>
          <p:nvPr/>
        </p:nvSpPr>
        <p:spPr>
          <a:xfrm>
            <a:off x="8896350" y="4371975"/>
            <a:ext cx="2000250" cy="247650"/>
          </a:xfrm>
          <a:prstGeom prst="rect">
            <a:avLst/>
          </a:prstGeom>
          <a:noFill/>
          <a:ln w="0">
            <a:noFill/>
          </a:ln>
        </p:spPr>
        <p:txBody>
          <a:bodyPr wrap="square" lIns="0" tIns="0" rIns="0" bIns="0" anchor="t">
            <a:noAutofit/>
          </a:bodyPr>
          <a:lstStyle/>
          <a:p>
            <a:pPr algn="l">
              <a:defRPr sz="1350" b="1">
                <a:solidFill>
                  <a:srgbClr val="F8F6FF"/>
                </a:solidFill>
                <a:latin typeface="Calibri"/>
                <a:ea typeface="Calibri"/>
                <a:cs typeface="Calibri"/>
              </a:defRPr>
            </a:pPr>
            <a:r>
              <a:rPr sz="1350" b="1">
                <a:solidFill>
                  <a:srgbClr val="F8F6FF"/>
                </a:solidFill>
                <a:latin typeface="Calibri"/>
                <a:ea typeface="Calibri"/>
                <a:cs typeface="Calibri"/>
              </a:rPr>
              <a:t>Finding</a:t>
            </a:r>
          </a:p>
        </p:txBody>
      </p:sp>
      <p:sp>
        <p:nvSpPr>
          <p:cNvPr id="12" name="Rectangle 11">
            <a:extLst>
              <a:ext uri="{FF2B5EF4-FFF2-40B4-BE49-F238E27FC236}">
                <a16:creationId xmlns:a16="http://schemas.microsoft.com/office/drawing/2014/main" id="{A9EC872C-2EE9-4DEA-941F-4D64A9E8BCD6}"/>
              </a:ext>
            </a:extLst>
          </p:cNvPr>
          <p:cNvSpPr>
            <a:spLocks noGrp="1"/>
          </p:cNvSpPr>
          <p:nvPr/>
        </p:nvSpPr>
        <p:spPr>
          <a:xfrm>
            <a:off x="8896350" y="4724400"/>
            <a:ext cx="2057400" cy="895350"/>
          </a:xfrm>
          <a:prstGeom prst="rect">
            <a:avLst/>
          </a:prstGeom>
          <a:noFill/>
          <a:ln w="0">
            <a:noFill/>
          </a:ln>
        </p:spPr>
        <p:txBody>
          <a:bodyPr wrap="square" lIns="0" tIns="0" rIns="0" bIns="0" anchor="t">
            <a:noAutofit/>
          </a:bodyPr>
          <a:lstStyle/>
          <a:p>
            <a:pPr algn="l">
              <a:defRPr sz="1275" b="0">
                <a:solidFill>
                  <a:srgbClr val="B8B0D4"/>
                </a:solidFill>
                <a:latin typeface="Calibri"/>
                <a:ea typeface="Calibri"/>
                <a:cs typeface="Calibri"/>
              </a:defRPr>
            </a:pPr>
            <a:r>
              <a:rPr sz="1275" b="0">
                <a:solidFill>
                  <a:srgbClr val="B8B0D4"/>
                </a:solidFill>
                <a:latin typeface="Calibri"/>
                <a:ea typeface="Calibri"/>
                <a:cs typeface="Calibri"/>
              </a:rPr>
              <a:t>Participants found MindCare highly usable, understandable and consistent across its features.</a:t>
            </a:r>
          </a:p>
        </p:txBody>
      </p:sp>
      <p:sp>
        <p:nvSpPr>
          <p:cNvPr id="13" name="Rectangle 12">
            <a:extLst>
              <a:ext uri="{FF2B5EF4-FFF2-40B4-BE49-F238E27FC236}">
                <a16:creationId xmlns:a16="http://schemas.microsoft.com/office/drawing/2014/main" id="{1C49DCFE-792C-4E80-BB0D-AC6BE8AD350A}"/>
              </a:ext>
            </a:extLst>
          </p:cNvPr>
          <p:cNvSpPr>
            <a:spLocks noGrp="1"/>
          </p:cNvSpPr>
          <p:nvPr/>
        </p:nvSpPr>
        <p:spPr>
          <a:xfrm>
            <a:off x="533400" y="6543675"/>
            <a:ext cx="9525000" cy="171450"/>
          </a:xfrm>
          <a:prstGeom prst="rect">
            <a:avLst/>
          </a:prstGeom>
          <a:noFill/>
          <a:ln w="0">
            <a:noFill/>
          </a:ln>
        </p:spPr>
        <p:txBody>
          <a:bodyPr wrap="square" lIns="0" tIns="0" rIns="0" bIns="0" anchor="t">
            <a:noAutofit/>
          </a:bodyPr>
          <a:lstStyle/>
          <a:p>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 Final report Table 7.11, pp. 224–225. Target SUS = 85.</a:t>
            </a:r>
          </a:p>
        </p:txBody>
      </p:sp>
      <p:sp>
        <p:nvSpPr>
          <p:cNvPr id="14" name="Rectangle 13">
            <a:extLst>
              <a:ext uri="{FF2B5EF4-FFF2-40B4-BE49-F238E27FC236}">
                <a16:creationId xmlns:a16="http://schemas.microsoft.com/office/drawing/2014/main" id="{C0686F5F-F96C-4CD5-B868-53AEF46C93EB}"/>
              </a:ext>
            </a:extLst>
          </p:cNvPr>
          <p:cNvSpPr>
            <a:spLocks noGrp="1"/>
          </p:cNvSpPr>
          <p:nvPr/>
        </p:nvSpPr>
        <p:spPr>
          <a:xfrm>
            <a:off x="11277600" y="6496050"/>
            <a:ext cx="476250" cy="209550"/>
          </a:xfrm>
          <a:prstGeom prst="rect">
            <a:avLst/>
          </a:prstGeom>
          <a:noFill/>
          <a:ln w="0">
            <a:noFill/>
          </a:ln>
        </p:spPr>
        <p:txBody>
          <a:bodyPr wrap="square" lIns="0" tIns="0" rIns="0" bIns="0" anchor="t">
            <a:noAutofit/>
          </a:bodyPr>
          <a:lstStyle/>
          <a:p>
            <a:pPr algn="r">
              <a:defRPr sz="975" b="1">
                <a:solidFill>
                  <a:srgbClr val="B8B0D4"/>
                </a:solidFill>
                <a:latin typeface="Calibri"/>
                <a:ea typeface="Calibri"/>
                <a:cs typeface="Calibri"/>
              </a:defRPr>
            </a:pPr>
            <a:r>
              <a:rPr sz="975" b="1">
                <a:solidFill>
                  <a:srgbClr val="B8B0D4"/>
                </a:solidFill>
                <a:latin typeface="Calibri"/>
                <a:ea typeface="Calibri"/>
                <a:cs typeface="Calibri"/>
              </a:rPr>
              <a:t>18</a:t>
            </a:r>
          </a:p>
        </p:txBody>
      </p:sp>
    </p:spTree>
    <p:extLst>
      <p:ext uri="{BB962C8B-B14F-4D97-AF65-F5344CB8AC3E}">
        <p14:creationId xmlns:p14="http://schemas.microsoft.com/office/powerpoint/2010/main" val="7927560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A1530"/>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94654BDE-A708-433D-A9A2-0920231B7BEA}"/>
              </a:ext>
            </a:extLst>
          </p:cNvPr>
          <p:cNvSpPr>
            <a:spLocks noGrp="1"/>
          </p:cNvSpPr>
          <p:nvPr/>
        </p:nvSpPr>
        <p:spPr>
          <a:xfrm>
            <a:off x="0" y="0"/>
            <a:ext cx="133350" cy="6858000"/>
          </a:xfrm>
          <a:prstGeom prst="rect">
            <a:avLst/>
          </a:prstGeom>
          <a:solidFill>
            <a:srgbClr val="FF6B62"/>
          </a:solidFill>
          <a:ln w="0">
            <a:noFill/>
          </a:ln>
        </p:spPr>
        <p:txBody>
          <a:bodyPr/>
          <a:lstStyle/>
          <a:p>
            <a:endParaRPr lang="en-MY"/>
          </a:p>
        </p:txBody>
      </p:sp>
      <p:sp>
        <p:nvSpPr>
          <p:cNvPr id="2" name="Rectangle 1">
            <a:extLst>
              <a:ext uri="{FF2B5EF4-FFF2-40B4-BE49-F238E27FC236}">
                <a16:creationId xmlns:a16="http://schemas.microsoft.com/office/drawing/2014/main" id="{0AC1576C-7ECF-44E6-A039-047B2F648DE3}"/>
              </a:ext>
            </a:extLst>
          </p:cNvPr>
          <p:cNvSpPr>
            <a:spLocks noGrp="1"/>
          </p:cNvSpPr>
          <p:nvPr/>
        </p:nvSpPr>
        <p:spPr>
          <a:xfrm>
            <a:off x="533400" y="323850"/>
            <a:ext cx="2571750" cy="247650"/>
          </a:xfrm>
          <a:prstGeom prst="rect">
            <a:avLst/>
          </a:prstGeom>
          <a:noFill/>
          <a:ln w="0">
            <a:noFill/>
          </a:ln>
        </p:spPr>
        <p:txBody>
          <a:bodyPr wrap="square" lIns="0" tIns="0" rIns="0" bIns="0" anchor="t">
            <a:noAutofit/>
          </a:bodyPr>
          <a:lstStyle/>
          <a:p>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7 · SYSTEM TESTING</a:t>
            </a:r>
          </a:p>
        </p:txBody>
      </p:sp>
      <p:sp>
        <p:nvSpPr>
          <p:cNvPr id="3" name="Rectangle 2">
            <a:extLst>
              <a:ext uri="{FF2B5EF4-FFF2-40B4-BE49-F238E27FC236}">
                <a16:creationId xmlns:a16="http://schemas.microsoft.com/office/drawing/2014/main" id="{B9A8247D-49C1-4623-86D9-2CF20C123825}"/>
              </a:ext>
            </a:extLst>
          </p:cNvPr>
          <p:cNvSpPr>
            <a:spLocks noGrp="1"/>
          </p:cNvSpPr>
          <p:nvPr/>
        </p:nvSpPr>
        <p:spPr>
          <a:xfrm>
            <a:off x="533400" y="619125"/>
            <a:ext cx="11049000" cy="533400"/>
          </a:xfrm>
          <a:prstGeom prst="rect">
            <a:avLst/>
          </a:prstGeom>
          <a:noFill/>
          <a:ln w="0">
            <a:noFill/>
          </a:ln>
        </p:spPr>
        <p:txBody>
          <a:bodyPr wrap="square" lIns="0" tIns="0" rIns="0" bIns="0" anchor="t">
            <a:noAutofit/>
          </a:bodyPr>
          <a:lstStyle/>
          <a:p>
            <a:pPr algn="l">
              <a:defRPr sz="2700" b="1">
                <a:solidFill>
                  <a:srgbClr val="F8F6FF"/>
                </a:solidFill>
                <a:latin typeface="Calibri"/>
                <a:ea typeface="Calibri"/>
                <a:cs typeface="Calibri"/>
              </a:defRPr>
            </a:pPr>
            <a:r>
              <a:rPr sz="2700" b="1">
                <a:solidFill>
                  <a:srgbClr val="F8F6FF"/>
                </a:solidFill>
                <a:latin typeface="Calibri"/>
                <a:ea typeface="Calibri"/>
                <a:cs typeface="Calibri"/>
              </a:rPr>
              <a:t>What the results demonstrated</a:t>
            </a:r>
          </a:p>
        </p:txBody>
      </p:sp>
      <p:sp>
        <p:nvSpPr>
          <p:cNvPr id="4" name="Rectangle 3">
            <a:extLst>
              <a:ext uri="{FF2B5EF4-FFF2-40B4-BE49-F238E27FC236}">
                <a16:creationId xmlns:a16="http://schemas.microsoft.com/office/drawing/2014/main" id="{E3F12981-0002-4430-850E-3A0D2AE872DA}"/>
              </a:ext>
            </a:extLst>
          </p:cNvPr>
          <p:cNvSpPr>
            <a:spLocks noGrp="1"/>
          </p:cNvSpPr>
          <p:nvPr/>
        </p:nvSpPr>
        <p:spPr>
          <a:xfrm>
            <a:off x="552450" y="1143000"/>
            <a:ext cx="10668000" cy="323850"/>
          </a:xfrm>
          <a:prstGeom prst="rect">
            <a:avLst/>
          </a:prstGeom>
          <a:noFill/>
          <a:ln w="0">
            <a:noFill/>
          </a:ln>
        </p:spPr>
        <p:txBody>
          <a:bodyPr wrap="square" lIns="0" tIns="0" rIns="0" bIns="0" anchor="t">
            <a:noAutofit/>
          </a:bodyPr>
          <a:lstStyle/>
          <a:p>
            <a:pPr algn="l">
              <a:defRPr sz="1350" b="0">
                <a:solidFill>
                  <a:srgbClr val="B8B0D4"/>
                </a:solidFill>
                <a:latin typeface="Calibri"/>
                <a:ea typeface="Calibri"/>
                <a:cs typeface="Calibri"/>
              </a:defRPr>
            </a:pPr>
            <a:r>
              <a:rPr sz="1350" b="0">
                <a:solidFill>
                  <a:srgbClr val="B8B0D4"/>
                </a:solidFill>
                <a:latin typeface="Calibri"/>
                <a:ea typeface="Calibri"/>
                <a:cs typeface="Calibri"/>
              </a:rPr>
              <a:t>The evidence supported usability and workflow completion, while also revealing the boundary of the evaluation.</a:t>
            </a:r>
          </a:p>
        </p:txBody>
      </p:sp>
      <p:sp>
        <p:nvSpPr>
          <p:cNvPr id="5" name="Rectangle 4">
            <a:extLst>
              <a:ext uri="{FF2B5EF4-FFF2-40B4-BE49-F238E27FC236}">
                <a16:creationId xmlns:a16="http://schemas.microsoft.com/office/drawing/2014/main" id="{180C4BCD-C26C-45BA-BD35-FA5D76112BC1}"/>
              </a:ext>
            </a:extLst>
          </p:cNvPr>
          <p:cNvSpPr>
            <a:spLocks noGrp="1"/>
          </p:cNvSpPr>
          <p:nvPr/>
        </p:nvSpPr>
        <p:spPr>
          <a:xfrm>
            <a:off x="762000" y="1790700"/>
            <a:ext cx="609600" cy="457200"/>
          </a:xfrm>
          <a:prstGeom prst="rect">
            <a:avLst/>
          </a:prstGeom>
          <a:noFill/>
          <a:ln w="0">
            <a:noFill/>
          </a:ln>
        </p:spPr>
        <p:txBody>
          <a:bodyPr wrap="square" lIns="0" tIns="0" rIns="0" bIns="0" anchor="t">
            <a:noAutofit/>
          </a:bodyPr>
          <a:lstStyle/>
          <a:p>
            <a:pPr algn="l">
              <a:defRPr sz="2250" b="1">
                <a:solidFill>
                  <a:srgbClr val="2ED9A4"/>
                </a:solidFill>
                <a:latin typeface="Calibri"/>
                <a:ea typeface="Calibri"/>
                <a:cs typeface="Calibri"/>
              </a:defRPr>
            </a:pPr>
            <a:r>
              <a:rPr sz="2250" b="1">
                <a:solidFill>
                  <a:srgbClr val="2ED9A4"/>
                </a:solidFill>
                <a:latin typeface="Calibri"/>
                <a:ea typeface="Calibri"/>
                <a:cs typeface="Calibri"/>
              </a:rPr>
              <a:t>01</a:t>
            </a:r>
          </a:p>
        </p:txBody>
      </p:sp>
      <p:sp>
        <p:nvSpPr>
          <p:cNvPr id="6" name="Rectangle 5">
            <a:extLst>
              <a:ext uri="{FF2B5EF4-FFF2-40B4-BE49-F238E27FC236}">
                <a16:creationId xmlns:a16="http://schemas.microsoft.com/office/drawing/2014/main" id="{B2D9515E-6DAD-4B16-B7B2-0183BF07DEC6}"/>
              </a:ext>
            </a:extLst>
          </p:cNvPr>
          <p:cNvSpPr>
            <a:spLocks noGrp="1"/>
          </p:cNvSpPr>
          <p:nvPr/>
        </p:nvSpPr>
        <p:spPr>
          <a:xfrm>
            <a:off x="1447800" y="1800225"/>
            <a:ext cx="4457700" cy="285750"/>
          </a:xfrm>
          <a:prstGeom prst="rect">
            <a:avLst/>
          </a:prstGeom>
          <a:noFill/>
          <a:ln w="0">
            <a:noFill/>
          </a:ln>
        </p:spPr>
        <p:txBody>
          <a:bodyPr wrap="square" lIns="0" tIns="0" rIns="0" bIns="0" anchor="t">
            <a:noAutofit/>
          </a:bodyPr>
          <a:lstStyle/>
          <a:p>
            <a:pPr algn="l">
              <a:defRPr sz="1650" b="1">
                <a:solidFill>
                  <a:srgbClr val="F8F6FF"/>
                </a:solidFill>
                <a:latin typeface="Calibri"/>
                <a:ea typeface="Calibri"/>
                <a:cs typeface="Calibri"/>
              </a:defRPr>
            </a:pPr>
            <a:r>
              <a:rPr sz="1650" b="1">
                <a:solidFill>
                  <a:srgbClr val="F8F6FF"/>
                </a:solidFill>
                <a:latin typeface="Calibri"/>
                <a:ea typeface="Calibri"/>
                <a:cs typeface="Calibri"/>
              </a:rPr>
              <a:t>Complex workflows remained understandable</a:t>
            </a:r>
          </a:p>
        </p:txBody>
      </p:sp>
      <p:sp>
        <p:nvSpPr>
          <p:cNvPr id="7" name="Rectangle 6">
            <a:extLst>
              <a:ext uri="{FF2B5EF4-FFF2-40B4-BE49-F238E27FC236}">
                <a16:creationId xmlns:a16="http://schemas.microsoft.com/office/drawing/2014/main" id="{D063A391-F4C2-4C0F-86D8-E51DF94745AC}"/>
              </a:ext>
            </a:extLst>
          </p:cNvPr>
          <p:cNvSpPr>
            <a:spLocks noGrp="1"/>
          </p:cNvSpPr>
          <p:nvPr/>
        </p:nvSpPr>
        <p:spPr>
          <a:xfrm>
            <a:off x="1447800" y="2114550"/>
            <a:ext cx="4457700" cy="514350"/>
          </a:xfrm>
          <a:prstGeom prst="rect">
            <a:avLst/>
          </a:prstGeom>
          <a:noFill/>
          <a:ln w="0">
            <a:noFill/>
          </a:ln>
        </p:spPr>
        <p:txBody>
          <a:bodyPr wrap="square" lIns="0" tIns="0" rIns="0" bIns="0" anchor="t">
            <a:noAutofit/>
          </a:bodyPr>
          <a:lstStyle/>
          <a:p>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UAT covered recurrence, repeated reminders, occurrence status, adaptive games and reward unlocking without role confusion.</a:t>
            </a:r>
          </a:p>
        </p:txBody>
      </p:sp>
      <p:sp>
        <p:nvSpPr>
          <p:cNvPr id="8" name="Rectangle 7">
            <a:extLst>
              <a:ext uri="{FF2B5EF4-FFF2-40B4-BE49-F238E27FC236}">
                <a16:creationId xmlns:a16="http://schemas.microsoft.com/office/drawing/2014/main" id="{46272455-9D0B-4A7D-B1EC-503A6B0F84B8}"/>
              </a:ext>
            </a:extLst>
          </p:cNvPr>
          <p:cNvSpPr>
            <a:spLocks noGrp="1"/>
          </p:cNvSpPr>
          <p:nvPr/>
        </p:nvSpPr>
        <p:spPr>
          <a:xfrm>
            <a:off x="762000" y="3048000"/>
            <a:ext cx="609600" cy="457200"/>
          </a:xfrm>
          <a:prstGeom prst="rect">
            <a:avLst/>
          </a:prstGeom>
          <a:noFill/>
          <a:ln w="0">
            <a:noFill/>
          </a:ln>
        </p:spPr>
        <p:txBody>
          <a:bodyPr wrap="square" lIns="0" tIns="0" rIns="0" bIns="0" anchor="t">
            <a:noAutofit/>
          </a:bodyPr>
          <a:lstStyle/>
          <a:p>
            <a:pPr algn="l">
              <a:defRPr sz="2250" b="1">
                <a:solidFill>
                  <a:srgbClr val="7C83FD"/>
                </a:solidFill>
                <a:latin typeface="Calibri"/>
                <a:ea typeface="Calibri"/>
                <a:cs typeface="Calibri"/>
              </a:defRPr>
            </a:pPr>
            <a:r>
              <a:rPr sz="2250" b="1">
                <a:solidFill>
                  <a:srgbClr val="7C83FD"/>
                </a:solidFill>
                <a:latin typeface="Calibri"/>
                <a:ea typeface="Calibri"/>
                <a:cs typeface="Calibri"/>
              </a:rPr>
              <a:t>02</a:t>
            </a:r>
          </a:p>
        </p:txBody>
      </p:sp>
      <p:sp>
        <p:nvSpPr>
          <p:cNvPr id="9" name="Rectangle 8">
            <a:extLst>
              <a:ext uri="{FF2B5EF4-FFF2-40B4-BE49-F238E27FC236}">
                <a16:creationId xmlns:a16="http://schemas.microsoft.com/office/drawing/2014/main" id="{81F4E597-20B7-45FC-A33A-9157AAE1DCBD}"/>
              </a:ext>
            </a:extLst>
          </p:cNvPr>
          <p:cNvSpPr>
            <a:spLocks noGrp="1"/>
          </p:cNvSpPr>
          <p:nvPr/>
        </p:nvSpPr>
        <p:spPr>
          <a:xfrm>
            <a:off x="1447800" y="3057525"/>
            <a:ext cx="4457700" cy="285750"/>
          </a:xfrm>
          <a:prstGeom prst="rect">
            <a:avLst/>
          </a:prstGeom>
          <a:noFill/>
          <a:ln w="0">
            <a:noFill/>
          </a:ln>
        </p:spPr>
        <p:txBody>
          <a:bodyPr wrap="square" lIns="0" tIns="0" rIns="0" bIns="0" anchor="t">
            <a:noAutofit/>
          </a:bodyPr>
          <a:lstStyle/>
          <a:p>
            <a:pPr algn="l">
              <a:defRPr sz="1650" b="1">
                <a:solidFill>
                  <a:srgbClr val="F8F6FF"/>
                </a:solidFill>
                <a:latin typeface="Calibri"/>
                <a:ea typeface="Calibri"/>
                <a:cs typeface="Calibri"/>
              </a:defRPr>
            </a:pPr>
            <a:r>
              <a:rPr sz="1650" b="1">
                <a:solidFill>
                  <a:srgbClr val="F8F6FF"/>
                </a:solidFill>
                <a:latin typeface="Calibri"/>
                <a:ea typeface="Calibri"/>
                <a:cs typeface="Calibri"/>
              </a:rPr>
              <a:t>Personalisation was demonstrated</a:t>
            </a:r>
          </a:p>
        </p:txBody>
      </p:sp>
      <p:sp>
        <p:nvSpPr>
          <p:cNvPr id="10" name="Rectangle 9">
            <a:extLst>
              <a:ext uri="{FF2B5EF4-FFF2-40B4-BE49-F238E27FC236}">
                <a16:creationId xmlns:a16="http://schemas.microsoft.com/office/drawing/2014/main" id="{81501749-A06C-447F-82BA-E09E94BE463E}"/>
              </a:ext>
            </a:extLst>
          </p:cNvPr>
          <p:cNvSpPr>
            <a:spLocks noGrp="1"/>
          </p:cNvSpPr>
          <p:nvPr/>
        </p:nvSpPr>
        <p:spPr>
          <a:xfrm>
            <a:off x="1447800" y="3371850"/>
            <a:ext cx="4457700" cy="514350"/>
          </a:xfrm>
          <a:prstGeom prst="rect">
            <a:avLst/>
          </a:prstGeom>
          <a:noFill/>
          <a:ln w="0">
            <a:noFill/>
          </a:ln>
        </p:spPr>
        <p:txBody>
          <a:bodyPr wrap="square" lIns="0" tIns="0" rIns="0" bIns="0" anchor="t">
            <a:noAutofit/>
          </a:bodyPr>
          <a:lstStyle/>
          <a:p>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The correct game set was selected from dementia type and stage, and each game adapted independently from recent session data.</a:t>
            </a:r>
          </a:p>
        </p:txBody>
      </p:sp>
      <p:sp>
        <p:nvSpPr>
          <p:cNvPr id="11" name="Rectangle 10">
            <a:extLst>
              <a:ext uri="{FF2B5EF4-FFF2-40B4-BE49-F238E27FC236}">
                <a16:creationId xmlns:a16="http://schemas.microsoft.com/office/drawing/2014/main" id="{EE65E984-8DE4-431B-9F8E-F1362085732B}"/>
              </a:ext>
            </a:extLst>
          </p:cNvPr>
          <p:cNvSpPr>
            <a:spLocks noGrp="1"/>
          </p:cNvSpPr>
          <p:nvPr/>
        </p:nvSpPr>
        <p:spPr>
          <a:xfrm>
            <a:off x="762000" y="4305300"/>
            <a:ext cx="609600" cy="457200"/>
          </a:xfrm>
          <a:prstGeom prst="rect">
            <a:avLst/>
          </a:prstGeom>
          <a:noFill/>
          <a:ln w="0">
            <a:noFill/>
          </a:ln>
        </p:spPr>
        <p:txBody>
          <a:bodyPr wrap="square" lIns="0" tIns="0" rIns="0" bIns="0" anchor="t">
            <a:noAutofit/>
          </a:bodyPr>
          <a:lstStyle/>
          <a:p>
            <a:pPr algn="l">
              <a:defRPr sz="2250" b="1">
                <a:solidFill>
                  <a:srgbClr val="FF6B62"/>
                </a:solidFill>
                <a:latin typeface="Calibri"/>
                <a:ea typeface="Calibri"/>
                <a:cs typeface="Calibri"/>
              </a:defRPr>
            </a:pPr>
            <a:r>
              <a:rPr sz="2250" b="1">
                <a:solidFill>
                  <a:srgbClr val="FF6B62"/>
                </a:solidFill>
                <a:latin typeface="Calibri"/>
                <a:ea typeface="Calibri"/>
                <a:cs typeface="Calibri"/>
              </a:rPr>
              <a:t>03</a:t>
            </a:r>
          </a:p>
        </p:txBody>
      </p:sp>
      <p:sp>
        <p:nvSpPr>
          <p:cNvPr id="12" name="Rectangle 11">
            <a:extLst>
              <a:ext uri="{FF2B5EF4-FFF2-40B4-BE49-F238E27FC236}">
                <a16:creationId xmlns:a16="http://schemas.microsoft.com/office/drawing/2014/main" id="{B23C6831-EC75-478E-B707-721C76FBABF5}"/>
              </a:ext>
            </a:extLst>
          </p:cNvPr>
          <p:cNvSpPr>
            <a:spLocks noGrp="1"/>
          </p:cNvSpPr>
          <p:nvPr/>
        </p:nvSpPr>
        <p:spPr>
          <a:xfrm>
            <a:off x="1447800" y="4314825"/>
            <a:ext cx="4457700" cy="285750"/>
          </a:xfrm>
          <a:prstGeom prst="rect">
            <a:avLst/>
          </a:prstGeom>
          <a:noFill/>
          <a:ln w="0">
            <a:noFill/>
          </a:ln>
        </p:spPr>
        <p:txBody>
          <a:bodyPr wrap="square" lIns="0" tIns="0" rIns="0" bIns="0" anchor="t">
            <a:noAutofit/>
          </a:bodyPr>
          <a:lstStyle/>
          <a:p>
            <a:pPr algn="l">
              <a:defRPr sz="1650" b="1">
                <a:solidFill>
                  <a:srgbClr val="F8F6FF"/>
                </a:solidFill>
                <a:latin typeface="Calibri"/>
                <a:ea typeface="Calibri"/>
                <a:cs typeface="Calibri"/>
              </a:defRPr>
            </a:pPr>
            <a:r>
              <a:rPr sz="1650" b="1">
                <a:solidFill>
                  <a:srgbClr val="F8F6FF"/>
                </a:solidFill>
                <a:latin typeface="Calibri"/>
                <a:ea typeface="Calibri"/>
                <a:cs typeface="Calibri"/>
              </a:rPr>
              <a:t>Caregiver control stayed visible</a:t>
            </a:r>
          </a:p>
        </p:txBody>
      </p:sp>
      <p:sp>
        <p:nvSpPr>
          <p:cNvPr id="13" name="Rectangle 12">
            <a:extLst>
              <a:ext uri="{FF2B5EF4-FFF2-40B4-BE49-F238E27FC236}">
                <a16:creationId xmlns:a16="http://schemas.microsoft.com/office/drawing/2014/main" id="{76E8C1E1-4143-490F-A716-6314C149109E}"/>
              </a:ext>
            </a:extLst>
          </p:cNvPr>
          <p:cNvSpPr>
            <a:spLocks noGrp="1"/>
          </p:cNvSpPr>
          <p:nvPr/>
        </p:nvSpPr>
        <p:spPr>
          <a:xfrm>
            <a:off x="1447800" y="4629150"/>
            <a:ext cx="4457700" cy="514350"/>
          </a:xfrm>
          <a:prstGeom prst="rect">
            <a:avLst/>
          </a:prstGeom>
          <a:noFill/>
          <a:ln w="0">
            <a:noFill/>
          </a:ln>
        </p:spPr>
        <p:txBody>
          <a:bodyPr wrap="square" lIns="0" tIns="0" rIns="0" bIns="0" anchor="t">
            <a:noAutofit/>
          </a:bodyPr>
          <a:lstStyle/>
          <a:p>
            <a:pPr algn="l">
              <a:lnSpc>
                <a:spcPct val="105000"/>
              </a:lnSpc>
              <a:buNone/>
              <a:defRPr sz="1200" b="0">
                <a:solidFill>
                  <a:srgbClr val="B8B0D4"/>
                </a:solidFill>
                <a:latin typeface="Calibri"/>
                <a:ea typeface="Calibri"/>
                <a:cs typeface="Calibri"/>
              </a:defRPr>
            </a:pPr>
            <a:r>
              <a:rPr sz="1200" b="0">
                <a:solidFill>
                  <a:srgbClr val="B8B0D4"/>
                </a:solidFill>
                <a:latin typeface="Calibri"/>
                <a:ea typeface="Calibri"/>
                <a:cs typeface="Calibri"/>
              </a:rPr>
              <a:t>Statistics, override reasons, change history, analytics and risk explanations supported accountable monitoring.</a:t>
            </a:r>
          </a:p>
        </p:txBody>
      </p:sp>
      <p:sp>
        <p:nvSpPr>
          <p:cNvPr id="14" name="Rectangle: Rounded Corners 13">
            <a:extLst>
              <a:ext uri="{FF2B5EF4-FFF2-40B4-BE49-F238E27FC236}">
                <a16:creationId xmlns:a16="http://schemas.microsoft.com/office/drawing/2014/main" id="{3B0AF8E8-25D3-4AD3-8F00-00780C2D09DB}"/>
              </a:ext>
            </a:extLst>
          </p:cNvPr>
          <p:cNvSpPr>
            <a:spLocks noGrp="1"/>
          </p:cNvSpPr>
          <p:nvPr/>
        </p:nvSpPr>
        <p:spPr>
          <a:xfrm>
            <a:off x="6667500" y="1809750"/>
            <a:ext cx="4476750" cy="3486150"/>
          </a:xfrm>
          <a:prstGeom prst="roundRect">
            <a:avLst>
              <a:gd name="adj" fmla="val 4372"/>
            </a:avLst>
          </a:prstGeom>
          <a:solidFill>
            <a:srgbClr val="2E2750"/>
          </a:solidFill>
          <a:ln w="0">
            <a:noFill/>
          </a:ln>
        </p:spPr>
        <p:txBody>
          <a:bodyPr/>
          <a:lstStyle/>
          <a:p>
            <a:endParaRPr lang="en-MY"/>
          </a:p>
        </p:txBody>
      </p:sp>
      <p:sp>
        <p:nvSpPr>
          <p:cNvPr id="15" name="Rectangle: Rounded Corners 14">
            <a:extLst>
              <a:ext uri="{FF2B5EF4-FFF2-40B4-BE49-F238E27FC236}">
                <a16:creationId xmlns:a16="http://schemas.microsoft.com/office/drawing/2014/main" id="{F7A4CFF9-9E84-435A-B642-3B3746D29941}"/>
              </a:ext>
            </a:extLst>
          </p:cNvPr>
          <p:cNvSpPr>
            <a:spLocks noGrp="1"/>
          </p:cNvSpPr>
          <p:nvPr/>
        </p:nvSpPr>
        <p:spPr>
          <a:xfrm>
            <a:off x="6934200" y="2057400"/>
            <a:ext cx="2000250" cy="323850"/>
          </a:xfrm>
          <a:prstGeom prst="roundRect">
            <a:avLst>
              <a:gd name="adj" fmla="val 35294"/>
            </a:avLst>
          </a:prstGeom>
          <a:solidFill>
            <a:srgbClr val="FFB020"/>
          </a:solidFill>
          <a:ln w="0">
            <a:noFill/>
          </a:ln>
        </p:spPr>
        <p:txBody>
          <a:bodyPr/>
          <a:lstStyle/>
          <a:p>
            <a:endParaRPr lang="en-MY"/>
          </a:p>
        </p:txBody>
      </p:sp>
      <p:sp>
        <p:nvSpPr>
          <p:cNvPr id="16" name="Rectangle 15">
            <a:extLst>
              <a:ext uri="{FF2B5EF4-FFF2-40B4-BE49-F238E27FC236}">
                <a16:creationId xmlns:a16="http://schemas.microsoft.com/office/drawing/2014/main" id="{2F6A1032-86D7-4905-90FD-8C5619D0F32E}"/>
              </a:ext>
            </a:extLst>
          </p:cNvPr>
          <p:cNvSpPr>
            <a:spLocks noGrp="1"/>
          </p:cNvSpPr>
          <p:nvPr/>
        </p:nvSpPr>
        <p:spPr>
          <a:xfrm>
            <a:off x="6934200" y="2066925"/>
            <a:ext cx="2000250" cy="285750"/>
          </a:xfrm>
          <a:prstGeom prst="rect">
            <a:avLst/>
          </a:prstGeom>
          <a:noFill/>
          <a:ln w="0">
            <a:noFill/>
          </a:ln>
        </p:spPr>
        <p:txBody>
          <a:bodyPr wrap="square" lIns="0" tIns="0" rIns="0" bIns="0" anchor="ctr">
            <a:noAutofit/>
          </a:bodyPr>
          <a:lstStyle/>
          <a:p>
            <a:pPr algn="ctr">
              <a:defRPr sz="1125" b="1">
                <a:solidFill>
                  <a:srgbClr val="201A33"/>
                </a:solidFill>
                <a:latin typeface="Calibri"/>
                <a:ea typeface="Calibri"/>
                <a:cs typeface="Calibri"/>
              </a:defRPr>
            </a:pPr>
            <a:r>
              <a:rPr sz="1125" b="1">
                <a:solidFill>
                  <a:srgbClr val="201A33"/>
                </a:solidFill>
                <a:latin typeface="Calibri"/>
                <a:ea typeface="Calibri"/>
                <a:cs typeface="Calibri"/>
              </a:rPr>
              <a:t>INTERPRET WITH CARE</a:t>
            </a:r>
          </a:p>
        </p:txBody>
      </p:sp>
      <p:sp>
        <p:nvSpPr>
          <p:cNvPr id="17" name="Rectangle 16">
            <a:extLst>
              <a:ext uri="{FF2B5EF4-FFF2-40B4-BE49-F238E27FC236}">
                <a16:creationId xmlns:a16="http://schemas.microsoft.com/office/drawing/2014/main" id="{87E29256-9FA0-4AD4-BDF1-93B29B68036F}"/>
              </a:ext>
            </a:extLst>
          </p:cNvPr>
          <p:cNvSpPr>
            <a:spLocks noGrp="1"/>
          </p:cNvSpPr>
          <p:nvPr/>
        </p:nvSpPr>
        <p:spPr>
          <a:xfrm>
            <a:off x="6934200" y="2686050"/>
            <a:ext cx="3886200" cy="781050"/>
          </a:xfrm>
          <a:prstGeom prst="rect">
            <a:avLst/>
          </a:prstGeom>
          <a:noFill/>
          <a:ln w="0">
            <a:noFill/>
          </a:ln>
        </p:spPr>
        <p:txBody>
          <a:bodyPr wrap="square" lIns="0" tIns="0" rIns="0" bIns="0" anchor="t">
            <a:noAutofit/>
          </a:bodyPr>
          <a:lstStyle/>
          <a:p>
            <a:pPr algn="l">
              <a:defRPr sz="1800" b="1">
                <a:solidFill>
                  <a:srgbClr val="F8F6FF"/>
                </a:solidFill>
                <a:latin typeface="Calibri"/>
                <a:ea typeface="Calibri"/>
                <a:cs typeface="Calibri"/>
              </a:defRPr>
            </a:pPr>
            <a:r>
              <a:rPr sz="1800" b="1">
                <a:solidFill>
                  <a:srgbClr val="F8F6FF"/>
                </a:solidFill>
                <a:latin typeface="Calibri"/>
                <a:ea typeface="Calibri"/>
                <a:cs typeface="Calibri"/>
              </a:rPr>
              <a:t>The usability result was strong, but the sample contained only five participants.</a:t>
            </a:r>
          </a:p>
        </p:txBody>
      </p:sp>
      <p:sp>
        <p:nvSpPr>
          <p:cNvPr id="18" name="Rectangle 17">
            <a:extLst>
              <a:ext uri="{FF2B5EF4-FFF2-40B4-BE49-F238E27FC236}">
                <a16:creationId xmlns:a16="http://schemas.microsoft.com/office/drawing/2014/main" id="{85C13634-CDA6-4B8B-832E-7B914073DA55}"/>
              </a:ext>
            </a:extLst>
          </p:cNvPr>
          <p:cNvSpPr>
            <a:spLocks noGrp="1"/>
          </p:cNvSpPr>
          <p:nvPr/>
        </p:nvSpPr>
        <p:spPr>
          <a:xfrm>
            <a:off x="6934200" y="3733800"/>
            <a:ext cx="3886200" cy="1143000"/>
          </a:xfrm>
          <a:prstGeom prst="rect">
            <a:avLst/>
          </a:prstGeom>
          <a:noFill/>
          <a:ln w="0">
            <a:noFill/>
          </a:ln>
        </p:spPr>
        <p:txBody>
          <a:bodyPr wrap="square" lIns="0" tIns="0" rIns="0" bIns="0" anchor="t">
            <a:noAutofit/>
          </a:bodyPr>
          <a:lstStyle/>
          <a:p>
            <a:pPr algn="l">
              <a:defRPr sz="1350" b="0">
                <a:solidFill>
                  <a:srgbClr val="B8B0D4"/>
                </a:solidFill>
                <a:latin typeface="Calibri"/>
                <a:ea typeface="Calibri"/>
                <a:cs typeface="Calibri"/>
              </a:defRPr>
            </a:pPr>
            <a:r>
              <a:rPr sz="1350" b="0">
                <a:solidFill>
                  <a:srgbClr val="B8B0D4"/>
                </a:solidFill>
                <a:latin typeface="Calibri"/>
                <a:ea typeface="Calibri"/>
                <a:cs typeface="Calibri"/>
              </a:rPr>
              <a:t>The risk indicator remained a caregiver-support rule rather than a clinical diagnosis. Broader trials and professional review would be needed before making clinical claims.</a:t>
            </a:r>
          </a:p>
        </p:txBody>
      </p:sp>
      <p:sp>
        <p:nvSpPr>
          <p:cNvPr id="19" name="Rectangle 18">
            <a:extLst>
              <a:ext uri="{FF2B5EF4-FFF2-40B4-BE49-F238E27FC236}">
                <a16:creationId xmlns:a16="http://schemas.microsoft.com/office/drawing/2014/main" id="{F0E0190E-0D8A-42FF-BFA6-C394619E5C56}"/>
              </a:ext>
            </a:extLst>
          </p:cNvPr>
          <p:cNvSpPr>
            <a:spLocks noGrp="1"/>
          </p:cNvSpPr>
          <p:nvPr/>
        </p:nvSpPr>
        <p:spPr>
          <a:xfrm>
            <a:off x="533400" y="6543675"/>
            <a:ext cx="9525000" cy="171450"/>
          </a:xfrm>
          <a:prstGeom prst="rect">
            <a:avLst/>
          </a:prstGeom>
          <a:noFill/>
          <a:ln w="0">
            <a:noFill/>
          </a:ln>
        </p:spPr>
        <p:txBody>
          <a:bodyPr wrap="square" lIns="0" tIns="0" rIns="0" bIns="0" anchor="t">
            <a:noAutofit/>
          </a:bodyPr>
          <a:lstStyle/>
          <a:p>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Sources: Final report Chapters 7–8.</a:t>
            </a:r>
          </a:p>
        </p:txBody>
      </p:sp>
      <p:sp>
        <p:nvSpPr>
          <p:cNvPr id="20" name="Rectangle 19">
            <a:extLst>
              <a:ext uri="{FF2B5EF4-FFF2-40B4-BE49-F238E27FC236}">
                <a16:creationId xmlns:a16="http://schemas.microsoft.com/office/drawing/2014/main" id="{A28DE350-EA15-4B88-8F2C-44D286750298}"/>
              </a:ext>
            </a:extLst>
          </p:cNvPr>
          <p:cNvSpPr>
            <a:spLocks noGrp="1"/>
          </p:cNvSpPr>
          <p:nvPr/>
        </p:nvSpPr>
        <p:spPr>
          <a:xfrm>
            <a:off x="11277600" y="6496050"/>
            <a:ext cx="476250" cy="209550"/>
          </a:xfrm>
          <a:prstGeom prst="rect">
            <a:avLst/>
          </a:prstGeom>
          <a:noFill/>
          <a:ln w="0">
            <a:noFill/>
          </a:ln>
        </p:spPr>
        <p:txBody>
          <a:bodyPr wrap="square" lIns="0" tIns="0" rIns="0" bIns="0" anchor="t">
            <a:noAutofit/>
          </a:bodyPr>
          <a:lstStyle/>
          <a:p>
            <a:pPr algn="r">
              <a:defRPr sz="975" b="1">
                <a:solidFill>
                  <a:srgbClr val="B8B0D4"/>
                </a:solidFill>
                <a:latin typeface="Calibri"/>
                <a:ea typeface="Calibri"/>
                <a:cs typeface="Calibri"/>
              </a:defRPr>
            </a:pPr>
            <a:r>
              <a:rPr sz="975" b="1">
                <a:solidFill>
                  <a:srgbClr val="B8B0D4"/>
                </a:solidFill>
                <a:latin typeface="Calibri"/>
                <a:ea typeface="Calibri"/>
                <a:cs typeface="Calibri"/>
              </a:rPr>
              <a:t>19</a:t>
            </a:r>
          </a:p>
        </p:txBody>
      </p:sp>
    </p:spTree>
    <p:extLst>
      <p:ext uri="{BB962C8B-B14F-4D97-AF65-F5344CB8AC3E}">
        <p14:creationId xmlns:p14="http://schemas.microsoft.com/office/powerpoint/2010/main" val="5014980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A1530"/>
        </a:solidFill>
        <a:effectLst/>
      </p:bgPr>
    </p:bg>
    <p:spTree>
      <p:nvGrpSpPr>
        <p:cNvPr id="1" name="">
          <a:extLst>
            <a:ext uri="{FF2B5EF4-FFF2-40B4-BE49-F238E27FC236}">
              <a16:creationId xmlns:a16="http://schemas.microsoft.com/office/drawing/2014/main" id="{244A8480-BC7C-DE3D-F614-98B76226E392}"/>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ABEB7622-80E8-B04D-01E8-F65774A5A9EE}"/>
              </a:ext>
            </a:extLst>
          </p:cNvPr>
          <p:cNvSpPr>
            <a:spLocks noGrp="1"/>
          </p:cNvSpPr>
          <p:nvPr/>
        </p:nvSpPr>
        <p:spPr>
          <a:xfrm>
            <a:off x="0" y="0"/>
            <a:ext cx="133350" cy="6858000"/>
          </a:xfrm>
          <a:prstGeom prst="rect">
            <a:avLst/>
          </a:prstGeom>
          <a:solidFill>
            <a:srgbClr val="FF6B62"/>
          </a:solidFill>
          <a:ln w="0">
            <a:noFill/>
          </a:ln>
        </p:spPr>
        <p:txBody>
          <a:bodyPr/>
          <a:lstStyle/>
          <a:p>
            <a:endParaRPr lang="en-MY"/>
          </a:p>
        </p:txBody>
      </p:sp>
      <p:sp>
        <p:nvSpPr>
          <p:cNvPr id="2" name="Rectangle 1">
            <a:extLst>
              <a:ext uri="{FF2B5EF4-FFF2-40B4-BE49-F238E27FC236}">
                <a16:creationId xmlns:a16="http://schemas.microsoft.com/office/drawing/2014/main" id="{75571B89-F6CF-71EE-6334-E7399FD866F4}"/>
              </a:ext>
            </a:extLst>
          </p:cNvPr>
          <p:cNvSpPr>
            <a:spLocks noGrp="1"/>
          </p:cNvSpPr>
          <p:nvPr/>
        </p:nvSpPr>
        <p:spPr>
          <a:xfrm>
            <a:off x="533400" y="323850"/>
            <a:ext cx="2571750" cy="247650"/>
          </a:xfrm>
          <a:prstGeom prst="rect">
            <a:avLst/>
          </a:prstGeom>
          <a:noFill/>
          <a:ln w="0">
            <a:noFill/>
          </a:ln>
        </p:spPr>
        <p:txBody>
          <a:bodyPr wrap="square" lIns="0" tIns="0" rIns="0" bIns="0" anchor="t">
            <a:noAutofit/>
          </a:bodyPr>
          <a:lstStyle/>
          <a:p>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8 · CONCLUSION</a:t>
            </a:r>
          </a:p>
        </p:txBody>
      </p:sp>
      <p:sp>
        <p:nvSpPr>
          <p:cNvPr id="3" name="Rectangle 2">
            <a:extLst>
              <a:ext uri="{FF2B5EF4-FFF2-40B4-BE49-F238E27FC236}">
                <a16:creationId xmlns:a16="http://schemas.microsoft.com/office/drawing/2014/main" id="{A8609BCE-E734-50B4-EC7C-610C46B9108E}"/>
              </a:ext>
            </a:extLst>
          </p:cNvPr>
          <p:cNvSpPr>
            <a:spLocks noGrp="1"/>
          </p:cNvSpPr>
          <p:nvPr/>
        </p:nvSpPr>
        <p:spPr>
          <a:xfrm>
            <a:off x="533400" y="619125"/>
            <a:ext cx="11049000" cy="533400"/>
          </a:xfrm>
          <a:prstGeom prst="rect">
            <a:avLst/>
          </a:prstGeom>
          <a:noFill/>
          <a:ln w="0">
            <a:noFill/>
          </a:ln>
        </p:spPr>
        <p:txBody>
          <a:bodyPr wrap="square" lIns="0" tIns="0" rIns="0" bIns="0" anchor="t">
            <a:noAutofit/>
          </a:bodyPr>
          <a:lstStyle/>
          <a:p>
            <a:pPr algn="l">
              <a:defRPr sz="2700" b="1">
                <a:solidFill>
                  <a:srgbClr val="F8F6FF"/>
                </a:solidFill>
                <a:latin typeface="Calibri"/>
                <a:ea typeface="Calibri"/>
                <a:cs typeface="Calibri"/>
              </a:defRPr>
            </a:pPr>
            <a:r>
              <a:rPr sz="2700" b="1">
                <a:solidFill>
                  <a:srgbClr val="F8F6FF"/>
                </a:solidFill>
                <a:latin typeface="Calibri"/>
                <a:ea typeface="Calibri"/>
                <a:cs typeface="Calibri"/>
              </a:rPr>
              <a:t>All three formal objectives were achieved</a:t>
            </a:r>
          </a:p>
        </p:txBody>
      </p:sp>
      <p:sp>
        <p:nvSpPr>
          <p:cNvPr id="4" name="Rectangle 3">
            <a:extLst>
              <a:ext uri="{FF2B5EF4-FFF2-40B4-BE49-F238E27FC236}">
                <a16:creationId xmlns:a16="http://schemas.microsoft.com/office/drawing/2014/main" id="{F3F6D044-BA6F-EC8D-168B-ACD79EAA1961}"/>
              </a:ext>
            </a:extLst>
          </p:cNvPr>
          <p:cNvSpPr>
            <a:spLocks noGrp="1"/>
          </p:cNvSpPr>
          <p:nvPr/>
        </p:nvSpPr>
        <p:spPr>
          <a:xfrm>
            <a:off x="552450" y="1143000"/>
            <a:ext cx="10668000" cy="323850"/>
          </a:xfrm>
          <a:prstGeom prst="rect">
            <a:avLst/>
          </a:prstGeom>
          <a:noFill/>
          <a:ln w="0">
            <a:noFill/>
          </a:ln>
        </p:spPr>
        <p:txBody>
          <a:bodyPr wrap="square" lIns="0" tIns="0" rIns="0" bIns="0" anchor="t">
            <a:noAutofit/>
          </a:bodyPr>
          <a:lstStyle/>
          <a:p>
            <a:pPr algn="l">
              <a:defRPr sz="1350" b="0">
                <a:solidFill>
                  <a:srgbClr val="B8B0D4"/>
                </a:solidFill>
                <a:latin typeface="Calibri"/>
                <a:ea typeface="Calibri"/>
                <a:cs typeface="Calibri"/>
              </a:defRPr>
            </a:pPr>
            <a:r>
              <a:rPr sz="1350" b="0">
                <a:solidFill>
                  <a:srgbClr val="B8B0D4"/>
                </a:solidFill>
                <a:latin typeface="Calibri"/>
                <a:ea typeface="Calibri"/>
                <a:cs typeface="Calibri"/>
              </a:rPr>
              <a:t>The final outcomes can be linked directly to implemented modules and measured evidence.</a:t>
            </a:r>
          </a:p>
        </p:txBody>
      </p:sp>
      <p:sp>
        <p:nvSpPr>
          <p:cNvPr id="5" name="Rectangle 4">
            <a:extLst>
              <a:ext uri="{FF2B5EF4-FFF2-40B4-BE49-F238E27FC236}">
                <a16:creationId xmlns:a16="http://schemas.microsoft.com/office/drawing/2014/main" id="{9C5327E6-31ED-53DE-C1D5-E3E79D36E997}"/>
              </a:ext>
            </a:extLst>
          </p:cNvPr>
          <p:cNvSpPr>
            <a:spLocks noGrp="1"/>
          </p:cNvSpPr>
          <p:nvPr/>
        </p:nvSpPr>
        <p:spPr>
          <a:xfrm>
            <a:off x="685800" y="1581149"/>
            <a:ext cx="1428750" cy="228600"/>
          </a:xfrm>
          <a:prstGeom prst="rect">
            <a:avLst/>
          </a:prstGeom>
          <a:noFill/>
          <a:ln w="0">
            <a:noFill/>
          </a:ln>
        </p:spPr>
        <p:txBody>
          <a:bodyPr wrap="square" lIns="0" tIns="0" rIns="0" bIns="0" anchor="t">
            <a:noAutofit/>
          </a:bodyPr>
          <a:lstStyle/>
          <a:p>
            <a:pPr algn="l">
              <a:defRPr sz="1050" b="1">
                <a:solidFill>
                  <a:srgbClr val="FF6B62"/>
                </a:solidFill>
                <a:latin typeface="Calibri"/>
                <a:ea typeface="Calibri"/>
                <a:cs typeface="Calibri"/>
              </a:defRPr>
            </a:pPr>
            <a:r>
              <a:rPr sz="1050" b="1" dirty="0">
                <a:solidFill>
                  <a:srgbClr val="FF6B62"/>
                </a:solidFill>
                <a:latin typeface="Calibri"/>
                <a:ea typeface="Calibri"/>
                <a:cs typeface="Calibri"/>
              </a:rPr>
              <a:t>OBJECTIVE 1</a:t>
            </a:r>
          </a:p>
        </p:txBody>
      </p:sp>
      <p:sp>
        <p:nvSpPr>
          <p:cNvPr id="6" name="Rectangle 5">
            <a:extLst>
              <a:ext uri="{FF2B5EF4-FFF2-40B4-BE49-F238E27FC236}">
                <a16:creationId xmlns:a16="http://schemas.microsoft.com/office/drawing/2014/main" id="{F6D7A0F4-FE28-97A4-E30A-E2F5F076DBDA}"/>
              </a:ext>
            </a:extLst>
          </p:cNvPr>
          <p:cNvSpPr>
            <a:spLocks noGrp="1"/>
          </p:cNvSpPr>
          <p:nvPr/>
        </p:nvSpPr>
        <p:spPr>
          <a:xfrm>
            <a:off x="685800" y="1847850"/>
            <a:ext cx="9296400" cy="1114425"/>
          </a:xfrm>
          <a:prstGeom prst="rect">
            <a:avLst/>
          </a:prstGeom>
          <a:noFill/>
          <a:ln w="0">
            <a:noFill/>
          </a:ln>
        </p:spPr>
        <p:txBody>
          <a:bodyPr wrap="square" lIns="0" tIns="0" rIns="0" bIns="0" anchor="t">
            <a:noAutofit/>
          </a:bodyPr>
          <a:lstStyle/>
          <a:p>
            <a:pPr>
              <a:defRPr sz="1800" b="1">
                <a:solidFill>
                  <a:srgbClr val="F8F6FF"/>
                </a:solidFill>
                <a:latin typeface="Calibri"/>
                <a:ea typeface="Calibri"/>
                <a:cs typeface="Calibri"/>
              </a:defRPr>
            </a:pPr>
            <a:r>
              <a:rPr lang="en-GB" b="1" dirty="0"/>
              <a:t>To design and implement a mobile-based application for dementia patients and caregivers that integrates daily task and medication management, cognitive exercises, gamified features, and real-time patient activity monitoring to support patient engagement, routine adherence, and caregiver coordination.</a:t>
            </a:r>
            <a:endParaRPr lang="en-MY" b="1" dirty="0"/>
          </a:p>
          <a:p>
            <a:pPr algn="l">
              <a:defRPr sz="1800" b="1">
                <a:solidFill>
                  <a:srgbClr val="F8F6FF"/>
                </a:solidFill>
                <a:latin typeface="Calibri"/>
                <a:ea typeface="Calibri"/>
                <a:cs typeface="Calibri"/>
              </a:defRPr>
            </a:pPr>
            <a:endParaRPr lang="en-US" sz="1800" b="1" dirty="0">
              <a:solidFill>
                <a:srgbClr val="F8F6FF"/>
              </a:solidFill>
              <a:latin typeface="Calibri"/>
              <a:ea typeface="Calibri"/>
              <a:cs typeface="Calibri"/>
            </a:endParaRPr>
          </a:p>
        </p:txBody>
      </p:sp>
      <p:sp>
        <p:nvSpPr>
          <p:cNvPr id="7" name="Rectangle 6">
            <a:extLst>
              <a:ext uri="{FF2B5EF4-FFF2-40B4-BE49-F238E27FC236}">
                <a16:creationId xmlns:a16="http://schemas.microsoft.com/office/drawing/2014/main" id="{0437970C-DAF1-E669-BAB1-7113EE8B6D9E}"/>
              </a:ext>
            </a:extLst>
          </p:cNvPr>
          <p:cNvSpPr>
            <a:spLocks noGrp="1"/>
          </p:cNvSpPr>
          <p:nvPr/>
        </p:nvSpPr>
        <p:spPr>
          <a:xfrm>
            <a:off x="9804400" y="1771650"/>
            <a:ext cx="38100" cy="1000125"/>
          </a:xfrm>
          <a:prstGeom prst="rect">
            <a:avLst/>
          </a:prstGeom>
          <a:solidFill>
            <a:srgbClr val="FF6B62"/>
          </a:solidFill>
          <a:ln w="0">
            <a:noFill/>
          </a:ln>
        </p:spPr>
        <p:txBody>
          <a:bodyPr/>
          <a:lstStyle/>
          <a:p>
            <a:endParaRPr lang="en-MY"/>
          </a:p>
        </p:txBody>
      </p:sp>
      <p:sp>
        <p:nvSpPr>
          <p:cNvPr id="8" name="Rectangle 7">
            <a:extLst>
              <a:ext uri="{FF2B5EF4-FFF2-40B4-BE49-F238E27FC236}">
                <a16:creationId xmlns:a16="http://schemas.microsoft.com/office/drawing/2014/main" id="{6A6FFDEC-E7B0-779F-E04D-8510283112DA}"/>
              </a:ext>
            </a:extLst>
          </p:cNvPr>
          <p:cNvSpPr>
            <a:spLocks noGrp="1"/>
          </p:cNvSpPr>
          <p:nvPr/>
        </p:nvSpPr>
        <p:spPr>
          <a:xfrm>
            <a:off x="685800" y="3114675"/>
            <a:ext cx="6572250" cy="914400"/>
          </a:xfrm>
          <a:prstGeom prst="rect">
            <a:avLst/>
          </a:prstGeom>
          <a:noFill/>
          <a:ln w="0">
            <a:noFill/>
          </a:ln>
        </p:spPr>
        <p:txBody>
          <a:bodyPr wrap="square" lIns="0" tIns="0" rIns="0" bIns="0" anchor="t">
            <a:noAutofit/>
          </a:bodyPr>
          <a:lstStyle/>
          <a:p>
            <a:pPr algn="l">
              <a:defRPr sz="1350" b="0">
                <a:solidFill>
                  <a:srgbClr val="B8B0D4"/>
                </a:solidFill>
                <a:latin typeface="Calibri"/>
                <a:ea typeface="Calibri"/>
                <a:cs typeface="Calibri"/>
              </a:defRPr>
            </a:pPr>
            <a:r>
              <a:rPr sz="1350" b="0" dirty="0">
                <a:solidFill>
                  <a:srgbClr val="B8B0D4"/>
                </a:solidFill>
                <a:latin typeface="Calibri"/>
                <a:ea typeface="Calibri"/>
                <a:cs typeface="Calibri"/>
              </a:rPr>
              <a:t>Achieved through patient management, recurring task and medication schedules, repeated reminders, role-specific dashboards, status tracking, analytics and rewards.</a:t>
            </a:r>
          </a:p>
        </p:txBody>
      </p:sp>
      <p:sp>
        <p:nvSpPr>
          <p:cNvPr id="9" name="Rectangle 8">
            <a:extLst>
              <a:ext uri="{FF2B5EF4-FFF2-40B4-BE49-F238E27FC236}">
                <a16:creationId xmlns:a16="http://schemas.microsoft.com/office/drawing/2014/main" id="{D1D546AA-005B-B063-2C54-06596C57CE67}"/>
              </a:ext>
            </a:extLst>
          </p:cNvPr>
          <p:cNvSpPr>
            <a:spLocks noGrp="1"/>
          </p:cNvSpPr>
          <p:nvPr/>
        </p:nvSpPr>
        <p:spPr>
          <a:xfrm>
            <a:off x="685800" y="3752850"/>
            <a:ext cx="1428750" cy="228600"/>
          </a:xfrm>
          <a:prstGeom prst="rect">
            <a:avLst/>
          </a:prstGeom>
          <a:noFill/>
          <a:ln w="0">
            <a:noFill/>
          </a:ln>
        </p:spPr>
        <p:txBody>
          <a:bodyPr wrap="square" lIns="0" tIns="0" rIns="0" bIns="0" anchor="t">
            <a:noAutofit/>
          </a:bodyPr>
          <a:lstStyle/>
          <a:p>
            <a:pPr algn="l">
              <a:defRPr sz="1050" b="1">
                <a:solidFill>
                  <a:srgbClr val="2ED9A4"/>
                </a:solidFill>
                <a:latin typeface="Calibri"/>
                <a:ea typeface="Calibri"/>
                <a:cs typeface="Calibri"/>
              </a:defRPr>
            </a:pPr>
            <a:r>
              <a:rPr sz="1050" b="1" dirty="0">
                <a:solidFill>
                  <a:srgbClr val="2ED9A4"/>
                </a:solidFill>
                <a:latin typeface="Calibri"/>
                <a:ea typeface="Calibri"/>
                <a:cs typeface="Calibri"/>
              </a:rPr>
              <a:t>OBJECTIVE 2</a:t>
            </a:r>
          </a:p>
        </p:txBody>
      </p:sp>
      <p:sp>
        <p:nvSpPr>
          <p:cNvPr id="11" name="Rectangle 10">
            <a:extLst>
              <a:ext uri="{FF2B5EF4-FFF2-40B4-BE49-F238E27FC236}">
                <a16:creationId xmlns:a16="http://schemas.microsoft.com/office/drawing/2014/main" id="{769F8B1C-F15E-534D-ABD4-D4935462E5AE}"/>
              </a:ext>
            </a:extLst>
          </p:cNvPr>
          <p:cNvSpPr>
            <a:spLocks noGrp="1"/>
          </p:cNvSpPr>
          <p:nvPr/>
        </p:nvSpPr>
        <p:spPr>
          <a:xfrm>
            <a:off x="9798050" y="3986212"/>
            <a:ext cx="38100" cy="1000125"/>
          </a:xfrm>
          <a:prstGeom prst="rect">
            <a:avLst/>
          </a:prstGeom>
          <a:solidFill>
            <a:srgbClr val="2ED9A4"/>
          </a:solidFill>
          <a:ln w="0">
            <a:noFill/>
          </a:ln>
        </p:spPr>
        <p:txBody>
          <a:bodyPr/>
          <a:lstStyle/>
          <a:p>
            <a:endParaRPr lang="en-MY"/>
          </a:p>
        </p:txBody>
      </p:sp>
      <p:sp>
        <p:nvSpPr>
          <p:cNvPr id="12" name="Rectangle 11">
            <a:extLst>
              <a:ext uri="{FF2B5EF4-FFF2-40B4-BE49-F238E27FC236}">
                <a16:creationId xmlns:a16="http://schemas.microsoft.com/office/drawing/2014/main" id="{E96703BA-E13A-8707-0325-51A2A6A0E873}"/>
              </a:ext>
            </a:extLst>
          </p:cNvPr>
          <p:cNvSpPr>
            <a:spLocks noGrp="1"/>
          </p:cNvSpPr>
          <p:nvPr/>
        </p:nvSpPr>
        <p:spPr>
          <a:xfrm>
            <a:off x="685800" y="5000625"/>
            <a:ext cx="6572250" cy="619125"/>
          </a:xfrm>
          <a:prstGeom prst="rect">
            <a:avLst/>
          </a:prstGeom>
          <a:noFill/>
          <a:ln w="0">
            <a:noFill/>
          </a:ln>
        </p:spPr>
        <p:txBody>
          <a:bodyPr wrap="square" lIns="0" tIns="0" rIns="0" bIns="0" anchor="t">
            <a:noAutofit/>
          </a:bodyPr>
          <a:lstStyle/>
          <a:p>
            <a:pPr algn="l">
              <a:defRPr sz="1350" b="0">
                <a:solidFill>
                  <a:srgbClr val="B8B0D4"/>
                </a:solidFill>
                <a:latin typeface="Calibri"/>
                <a:ea typeface="Calibri"/>
                <a:cs typeface="Calibri"/>
              </a:defRPr>
            </a:pPr>
            <a:r>
              <a:rPr sz="1350" b="0" dirty="0">
                <a:solidFill>
                  <a:srgbClr val="B8B0D4"/>
                </a:solidFill>
                <a:latin typeface="Calibri"/>
                <a:ea typeface="Calibri"/>
                <a:cs typeface="Calibri"/>
              </a:rPr>
              <a:t>Achieved through 34 passed UAT cases and an average SUS score of 91.0, which exceeded the target of 85.</a:t>
            </a:r>
          </a:p>
        </p:txBody>
      </p:sp>
      <p:sp>
        <p:nvSpPr>
          <p:cNvPr id="17" name="Rectangle 16">
            <a:extLst>
              <a:ext uri="{FF2B5EF4-FFF2-40B4-BE49-F238E27FC236}">
                <a16:creationId xmlns:a16="http://schemas.microsoft.com/office/drawing/2014/main" id="{E277FC28-6C2D-9D71-358F-BB25B170E836}"/>
              </a:ext>
            </a:extLst>
          </p:cNvPr>
          <p:cNvSpPr>
            <a:spLocks noGrp="1"/>
          </p:cNvSpPr>
          <p:nvPr/>
        </p:nvSpPr>
        <p:spPr>
          <a:xfrm>
            <a:off x="533400" y="6543675"/>
            <a:ext cx="9525000" cy="171450"/>
          </a:xfrm>
          <a:prstGeom prst="rect">
            <a:avLst/>
          </a:prstGeom>
          <a:noFill/>
          <a:ln w="0">
            <a:noFill/>
          </a:ln>
        </p:spPr>
        <p:txBody>
          <a:bodyPr wrap="square" lIns="0" tIns="0" rIns="0" bIns="0" anchor="t">
            <a:noAutofit/>
          </a:bodyPr>
          <a:lstStyle/>
          <a:p>
            <a:pPr algn="l">
              <a:defRPr sz="750" b="0">
                <a:solidFill>
                  <a:srgbClr val="8F87AC"/>
                </a:solidFill>
                <a:latin typeface="Calibri"/>
                <a:ea typeface="Calibri"/>
                <a:cs typeface="Calibri"/>
              </a:defRPr>
            </a:pPr>
            <a:r>
              <a:rPr sz="750" b="0" dirty="0">
                <a:solidFill>
                  <a:srgbClr val="8F87AC"/>
                </a:solidFill>
                <a:latin typeface="Calibri"/>
                <a:ea typeface="Calibri"/>
                <a:cs typeface="Calibri"/>
              </a:rPr>
              <a:t>Sources: Final report Objectives (pp. 25–26), Chapter 7 and Section 8.2.</a:t>
            </a:r>
          </a:p>
        </p:txBody>
      </p:sp>
      <p:sp>
        <p:nvSpPr>
          <p:cNvPr id="18" name="Rectangle 17">
            <a:extLst>
              <a:ext uri="{FF2B5EF4-FFF2-40B4-BE49-F238E27FC236}">
                <a16:creationId xmlns:a16="http://schemas.microsoft.com/office/drawing/2014/main" id="{58C9FFCF-5476-D72D-16A3-CB7DA4E349B9}"/>
              </a:ext>
            </a:extLst>
          </p:cNvPr>
          <p:cNvSpPr>
            <a:spLocks noGrp="1"/>
          </p:cNvSpPr>
          <p:nvPr/>
        </p:nvSpPr>
        <p:spPr>
          <a:xfrm>
            <a:off x="11277600" y="6496050"/>
            <a:ext cx="476250" cy="209550"/>
          </a:xfrm>
          <a:prstGeom prst="rect">
            <a:avLst/>
          </a:prstGeom>
          <a:noFill/>
          <a:ln w="0">
            <a:noFill/>
          </a:ln>
        </p:spPr>
        <p:txBody>
          <a:bodyPr wrap="square" lIns="0" tIns="0" rIns="0" bIns="0" anchor="t">
            <a:noAutofit/>
          </a:bodyPr>
          <a:lstStyle/>
          <a:p>
            <a:pPr algn="r">
              <a:defRPr sz="975" b="1">
                <a:solidFill>
                  <a:srgbClr val="B8B0D4"/>
                </a:solidFill>
                <a:latin typeface="Calibri"/>
                <a:ea typeface="Calibri"/>
                <a:cs typeface="Calibri"/>
              </a:defRPr>
            </a:pPr>
            <a:r>
              <a:rPr sz="975" b="1">
                <a:solidFill>
                  <a:srgbClr val="B8B0D4"/>
                </a:solidFill>
                <a:latin typeface="Calibri"/>
                <a:ea typeface="Calibri"/>
                <a:cs typeface="Calibri"/>
              </a:rPr>
              <a:t>20</a:t>
            </a:r>
          </a:p>
        </p:txBody>
      </p:sp>
      <p:sp>
        <p:nvSpPr>
          <p:cNvPr id="21" name="Rectangle 20">
            <a:extLst>
              <a:ext uri="{FF2B5EF4-FFF2-40B4-BE49-F238E27FC236}">
                <a16:creationId xmlns:a16="http://schemas.microsoft.com/office/drawing/2014/main" id="{74C029D8-AAE7-A457-708C-41763381E34D}"/>
              </a:ext>
            </a:extLst>
          </p:cNvPr>
          <p:cNvSpPr>
            <a:spLocks noGrp="1"/>
          </p:cNvSpPr>
          <p:nvPr/>
        </p:nvSpPr>
        <p:spPr>
          <a:xfrm>
            <a:off x="685800" y="4005262"/>
            <a:ext cx="8794750" cy="1114425"/>
          </a:xfrm>
          <a:prstGeom prst="rect">
            <a:avLst/>
          </a:prstGeom>
          <a:noFill/>
          <a:ln w="0">
            <a:noFill/>
          </a:ln>
        </p:spPr>
        <p:txBody>
          <a:bodyPr wrap="square" lIns="0" tIns="0" rIns="0" bIns="0" anchor="t">
            <a:noAutofit/>
          </a:bodyPr>
          <a:lstStyle/>
          <a:p>
            <a:pPr>
              <a:defRPr sz="1800" b="1">
                <a:solidFill>
                  <a:srgbClr val="F8F6FF"/>
                </a:solidFill>
                <a:latin typeface="Calibri"/>
                <a:ea typeface="Calibri"/>
                <a:cs typeface="Calibri"/>
              </a:defRPr>
            </a:pPr>
            <a:r>
              <a:rPr lang="en-GB" b="1" dirty="0"/>
              <a:t>To assess usability and user acceptance for the developed mobile application using User Acceptance Testing (UAT) along with the System Usability Scale (SUS), with a target usability score of at least 85%.</a:t>
            </a:r>
            <a:endParaRPr lang="en-US" sz="1800" b="1" dirty="0">
              <a:solidFill>
                <a:srgbClr val="F8F6FF"/>
              </a:solidFill>
              <a:latin typeface="Calibri"/>
              <a:ea typeface="Calibri"/>
              <a:cs typeface="Calibri"/>
            </a:endParaRPr>
          </a:p>
        </p:txBody>
      </p:sp>
    </p:spTree>
    <p:extLst>
      <p:ext uri="{BB962C8B-B14F-4D97-AF65-F5344CB8AC3E}">
        <p14:creationId xmlns:p14="http://schemas.microsoft.com/office/powerpoint/2010/main" val="28581751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A1530"/>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6897F8AD-906F-4401-9F64-721005A0433F}"/>
              </a:ext>
            </a:extLst>
          </p:cNvPr>
          <p:cNvSpPr>
            <a:spLocks noGrp="1"/>
          </p:cNvSpPr>
          <p:nvPr/>
        </p:nvSpPr>
        <p:spPr>
          <a:xfrm>
            <a:off x="0" y="0"/>
            <a:ext cx="133350" cy="6858000"/>
          </a:xfrm>
          <a:prstGeom prst="rect">
            <a:avLst/>
          </a:prstGeom>
          <a:solidFill>
            <a:srgbClr val="FF6B62"/>
          </a:solidFill>
          <a:ln w="0">
            <a:noFill/>
          </a:ln>
        </p:spPr>
        <p:txBody>
          <a:bodyPr/>
          <a:lstStyle/>
          <a:p>
            <a:endParaRPr lang="en-MY"/>
          </a:p>
        </p:txBody>
      </p:sp>
      <p:sp>
        <p:nvSpPr>
          <p:cNvPr id="2" name="Rectangle 1">
            <a:extLst>
              <a:ext uri="{FF2B5EF4-FFF2-40B4-BE49-F238E27FC236}">
                <a16:creationId xmlns:a16="http://schemas.microsoft.com/office/drawing/2014/main" id="{96C1C4CB-28DE-4319-992E-9BE5C6CCEC6E}"/>
              </a:ext>
            </a:extLst>
          </p:cNvPr>
          <p:cNvSpPr>
            <a:spLocks noGrp="1"/>
          </p:cNvSpPr>
          <p:nvPr/>
        </p:nvSpPr>
        <p:spPr>
          <a:xfrm>
            <a:off x="533400" y="323850"/>
            <a:ext cx="2571750" cy="247650"/>
          </a:xfrm>
          <a:prstGeom prst="rect">
            <a:avLst/>
          </a:prstGeom>
          <a:noFill/>
          <a:ln w="0">
            <a:noFill/>
          </a:ln>
        </p:spPr>
        <p:txBody>
          <a:bodyPr wrap="square" lIns="0" tIns="0" rIns="0" bIns="0" anchor="t">
            <a:noAutofit/>
          </a:bodyPr>
          <a:lstStyle/>
          <a:p>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8 · CONCLUSION</a:t>
            </a:r>
          </a:p>
        </p:txBody>
      </p:sp>
      <p:sp>
        <p:nvSpPr>
          <p:cNvPr id="3" name="Rectangle 2">
            <a:extLst>
              <a:ext uri="{FF2B5EF4-FFF2-40B4-BE49-F238E27FC236}">
                <a16:creationId xmlns:a16="http://schemas.microsoft.com/office/drawing/2014/main" id="{3556B4FD-7058-4E14-91A5-A8BE9BB7CEC2}"/>
              </a:ext>
            </a:extLst>
          </p:cNvPr>
          <p:cNvSpPr>
            <a:spLocks noGrp="1"/>
          </p:cNvSpPr>
          <p:nvPr/>
        </p:nvSpPr>
        <p:spPr>
          <a:xfrm>
            <a:off x="533400" y="619125"/>
            <a:ext cx="11049000" cy="533400"/>
          </a:xfrm>
          <a:prstGeom prst="rect">
            <a:avLst/>
          </a:prstGeom>
          <a:noFill/>
          <a:ln w="0">
            <a:noFill/>
          </a:ln>
        </p:spPr>
        <p:txBody>
          <a:bodyPr wrap="square" lIns="0" tIns="0" rIns="0" bIns="0" anchor="t">
            <a:noAutofit/>
          </a:bodyPr>
          <a:lstStyle/>
          <a:p>
            <a:pPr algn="l">
              <a:defRPr sz="2700" b="1">
                <a:solidFill>
                  <a:srgbClr val="F8F6FF"/>
                </a:solidFill>
                <a:latin typeface="Calibri"/>
                <a:ea typeface="Calibri"/>
                <a:cs typeface="Calibri"/>
              </a:defRPr>
            </a:pPr>
            <a:r>
              <a:rPr sz="2700" b="1">
                <a:solidFill>
                  <a:srgbClr val="F8F6FF"/>
                </a:solidFill>
                <a:latin typeface="Calibri"/>
                <a:ea typeface="Calibri"/>
                <a:cs typeface="Calibri"/>
              </a:rPr>
              <a:t>All three formal objectives were achieved</a:t>
            </a:r>
          </a:p>
        </p:txBody>
      </p:sp>
      <p:sp>
        <p:nvSpPr>
          <p:cNvPr id="4" name="Rectangle 3">
            <a:extLst>
              <a:ext uri="{FF2B5EF4-FFF2-40B4-BE49-F238E27FC236}">
                <a16:creationId xmlns:a16="http://schemas.microsoft.com/office/drawing/2014/main" id="{115EA0CF-9544-4B52-8A91-8D8A4CE63D3E}"/>
              </a:ext>
            </a:extLst>
          </p:cNvPr>
          <p:cNvSpPr>
            <a:spLocks noGrp="1"/>
          </p:cNvSpPr>
          <p:nvPr/>
        </p:nvSpPr>
        <p:spPr>
          <a:xfrm>
            <a:off x="552450" y="1143000"/>
            <a:ext cx="10668000" cy="323850"/>
          </a:xfrm>
          <a:prstGeom prst="rect">
            <a:avLst/>
          </a:prstGeom>
          <a:noFill/>
          <a:ln w="0">
            <a:noFill/>
          </a:ln>
        </p:spPr>
        <p:txBody>
          <a:bodyPr wrap="square" lIns="0" tIns="0" rIns="0" bIns="0" anchor="t">
            <a:noAutofit/>
          </a:bodyPr>
          <a:lstStyle/>
          <a:p>
            <a:pPr algn="l">
              <a:defRPr sz="1350" b="0">
                <a:solidFill>
                  <a:srgbClr val="B8B0D4"/>
                </a:solidFill>
                <a:latin typeface="Calibri"/>
                <a:ea typeface="Calibri"/>
                <a:cs typeface="Calibri"/>
              </a:defRPr>
            </a:pPr>
            <a:r>
              <a:rPr sz="1350" b="0">
                <a:solidFill>
                  <a:srgbClr val="B8B0D4"/>
                </a:solidFill>
                <a:latin typeface="Calibri"/>
                <a:ea typeface="Calibri"/>
                <a:cs typeface="Calibri"/>
              </a:rPr>
              <a:t>The final outcomes can be linked directly to implemented modules and measured evidence.</a:t>
            </a:r>
          </a:p>
        </p:txBody>
      </p:sp>
      <p:sp>
        <p:nvSpPr>
          <p:cNvPr id="7" name="Rectangle 6">
            <a:extLst>
              <a:ext uri="{FF2B5EF4-FFF2-40B4-BE49-F238E27FC236}">
                <a16:creationId xmlns:a16="http://schemas.microsoft.com/office/drawing/2014/main" id="{C1307092-4C5C-45ED-B4BA-574AC55825AD}"/>
              </a:ext>
            </a:extLst>
          </p:cNvPr>
          <p:cNvSpPr>
            <a:spLocks noGrp="1"/>
          </p:cNvSpPr>
          <p:nvPr/>
        </p:nvSpPr>
        <p:spPr>
          <a:xfrm>
            <a:off x="9817099" y="1919286"/>
            <a:ext cx="45719" cy="1128713"/>
          </a:xfrm>
          <a:prstGeom prst="rect">
            <a:avLst/>
          </a:prstGeom>
          <a:solidFill>
            <a:srgbClr val="FF6B62"/>
          </a:solidFill>
          <a:ln w="0">
            <a:noFill/>
          </a:ln>
        </p:spPr>
        <p:txBody>
          <a:bodyPr/>
          <a:lstStyle/>
          <a:p>
            <a:endParaRPr lang="en-MY"/>
          </a:p>
        </p:txBody>
      </p:sp>
      <p:sp>
        <p:nvSpPr>
          <p:cNvPr id="13" name="Rectangle 12">
            <a:extLst>
              <a:ext uri="{FF2B5EF4-FFF2-40B4-BE49-F238E27FC236}">
                <a16:creationId xmlns:a16="http://schemas.microsoft.com/office/drawing/2014/main" id="{475C722F-41C2-43BE-9C2C-9B5302AC485E}"/>
              </a:ext>
            </a:extLst>
          </p:cNvPr>
          <p:cNvSpPr>
            <a:spLocks noGrp="1"/>
          </p:cNvSpPr>
          <p:nvPr/>
        </p:nvSpPr>
        <p:spPr>
          <a:xfrm>
            <a:off x="552450" y="1609725"/>
            <a:ext cx="1428750" cy="228600"/>
          </a:xfrm>
          <a:prstGeom prst="rect">
            <a:avLst/>
          </a:prstGeom>
          <a:noFill/>
          <a:ln w="0">
            <a:noFill/>
          </a:ln>
        </p:spPr>
        <p:txBody>
          <a:bodyPr wrap="square" lIns="0" tIns="0" rIns="0" bIns="0" anchor="t">
            <a:noAutofit/>
          </a:bodyPr>
          <a:lstStyle/>
          <a:p>
            <a:pPr algn="l">
              <a:defRPr sz="1050" b="1">
                <a:solidFill>
                  <a:srgbClr val="FF6B62"/>
                </a:solidFill>
                <a:latin typeface="Calibri"/>
                <a:ea typeface="Calibri"/>
                <a:cs typeface="Calibri"/>
              </a:defRPr>
            </a:pPr>
            <a:r>
              <a:rPr sz="1050" b="1" dirty="0">
                <a:solidFill>
                  <a:srgbClr val="FF6B62"/>
                </a:solidFill>
                <a:latin typeface="Calibri"/>
                <a:ea typeface="Calibri"/>
                <a:cs typeface="Calibri"/>
              </a:rPr>
              <a:t>OBJECTIVE 3</a:t>
            </a:r>
          </a:p>
        </p:txBody>
      </p:sp>
      <p:sp>
        <p:nvSpPr>
          <p:cNvPr id="14" name="Rectangle 13">
            <a:extLst>
              <a:ext uri="{FF2B5EF4-FFF2-40B4-BE49-F238E27FC236}">
                <a16:creationId xmlns:a16="http://schemas.microsoft.com/office/drawing/2014/main" id="{124DE8CD-A5C0-47B6-90C8-28FFAEC4DA8D}"/>
              </a:ext>
            </a:extLst>
          </p:cNvPr>
          <p:cNvSpPr>
            <a:spLocks noGrp="1"/>
          </p:cNvSpPr>
          <p:nvPr/>
        </p:nvSpPr>
        <p:spPr>
          <a:xfrm>
            <a:off x="533400" y="1854993"/>
            <a:ext cx="8769350" cy="1128713"/>
          </a:xfrm>
          <a:prstGeom prst="rect">
            <a:avLst/>
          </a:prstGeom>
          <a:noFill/>
          <a:ln w="0">
            <a:noFill/>
          </a:ln>
        </p:spPr>
        <p:txBody>
          <a:bodyPr wrap="square" lIns="0" tIns="0" rIns="0" bIns="0" anchor="t">
            <a:noAutofit/>
          </a:bodyPr>
          <a:lstStyle/>
          <a:p>
            <a:pPr algn="l">
              <a:defRPr sz="1800" b="1">
                <a:solidFill>
                  <a:srgbClr val="F8F6FF"/>
                </a:solidFill>
                <a:latin typeface="Calibri"/>
                <a:ea typeface="Calibri"/>
                <a:cs typeface="Calibri"/>
              </a:defRPr>
            </a:pPr>
            <a:r>
              <a:rPr lang="en-US" sz="1800" b="1" dirty="0">
                <a:solidFill>
                  <a:srgbClr val="F8F6FF"/>
                </a:solidFill>
                <a:latin typeface="Calibri"/>
                <a:ea typeface="Calibri"/>
                <a:cs typeface="Calibri"/>
              </a:rPr>
              <a:t>To develop and technically validate a personalized adaptive cognitive exercise module that assigns games according to dementia type and stage, automatically adjusts each game’s difficulty based on the patient’s recent performance, and enables caregiver review and override to maintain an appropriate and achievable level of challenge.</a:t>
            </a:r>
            <a:endParaRPr sz="1800" b="1" dirty="0">
              <a:solidFill>
                <a:srgbClr val="F8F6FF"/>
              </a:solidFill>
              <a:latin typeface="Calibri"/>
              <a:ea typeface="Calibri"/>
              <a:cs typeface="Calibri"/>
            </a:endParaRPr>
          </a:p>
        </p:txBody>
      </p:sp>
      <p:sp>
        <p:nvSpPr>
          <p:cNvPr id="16" name="Rectangle 15">
            <a:extLst>
              <a:ext uri="{FF2B5EF4-FFF2-40B4-BE49-F238E27FC236}">
                <a16:creationId xmlns:a16="http://schemas.microsoft.com/office/drawing/2014/main" id="{5503A4E6-2BB8-421B-A034-4A0C90D5BFED}"/>
              </a:ext>
            </a:extLst>
          </p:cNvPr>
          <p:cNvSpPr>
            <a:spLocks noGrp="1"/>
          </p:cNvSpPr>
          <p:nvPr/>
        </p:nvSpPr>
        <p:spPr>
          <a:xfrm>
            <a:off x="533400" y="3281364"/>
            <a:ext cx="6572250" cy="914400"/>
          </a:xfrm>
          <a:prstGeom prst="rect">
            <a:avLst/>
          </a:prstGeom>
          <a:noFill/>
          <a:ln w="0">
            <a:noFill/>
          </a:ln>
        </p:spPr>
        <p:txBody>
          <a:bodyPr wrap="square" lIns="0" tIns="0" rIns="0" bIns="0" anchor="t">
            <a:noAutofit/>
          </a:bodyPr>
          <a:lstStyle/>
          <a:p>
            <a:pPr algn="l">
              <a:defRPr sz="1350" b="0">
                <a:solidFill>
                  <a:srgbClr val="B8B0D4"/>
                </a:solidFill>
                <a:latin typeface="Calibri"/>
                <a:ea typeface="Calibri"/>
                <a:cs typeface="Calibri"/>
              </a:defRPr>
            </a:pPr>
            <a:r>
              <a:rPr sz="1350" b="0" dirty="0">
                <a:solidFill>
                  <a:srgbClr val="B8B0D4"/>
                </a:solidFill>
                <a:latin typeface="Calibri"/>
                <a:ea typeface="Calibri"/>
                <a:cs typeface="Calibri"/>
              </a:rPr>
              <a:t>Achieved through four dementia type-and-stage game sets, per-game automatic difficulty, caregiver override, freeze/resume and difficulty history.</a:t>
            </a:r>
          </a:p>
        </p:txBody>
      </p:sp>
      <p:sp>
        <p:nvSpPr>
          <p:cNvPr id="17" name="Rectangle 16">
            <a:extLst>
              <a:ext uri="{FF2B5EF4-FFF2-40B4-BE49-F238E27FC236}">
                <a16:creationId xmlns:a16="http://schemas.microsoft.com/office/drawing/2014/main" id="{52A17CED-7F41-4F9E-84A2-D152B70B9FD7}"/>
              </a:ext>
            </a:extLst>
          </p:cNvPr>
          <p:cNvSpPr>
            <a:spLocks noGrp="1"/>
          </p:cNvSpPr>
          <p:nvPr/>
        </p:nvSpPr>
        <p:spPr>
          <a:xfrm>
            <a:off x="533400" y="6543675"/>
            <a:ext cx="9525000" cy="171450"/>
          </a:xfrm>
          <a:prstGeom prst="rect">
            <a:avLst/>
          </a:prstGeom>
          <a:noFill/>
          <a:ln w="0">
            <a:noFill/>
          </a:ln>
        </p:spPr>
        <p:txBody>
          <a:bodyPr wrap="square" lIns="0" tIns="0" rIns="0" bIns="0" anchor="t">
            <a:noAutofit/>
          </a:bodyPr>
          <a:lstStyle/>
          <a:p>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Sources: Final report Objectives (pp. 25–26), Chapter 7 and Section 8.2.</a:t>
            </a:r>
          </a:p>
        </p:txBody>
      </p:sp>
      <p:sp>
        <p:nvSpPr>
          <p:cNvPr id="18" name="Rectangle 17">
            <a:extLst>
              <a:ext uri="{FF2B5EF4-FFF2-40B4-BE49-F238E27FC236}">
                <a16:creationId xmlns:a16="http://schemas.microsoft.com/office/drawing/2014/main" id="{5D2A6613-2573-46AE-A2A2-D3B62DE9F830}"/>
              </a:ext>
            </a:extLst>
          </p:cNvPr>
          <p:cNvSpPr>
            <a:spLocks noGrp="1"/>
          </p:cNvSpPr>
          <p:nvPr/>
        </p:nvSpPr>
        <p:spPr>
          <a:xfrm>
            <a:off x="11277600" y="6496050"/>
            <a:ext cx="476250" cy="209550"/>
          </a:xfrm>
          <a:prstGeom prst="rect">
            <a:avLst/>
          </a:prstGeom>
          <a:noFill/>
          <a:ln w="0">
            <a:noFill/>
          </a:ln>
        </p:spPr>
        <p:txBody>
          <a:bodyPr wrap="square" lIns="0" tIns="0" rIns="0" bIns="0" anchor="t">
            <a:noAutofit/>
          </a:bodyPr>
          <a:lstStyle/>
          <a:p>
            <a:pPr algn="r">
              <a:defRPr sz="975" b="1">
                <a:solidFill>
                  <a:srgbClr val="B8B0D4"/>
                </a:solidFill>
                <a:latin typeface="Calibri"/>
                <a:ea typeface="Calibri"/>
                <a:cs typeface="Calibri"/>
              </a:defRPr>
            </a:pPr>
            <a:r>
              <a:rPr sz="975" b="1">
                <a:solidFill>
                  <a:srgbClr val="B8B0D4"/>
                </a:solidFill>
                <a:latin typeface="Calibri"/>
                <a:ea typeface="Calibri"/>
                <a:cs typeface="Calibri"/>
              </a:rPr>
              <a:t>20</a:t>
            </a:r>
          </a:p>
        </p:txBody>
      </p:sp>
    </p:spTree>
    <p:extLst>
      <p:ext uri="{BB962C8B-B14F-4D97-AF65-F5344CB8AC3E}">
        <p14:creationId xmlns:p14="http://schemas.microsoft.com/office/powerpoint/2010/main" val="5292619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A1530"/>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89F30555-2ADB-4400-8D3A-FFA38066E774}"/>
              </a:ext>
            </a:extLst>
          </p:cNvPr>
          <p:cNvSpPr>
            <a:spLocks noGrp="1"/>
          </p:cNvSpPr>
          <p:nvPr/>
        </p:nvSpPr>
        <p:spPr>
          <a:xfrm>
            <a:off x="0" y="0"/>
            <a:ext cx="133350" cy="6858000"/>
          </a:xfrm>
          <a:prstGeom prst="rect">
            <a:avLst/>
          </a:prstGeom>
          <a:solidFill>
            <a:srgbClr val="FF6B62"/>
          </a:solidFill>
          <a:ln w="0">
            <a:noFill/>
          </a:ln>
        </p:spPr>
        <p:txBody>
          <a:bodyPr/>
          <a:lstStyle/>
          <a:p>
            <a:endParaRPr lang="en-MY"/>
          </a:p>
        </p:txBody>
      </p:sp>
      <p:sp>
        <p:nvSpPr>
          <p:cNvPr id="2" name="Rectangle 1">
            <a:extLst>
              <a:ext uri="{FF2B5EF4-FFF2-40B4-BE49-F238E27FC236}">
                <a16:creationId xmlns:a16="http://schemas.microsoft.com/office/drawing/2014/main" id="{E45EB5F4-C555-44AB-8A1B-F518D60055EB}"/>
              </a:ext>
            </a:extLst>
          </p:cNvPr>
          <p:cNvSpPr>
            <a:spLocks noGrp="1"/>
          </p:cNvSpPr>
          <p:nvPr/>
        </p:nvSpPr>
        <p:spPr>
          <a:xfrm>
            <a:off x="533400" y="323850"/>
            <a:ext cx="2571750" cy="247650"/>
          </a:xfrm>
          <a:prstGeom prst="rect">
            <a:avLst/>
          </a:prstGeom>
          <a:noFill/>
          <a:ln w="0">
            <a:noFill/>
          </a:ln>
        </p:spPr>
        <p:txBody>
          <a:bodyPr wrap="square" lIns="0" tIns="0" rIns="0" bIns="0" anchor="t">
            <a:noAutofit/>
          </a:bodyPr>
          <a:lstStyle/>
          <a:p>
            <a:pPr algn="l">
              <a:defRPr sz="1125" b="1">
                <a:solidFill>
                  <a:srgbClr val="FF6B62"/>
                </a:solidFill>
                <a:latin typeface="Calibri"/>
                <a:ea typeface="Calibri"/>
                <a:cs typeface="Calibri"/>
              </a:defRPr>
            </a:pPr>
            <a:r>
              <a:rPr sz="1125" b="1">
                <a:solidFill>
                  <a:srgbClr val="FF6B62"/>
                </a:solidFill>
                <a:latin typeface="Calibri"/>
                <a:ea typeface="Calibri"/>
                <a:cs typeface="Calibri"/>
              </a:rPr>
              <a:t>CHAPTER 8 · FUTURE WORK</a:t>
            </a:r>
          </a:p>
        </p:txBody>
      </p:sp>
      <p:sp>
        <p:nvSpPr>
          <p:cNvPr id="3" name="Rectangle 2">
            <a:extLst>
              <a:ext uri="{FF2B5EF4-FFF2-40B4-BE49-F238E27FC236}">
                <a16:creationId xmlns:a16="http://schemas.microsoft.com/office/drawing/2014/main" id="{0542FB3D-CD37-448D-831A-9398447854AC}"/>
              </a:ext>
            </a:extLst>
          </p:cNvPr>
          <p:cNvSpPr>
            <a:spLocks noGrp="1"/>
          </p:cNvSpPr>
          <p:nvPr/>
        </p:nvSpPr>
        <p:spPr>
          <a:xfrm>
            <a:off x="533400" y="619125"/>
            <a:ext cx="11049000" cy="533400"/>
          </a:xfrm>
          <a:prstGeom prst="rect">
            <a:avLst/>
          </a:prstGeom>
          <a:noFill/>
          <a:ln w="0">
            <a:noFill/>
          </a:ln>
        </p:spPr>
        <p:txBody>
          <a:bodyPr wrap="square" lIns="0" tIns="0" rIns="0" bIns="0" anchor="t">
            <a:noAutofit/>
          </a:bodyPr>
          <a:lstStyle/>
          <a:p>
            <a:pPr algn="l">
              <a:defRPr sz="2700" b="1">
                <a:solidFill>
                  <a:srgbClr val="F8F6FF"/>
                </a:solidFill>
                <a:latin typeface="Calibri"/>
                <a:ea typeface="Calibri"/>
                <a:cs typeface="Calibri"/>
              </a:defRPr>
            </a:pPr>
            <a:r>
              <a:rPr sz="2700" b="1">
                <a:solidFill>
                  <a:srgbClr val="F8F6FF"/>
                </a:solidFill>
                <a:latin typeface="Calibri"/>
                <a:ea typeface="Calibri"/>
                <a:cs typeface="Calibri"/>
              </a:rPr>
              <a:t>The next stage is reliability, reach and clinical validation</a:t>
            </a:r>
          </a:p>
        </p:txBody>
      </p:sp>
      <p:sp>
        <p:nvSpPr>
          <p:cNvPr id="4" name="Rectangle 3">
            <a:extLst>
              <a:ext uri="{FF2B5EF4-FFF2-40B4-BE49-F238E27FC236}">
                <a16:creationId xmlns:a16="http://schemas.microsoft.com/office/drawing/2014/main" id="{0FFC2E08-6371-46C4-BD03-CADD931EEAFB}"/>
              </a:ext>
            </a:extLst>
          </p:cNvPr>
          <p:cNvSpPr>
            <a:spLocks noGrp="1"/>
          </p:cNvSpPr>
          <p:nvPr/>
        </p:nvSpPr>
        <p:spPr>
          <a:xfrm>
            <a:off x="552450" y="1143000"/>
            <a:ext cx="10668000" cy="323850"/>
          </a:xfrm>
          <a:prstGeom prst="rect">
            <a:avLst/>
          </a:prstGeom>
          <a:noFill/>
          <a:ln w="0">
            <a:noFill/>
          </a:ln>
        </p:spPr>
        <p:txBody>
          <a:bodyPr wrap="square" lIns="0" tIns="0" rIns="0" bIns="0" anchor="t">
            <a:noAutofit/>
          </a:bodyPr>
          <a:lstStyle/>
          <a:p>
            <a:pPr algn="l">
              <a:defRPr sz="1350" b="0">
                <a:solidFill>
                  <a:srgbClr val="B8B0D4"/>
                </a:solidFill>
                <a:latin typeface="Calibri"/>
                <a:ea typeface="Calibri"/>
                <a:cs typeface="Calibri"/>
              </a:defRPr>
            </a:pPr>
            <a:r>
              <a:rPr sz="1350" b="0">
                <a:solidFill>
                  <a:srgbClr val="B8B0D4"/>
                </a:solidFill>
                <a:latin typeface="Calibri"/>
                <a:ea typeface="Calibri"/>
                <a:cs typeface="Calibri"/>
              </a:rPr>
              <a:t>Future work should strengthen the platform without expanding beyond its role as a support tool.</a:t>
            </a:r>
          </a:p>
        </p:txBody>
      </p:sp>
      <p:sp>
        <p:nvSpPr>
          <p:cNvPr id="5" name="Rectangle 4">
            <a:extLst>
              <a:ext uri="{FF2B5EF4-FFF2-40B4-BE49-F238E27FC236}">
                <a16:creationId xmlns:a16="http://schemas.microsoft.com/office/drawing/2014/main" id="{A7DD8EC0-9393-4E83-98EC-0516F56ACDFC}"/>
              </a:ext>
            </a:extLst>
          </p:cNvPr>
          <p:cNvSpPr>
            <a:spLocks noGrp="1"/>
          </p:cNvSpPr>
          <p:nvPr/>
        </p:nvSpPr>
        <p:spPr>
          <a:xfrm>
            <a:off x="666750" y="1809750"/>
            <a:ext cx="457200" cy="304800"/>
          </a:xfrm>
          <a:prstGeom prst="rect">
            <a:avLst/>
          </a:prstGeom>
          <a:noFill/>
          <a:ln w="0">
            <a:noFill/>
          </a:ln>
        </p:spPr>
        <p:txBody>
          <a:bodyPr wrap="square" lIns="0" tIns="0" rIns="0" bIns="0" anchor="t">
            <a:noAutofit/>
          </a:bodyPr>
          <a:lstStyle/>
          <a:p>
            <a:pPr algn="l">
              <a:defRPr sz="1650" b="1">
                <a:solidFill>
                  <a:srgbClr val="FF6B62"/>
                </a:solidFill>
                <a:latin typeface="Calibri"/>
                <a:ea typeface="Calibri"/>
                <a:cs typeface="Calibri"/>
              </a:defRPr>
            </a:pPr>
            <a:r>
              <a:rPr sz="1650" b="1">
                <a:solidFill>
                  <a:srgbClr val="FF6B62"/>
                </a:solidFill>
                <a:latin typeface="Calibri"/>
                <a:ea typeface="Calibri"/>
                <a:cs typeface="Calibri"/>
              </a:rPr>
              <a:t>01</a:t>
            </a:r>
          </a:p>
        </p:txBody>
      </p:sp>
      <p:sp>
        <p:nvSpPr>
          <p:cNvPr id="6" name="Rectangle 5">
            <a:extLst>
              <a:ext uri="{FF2B5EF4-FFF2-40B4-BE49-F238E27FC236}">
                <a16:creationId xmlns:a16="http://schemas.microsoft.com/office/drawing/2014/main" id="{393D6576-747B-41A6-BC6A-FAF15F66E429}"/>
              </a:ext>
            </a:extLst>
          </p:cNvPr>
          <p:cNvSpPr>
            <a:spLocks noGrp="1"/>
          </p:cNvSpPr>
          <p:nvPr/>
        </p:nvSpPr>
        <p:spPr>
          <a:xfrm>
            <a:off x="1219200" y="1809750"/>
            <a:ext cx="2857500" cy="304800"/>
          </a:xfrm>
          <a:prstGeom prst="rect">
            <a:avLst/>
          </a:prstGeom>
          <a:noFill/>
          <a:ln w="0">
            <a:noFill/>
          </a:ln>
        </p:spPr>
        <p:txBody>
          <a:bodyPr wrap="square" lIns="0" tIns="0" rIns="0" bIns="0" anchor="t">
            <a:noAutofit/>
          </a:bodyPr>
          <a:lstStyle/>
          <a:p>
            <a:pPr algn="l">
              <a:defRPr sz="1650" b="1">
                <a:solidFill>
                  <a:srgbClr val="F8F6FF"/>
                </a:solidFill>
                <a:latin typeface="Calibri"/>
                <a:ea typeface="Calibri"/>
                <a:cs typeface="Calibri"/>
              </a:defRPr>
            </a:pPr>
            <a:r>
              <a:rPr sz="1650" b="1">
                <a:solidFill>
                  <a:srgbClr val="F8F6FF"/>
                </a:solidFill>
                <a:latin typeface="Calibri"/>
                <a:ea typeface="Calibri"/>
                <a:cs typeface="Calibri"/>
              </a:rPr>
              <a:t>Offline-first routines</a:t>
            </a:r>
          </a:p>
        </p:txBody>
      </p:sp>
      <p:sp>
        <p:nvSpPr>
          <p:cNvPr id="7" name="Rectangle 6">
            <a:extLst>
              <a:ext uri="{FF2B5EF4-FFF2-40B4-BE49-F238E27FC236}">
                <a16:creationId xmlns:a16="http://schemas.microsoft.com/office/drawing/2014/main" id="{706E13AB-1BF9-4CA6-BDE7-E3FEA82F6E50}"/>
              </a:ext>
            </a:extLst>
          </p:cNvPr>
          <p:cNvSpPr>
            <a:spLocks noGrp="1"/>
          </p:cNvSpPr>
          <p:nvPr/>
        </p:nvSpPr>
        <p:spPr>
          <a:xfrm>
            <a:off x="1219200" y="2266950"/>
            <a:ext cx="2857500" cy="723900"/>
          </a:xfrm>
          <a:prstGeom prst="rect">
            <a:avLst/>
          </a:prstGeom>
          <a:noFill/>
          <a:ln w="0">
            <a:noFill/>
          </a:ln>
        </p:spPr>
        <p:txBody>
          <a:bodyPr wrap="square" lIns="0" tIns="0" rIns="0" bIns="0" anchor="t">
            <a:noAutofit/>
          </a:bodyPr>
          <a:lstStyle/>
          <a:p>
            <a:pPr algn="l">
              <a:defRPr sz="1275" b="0">
                <a:solidFill>
                  <a:srgbClr val="B8B0D4"/>
                </a:solidFill>
                <a:latin typeface="Calibri"/>
                <a:ea typeface="Calibri"/>
                <a:cs typeface="Calibri"/>
              </a:defRPr>
            </a:pPr>
            <a:r>
              <a:rPr sz="1275" b="0">
                <a:solidFill>
                  <a:srgbClr val="B8B0D4"/>
                </a:solidFill>
                <a:latin typeface="Calibri"/>
                <a:ea typeface="Calibri"/>
                <a:cs typeface="Calibri"/>
              </a:rPr>
              <a:t>Cache task lists and synchronise safely after connectivity returns.</a:t>
            </a:r>
          </a:p>
        </p:txBody>
      </p:sp>
      <p:sp>
        <p:nvSpPr>
          <p:cNvPr id="8" name="Rectangle 7">
            <a:extLst>
              <a:ext uri="{FF2B5EF4-FFF2-40B4-BE49-F238E27FC236}">
                <a16:creationId xmlns:a16="http://schemas.microsoft.com/office/drawing/2014/main" id="{F2D9C993-30F5-4521-A2BE-08CC61E58D48}"/>
              </a:ext>
            </a:extLst>
          </p:cNvPr>
          <p:cNvSpPr>
            <a:spLocks noGrp="1"/>
          </p:cNvSpPr>
          <p:nvPr/>
        </p:nvSpPr>
        <p:spPr>
          <a:xfrm>
            <a:off x="1219200" y="3181350"/>
            <a:ext cx="2647950" cy="28575"/>
          </a:xfrm>
          <a:prstGeom prst="rect">
            <a:avLst/>
          </a:prstGeom>
          <a:solidFill>
            <a:srgbClr val="3A3160"/>
          </a:solidFill>
          <a:ln w="0">
            <a:noFill/>
          </a:ln>
        </p:spPr>
        <p:txBody>
          <a:bodyPr/>
          <a:lstStyle/>
          <a:p>
            <a:endParaRPr lang="en-MY"/>
          </a:p>
        </p:txBody>
      </p:sp>
      <p:sp>
        <p:nvSpPr>
          <p:cNvPr id="9" name="Rectangle 8">
            <a:extLst>
              <a:ext uri="{FF2B5EF4-FFF2-40B4-BE49-F238E27FC236}">
                <a16:creationId xmlns:a16="http://schemas.microsoft.com/office/drawing/2014/main" id="{5826A5D2-1408-403E-ADA2-D79E37947721}"/>
              </a:ext>
            </a:extLst>
          </p:cNvPr>
          <p:cNvSpPr>
            <a:spLocks noGrp="1"/>
          </p:cNvSpPr>
          <p:nvPr/>
        </p:nvSpPr>
        <p:spPr>
          <a:xfrm>
            <a:off x="4457700" y="1809750"/>
            <a:ext cx="457200" cy="304800"/>
          </a:xfrm>
          <a:prstGeom prst="rect">
            <a:avLst/>
          </a:prstGeom>
          <a:noFill/>
          <a:ln w="0">
            <a:noFill/>
          </a:ln>
        </p:spPr>
        <p:txBody>
          <a:bodyPr wrap="square" lIns="0" tIns="0" rIns="0" bIns="0" anchor="t">
            <a:noAutofit/>
          </a:bodyPr>
          <a:lstStyle/>
          <a:p>
            <a:pPr algn="l">
              <a:defRPr sz="1650" b="1">
                <a:solidFill>
                  <a:srgbClr val="FF6B62"/>
                </a:solidFill>
                <a:latin typeface="Calibri"/>
                <a:ea typeface="Calibri"/>
                <a:cs typeface="Calibri"/>
              </a:defRPr>
            </a:pPr>
            <a:r>
              <a:rPr sz="1650" b="1">
                <a:solidFill>
                  <a:srgbClr val="FF6B62"/>
                </a:solidFill>
                <a:latin typeface="Calibri"/>
                <a:ea typeface="Calibri"/>
                <a:cs typeface="Calibri"/>
              </a:rPr>
              <a:t>02</a:t>
            </a:r>
          </a:p>
        </p:txBody>
      </p:sp>
      <p:sp>
        <p:nvSpPr>
          <p:cNvPr id="10" name="Rectangle 9">
            <a:extLst>
              <a:ext uri="{FF2B5EF4-FFF2-40B4-BE49-F238E27FC236}">
                <a16:creationId xmlns:a16="http://schemas.microsoft.com/office/drawing/2014/main" id="{BA021A6C-8C2B-4E0B-A4BA-2BA89122AB80}"/>
              </a:ext>
            </a:extLst>
          </p:cNvPr>
          <p:cNvSpPr>
            <a:spLocks noGrp="1"/>
          </p:cNvSpPr>
          <p:nvPr/>
        </p:nvSpPr>
        <p:spPr>
          <a:xfrm>
            <a:off x="5010150" y="1809750"/>
            <a:ext cx="2857500" cy="304800"/>
          </a:xfrm>
          <a:prstGeom prst="rect">
            <a:avLst/>
          </a:prstGeom>
          <a:noFill/>
          <a:ln w="0">
            <a:noFill/>
          </a:ln>
        </p:spPr>
        <p:txBody>
          <a:bodyPr wrap="square" lIns="0" tIns="0" rIns="0" bIns="0" anchor="t">
            <a:noAutofit/>
          </a:bodyPr>
          <a:lstStyle/>
          <a:p>
            <a:pPr algn="l">
              <a:defRPr sz="1650" b="1">
                <a:solidFill>
                  <a:srgbClr val="F8F6FF"/>
                </a:solidFill>
                <a:latin typeface="Calibri"/>
                <a:ea typeface="Calibri"/>
                <a:cs typeface="Calibri"/>
              </a:defRPr>
            </a:pPr>
            <a:r>
              <a:rPr sz="1650" b="1">
                <a:solidFill>
                  <a:srgbClr val="F8F6FF"/>
                </a:solidFill>
                <a:latin typeface="Calibri"/>
                <a:ea typeface="Calibri"/>
                <a:cs typeface="Calibri"/>
              </a:rPr>
              <a:t>Broader access</a:t>
            </a:r>
          </a:p>
        </p:txBody>
      </p:sp>
      <p:sp>
        <p:nvSpPr>
          <p:cNvPr id="11" name="Rectangle 10">
            <a:extLst>
              <a:ext uri="{FF2B5EF4-FFF2-40B4-BE49-F238E27FC236}">
                <a16:creationId xmlns:a16="http://schemas.microsoft.com/office/drawing/2014/main" id="{1D0269CC-DCB5-4F7B-8073-904916F1D065}"/>
              </a:ext>
            </a:extLst>
          </p:cNvPr>
          <p:cNvSpPr>
            <a:spLocks noGrp="1"/>
          </p:cNvSpPr>
          <p:nvPr/>
        </p:nvSpPr>
        <p:spPr>
          <a:xfrm>
            <a:off x="5010150" y="2266950"/>
            <a:ext cx="2857500" cy="723900"/>
          </a:xfrm>
          <a:prstGeom prst="rect">
            <a:avLst/>
          </a:prstGeom>
          <a:noFill/>
          <a:ln w="0">
            <a:noFill/>
          </a:ln>
        </p:spPr>
        <p:txBody>
          <a:bodyPr wrap="square" lIns="0" tIns="0" rIns="0" bIns="0" anchor="t">
            <a:noAutofit/>
          </a:bodyPr>
          <a:lstStyle/>
          <a:p>
            <a:pPr algn="l">
              <a:defRPr sz="1275" b="0">
                <a:solidFill>
                  <a:srgbClr val="B8B0D4"/>
                </a:solidFill>
                <a:latin typeface="Calibri"/>
                <a:ea typeface="Calibri"/>
                <a:cs typeface="Calibri"/>
              </a:defRPr>
            </a:pPr>
            <a:r>
              <a:rPr sz="1275" b="0">
                <a:solidFill>
                  <a:srgbClr val="B8B0D4"/>
                </a:solidFill>
                <a:latin typeface="Calibri"/>
                <a:ea typeface="Calibri"/>
                <a:cs typeface="Calibri"/>
              </a:rPr>
              <a:t>Add iOS support, multilingual interfaces, voice and text-to-speech reminders.</a:t>
            </a:r>
          </a:p>
        </p:txBody>
      </p:sp>
      <p:sp>
        <p:nvSpPr>
          <p:cNvPr id="12" name="Rectangle 11">
            <a:extLst>
              <a:ext uri="{FF2B5EF4-FFF2-40B4-BE49-F238E27FC236}">
                <a16:creationId xmlns:a16="http://schemas.microsoft.com/office/drawing/2014/main" id="{3ADFD9C7-88D9-4864-B5AD-167816F8243B}"/>
              </a:ext>
            </a:extLst>
          </p:cNvPr>
          <p:cNvSpPr>
            <a:spLocks noGrp="1"/>
          </p:cNvSpPr>
          <p:nvPr/>
        </p:nvSpPr>
        <p:spPr>
          <a:xfrm>
            <a:off x="5010150" y="3181350"/>
            <a:ext cx="2647950" cy="28575"/>
          </a:xfrm>
          <a:prstGeom prst="rect">
            <a:avLst/>
          </a:prstGeom>
          <a:solidFill>
            <a:srgbClr val="3A3160"/>
          </a:solidFill>
          <a:ln w="0">
            <a:noFill/>
          </a:ln>
        </p:spPr>
        <p:txBody>
          <a:bodyPr/>
          <a:lstStyle/>
          <a:p>
            <a:endParaRPr lang="en-MY"/>
          </a:p>
        </p:txBody>
      </p:sp>
      <p:sp>
        <p:nvSpPr>
          <p:cNvPr id="13" name="Rectangle 12">
            <a:extLst>
              <a:ext uri="{FF2B5EF4-FFF2-40B4-BE49-F238E27FC236}">
                <a16:creationId xmlns:a16="http://schemas.microsoft.com/office/drawing/2014/main" id="{14B1193C-B132-4B1D-B215-0F29039A6B81}"/>
              </a:ext>
            </a:extLst>
          </p:cNvPr>
          <p:cNvSpPr>
            <a:spLocks noGrp="1"/>
          </p:cNvSpPr>
          <p:nvPr/>
        </p:nvSpPr>
        <p:spPr>
          <a:xfrm>
            <a:off x="8248650" y="1809750"/>
            <a:ext cx="457200" cy="304800"/>
          </a:xfrm>
          <a:prstGeom prst="rect">
            <a:avLst/>
          </a:prstGeom>
          <a:noFill/>
          <a:ln w="0">
            <a:noFill/>
          </a:ln>
        </p:spPr>
        <p:txBody>
          <a:bodyPr wrap="square" lIns="0" tIns="0" rIns="0" bIns="0" anchor="t">
            <a:noAutofit/>
          </a:bodyPr>
          <a:lstStyle/>
          <a:p>
            <a:pPr algn="l">
              <a:defRPr sz="1650" b="1">
                <a:solidFill>
                  <a:srgbClr val="FF6B62"/>
                </a:solidFill>
                <a:latin typeface="Calibri"/>
                <a:ea typeface="Calibri"/>
                <a:cs typeface="Calibri"/>
              </a:defRPr>
            </a:pPr>
            <a:r>
              <a:rPr sz="1650" b="1">
                <a:solidFill>
                  <a:srgbClr val="FF6B62"/>
                </a:solidFill>
                <a:latin typeface="Calibri"/>
                <a:ea typeface="Calibri"/>
                <a:cs typeface="Calibri"/>
              </a:rPr>
              <a:t>03</a:t>
            </a:r>
          </a:p>
        </p:txBody>
      </p:sp>
      <p:sp>
        <p:nvSpPr>
          <p:cNvPr id="14" name="Rectangle 13">
            <a:extLst>
              <a:ext uri="{FF2B5EF4-FFF2-40B4-BE49-F238E27FC236}">
                <a16:creationId xmlns:a16="http://schemas.microsoft.com/office/drawing/2014/main" id="{CDE77D54-067C-4322-95DA-D5E5E5BFDEBB}"/>
              </a:ext>
            </a:extLst>
          </p:cNvPr>
          <p:cNvSpPr>
            <a:spLocks noGrp="1"/>
          </p:cNvSpPr>
          <p:nvPr/>
        </p:nvSpPr>
        <p:spPr>
          <a:xfrm>
            <a:off x="8801100" y="1809750"/>
            <a:ext cx="2857500" cy="304800"/>
          </a:xfrm>
          <a:prstGeom prst="rect">
            <a:avLst/>
          </a:prstGeom>
          <a:noFill/>
          <a:ln w="0">
            <a:noFill/>
          </a:ln>
        </p:spPr>
        <p:txBody>
          <a:bodyPr wrap="square" lIns="0" tIns="0" rIns="0" bIns="0" anchor="t">
            <a:noAutofit/>
          </a:bodyPr>
          <a:lstStyle/>
          <a:p>
            <a:pPr algn="l">
              <a:defRPr sz="1650" b="1">
                <a:solidFill>
                  <a:srgbClr val="F8F6FF"/>
                </a:solidFill>
                <a:latin typeface="Calibri"/>
                <a:ea typeface="Calibri"/>
                <a:cs typeface="Calibri"/>
              </a:defRPr>
            </a:pPr>
            <a:r>
              <a:rPr sz="1650" b="1">
                <a:solidFill>
                  <a:srgbClr val="F8F6FF"/>
                </a:solidFill>
                <a:latin typeface="Calibri"/>
                <a:ea typeface="Calibri"/>
                <a:cs typeface="Calibri"/>
              </a:rPr>
              <a:t>Personal media</a:t>
            </a:r>
          </a:p>
        </p:txBody>
      </p:sp>
      <p:sp>
        <p:nvSpPr>
          <p:cNvPr id="15" name="Rectangle 14">
            <a:extLst>
              <a:ext uri="{FF2B5EF4-FFF2-40B4-BE49-F238E27FC236}">
                <a16:creationId xmlns:a16="http://schemas.microsoft.com/office/drawing/2014/main" id="{633BBEBC-0C11-4118-B7DF-0179238A3DEF}"/>
              </a:ext>
            </a:extLst>
          </p:cNvPr>
          <p:cNvSpPr>
            <a:spLocks noGrp="1"/>
          </p:cNvSpPr>
          <p:nvPr/>
        </p:nvSpPr>
        <p:spPr>
          <a:xfrm>
            <a:off x="8801100" y="2266950"/>
            <a:ext cx="2857500" cy="723900"/>
          </a:xfrm>
          <a:prstGeom prst="rect">
            <a:avLst/>
          </a:prstGeom>
          <a:noFill/>
          <a:ln w="0">
            <a:noFill/>
          </a:ln>
        </p:spPr>
        <p:txBody>
          <a:bodyPr wrap="square" lIns="0" tIns="0" rIns="0" bIns="0" anchor="t">
            <a:noAutofit/>
          </a:bodyPr>
          <a:lstStyle/>
          <a:p>
            <a:pPr algn="l">
              <a:defRPr sz="1275" b="0">
                <a:solidFill>
                  <a:srgbClr val="B8B0D4"/>
                </a:solidFill>
                <a:latin typeface="Calibri"/>
                <a:ea typeface="Calibri"/>
                <a:cs typeface="Calibri"/>
              </a:defRPr>
            </a:pPr>
            <a:r>
              <a:rPr sz="1275" b="0">
                <a:solidFill>
                  <a:srgbClr val="B8B0D4"/>
                </a:solidFill>
                <a:latin typeface="Calibri"/>
                <a:ea typeface="Calibri"/>
                <a:cs typeface="Calibri"/>
              </a:rPr>
              <a:t>Allow familiar photos and sounds in recognition activities.</a:t>
            </a:r>
          </a:p>
        </p:txBody>
      </p:sp>
      <p:sp>
        <p:nvSpPr>
          <p:cNvPr id="16" name="Rectangle 15">
            <a:extLst>
              <a:ext uri="{FF2B5EF4-FFF2-40B4-BE49-F238E27FC236}">
                <a16:creationId xmlns:a16="http://schemas.microsoft.com/office/drawing/2014/main" id="{7290EC3E-6EB0-443B-82BC-D8FF5A388D9C}"/>
              </a:ext>
            </a:extLst>
          </p:cNvPr>
          <p:cNvSpPr>
            <a:spLocks noGrp="1"/>
          </p:cNvSpPr>
          <p:nvPr/>
        </p:nvSpPr>
        <p:spPr>
          <a:xfrm>
            <a:off x="8801100" y="3181350"/>
            <a:ext cx="2647950" cy="28575"/>
          </a:xfrm>
          <a:prstGeom prst="rect">
            <a:avLst/>
          </a:prstGeom>
          <a:solidFill>
            <a:srgbClr val="3A3160"/>
          </a:solidFill>
          <a:ln w="0">
            <a:noFill/>
          </a:ln>
        </p:spPr>
        <p:txBody>
          <a:bodyPr/>
          <a:lstStyle/>
          <a:p>
            <a:endParaRPr lang="en-MY"/>
          </a:p>
        </p:txBody>
      </p:sp>
      <p:sp>
        <p:nvSpPr>
          <p:cNvPr id="17" name="Rectangle 16">
            <a:extLst>
              <a:ext uri="{FF2B5EF4-FFF2-40B4-BE49-F238E27FC236}">
                <a16:creationId xmlns:a16="http://schemas.microsoft.com/office/drawing/2014/main" id="{7AB9ED16-A41B-4000-B51C-271414A3223B}"/>
              </a:ext>
            </a:extLst>
          </p:cNvPr>
          <p:cNvSpPr>
            <a:spLocks noGrp="1"/>
          </p:cNvSpPr>
          <p:nvPr/>
        </p:nvSpPr>
        <p:spPr>
          <a:xfrm>
            <a:off x="666750" y="3676650"/>
            <a:ext cx="457200" cy="304800"/>
          </a:xfrm>
          <a:prstGeom prst="rect">
            <a:avLst/>
          </a:prstGeom>
          <a:noFill/>
          <a:ln w="0">
            <a:noFill/>
          </a:ln>
        </p:spPr>
        <p:txBody>
          <a:bodyPr wrap="square" lIns="0" tIns="0" rIns="0" bIns="0" anchor="t">
            <a:noAutofit/>
          </a:bodyPr>
          <a:lstStyle/>
          <a:p>
            <a:pPr algn="l">
              <a:defRPr sz="1650" b="1">
                <a:solidFill>
                  <a:srgbClr val="FF6B62"/>
                </a:solidFill>
                <a:latin typeface="Calibri"/>
                <a:ea typeface="Calibri"/>
                <a:cs typeface="Calibri"/>
              </a:defRPr>
            </a:pPr>
            <a:r>
              <a:rPr sz="1650" b="1">
                <a:solidFill>
                  <a:srgbClr val="FF6B62"/>
                </a:solidFill>
                <a:latin typeface="Calibri"/>
                <a:ea typeface="Calibri"/>
                <a:cs typeface="Calibri"/>
              </a:rPr>
              <a:t>04</a:t>
            </a:r>
          </a:p>
        </p:txBody>
      </p:sp>
      <p:sp>
        <p:nvSpPr>
          <p:cNvPr id="18" name="Rectangle 17">
            <a:extLst>
              <a:ext uri="{FF2B5EF4-FFF2-40B4-BE49-F238E27FC236}">
                <a16:creationId xmlns:a16="http://schemas.microsoft.com/office/drawing/2014/main" id="{3DA0E41B-84C0-4E77-887C-65F59B122ECF}"/>
              </a:ext>
            </a:extLst>
          </p:cNvPr>
          <p:cNvSpPr>
            <a:spLocks noGrp="1"/>
          </p:cNvSpPr>
          <p:nvPr/>
        </p:nvSpPr>
        <p:spPr>
          <a:xfrm>
            <a:off x="1219200" y="3676650"/>
            <a:ext cx="2857500" cy="304800"/>
          </a:xfrm>
          <a:prstGeom prst="rect">
            <a:avLst/>
          </a:prstGeom>
          <a:noFill/>
          <a:ln w="0">
            <a:noFill/>
          </a:ln>
        </p:spPr>
        <p:txBody>
          <a:bodyPr wrap="square" lIns="0" tIns="0" rIns="0" bIns="0" anchor="t">
            <a:noAutofit/>
          </a:bodyPr>
          <a:lstStyle/>
          <a:p>
            <a:pPr algn="l">
              <a:defRPr sz="1650" b="1">
                <a:solidFill>
                  <a:srgbClr val="F8F6FF"/>
                </a:solidFill>
                <a:latin typeface="Calibri"/>
                <a:ea typeface="Calibri"/>
                <a:cs typeface="Calibri"/>
              </a:defRPr>
            </a:pPr>
            <a:r>
              <a:rPr sz="1650" b="1">
                <a:solidFill>
                  <a:srgbClr val="F8F6FF"/>
                </a:solidFill>
                <a:latin typeface="Calibri"/>
                <a:ea typeface="Calibri"/>
                <a:cs typeface="Calibri"/>
              </a:rPr>
              <a:t>Owned reward games</a:t>
            </a:r>
          </a:p>
        </p:txBody>
      </p:sp>
      <p:sp>
        <p:nvSpPr>
          <p:cNvPr id="19" name="Rectangle 18">
            <a:extLst>
              <a:ext uri="{FF2B5EF4-FFF2-40B4-BE49-F238E27FC236}">
                <a16:creationId xmlns:a16="http://schemas.microsoft.com/office/drawing/2014/main" id="{300F23A9-1C22-4B0F-BC89-39CEC6AAF18E}"/>
              </a:ext>
            </a:extLst>
          </p:cNvPr>
          <p:cNvSpPr>
            <a:spLocks noGrp="1"/>
          </p:cNvSpPr>
          <p:nvPr/>
        </p:nvSpPr>
        <p:spPr>
          <a:xfrm>
            <a:off x="1219200" y="4133850"/>
            <a:ext cx="2857500" cy="723900"/>
          </a:xfrm>
          <a:prstGeom prst="rect">
            <a:avLst/>
          </a:prstGeom>
          <a:noFill/>
          <a:ln w="0">
            <a:noFill/>
          </a:ln>
        </p:spPr>
        <p:txBody>
          <a:bodyPr wrap="square" lIns="0" tIns="0" rIns="0" bIns="0" anchor="t">
            <a:noAutofit/>
          </a:bodyPr>
          <a:lstStyle/>
          <a:p>
            <a:pPr algn="l">
              <a:defRPr sz="1275" b="0">
                <a:solidFill>
                  <a:srgbClr val="B8B0D4"/>
                </a:solidFill>
                <a:latin typeface="Calibri"/>
                <a:ea typeface="Calibri"/>
                <a:cs typeface="Calibri"/>
              </a:defRPr>
            </a:pPr>
            <a:r>
              <a:rPr sz="1275" b="0">
                <a:solidFill>
                  <a:srgbClr val="B8B0D4"/>
                </a:solidFill>
                <a:latin typeface="Calibri"/>
                <a:ea typeface="Calibri"/>
                <a:cs typeface="Calibri"/>
              </a:rPr>
              <a:t>Reduce dependency on external WebView sites by hosting controlled content.</a:t>
            </a:r>
          </a:p>
        </p:txBody>
      </p:sp>
      <p:sp>
        <p:nvSpPr>
          <p:cNvPr id="20" name="Rectangle 19">
            <a:extLst>
              <a:ext uri="{FF2B5EF4-FFF2-40B4-BE49-F238E27FC236}">
                <a16:creationId xmlns:a16="http://schemas.microsoft.com/office/drawing/2014/main" id="{85368385-1550-4463-96E0-2EC1F1D33A97}"/>
              </a:ext>
            </a:extLst>
          </p:cNvPr>
          <p:cNvSpPr>
            <a:spLocks noGrp="1"/>
          </p:cNvSpPr>
          <p:nvPr/>
        </p:nvSpPr>
        <p:spPr>
          <a:xfrm>
            <a:off x="1219200" y="5048250"/>
            <a:ext cx="2647950" cy="28575"/>
          </a:xfrm>
          <a:prstGeom prst="rect">
            <a:avLst/>
          </a:prstGeom>
          <a:solidFill>
            <a:srgbClr val="FF6B62"/>
          </a:solidFill>
          <a:ln w="0">
            <a:noFill/>
          </a:ln>
        </p:spPr>
        <p:txBody>
          <a:bodyPr/>
          <a:lstStyle/>
          <a:p>
            <a:endParaRPr lang="en-MY"/>
          </a:p>
        </p:txBody>
      </p:sp>
      <p:sp>
        <p:nvSpPr>
          <p:cNvPr id="21" name="Rectangle 20">
            <a:extLst>
              <a:ext uri="{FF2B5EF4-FFF2-40B4-BE49-F238E27FC236}">
                <a16:creationId xmlns:a16="http://schemas.microsoft.com/office/drawing/2014/main" id="{50F0AF1B-954F-4C46-93C7-3D32D9352634}"/>
              </a:ext>
            </a:extLst>
          </p:cNvPr>
          <p:cNvSpPr>
            <a:spLocks noGrp="1"/>
          </p:cNvSpPr>
          <p:nvPr/>
        </p:nvSpPr>
        <p:spPr>
          <a:xfrm>
            <a:off x="4457700" y="3676650"/>
            <a:ext cx="457200" cy="304800"/>
          </a:xfrm>
          <a:prstGeom prst="rect">
            <a:avLst/>
          </a:prstGeom>
          <a:noFill/>
          <a:ln w="0">
            <a:noFill/>
          </a:ln>
        </p:spPr>
        <p:txBody>
          <a:bodyPr wrap="square" lIns="0" tIns="0" rIns="0" bIns="0" anchor="t">
            <a:noAutofit/>
          </a:bodyPr>
          <a:lstStyle/>
          <a:p>
            <a:pPr algn="l">
              <a:defRPr sz="1650" b="1">
                <a:solidFill>
                  <a:srgbClr val="FF6B62"/>
                </a:solidFill>
                <a:latin typeface="Calibri"/>
                <a:ea typeface="Calibri"/>
                <a:cs typeface="Calibri"/>
              </a:defRPr>
            </a:pPr>
            <a:r>
              <a:rPr sz="1650" b="1">
                <a:solidFill>
                  <a:srgbClr val="FF6B62"/>
                </a:solidFill>
                <a:latin typeface="Calibri"/>
                <a:ea typeface="Calibri"/>
                <a:cs typeface="Calibri"/>
              </a:rPr>
              <a:t>05</a:t>
            </a:r>
          </a:p>
        </p:txBody>
      </p:sp>
      <p:sp>
        <p:nvSpPr>
          <p:cNvPr id="22" name="Rectangle 21">
            <a:extLst>
              <a:ext uri="{FF2B5EF4-FFF2-40B4-BE49-F238E27FC236}">
                <a16:creationId xmlns:a16="http://schemas.microsoft.com/office/drawing/2014/main" id="{3BA8A753-5885-434D-8033-D75DD9F02519}"/>
              </a:ext>
            </a:extLst>
          </p:cNvPr>
          <p:cNvSpPr>
            <a:spLocks noGrp="1"/>
          </p:cNvSpPr>
          <p:nvPr/>
        </p:nvSpPr>
        <p:spPr>
          <a:xfrm>
            <a:off x="5010150" y="3676650"/>
            <a:ext cx="2857500" cy="304800"/>
          </a:xfrm>
          <a:prstGeom prst="rect">
            <a:avLst/>
          </a:prstGeom>
          <a:noFill/>
          <a:ln w="0">
            <a:noFill/>
          </a:ln>
        </p:spPr>
        <p:txBody>
          <a:bodyPr wrap="square" lIns="0" tIns="0" rIns="0" bIns="0" anchor="t">
            <a:noAutofit/>
          </a:bodyPr>
          <a:lstStyle/>
          <a:p>
            <a:pPr algn="l">
              <a:defRPr sz="1650" b="1">
                <a:solidFill>
                  <a:srgbClr val="F8F6FF"/>
                </a:solidFill>
                <a:latin typeface="Calibri"/>
                <a:ea typeface="Calibri"/>
                <a:cs typeface="Calibri"/>
              </a:defRPr>
            </a:pPr>
            <a:r>
              <a:rPr sz="1650" b="1">
                <a:solidFill>
                  <a:srgbClr val="F8F6FF"/>
                </a:solidFill>
                <a:latin typeface="Calibri"/>
                <a:ea typeface="Calibri"/>
                <a:cs typeface="Calibri"/>
              </a:rPr>
              <a:t>Clinical review</a:t>
            </a:r>
          </a:p>
        </p:txBody>
      </p:sp>
      <p:sp>
        <p:nvSpPr>
          <p:cNvPr id="23" name="Rectangle 22">
            <a:extLst>
              <a:ext uri="{FF2B5EF4-FFF2-40B4-BE49-F238E27FC236}">
                <a16:creationId xmlns:a16="http://schemas.microsoft.com/office/drawing/2014/main" id="{D6B7E2A6-2E14-4C65-A3D9-7511C8956486}"/>
              </a:ext>
            </a:extLst>
          </p:cNvPr>
          <p:cNvSpPr>
            <a:spLocks noGrp="1"/>
          </p:cNvSpPr>
          <p:nvPr/>
        </p:nvSpPr>
        <p:spPr>
          <a:xfrm>
            <a:off x="5010150" y="4133850"/>
            <a:ext cx="2857500" cy="723900"/>
          </a:xfrm>
          <a:prstGeom prst="rect">
            <a:avLst/>
          </a:prstGeom>
          <a:noFill/>
          <a:ln w="0">
            <a:noFill/>
          </a:ln>
        </p:spPr>
        <p:txBody>
          <a:bodyPr wrap="square" lIns="0" tIns="0" rIns="0" bIns="0" anchor="t">
            <a:noAutofit/>
          </a:bodyPr>
          <a:lstStyle/>
          <a:p>
            <a:pPr algn="l">
              <a:defRPr sz="1275" b="0">
                <a:solidFill>
                  <a:srgbClr val="B8B0D4"/>
                </a:solidFill>
                <a:latin typeface="Calibri"/>
                <a:ea typeface="Calibri"/>
                <a:cs typeface="Calibri"/>
              </a:defRPr>
            </a:pPr>
            <a:r>
              <a:rPr sz="1275" b="0">
                <a:solidFill>
                  <a:srgbClr val="B8B0D4"/>
                </a:solidFill>
                <a:latin typeface="Calibri"/>
                <a:ea typeface="Calibri"/>
                <a:cs typeface="Calibri"/>
              </a:rPr>
              <a:t>Validate game parameters and risk thresholds with healthcare professionals.</a:t>
            </a:r>
          </a:p>
        </p:txBody>
      </p:sp>
      <p:sp>
        <p:nvSpPr>
          <p:cNvPr id="24" name="Rectangle 23">
            <a:extLst>
              <a:ext uri="{FF2B5EF4-FFF2-40B4-BE49-F238E27FC236}">
                <a16:creationId xmlns:a16="http://schemas.microsoft.com/office/drawing/2014/main" id="{3E63001A-653F-4DF9-AAFA-BD05ED16AFD9}"/>
              </a:ext>
            </a:extLst>
          </p:cNvPr>
          <p:cNvSpPr>
            <a:spLocks noGrp="1"/>
          </p:cNvSpPr>
          <p:nvPr/>
        </p:nvSpPr>
        <p:spPr>
          <a:xfrm>
            <a:off x="5010150" y="5048250"/>
            <a:ext cx="2647950" cy="28575"/>
          </a:xfrm>
          <a:prstGeom prst="rect">
            <a:avLst/>
          </a:prstGeom>
          <a:solidFill>
            <a:srgbClr val="FF6B62"/>
          </a:solidFill>
          <a:ln w="0">
            <a:noFill/>
          </a:ln>
        </p:spPr>
        <p:txBody>
          <a:bodyPr/>
          <a:lstStyle/>
          <a:p>
            <a:endParaRPr lang="en-MY"/>
          </a:p>
        </p:txBody>
      </p:sp>
      <p:sp>
        <p:nvSpPr>
          <p:cNvPr id="25" name="Rectangle 24">
            <a:extLst>
              <a:ext uri="{FF2B5EF4-FFF2-40B4-BE49-F238E27FC236}">
                <a16:creationId xmlns:a16="http://schemas.microsoft.com/office/drawing/2014/main" id="{935E6D48-99ED-4648-8829-8AB01FCC4D03}"/>
              </a:ext>
            </a:extLst>
          </p:cNvPr>
          <p:cNvSpPr>
            <a:spLocks noGrp="1"/>
          </p:cNvSpPr>
          <p:nvPr/>
        </p:nvSpPr>
        <p:spPr>
          <a:xfrm>
            <a:off x="8248650" y="3676650"/>
            <a:ext cx="457200" cy="304800"/>
          </a:xfrm>
          <a:prstGeom prst="rect">
            <a:avLst/>
          </a:prstGeom>
          <a:noFill/>
          <a:ln w="0">
            <a:noFill/>
          </a:ln>
        </p:spPr>
        <p:txBody>
          <a:bodyPr wrap="square" lIns="0" tIns="0" rIns="0" bIns="0" anchor="t">
            <a:noAutofit/>
          </a:bodyPr>
          <a:lstStyle/>
          <a:p>
            <a:pPr algn="l">
              <a:defRPr sz="1650" b="1">
                <a:solidFill>
                  <a:srgbClr val="FF6B62"/>
                </a:solidFill>
                <a:latin typeface="Calibri"/>
                <a:ea typeface="Calibri"/>
                <a:cs typeface="Calibri"/>
              </a:defRPr>
            </a:pPr>
            <a:r>
              <a:rPr sz="1650" b="1">
                <a:solidFill>
                  <a:srgbClr val="FF6B62"/>
                </a:solidFill>
                <a:latin typeface="Calibri"/>
                <a:ea typeface="Calibri"/>
                <a:cs typeface="Calibri"/>
              </a:rPr>
              <a:t>06</a:t>
            </a:r>
          </a:p>
        </p:txBody>
      </p:sp>
      <p:sp>
        <p:nvSpPr>
          <p:cNvPr id="26" name="Rectangle 25">
            <a:extLst>
              <a:ext uri="{FF2B5EF4-FFF2-40B4-BE49-F238E27FC236}">
                <a16:creationId xmlns:a16="http://schemas.microsoft.com/office/drawing/2014/main" id="{352CCD95-39C8-4F50-AF33-9C36C4BC53E9}"/>
              </a:ext>
            </a:extLst>
          </p:cNvPr>
          <p:cNvSpPr>
            <a:spLocks noGrp="1"/>
          </p:cNvSpPr>
          <p:nvPr/>
        </p:nvSpPr>
        <p:spPr>
          <a:xfrm>
            <a:off x="8801100" y="3676650"/>
            <a:ext cx="2857500" cy="304800"/>
          </a:xfrm>
          <a:prstGeom prst="rect">
            <a:avLst/>
          </a:prstGeom>
          <a:noFill/>
          <a:ln w="0">
            <a:noFill/>
          </a:ln>
        </p:spPr>
        <p:txBody>
          <a:bodyPr wrap="square" lIns="0" tIns="0" rIns="0" bIns="0" anchor="t">
            <a:noAutofit/>
          </a:bodyPr>
          <a:lstStyle/>
          <a:p>
            <a:pPr algn="l">
              <a:defRPr sz="1650" b="1">
                <a:solidFill>
                  <a:srgbClr val="F8F6FF"/>
                </a:solidFill>
                <a:latin typeface="Calibri"/>
                <a:ea typeface="Calibri"/>
                <a:cs typeface="Calibri"/>
              </a:defRPr>
            </a:pPr>
            <a:r>
              <a:rPr sz="1650" b="1">
                <a:solidFill>
                  <a:srgbClr val="F8F6FF"/>
                </a:solidFill>
                <a:latin typeface="Calibri"/>
                <a:ea typeface="Calibri"/>
                <a:cs typeface="Calibri"/>
              </a:rPr>
              <a:t>Larger evaluation</a:t>
            </a:r>
          </a:p>
        </p:txBody>
      </p:sp>
      <p:sp>
        <p:nvSpPr>
          <p:cNvPr id="27" name="Rectangle 26">
            <a:extLst>
              <a:ext uri="{FF2B5EF4-FFF2-40B4-BE49-F238E27FC236}">
                <a16:creationId xmlns:a16="http://schemas.microsoft.com/office/drawing/2014/main" id="{ADBE90B2-D972-4321-A7F7-ED452C5D8FF9}"/>
              </a:ext>
            </a:extLst>
          </p:cNvPr>
          <p:cNvSpPr>
            <a:spLocks noGrp="1"/>
          </p:cNvSpPr>
          <p:nvPr/>
        </p:nvSpPr>
        <p:spPr>
          <a:xfrm>
            <a:off x="8801100" y="4133850"/>
            <a:ext cx="2857500" cy="723900"/>
          </a:xfrm>
          <a:prstGeom prst="rect">
            <a:avLst/>
          </a:prstGeom>
          <a:noFill/>
          <a:ln w="0">
            <a:noFill/>
          </a:ln>
        </p:spPr>
        <p:txBody>
          <a:bodyPr wrap="square" lIns="0" tIns="0" rIns="0" bIns="0" anchor="t">
            <a:noAutofit/>
          </a:bodyPr>
          <a:lstStyle/>
          <a:p>
            <a:pPr algn="l">
              <a:defRPr sz="1275" b="0">
                <a:solidFill>
                  <a:srgbClr val="B8B0D4"/>
                </a:solidFill>
                <a:latin typeface="Calibri"/>
                <a:ea typeface="Calibri"/>
                <a:cs typeface="Calibri"/>
              </a:defRPr>
            </a:pPr>
            <a:r>
              <a:rPr sz="1275" b="0">
                <a:solidFill>
                  <a:srgbClr val="B8B0D4"/>
                </a:solidFill>
                <a:latin typeface="Calibri"/>
                <a:ea typeface="Calibri"/>
                <a:cs typeface="Calibri"/>
              </a:rPr>
              <a:t>Test with more dementia patients and caregivers over a longer period.</a:t>
            </a:r>
          </a:p>
        </p:txBody>
      </p:sp>
      <p:sp>
        <p:nvSpPr>
          <p:cNvPr id="28" name="Rectangle 27">
            <a:extLst>
              <a:ext uri="{FF2B5EF4-FFF2-40B4-BE49-F238E27FC236}">
                <a16:creationId xmlns:a16="http://schemas.microsoft.com/office/drawing/2014/main" id="{FC5A2FF1-6D77-4BF9-9BFA-750618DF657F}"/>
              </a:ext>
            </a:extLst>
          </p:cNvPr>
          <p:cNvSpPr>
            <a:spLocks noGrp="1"/>
          </p:cNvSpPr>
          <p:nvPr/>
        </p:nvSpPr>
        <p:spPr>
          <a:xfrm>
            <a:off x="8801100" y="5048250"/>
            <a:ext cx="2647950" cy="28575"/>
          </a:xfrm>
          <a:prstGeom prst="rect">
            <a:avLst/>
          </a:prstGeom>
          <a:solidFill>
            <a:srgbClr val="FF6B62"/>
          </a:solidFill>
          <a:ln w="0">
            <a:noFill/>
          </a:ln>
        </p:spPr>
        <p:txBody>
          <a:bodyPr/>
          <a:lstStyle/>
          <a:p>
            <a:endParaRPr lang="en-MY"/>
          </a:p>
        </p:txBody>
      </p:sp>
      <p:sp>
        <p:nvSpPr>
          <p:cNvPr id="29" name="Rectangle: Rounded Corners 28">
            <a:extLst>
              <a:ext uri="{FF2B5EF4-FFF2-40B4-BE49-F238E27FC236}">
                <a16:creationId xmlns:a16="http://schemas.microsoft.com/office/drawing/2014/main" id="{0E3DDF32-FD39-45ED-B2D3-C0CE42DC1670}"/>
              </a:ext>
            </a:extLst>
          </p:cNvPr>
          <p:cNvSpPr>
            <a:spLocks noGrp="1"/>
          </p:cNvSpPr>
          <p:nvPr/>
        </p:nvSpPr>
        <p:spPr>
          <a:xfrm>
            <a:off x="1809750" y="5667375"/>
            <a:ext cx="8572500" cy="495300"/>
          </a:xfrm>
          <a:prstGeom prst="roundRect">
            <a:avLst>
              <a:gd name="adj" fmla="val 23077"/>
            </a:avLst>
          </a:prstGeom>
          <a:solidFill>
            <a:srgbClr val="2E2750"/>
          </a:solidFill>
          <a:ln w="0">
            <a:noFill/>
          </a:ln>
        </p:spPr>
        <p:txBody>
          <a:bodyPr/>
          <a:lstStyle/>
          <a:p>
            <a:endParaRPr lang="en-MY"/>
          </a:p>
        </p:txBody>
      </p:sp>
      <p:sp>
        <p:nvSpPr>
          <p:cNvPr id="30" name="Rectangle 29">
            <a:extLst>
              <a:ext uri="{FF2B5EF4-FFF2-40B4-BE49-F238E27FC236}">
                <a16:creationId xmlns:a16="http://schemas.microsoft.com/office/drawing/2014/main" id="{9B59F41E-4613-49BD-99E4-FA28B676F89D}"/>
              </a:ext>
            </a:extLst>
          </p:cNvPr>
          <p:cNvSpPr>
            <a:spLocks noGrp="1"/>
          </p:cNvSpPr>
          <p:nvPr/>
        </p:nvSpPr>
        <p:spPr>
          <a:xfrm>
            <a:off x="2095500" y="5810250"/>
            <a:ext cx="8001000" cy="228600"/>
          </a:xfrm>
          <a:prstGeom prst="rect">
            <a:avLst/>
          </a:prstGeom>
          <a:noFill/>
          <a:ln w="0">
            <a:noFill/>
          </a:ln>
        </p:spPr>
        <p:txBody>
          <a:bodyPr wrap="square" lIns="0" tIns="0" rIns="0" bIns="0" anchor="t">
            <a:noAutofit/>
          </a:bodyPr>
          <a:lstStyle/>
          <a:p>
            <a:pPr algn="ctr">
              <a:defRPr sz="1200" b="0">
                <a:solidFill>
                  <a:srgbClr val="B8B0D4"/>
                </a:solidFill>
                <a:latin typeface="Calibri"/>
                <a:ea typeface="Calibri"/>
                <a:cs typeface="Calibri"/>
              </a:defRPr>
            </a:pPr>
            <a:r>
              <a:rPr sz="1200" b="0">
                <a:solidFill>
                  <a:srgbClr val="B8B0D4"/>
                </a:solidFill>
                <a:latin typeface="Calibri"/>
                <a:ea typeface="Calibri"/>
                <a:cs typeface="Calibri"/>
              </a:rPr>
              <a:t>Positioning: MindCare supported daily routines and caregiver decisions; it did not diagnose dementia or replace clinical judgement.</a:t>
            </a:r>
          </a:p>
        </p:txBody>
      </p:sp>
      <p:sp>
        <p:nvSpPr>
          <p:cNvPr id="31" name="Rectangle 30">
            <a:extLst>
              <a:ext uri="{FF2B5EF4-FFF2-40B4-BE49-F238E27FC236}">
                <a16:creationId xmlns:a16="http://schemas.microsoft.com/office/drawing/2014/main" id="{E6EC3B38-165D-42FF-B679-3FC0D4B566CB}"/>
              </a:ext>
            </a:extLst>
          </p:cNvPr>
          <p:cNvSpPr>
            <a:spLocks noGrp="1"/>
          </p:cNvSpPr>
          <p:nvPr/>
        </p:nvSpPr>
        <p:spPr>
          <a:xfrm>
            <a:off x="533400" y="6543675"/>
            <a:ext cx="9525000" cy="171450"/>
          </a:xfrm>
          <a:prstGeom prst="rect">
            <a:avLst/>
          </a:prstGeom>
          <a:noFill/>
          <a:ln w="0">
            <a:noFill/>
          </a:ln>
        </p:spPr>
        <p:txBody>
          <a:bodyPr wrap="square" lIns="0" tIns="0" rIns="0" bIns="0" anchor="t">
            <a:noAutofit/>
          </a:bodyPr>
          <a:lstStyle/>
          <a:p>
            <a:pPr algn="l">
              <a:defRPr sz="750" b="0">
                <a:solidFill>
                  <a:srgbClr val="8F87AC"/>
                </a:solidFill>
                <a:latin typeface="Calibri"/>
                <a:ea typeface="Calibri"/>
                <a:cs typeface="Calibri"/>
              </a:defRPr>
            </a:pPr>
            <a:r>
              <a:rPr sz="750" b="0">
                <a:solidFill>
                  <a:srgbClr val="8F87AC"/>
                </a:solidFill>
                <a:latin typeface="Calibri"/>
                <a:ea typeface="Calibri"/>
                <a:cs typeface="Calibri"/>
              </a:rPr>
              <a:t>Source: Final report Section 8.3, pp. 227–228.</a:t>
            </a:r>
          </a:p>
        </p:txBody>
      </p:sp>
      <p:sp>
        <p:nvSpPr>
          <p:cNvPr id="32" name="Rectangle 31">
            <a:extLst>
              <a:ext uri="{FF2B5EF4-FFF2-40B4-BE49-F238E27FC236}">
                <a16:creationId xmlns:a16="http://schemas.microsoft.com/office/drawing/2014/main" id="{2F82FD6F-EEA1-4FFB-8EF7-6103CE8EC8CB}"/>
              </a:ext>
            </a:extLst>
          </p:cNvPr>
          <p:cNvSpPr>
            <a:spLocks noGrp="1"/>
          </p:cNvSpPr>
          <p:nvPr/>
        </p:nvSpPr>
        <p:spPr>
          <a:xfrm>
            <a:off x="11277600" y="6496050"/>
            <a:ext cx="476250" cy="209550"/>
          </a:xfrm>
          <a:prstGeom prst="rect">
            <a:avLst/>
          </a:prstGeom>
          <a:noFill/>
          <a:ln w="0">
            <a:noFill/>
          </a:ln>
        </p:spPr>
        <p:txBody>
          <a:bodyPr wrap="square" lIns="0" tIns="0" rIns="0" bIns="0" anchor="t">
            <a:noAutofit/>
          </a:bodyPr>
          <a:lstStyle/>
          <a:p>
            <a:pPr algn="r">
              <a:defRPr sz="975" b="1">
                <a:solidFill>
                  <a:srgbClr val="B8B0D4"/>
                </a:solidFill>
                <a:latin typeface="Calibri"/>
                <a:ea typeface="Calibri"/>
                <a:cs typeface="Calibri"/>
              </a:defRPr>
            </a:pPr>
            <a:r>
              <a:rPr sz="975" b="1">
                <a:solidFill>
                  <a:srgbClr val="B8B0D4"/>
                </a:solidFill>
                <a:latin typeface="Calibri"/>
                <a:ea typeface="Calibri"/>
                <a:cs typeface="Calibri"/>
              </a:rPr>
              <a:t>21</a:t>
            </a:r>
          </a:p>
        </p:txBody>
      </p:sp>
    </p:spTree>
    <p:extLst>
      <p:ext uri="{BB962C8B-B14F-4D97-AF65-F5344CB8AC3E}">
        <p14:creationId xmlns:p14="http://schemas.microsoft.com/office/powerpoint/2010/main" val="14791121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00B2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F88924B-1790-4D38-A65C-C87EEA1A9181}"/>
              </a:ext>
            </a:extLst>
          </p:cNvPr>
          <p:cNvSpPr>
            <a:spLocks noGrp="1"/>
          </p:cNvSpPr>
          <p:nvPr/>
        </p:nvSpPr>
        <p:spPr>
          <a:xfrm>
            <a:off x="0" y="0"/>
            <a:ext cx="171450" cy="6858000"/>
          </a:xfrm>
          <a:prstGeom prst="rect">
            <a:avLst/>
          </a:prstGeom>
          <a:solidFill>
            <a:srgbClr val="FF6B62"/>
          </a:solidFill>
          <a:ln w="0">
            <a:noFill/>
          </a:ln>
        </p:spPr>
        <p:txBody>
          <a:bodyPr/>
          <a:lstStyle/>
          <a:p>
            <a:endParaRPr lang="en-MY"/>
          </a:p>
        </p:txBody>
      </p:sp>
      <p:sp>
        <p:nvSpPr>
          <p:cNvPr id="3" name="Rectangle 2">
            <a:extLst>
              <a:ext uri="{FF2B5EF4-FFF2-40B4-BE49-F238E27FC236}">
                <a16:creationId xmlns:a16="http://schemas.microsoft.com/office/drawing/2014/main" id="{0AE9B20C-94BC-4939-B6C7-62CE0BEB60CF}"/>
              </a:ext>
            </a:extLst>
          </p:cNvPr>
          <p:cNvSpPr>
            <a:spLocks noGrp="1"/>
          </p:cNvSpPr>
          <p:nvPr/>
        </p:nvSpPr>
        <p:spPr>
          <a:xfrm>
            <a:off x="723900" y="1047750"/>
            <a:ext cx="8763000" cy="666750"/>
          </a:xfrm>
          <a:prstGeom prst="rect">
            <a:avLst/>
          </a:prstGeom>
          <a:noFill/>
          <a:ln w="0">
            <a:noFill/>
          </a:ln>
        </p:spPr>
        <p:txBody>
          <a:bodyPr wrap="square" lIns="0" tIns="0" rIns="0" bIns="0" anchor="t">
            <a:noAutofit/>
          </a:bodyPr>
          <a:lstStyle/>
          <a:p>
            <a:pPr algn="l">
              <a:defRPr sz="3600" b="1">
                <a:solidFill>
                  <a:srgbClr val="F8F6FF"/>
                </a:solidFill>
                <a:latin typeface="Calibri"/>
                <a:ea typeface="Calibri"/>
                <a:cs typeface="Calibri"/>
              </a:defRPr>
            </a:pPr>
            <a:r>
              <a:rPr sz="3600" b="1">
                <a:solidFill>
                  <a:srgbClr val="F8F6FF"/>
                </a:solidFill>
                <a:latin typeface="Calibri"/>
                <a:ea typeface="Calibri"/>
                <a:cs typeface="Calibri"/>
              </a:rPr>
              <a:t>MindCare evolved beyond reminders.</a:t>
            </a:r>
          </a:p>
        </p:txBody>
      </p:sp>
      <p:sp>
        <p:nvSpPr>
          <p:cNvPr id="4" name="Rectangle 3">
            <a:extLst>
              <a:ext uri="{FF2B5EF4-FFF2-40B4-BE49-F238E27FC236}">
                <a16:creationId xmlns:a16="http://schemas.microsoft.com/office/drawing/2014/main" id="{42BF32A9-AF70-47A7-A31D-6AE3E088FCD5}"/>
              </a:ext>
            </a:extLst>
          </p:cNvPr>
          <p:cNvSpPr>
            <a:spLocks noGrp="1"/>
          </p:cNvSpPr>
          <p:nvPr/>
        </p:nvSpPr>
        <p:spPr>
          <a:xfrm>
            <a:off x="742950" y="1962150"/>
            <a:ext cx="6953250" cy="1066800"/>
          </a:xfrm>
          <a:prstGeom prst="rect">
            <a:avLst/>
          </a:prstGeom>
          <a:noFill/>
          <a:ln w="0">
            <a:noFill/>
          </a:ln>
        </p:spPr>
        <p:txBody>
          <a:bodyPr wrap="square" lIns="0" tIns="0" rIns="0" bIns="0" anchor="t">
            <a:noAutofit/>
          </a:bodyPr>
          <a:lstStyle/>
          <a:p>
            <a:pPr algn="l">
              <a:defRPr sz="2250" b="1">
                <a:solidFill>
                  <a:srgbClr val="FF6B62"/>
                </a:solidFill>
                <a:latin typeface="Calibri"/>
                <a:ea typeface="Calibri"/>
                <a:cs typeface="Calibri"/>
              </a:defRPr>
            </a:pPr>
            <a:r>
              <a:rPr sz="2250" b="1">
                <a:solidFill>
                  <a:srgbClr val="FF6B62"/>
                </a:solidFill>
                <a:latin typeface="Calibri"/>
                <a:ea typeface="Calibri"/>
                <a:cs typeface="Calibri"/>
              </a:rPr>
              <a:t>It connected daily assistance, adaptive cognitive engagement and caregiver insight in one accessible mobile workflow.</a:t>
            </a:r>
          </a:p>
        </p:txBody>
      </p:sp>
      <p:sp>
        <p:nvSpPr>
          <p:cNvPr id="5" name="Rectangle: Rounded Corners 4">
            <a:extLst>
              <a:ext uri="{FF2B5EF4-FFF2-40B4-BE49-F238E27FC236}">
                <a16:creationId xmlns:a16="http://schemas.microsoft.com/office/drawing/2014/main" id="{878B803A-DD9D-4B2A-8D2D-532C649C0EE2}"/>
              </a:ext>
            </a:extLst>
          </p:cNvPr>
          <p:cNvSpPr>
            <a:spLocks noGrp="1"/>
          </p:cNvSpPr>
          <p:nvPr/>
        </p:nvSpPr>
        <p:spPr>
          <a:xfrm>
            <a:off x="742950" y="3619500"/>
            <a:ext cx="6572250" cy="1009650"/>
          </a:xfrm>
          <a:prstGeom prst="roundRect">
            <a:avLst>
              <a:gd name="adj" fmla="val 15094"/>
            </a:avLst>
          </a:prstGeom>
          <a:solidFill>
            <a:srgbClr val="2E2750"/>
          </a:solidFill>
          <a:ln w="0">
            <a:noFill/>
          </a:ln>
        </p:spPr>
        <p:txBody>
          <a:bodyPr/>
          <a:lstStyle/>
          <a:p>
            <a:endParaRPr lang="en-MY"/>
          </a:p>
        </p:txBody>
      </p:sp>
      <p:sp>
        <p:nvSpPr>
          <p:cNvPr id="6" name="Rectangle 5">
            <a:extLst>
              <a:ext uri="{FF2B5EF4-FFF2-40B4-BE49-F238E27FC236}">
                <a16:creationId xmlns:a16="http://schemas.microsoft.com/office/drawing/2014/main" id="{51E26E0C-6F87-450C-99CF-B52A00D0E3E3}"/>
              </a:ext>
            </a:extLst>
          </p:cNvPr>
          <p:cNvSpPr>
            <a:spLocks noGrp="1"/>
          </p:cNvSpPr>
          <p:nvPr/>
        </p:nvSpPr>
        <p:spPr>
          <a:xfrm>
            <a:off x="1009650" y="3876675"/>
            <a:ext cx="1847850" cy="342900"/>
          </a:xfrm>
          <a:prstGeom prst="rect">
            <a:avLst/>
          </a:prstGeom>
          <a:noFill/>
          <a:ln w="0">
            <a:noFill/>
          </a:ln>
        </p:spPr>
        <p:txBody>
          <a:bodyPr wrap="square" lIns="0" tIns="0" rIns="0" bIns="0" anchor="t">
            <a:noAutofit/>
          </a:bodyPr>
          <a:lstStyle/>
          <a:p>
            <a:pPr algn="l">
              <a:defRPr sz="1950" b="1">
                <a:solidFill>
                  <a:srgbClr val="2ED9A4"/>
                </a:solidFill>
                <a:latin typeface="Calibri"/>
                <a:ea typeface="Calibri"/>
                <a:cs typeface="Calibri"/>
              </a:defRPr>
            </a:pPr>
            <a:r>
              <a:rPr sz="1950" b="1">
                <a:solidFill>
                  <a:srgbClr val="2ED9A4"/>
                </a:solidFill>
                <a:latin typeface="Calibri"/>
                <a:ea typeface="Calibri"/>
                <a:cs typeface="Calibri"/>
              </a:rPr>
              <a:t>34 / 34 UAT</a:t>
            </a:r>
          </a:p>
        </p:txBody>
      </p:sp>
      <p:sp>
        <p:nvSpPr>
          <p:cNvPr id="7" name="Rectangle 6">
            <a:extLst>
              <a:ext uri="{FF2B5EF4-FFF2-40B4-BE49-F238E27FC236}">
                <a16:creationId xmlns:a16="http://schemas.microsoft.com/office/drawing/2014/main" id="{ADB54D33-662B-4598-8BCE-253806534B0B}"/>
              </a:ext>
            </a:extLst>
          </p:cNvPr>
          <p:cNvSpPr>
            <a:spLocks noGrp="1"/>
          </p:cNvSpPr>
          <p:nvPr/>
        </p:nvSpPr>
        <p:spPr>
          <a:xfrm>
            <a:off x="3105150" y="3876675"/>
            <a:ext cx="1619250" cy="342900"/>
          </a:xfrm>
          <a:prstGeom prst="rect">
            <a:avLst/>
          </a:prstGeom>
          <a:noFill/>
          <a:ln w="0">
            <a:noFill/>
          </a:ln>
        </p:spPr>
        <p:txBody>
          <a:bodyPr wrap="square" lIns="0" tIns="0" rIns="0" bIns="0" anchor="t">
            <a:noAutofit/>
          </a:bodyPr>
          <a:lstStyle/>
          <a:p>
            <a:pPr algn="l">
              <a:defRPr sz="1950" b="1">
                <a:solidFill>
                  <a:srgbClr val="2ED9A4"/>
                </a:solidFill>
                <a:latin typeface="Calibri"/>
                <a:ea typeface="Calibri"/>
                <a:cs typeface="Calibri"/>
              </a:defRPr>
            </a:pPr>
            <a:r>
              <a:rPr sz="1950" b="1">
                <a:solidFill>
                  <a:srgbClr val="2ED9A4"/>
                </a:solidFill>
                <a:latin typeface="Calibri"/>
                <a:ea typeface="Calibri"/>
                <a:cs typeface="Calibri"/>
              </a:rPr>
              <a:t>91.0 SUS</a:t>
            </a:r>
          </a:p>
        </p:txBody>
      </p:sp>
      <p:sp>
        <p:nvSpPr>
          <p:cNvPr id="8" name="Rectangle 7">
            <a:extLst>
              <a:ext uri="{FF2B5EF4-FFF2-40B4-BE49-F238E27FC236}">
                <a16:creationId xmlns:a16="http://schemas.microsoft.com/office/drawing/2014/main" id="{9A500C36-5DCB-48A5-8CE9-B7540C319AD1}"/>
              </a:ext>
            </a:extLst>
          </p:cNvPr>
          <p:cNvSpPr>
            <a:spLocks noGrp="1"/>
          </p:cNvSpPr>
          <p:nvPr/>
        </p:nvSpPr>
        <p:spPr>
          <a:xfrm>
            <a:off x="5086350" y="3876675"/>
            <a:ext cx="1333500" cy="342900"/>
          </a:xfrm>
          <a:prstGeom prst="rect">
            <a:avLst/>
          </a:prstGeom>
          <a:noFill/>
          <a:ln w="0">
            <a:noFill/>
          </a:ln>
        </p:spPr>
        <p:txBody>
          <a:bodyPr wrap="square" lIns="0" tIns="0" rIns="0" bIns="0" anchor="t">
            <a:noAutofit/>
          </a:bodyPr>
          <a:lstStyle/>
          <a:p>
            <a:pPr algn="l">
              <a:defRPr sz="1950" b="1">
                <a:solidFill>
                  <a:srgbClr val="2ED9A4"/>
                </a:solidFill>
                <a:latin typeface="Calibri"/>
                <a:ea typeface="Calibri"/>
                <a:cs typeface="Calibri"/>
              </a:defRPr>
            </a:pPr>
            <a:r>
              <a:rPr sz="1950" b="1">
                <a:solidFill>
                  <a:srgbClr val="2ED9A4"/>
                </a:solidFill>
                <a:latin typeface="Calibri"/>
                <a:ea typeface="Calibri"/>
                <a:cs typeface="Calibri"/>
              </a:rPr>
              <a:t>33 FRs</a:t>
            </a:r>
          </a:p>
        </p:txBody>
      </p:sp>
      <p:sp>
        <p:nvSpPr>
          <p:cNvPr id="9" name="Rectangle 8">
            <a:extLst>
              <a:ext uri="{FF2B5EF4-FFF2-40B4-BE49-F238E27FC236}">
                <a16:creationId xmlns:a16="http://schemas.microsoft.com/office/drawing/2014/main" id="{B6E1FC51-E4C8-406B-B790-46CE4CE82E91}"/>
              </a:ext>
            </a:extLst>
          </p:cNvPr>
          <p:cNvSpPr>
            <a:spLocks noGrp="1"/>
          </p:cNvSpPr>
          <p:nvPr/>
        </p:nvSpPr>
        <p:spPr>
          <a:xfrm>
            <a:off x="742950" y="5505450"/>
            <a:ext cx="4095750" cy="514350"/>
          </a:xfrm>
          <a:prstGeom prst="rect">
            <a:avLst/>
          </a:prstGeom>
          <a:noFill/>
          <a:ln w="0">
            <a:noFill/>
          </a:ln>
        </p:spPr>
        <p:txBody>
          <a:bodyPr wrap="square" lIns="0" tIns="0" rIns="0" bIns="0" anchor="t">
            <a:noAutofit/>
          </a:bodyPr>
          <a:lstStyle/>
          <a:p>
            <a:pPr algn="l">
              <a:defRPr sz="2850" b="1">
                <a:solidFill>
                  <a:srgbClr val="F8F6FF"/>
                </a:solidFill>
                <a:latin typeface="Calibri"/>
                <a:ea typeface="Calibri"/>
                <a:cs typeface="Calibri"/>
              </a:defRPr>
            </a:pPr>
            <a:r>
              <a:rPr sz="2850" b="1">
                <a:solidFill>
                  <a:srgbClr val="F8F6FF"/>
                </a:solidFill>
                <a:latin typeface="Calibri"/>
                <a:ea typeface="Calibri"/>
                <a:cs typeface="Calibri"/>
              </a:rPr>
              <a:t>Thank you</a:t>
            </a:r>
          </a:p>
        </p:txBody>
      </p:sp>
      <p:sp>
        <p:nvSpPr>
          <p:cNvPr id="10" name="Rectangle 9">
            <a:extLst>
              <a:ext uri="{FF2B5EF4-FFF2-40B4-BE49-F238E27FC236}">
                <a16:creationId xmlns:a16="http://schemas.microsoft.com/office/drawing/2014/main" id="{5BAA61FD-EEBC-4439-9552-C38BBEF53A76}"/>
              </a:ext>
            </a:extLst>
          </p:cNvPr>
          <p:cNvSpPr>
            <a:spLocks noGrp="1"/>
          </p:cNvSpPr>
          <p:nvPr/>
        </p:nvSpPr>
        <p:spPr>
          <a:xfrm>
            <a:off x="762000" y="6038850"/>
            <a:ext cx="4095750" cy="266700"/>
          </a:xfrm>
          <a:prstGeom prst="rect">
            <a:avLst/>
          </a:prstGeom>
          <a:noFill/>
          <a:ln w="0">
            <a:noFill/>
          </a:ln>
        </p:spPr>
        <p:txBody>
          <a:bodyPr wrap="square" lIns="0" tIns="0" rIns="0" bIns="0" anchor="t">
            <a:noAutofit/>
          </a:bodyPr>
          <a:lstStyle/>
          <a:p>
            <a:pPr algn="l">
              <a:defRPr sz="1425" b="0">
                <a:solidFill>
                  <a:srgbClr val="B8B0D4"/>
                </a:solidFill>
                <a:latin typeface="Calibri"/>
                <a:ea typeface="Calibri"/>
                <a:cs typeface="Calibri"/>
              </a:defRPr>
            </a:pPr>
            <a:r>
              <a:rPr lang="en-MY" sz="1425" b="0" dirty="0">
                <a:solidFill>
                  <a:srgbClr val="B8B0D4"/>
                </a:solidFill>
                <a:latin typeface="Calibri"/>
                <a:ea typeface="Calibri"/>
                <a:cs typeface="Calibri"/>
              </a:rPr>
              <a:t>Demonstration &amp; </a:t>
            </a:r>
            <a:r>
              <a:rPr sz="1425" b="0" dirty="0">
                <a:solidFill>
                  <a:srgbClr val="B8B0D4"/>
                </a:solidFill>
                <a:latin typeface="Calibri"/>
                <a:ea typeface="Calibri"/>
                <a:cs typeface="Calibri"/>
              </a:rPr>
              <a:t>Questions &amp; Discussion</a:t>
            </a:r>
          </a:p>
        </p:txBody>
      </p:sp>
      <p:sp>
        <p:nvSpPr>
          <p:cNvPr id="11" name="Rectangle: Rounded Corners 10">
            <a:extLst>
              <a:ext uri="{FF2B5EF4-FFF2-40B4-BE49-F238E27FC236}">
                <a16:creationId xmlns:a16="http://schemas.microsoft.com/office/drawing/2014/main" id="{4EB0B826-F3BB-4B65-9149-3718DF4821EC}"/>
              </a:ext>
            </a:extLst>
          </p:cNvPr>
          <p:cNvSpPr>
            <a:spLocks noGrp="1"/>
          </p:cNvSpPr>
          <p:nvPr/>
        </p:nvSpPr>
        <p:spPr>
          <a:xfrm>
            <a:off x="7981950" y="1190625"/>
            <a:ext cx="3429000" cy="3810000"/>
          </a:xfrm>
          <a:prstGeom prst="roundRect">
            <a:avLst>
              <a:gd name="adj" fmla="val 4444"/>
            </a:avLst>
          </a:prstGeom>
          <a:solidFill>
            <a:srgbClr val="100B22"/>
          </a:solidFill>
          <a:ln w="0">
            <a:noFill/>
          </a:ln>
        </p:spPr>
        <p:txBody>
          <a:bodyPr/>
          <a:lstStyle/>
          <a:p>
            <a:endParaRPr lang="en-MY"/>
          </a:p>
        </p:txBody>
      </p:sp>
      <p:sp>
        <p:nvSpPr>
          <p:cNvPr id="12" name="Rectangle: Rounded Corners 11">
            <a:extLst>
              <a:ext uri="{FF2B5EF4-FFF2-40B4-BE49-F238E27FC236}">
                <a16:creationId xmlns:a16="http://schemas.microsoft.com/office/drawing/2014/main" id="{FE3F78AE-4A1F-480E-9D1B-3FB2CDFFAE0A}"/>
              </a:ext>
            </a:extLst>
          </p:cNvPr>
          <p:cNvSpPr>
            <a:spLocks noGrp="1"/>
          </p:cNvSpPr>
          <p:nvPr/>
        </p:nvSpPr>
        <p:spPr>
          <a:xfrm>
            <a:off x="7867650" y="1057275"/>
            <a:ext cx="3505200" cy="3886200"/>
          </a:xfrm>
          <a:prstGeom prst="roundRect">
            <a:avLst>
              <a:gd name="adj" fmla="val 4348"/>
            </a:avLst>
          </a:prstGeom>
          <a:solidFill>
            <a:srgbClr val="3A3160"/>
          </a:solidFill>
          <a:ln w="0">
            <a:noFill/>
          </a:ln>
        </p:spPr>
        <p:txBody>
          <a:bodyPr/>
          <a:lstStyle/>
          <a:p>
            <a:endParaRPr lang="en-MY"/>
          </a:p>
        </p:txBody>
      </p:sp>
      <p:pic>
        <p:nvPicPr>
          <p:cNvPr id="26" name="Picture 25"/>
          <p:cNvPicPr>
            <a:picLocks noChangeAspect="1"/>
          </p:cNvPicPr>
          <p:nvPr/>
        </p:nvPicPr>
        <p:blipFill>
          <a:blip r:embed="rId3"/>
          <a:srcRect l="10969" r="10969"/>
          <a:stretch>
            <a:fillRect/>
          </a:stretch>
        </p:blipFill>
        <p:spPr>
          <a:xfrm>
            <a:off x="7905750" y="1095375"/>
            <a:ext cx="3429000" cy="3810000"/>
          </a:xfrm>
          <a:prstGeom prst="roundRect">
            <a:avLst>
              <a:gd name="adj" fmla="val 3333"/>
            </a:avLst>
          </a:prstGeom>
        </p:spPr>
      </p:pic>
    </p:spTree>
    <p:extLst>
      <p:ext uri="{BB962C8B-B14F-4D97-AF65-F5344CB8AC3E}">
        <p14:creationId xmlns:p14="http://schemas.microsoft.com/office/powerpoint/2010/main" val="134090881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282</TotalTime>
  <Words>3146</Words>
  <Application>Microsoft Office PowerPoint</Application>
  <DocSecurity>0</DocSecurity>
  <PresentationFormat>Widescreen</PresentationFormat>
  <Paragraphs>466</Paragraphs>
  <Slides>24</Slides>
  <Notes>24</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24</vt:i4>
      </vt:variant>
    </vt:vector>
  </HeadingPairs>
  <TitlesOfParts>
    <vt:vector size="26"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ANGEL YAP YOON YING</cp:lastModifiedBy>
  <cp:revision>16</cp:revision>
  <dcterms:created xsi:type="dcterms:W3CDTF">2026-09-13T15:59:58Z</dcterms:created>
  <dcterms:modified xsi:type="dcterms:W3CDTF">2026-09-14T07:23:07Z</dcterms:modified>
</cp:coreProperties>
</file>