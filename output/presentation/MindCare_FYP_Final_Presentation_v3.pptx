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d5a20c61a94070" /><Relationship Type="http://schemas.openxmlformats.org/officeDocument/2006/relationships/extended-properties" Target="/docProps/app.xml" Id="R75ce869dd3484492" /><Relationship Type="http://schemas.openxmlformats.org/officeDocument/2006/relationships/officeDocument" Target="/ppt/presentation.xml" Id="Rbef175a99a1b44af" /></Relationships>
</file>

<file path=ppt/presentation.xml><?xml version="1.0" encoding="utf-8"?>
<p:presentation xmlns:p="http://schemas.openxmlformats.org/presentationml/2006/main">
  <p:sldMasterIdLst>
    <p:sldMasterId xmlns:r="http://schemas.openxmlformats.org/officeDocument/2006/relationships" id="2147483648" r:id="Ra0f182faa3cb4e56"/>
  </p:sldMasterIdLst>
  <p:notesMasterIdLst>
    <p:notesMasterId xmlns:r="http://schemas.openxmlformats.org/officeDocument/2006/relationships" r:id="Re7d9b1c880c54cbd"/>
  </p:notesMasterIdLst>
  <p:sldIdLst>
    <p:sldId xmlns:r="http://schemas.openxmlformats.org/officeDocument/2006/relationships" id="256" r:id="R062caa6fbe05470b"/>
    <p:sldId xmlns:r="http://schemas.openxmlformats.org/officeDocument/2006/relationships" id="257" r:id="Rc4030a84d4e6444c"/>
    <p:sldId xmlns:r="http://schemas.openxmlformats.org/officeDocument/2006/relationships" id="258" r:id="Rb309c1a07d0a48c6"/>
    <p:sldId xmlns:r="http://schemas.openxmlformats.org/officeDocument/2006/relationships" id="259" r:id="R528e3e332f654f21"/>
    <p:sldId xmlns:r="http://schemas.openxmlformats.org/officeDocument/2006/relationships" id="260" r:id="R7c325271684a4e15"/>
    <p:sldId xmlns:r="http://schemas.openxmlformats.org/officeDocument/2006/relationships" id="261" r:id="Rb88cc694d3364eb6"/>
    <p:sldId xmlns:r="http://schemas.openxmlformats.org/officeDocument/2006/relationships" id="262" r:id="R5443a216ca50457e"/>
    <p:sldId xmlns:r="http://schemas.openxmlformats.org/officeDocument/2006/relationships" id="263" r:id="Re1ac63fbaae74797"/>
    <p:sldId xmlns:r="http://schemas.openxmlformats.org/officeDocument/2006/relationships" id="264" r:id="R9c50b96fea4a4b81"/>
    <p:sldId xmlns:r="http://schemas.openxmlformats.org/officeDocument/2006/relationships" id="265" r:id="R608923b3e04949d7"/>
    <p:sldId xmlns:r="http://schemas.openxmlformats.org/officeDocument/2006/relationships" id="266" r:id="Rbf004a7c42e94b28"/>
    <p:sldId xmlns:r="http://schemas.openxmlformats.org/officeDocument/2006/relationships" id="267" r:id="R646acde8291e4133"/>
    <p:sldId xmlns:r="http://schemas.openxmlformats.org/officeDocument/2006/relationships" id="268" r:id="Rfd16cca327414741"/>
    <p:sldId xmlns:r="http://schemas.openxmlformats.org/officeDocument/2006/relationships" id="269" r:id="Rb0d99ed304e94664"/>
    <p:sldId xmlns:r="http://schemas.openxmlformats.org/officeDocument/2006/relationships" id="270" r:id="R2b4d6598d6704f85"/>
    <p:sldId xmlns:r="http://schemas.openxmlformats.org/officeDocument/2006/relationships" id="271" r:id="Rc5bc00595608490f"/>
    <p:sldId xmlns:r="http://schemas.openxmlformats.org/officeDocument/2006/relationships" id="272" r:id="Rda041f0d149c470f"/>
    <p:sldId xmlns:r="http://schemas.openxmlformats.org/officeDocument/2006/relationships" id="273" r:id="Rfd8a5b8db24a4521"/>
    <p:sldId xmlns:r="http://schemas.openxmlformats.org/officeDocument/2006/relationships" id="274" r:id="R59db69577e464121"/>
    <p:sldId xmlns:r="http://schemas.openxmlformats.org/officeDocument/2006/relationships" id="275" r:id="R351c74bd060644cb"/>
    <p:sldId xmlns:r="http://schemas.openxmlformats.org/officeDocument/2006/relationships" id="276" r:id="R80cc15f0cb844e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683ff6ee204273" /><Relationship Type="http://schemas.openxmlformats.org/officeDocument/2006/relationships/slideMaster" Target="/ppt/slideMasters/slideMaster1.xml" Id="Ra0f182faa3cb4e56" /><Relationship Type="http://schemas.openxmlformats.org/officeDocument/2006/relationships/notesMaster" Target="/ppt/notesMasters/notesMaster1.xml" Id="Re7d9b1c880c54cbd" /><Relationship Type="http://schemas.openxmlformats.org/officeDocument/2006/relationships/presProps" Target="/ppt/presProps.xml" Id="R9f37293fe3924e9b" /><Relationship Type="http://schemas.openxmlformats.org/officeDocument/2006/relationships/tableStyles" Target="/ppt/tableStyles.xml" Id="R213c8b2e760545d8" /><Relationship Type="http://schemas.openxmlformats.org/officeDocument/2006/relationships/slide" Target="/ppt/slides/slide1.xml" Id="R062caa6fbe05470b" /><Relationship Type="http://schemas.openxmlformats.org/officeDocument/2006/relationships/slide" Target="/ppt/slides/slide2.xml" Id="Rc4030a84d4e6444c" /><Relationship Type="http://schemas.openxmlformats.org/officeDocument/2006/relationships/slide" Target="/ppt/slides/slide3.xml" Id="Rb309c1a07d0a48c6" /><Relationship Type="http://schemas.openxmlformats.org/officeDocument/2006/relationships/slide" Target="/ppt/slides/slide4.xml" Id="R528e3e332f654f21" /><Relationship Type="http://schemas.openxmlformats.org/officeDocument/2006/relationships/slide" Target="/ppt/slides/slide5.xml" Id="R7c325271684a4e15" /><Relationship Type="http://schemas.openxmlformats.org/officeDocument/2006/relationships/slide" Target="/ppt/slides/slide6.xml" Id="Rb88cc694d3364eb6" /><Relationship Type="http://schemas.openxmlformats.org/officeDocument/2006/relationships/slide" Target="/ppt/slides/slide7.xml" Id="R5443a216ca50457e" /><Relationship Type="http://schemas.openxmlformats.org/officeDocument/2006/relationships/slide" Target="/ppt/slides/slide8.xml" Id="Re1ac63fbaae74797" /><Relationship Type="http://schemas.openxmlformats.org/officeDocument/2006/relationships/slide" Target="/ppt/slides/slide9.xml" Id="R9c50b96fea4a4b81" /><Relationship Type="http://schemas.openxmlformats.org/officeDocument/2006/relationships/slide" Target="/ppt/slides/slide10.xml" Id="R608923b3e04949d7" /><Relationship Type="http://schemas.openxmlformats.org/officeDocument/2006/relationships/slide" Target="/ppt/slides/slide11.xml" Id="Rbf004a7c42e94b28" /><Relationship Type="http://schemas.openxmlformats.org/officeDocument/2006/relationships/slide" Target="/ppt/slides/slide12.xml" Id="R646acde8291e4133" /><Relationship Type="http://schemas.openxmlformats.org/officeDocument/2006/relationships/slide" Target="/ppt/slides/slide13.xml" Id="Rfd16cca327414741" /><Relationship Type="http://schemas.openxmlformats.org/officeDocument/2006/relationships/slide" Target="/ppt/slides/slide14.xml" Id="Rb0d99ed304e94664" /><Relationship Type="http://schemas.openxmlformats.org/officeDocument/2006/relationships/slide" Target="/ppt/slides/slide15.xml" Id="R2b4d6598d6704f85" /><Relationship Type="http://schemas.openxmlformats.org/officeDocument/2006/relationships/slide" Target="/ppt/slides/slide16.xml" Id="Rc5bc00595608490f" /><Relationship Type="http://schemas.openxmlformats.org/officeDocument/2006/relationships/slide" Target="/ppt/slides/slide17.xml" Id="Rda041f0d149c470f" /><Relationship Type="http://schemas.openxmlformats.org/officeDocument/2006/relationships/slide" Target="/ppt/slides/slide18.xml" Id="Rfd8a5b8db24a4521" /><Relationship Type="http://schemas.openxmlformats.org/officeDocument/2006/relationships/slide" Target="/ppt/slides/slide19.xml" Id="R59db69577e464121" /><Relationship Type="http://schemas.openxmlformats.org/officeDocument/2006/relationships/slide" Target="/ppt/slides/slide20.xml" Id="R351c74bd060644cb" /><Relationship Type="http://schemas.openxmlformats.org/officeDocument/2006/relationships/slide" Target="/ppt/slides/slide21.xml" Id="R80cc15f0cb844e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f29d5b8d2b4f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5d34e90618457f" /><Relationship Type="http://schemas.openxmlformats.org/officeDocument/2006/relationships/notesMaster" Target="/ppt/notesMasters/notesMaster1.xml" Id="Rc9da9e72c4e047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7f1ae00af84db5" /><Relationship Type="http://schemas.openxmlformats.org/officeDocument/2006/relationships/notesMaster" Target="/ppt/notesMasters/notesMaster1.xml" Id="R1c6a5c1855b348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8f33ccec534c3e" /><Relationship Type="http://schemas.openxmlformats.org/officeDocument/2006/relationships/notesMaster" Target="/ppt/notesMasters/notesMaster1.xml" Id="Rcb9168acb9644f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3e2138bc0749cb" /><Relationship Type="http://schemas.openxmlformats.org/officeDocument/2006/relationships/notesMaster" Target="/ppt/notesMasters/notesMaster1.xml" Id="Rfe974d81540f47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89c9c7cf574f10" /><Relationship Type="http://schemas.openxmlformats.org/officeDocument/2006/relationships/notesMaster" Target="/ppt/notesMasters/notesMaster1.xml" Id="Ra0caf2347b6041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d9bd97d27e4e19" /><Relationship Type="http://schemas.openxmlformats.org/officeDocument/2006/relationships/notesMaster" Target="/ppt/notesMasters/notesMaster1.xml" Id="R326548088c2c40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029ef28b0946f6" /><Relationship Type="http://schemas.openxmlformats.org/officeDocument/2006/relationships/notesMaster" Target="/ppt/notesMasters/notesMaster1.xml" Id="Rebaa4c4980ea45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813c360cd54fb4" /><Relationship Type="http://schemas.openxmlformats.org/officeDocument/2006/relationships/notesMaster" Target="/ppt/notesMasters/notesMaster1.xml" Id="R4959a2d0cd2d4e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31f092069945a4" /><Relationship Type="http://schemas.openxmlformats.org/officeDocument/2006/relationships/notesMaster" Target="/ppt/notesMasters/notesMaster1.xml" Id="R09af8c2e2e0749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feaebb979d475c" /><Relationship Type="http://schemas.openxmlformats.org/officeDocument/2006/relationships/notesMaster" Target="/ppt/notesMasters/notesMaster1.xml" Id="R77ac42a41dbd41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db646e0162408d" /><Relationship Type="http://schemas.openxmlformats.org/officeDocument/2006/relationships/notesMaster" Target="/ppt/notesMasters/notesMaster1.xml" Id="R9a787bf7c24440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510bb0c8e34e3a" /><Relationship Type="http://schemas.openxmlformats.org/officeDocument/2006/relationships/notesMaster" Target="/ppt/notesMasters/notesMaster1.xml" Id="R41cd38cd9f8e4a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e2f2854fc54060" /><Relationship Type="http://schemas.openxmlformats.org/officeDocument/2006/relationships/notesMaster" Target="/ppt/notesMasters/notesMaster1.xml" Id="R883f76450b804e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7c972eee7b465d" /><Relationship Type="http://schemas.openxmlformats.org/officeDocument/2006/relationships/notesMaster" Target="/ppt/notesMasters/notesMaster1.xml" Id="Ra9728ae8cfce4d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4b0678d63d40f6" /><Relationship Type="http://schemas.openxmlformats.org/officeDocument/2006/relationships/notesMaster" Target="/ppt/notesMasters/notesMaster1.xml" Id="Rfa24f561d58f46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089cf32248473c" /><Relationship Type="http://schemas.openxmlformats.org/officeDocument/2006/relationships/notesMaster" Target="/ppt/notesMasters/notesMaster1.xml" Id="Ra2d14a24ade54b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76cf17f96d243c7" /><Relationship Type="http://schemas.openxmlformats.org/officeDocument/2006/relationships/notesMaster" Target="/ppt/notesMasters/notesMaster1.xml" Id="Rc5d133cfa76c44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09a2eba5b64470" /><Relationship Type="http://schemas.openxmlformats.org/officeDocument/2006/relationships/notesMaster" Target="/ppt/notesMasters/notesMaster1.xml" Id="Ra17a145fe73546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f878f7a1f34d01" /><Relationship Type="http://schemas.openxmlformats.org/officeDocument/2006/relationships/notesMaster" Target="/ppt/notesMasters/notesMaster1.xml" Id="R3b555015e8504f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e3236710cde4e52" /><Relationship Type="http://schemas.openxmlformats.org/officeDocument/2006/relationships/notesMaster" Target="/ppt/notesMasters/notesMaster1.xml" Id="R1c946a1f7ff046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b3faf28d7b74d4e" /><Relationship Type="http://schemas.openxmlformats.org/officeDocument/2006/relationships/notesMaster" Target="/ppt/notesMasters/notesMaster1.xml" Id="R8f9b844beb5c40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student details are taken from the final report cover. Interface image: Final_Proposal_2205499.pdf, Figure 6.19.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comparison: Proposal_ANGELYAPYOONYING_2205499.pdf, functional requirements on pp. 44–45; Final_Proposal_2205499.pdf, Chapters 1, 4,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statements compared between the earlier proposal (pp. 13–14) and the final report (pp. 21–23). The fifth problem is new in the final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and target users compared between the earlier proposal (pp. 16–17) and final report (pp. 25–27). The formal adaptive-cognition objective is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sources are listed in Final_Proposal_2205499.pdf references: Lim &amp; Sharmeen (2018); Manera et al. (2017); Lu et al. (2021); Ortega Morán et al. (2024); Bahar-Fuchs et al. (2017); Engelsma et al. (2024); Greysen et al. (2024); Koivisto &amp; Malik (2021). Existing app observations are from final report Chapter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2.10, pp. 36–37. The table is condensed for presentation readability while preserving the report's Yes/No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Final_Proposal_2205499.pdf, Chapter 3, pp. 38–40, and Work Breakdown Structure, pp. 42–47. The combined flow links each prototyping activity to the project phase in which it was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comparison: earlier proposal functional requirement list (9 items) and final report Table 4.1 (33 FR IDs across six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4.1 and Chapter 6. The wording condenses implemented behaviours into presentation highlights.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requested an editable placeholder because the updated use-case diagram will be inserted manually.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requested placeholders for Chapter 5 diagrams. Replace the left and right frames with the final system architecture and ERD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Interface images: Final_Proposal_2205499.pdf, Figures 6.6 and 6.19.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Chapter 6. This slide is a high-level synthesis of the implemented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requested placeholders for Chapter 6 diagrams. Replace any or all slots with final diagrams or code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are based on the test IDs documented in Final_Proposal_2205499.pdf Chapter 7: 14 unit cases, 9 integration cases, 17 system scenarios, and 34 UAT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7.9. All 19 caregiver UAT cases and all 15 patient UAT cases are marked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7.11. Participant SUS scores: 87.5, 90.0, 92.5, 95.0, 90.0; average 91.0; target 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Chapters 7 and 8. The sample-size and non-clinical limitations are stated in Section 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Final_Proposal_2205499.pdf, formal objectives on pp. 25–26, testing evidence in Chapter 7, and objective achievements in Section 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Section 8.3, pp. 227–228. The owned reward-game recommendation follows from the report's stated dependency on external WebView sites.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summary. Interface image: Final_Proposal_2205499.pdf, Figure 6.8. UAT and SUS figures are from Chapter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fc16e4ad9b42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465894e8c74b29" /><Relationship Type="http://schemas.openxmlformats.org/officeDocument/2006/relationships/slideLayout" Target="/ppt/slideLayouts/slideLayout1.xml" Id="Rae82489541e041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82489541e041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231566be034558" /><Relationship Type="http://schemas.openxmlformats.org/officeDocument/2006/relationships/image" Target="/ppt/media/image.png" Id="R514f860ca9274900" /><Relationship Type="http://schemas.openxmlformats.org/officeDocument/2006/relationships/notesSlide" Target="/ppt/notesSlides/notesSlide1.xml" Id="R3779c1e9d6ea47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a13d0c302246f6" /><Relationship Type="http://schemas.openxmlformats.org/officeDocument/2006/relationships/notesSlide" Target="/ppt/notesSlides/notesSlide2.xml" Id="Reb6a710298e54d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372ae3f4af446a" /><Relationship Type="http://schemas.openxmlformats.org/officeDocument/2006/relationships/notesSlide" Target="/ppt/notesSlides/notesSlide3.xml" Id="R9b5e8b042dde45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fb3a4e042149df" /><Relationship Type="http://schemas.openxmlformats.org/officeDocument/2006/relationships/notesSlide" Target="/ppt/notesSlides/notesSlide4.xml" Id="Rb120c76dbe2349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97fc43a1814731" /><Relationship Type="http://schemas.openxmlformats.org/officeDocument/2006/relationships/notesSlide" Target="/ppt/notesSlides/notesSlide5.xml" Id="Rba236348765d4d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4064be16f44d9e" /><Relationship Type="http://schemas.openxmlformats.org/officeDocument/2006/relationships/notesSlide" Target="/ppt/notesSlides/notesSlide6.xml" Id="R4b14c3082c2e48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6d76fc171c4f28" /><Relationship Type="http://schemas.openxmlformats.org/officeDocument/2006/relationships/notesSlide" Target="/ppt/notesSlides/notesSlide7.xml" Id="R3b98f51c84c049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255b9a42a04037" /><Relationship Type="http://schemas.openxmlformats.org/officeDocument/2006/relationships/notesSlide" Target="/ppt/notesSlides/notesSlide8.xml" Id="R732ba0d9625e46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c871635ac94d64" /><Relationship Type="http://schemas.openxmlformats.org/officeDocument/2006/relationships/notesSlide" Target="/ppt/notesSlides/notesSlide9.xml" Id="R7299c7cb7d8a48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35b298547a4071" /><Relationship Type="http://schemas.openxmlformats.org/officeDocument/2006/relationships/notesSlide" Target="/ppt/notesSlides/notesSlide10.xml" Id="Rfb24b96a400b46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b99f4ea5814906" /><Relationship Type="http://schemas.openxmlformats.org/officeDocument/2006/relationships/notesSlide" Target="/ppt/notesSlides/notesSlide11.xml" Id="Rf98b166e5fce4c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fefe14e04fb4d1e" /><Relationship Type="http://schemas.openxmlformats.org/officeDocument/2006/relationships/image" Target="/ppt/media/image2.png" Id="Re195c6c805de4897" /><Relationship Type="http://schemas.openxmlformats.org/officeDocument/2006/relationships/image" Target="/ppt/media/image3.png" Id="R00732abf24e54f60" /><Relationship Type="http://schemas.openxmlformats.org/officeDocument/2006/relationships/notesSlide" Target="/ppt/notesSlides/notesSlide12.xml" Id="R55acf2b0a24d43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1c38d481e941d5" /><Relationship Type="http://schemas.openxmlformats.org/officeDocument/2006/relationships/notesSlide" Target="/ppt/notesSlides/notesSlide13.xml" Id="R43e4e427606949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df435bc523c4907" /><Relationship Type="http://schemas.openxmlformats.org/officeDocument/2006/relationships/notesSlide" Target="/ppt/notesSlides/notesSlide14.xml" Id="R679cf0e8576543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e4dba448d144729" /><Relationship Type="http://schemas.openxmlformats.org/officeDocument/2006/relationships/notesSlide" Target="/ppt/notesSlides/notesSlide15.xml" Id="R44a8b1893ccd404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f036277a454dbb" /><Relationship Type="http://schemas.openxmlformats.org/officeDocument/2006/relationships/notesSlide" Target="/ppt/notesSlides/notesSlide16.xml" Id="Rcdc5aa3d721547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55269dd78c456b" /><Relationship Type="http://schemas.openxmlformats.org/officeDocument/2006/relationships/chart" Target="/ppt/slides/charts/chart1.xml" Id="Rbace77ea2e5f4fc4" /><Relationship Type="http://schemas.openxmlformats.org/officeDocument/2006/relationships/notesSlide" Target="/ppt/notesSlides/notesSlide17.xml" Id="Reb6bd92515f747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bf3645988a404c" /><Relationship Type="http://schemas.openxmlformats.org/officeDocument/2006/relationships/notesSlide" Target="/ppt/notesSlides/notesSlide18.xml" Id="R8067458f65ed47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6e320d5fea4a21" /><Relationship Type="http://schemas.openxmlformats.org/officeDocument/2006/relationships/notesSlide" Target="/ppt/notesSlides/notesSlide19.xml" Id="Rb4939c8ba4c743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eff976b9e1402d" /><Relationship Type="http://schemas.openxmlformats.org/officeDocument/2006/relationships/notesSlide" Target="/ppt/notesSlides/notesSlide20.xml" Id="R4bfb4788255445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61cdc3ddf92422d" /><Relationship Type="http://schemas.openxmlformats.org/officeDocument/2006/relationships/image" Target="/ppt/media/image4.png" Id="R5bfac01d67414b56" /><Relationship Type="http://schemas.openxmlformats.org/officeDocument/2006/relationships/notesSlide" Target="/ppt/notesSlides/notesSlide21.xml" Id="R52ca18b7c5c84906" /></Relationships>
</file>

<file path=ppt/slides/charts/chart1.xml><?xml version="1.0" encoding="utf-8"?>
<c:chartSpace xmlns:c="http://schemas.openxmlformats.org/drawingml/2006/chart">
  <c:lang val="en-US"/>
  <c:chart>
    <c:plotArea>
      <c:barChart>
        <c:barDir val="col"/>
        <c:grouping val="clustered"/>
        <c:varyColors val="1"/>
        <c:ser>
          <c:idx val="0"/>
          <c:order val="0"/>
          <c:tx>
            <c:v>SUS score</c:v>
          </c:tx>
          <c:spPr>
            <a:solidFill xmlns:a="http://schemas.openxmlformats.org/drawingml/2006/main">
              <a:srgbClr val="FF6B62"/>
            </a:solidFill>
          </c:spPr>
          <c:dPt>
            <c:idx val="0"/>
            <c:invertIfNegative val="0"/>
            <c:spPr>
              <a:solidFill xmlns:a="http://schemas.openxmlformats.org/drawingml/2006/main">
                <a:srgbClr val="7C83FD"/>
              </a:solidFill>
            </c:spPr>
          </c:dPt>
          <c:dPt>
            <c:idx val="1"/>
            <c:invertIfNegative val="0"/>
            <c:spPr>
              <a:solidFill xmlns:a="http://schemas.openxmlformats.org/drawingml/2006/main">
                <a:srgbClr val="FF6B62"/>
              </a:solidFill>
            </c:spPr>
          </c:dPt>
          <c:dPt>
            <c:idx val="2"/>
            <c:invertIfNegative val="0"/>
            <c:spPr>
              <a:solidFill xmlns:a="http://schemas.openxmlformats.org/drawingml/2006/main">
                <a:srgbClr val="2ED9A4"/>
              </a:solidFill>
            </c:spPr>
          </c:dPt>
          <c:dPt>
            <c:idx val="3"/>
            <c:invertIfNegative val="0"/>
            <c:spPr>
              <a:solidFill xmlns:a="http://schemas.openxmlformats.org/drawingml/2006/main">
                <a:srgbClr val="FFB020"/>
              </a:solidFill>
            </c:spPr>
          </c:dPt>
          <c:dPt>
            <c:idx val="4"/>
            <c:invertIfNegative val="0"/>
            <c:spPr>
              <a:solidFill xmlns:a="http://schemas.openxmlformats.org/drawingml/2006/main">
                <a:srgbClr val="56C4FF"/>
              </a:solidFill>
            </c:spPr>
          </c:dPt>
          <c:cat>
            <c:strLit>
              <c:ptCount val="5"/>
              <c:pt idx="0">
                <c:v>User 1</c:v>
              </c:pt>
              <c:pt idx="1">
                <c:v>User 2</c:v>
              </c:pt>
              <c:pt idx="2">
                <c:v>User 3</c:v>
              </c:pt>
              <c:pt idx="3">
                <c:v>User 4</c:v>
              </c:pt>
              <c:pt idx="4">
                <c:v>User 5</c:v>
              </c:pt>
            </c:strLit>
          </c:cat>
          <c:val>
            <c:numLit>
              <c:formatCode>0.0</c:formatCode>
              <c:ptCount val="5"/>
              <c:pt idx="0">
                <c:v>87.5</c:v>
              </c:pt>
              <c:pt idx="1">
                <c:v>90</c:v>
              </c:pt>
              <c:pt idx="2">
                <c:v>92.5</c:v>
              </c:pt>
              <c:pt idx="3">
                <c:v>95</c:v>
              </c:pt>
              <c:pt idx="4">
                <c:v>90</c:v>
              </c:pt>
            </c:numLit>
          </c:val>
        </c:ser>
        <c:dLbls>
          <c:txPr>
            <a:bodyPr xmlns:a="http://schemas.openxmlformats.org/drawingml/2006/main" anchorCtr="1"/>
            <a:lstStyle xmlns:a="http://schemas.openxmlformats.org/drawingml/2006/main"/>
            <a:p xmlns:a="http://schemas.openxmlformats.org/drawingml/2006/main">
              <a:pPr>
                <a:defRPr sz="1050" b="1">
                  <a:solidFill>
                    <a:srgbClr val="F8F6FF"/>
                  </a:solidFill>
                  <a:latin typeface="Calibri"/>
                  <a:ea typeface="Calibri"/>
                  <a:cs typeface="Calibri"/>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F87AC"/>
            </a:solidFill>
            <a:prstDash val="solid"/>
          </a:ln>
        </c:spPr>
        <c:txPr>
          <a:bodyPr xmlns:a="http://schemas.openxmlformats.org/drawingml/2006/main" anchorCtr="1"/>
          <a:lstStyle xmlns:a="http://schemas.openxmlformats.org/drawingml/2006/main"/>
          <a:p xmlns:a="http://schemas.openxmlformats.org/drawingml/2006/main">
            <a:pPr>
              <a:defRPr sz="1050">
                <a:solidFill>
                  <a:srgbClr val="B8B0D4"/>
                </a:solidFill>
                <a:latin typeface="Calibri"/>
                <a:ea typeface="Calibri"/>
                <a:cs typeface="Calibri"/>
              </a:defRPr>
            </a:pPr>
          </a:p>
        </c:txPr>
        <c:crossAx val="48672768"/>
      </c:catAx>
      <c:valAx>
        <c:axId val="48672768"/>
        <c:scaling>
          <c:orientation val="minMax"/>
          <c:max val="100"/>
          <c:min val="0"/>
        </c:scaling>
        <c:delete val="0"/>
        <c:axPos val="l"/>
        <c:majorGridlines>
          <c:spPr>
            <a:ln xmlns:a="http://schemas.openxmlformats.org/drawingml/2006/main" w="9525">
              <a:solidFill>
                <a:srgbClr val="3A3160"/>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a:solidFill>
                  <a:srgbClr val="B8B0D4"/>
                </a:solidFill>
                <a:latin typeface="Calibri"/>
                <a:ea typeface="Calibri"/>
                <a:cs typeface="Calibri"/>
              </a:defRPr>
            </a:pPr>
          </a:p>
        </c:txPr>
        <c:crossAx val="48650112"/>
        <c:crossBetween val="between"/>
        <c:majorUnit val="20"/>
      </c:valAx>
      <c:spPr>
        <a:solidFill xmlns:a="http://schemas.openxmlformats.org/drawingml/2006/main">
          <a:srgbClr val="1A1530"/>
        </a:solidFill>
        <a:ln xmlns:a="http://schemas.openxmlformats.org/drawingml/2006/main" w="0">
          <a:noFill/>
        </a:ln>
      </c:spPr>
    </c:plotArea>
    <c:plotVisOnly val="1"/>
  </c:chart>
  <c:spPr>
    <a:solidFill xmlns:a="http://schemas.openxmlformats.org/drawingml/2006/main">
      <a:srgbClr val="1A153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0B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139702-273C-498B-9066-5B5B00B1BC5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C78B2E-5DA8-4A2E-8D4A-FBB1AFE2CEC3}"/>
              </a:ext>
            </a:extLst>
          </p:cNvPr>
          <p:cNvSpPr>
            <a:spLocks xmlns:a="http://schemas.openxmlformats.org/drawingml/2006/main" noGrp="1"/>
          </p:cNvSpPr>
          <p:nvPr/>
        </p:nvSpPr>
        <p:spPr>
          <a:xfrm xmlns:a="http://schemas.openxmlformats.org/drawingml/2006/main">
            <a:off x="-1143000" y="4857750"/>
            <a:ext cx="3714750" cy="3714750"/>
          </a:xfrm>
          <a:prstGeom xmlns:a="http://schemas.openxmlformats.org/drawingml/2006/main" prst="ellipse">
            <a:avLst/>
          </a:prstGeom>
          <a:solidFill xmlns:a="http://schemas.openxmlformats.org/drawingml/2006/main">
            <a:srgbClr val="2E275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4246D8-5DF1-4FCD-A583-155F2BB0D745}"/>
              </a:ext>
            </a:extLst>
          </p:cNvPr>
          <p:cNvSpPr>
            <a:spLocks xmlns:a="http://schemas.openxmlformats.org/drawingml/2006/main" noGrp="1"/>
          </p:cNvSpPr>
          <p:nvPr/>
        </p:nvSpPr>
        <p:spPr>
          <a:xfrm xmlns:a="http://schemas.openxmlformats.org/drawingml/2006/main">
            <a:off x="10287000" y="-1143000"/>
            <a:ext cx="2857500" cy="2857500"/>
          </a:xfrm>
          <a:prstGeom xmlns:a="http://schemas.openxmlformats.org/drawingml/2006/main" prst="ellipse">
            <a:avLst/>
          </a:prstGeom>
          <a:solidFill xmlns:a="http://schemas.openxmlformats.org/drawingml/2006/main">
            <a:srgbClr val="FF4D7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3059B2-FC57-412F-B491-51E793EFADC0}"/>
              </a:ext>
            </a:extLst>
          </p:cNvPr>
          <p:cNvSpPr>
            <a:spLocks xmlns:a="http://schemas.openxmlformats.org/drawingml/2006/main" noGrp="1"/>
          </p:cNvSpPr>
          <p:nvPr/>
        </p:nvSpPr>
        <p:spPr>
          <a:xfrm xmlns:a="http://schemas.openxmlformats.org/drawingml/2006/main">
            <a:off x="685800" y="590550"/>
            <a:ext cx="2381250" cy="323850"/>
          </a:xfrm>
          <a:prstGeom xmlns:a="http://schemas.openxmlformats.org/drawingml/2006/main" prst="roundRect">
            <a:avLst>
              <a:gd name="adj" fmla="val 35294"/>
            </a:avLst>
          </a:prstGeom>
          <a:solidFill xmlns:a="http://schemas.openxmlformats.org/drawingml/2006/main">
            <a:srgbClr val="3A316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BD2868-35F5-4086-8F39-AFFEBC078B44}"/>
              </a:ext>
            </a:extLst>
          </p:cNvPr>
          <p:cNvSpPr>
            <a:spLocks xmlns:a="http://schemas.openxmlformats.org/drawingml/2006/main" noGrp="1"/>
          </p:cNvSpPr>
          <p:nvPr/>
        </p:nvSpPr>
        <p:spPr>
          <a:xfrm xmlns:a="http://schemas.openxmlformats.org/drawingml/2006/main">
            <a:off x="685800" y="6000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B8B0D4"/>
                </a:solidFill>
                <a:latin typeface="Calibri"/>
                <a:ea typeface="Calibri"/>
                <a:cs typeface="Calibri"/>
              </a:defRPr>
            </a:pPr>
            <a:r>
              <a:rPr sz="1125" b="1">
                <a:solidFill>
                  <a:srgbClr val="B8B0D4"/>
                </a:solidFill>
                <a:latin typeface="Calibri"/>
                <a:ea typeface="Calibri"/>
                <a:cs typeface="Calibri"/>
              </a:rPr>
              <a:t>FYP II · FINAL PRESENTATION</a:t>
            </a:r>
          </a:p>
        </p:txBody>
      </p:sp>
      <p:sp>
        <p:nvSpPr>
          <p:cNvPr id="6" name="">
            <a:extLst xmlns:a="http://schemas.openxmlformats.org/drawingml/2006/main">
              <a:ext uri="{FF2B5EF4-FFF2-40B4-BE49-F238E27FC236}">
                <a16:creationId xmlns:a16="http://schemas.microsoft.com/office/drawing/2014/main" id="{128D6B85-FF36-4F1A-A16E-ACFF15AE3F06}"/>
              </a:ext>
            </a:extLst>
          </p:cNvPr>
          <p:cNvSpPr>
            <a:spLocks xmlns:a="http://schemas.openxmlformats.org/drawingml/2006/main" noGrp="1"/>
          </p:cNvSpPr>
          <p:nvPr/>
        </p:nvSpPr>
        <p:spPr>
          <a:xfrm xmlns:a="http://schemas.openxmlformats.org/drawingml/2006/main">
            <a:off x="685800" y="12573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8F6FF"/>
                </a:solidFill>
                <a:latin typeface="Calibri"/>
                <a:ea typeface="Calibri"/>
                <a:cs typeface="Calibri"/>
              </a:defRPr>
            </a:pPr>
            <a:r>
              <a:rPr sz="4050" b="1">
                <a:solidFill>
                  <a:srgbClr val="F8F6FF"/>
                </a:solidFill>
                <a:latin typeface="Calibri"/>
                <a:ea typeface="Calibri"/>
                <a:cs typeface="Calibri"/>
              </a:rPr>
              <a:t>MindCare</a:t>
            </a:r>
          </a:p>
        </p:txBody>
      </p:sp>
      <p:sp>
        <p:nvSpPr>
          <p:cNvPr id="7" name="">
            <a:extLst xmlns:a="http://schemas.openxmlformats.org/drawingml/2006/main">
              <a:ext uri="{FF2B5EF4-FFF2-40B4-BE49-F238E27FC236}">
                <a16:creationId xmlns:a16="http://schemas.microsoft.com/office/drawing/2014/main" id="{2629D803-31A7-4F27-B5D2-E8D77FCFCEF9}"/>
              </a:ext>
            </a:extLst>
          </p:cNvPr>
          <p:cNvSpPr>
            <a:spLocks xmlns:a="http://schemas.openxmlformats.org/drawingml/2006/main" noGrp="1"/>
          </p:cNvSpPr>
          <p:nvPr/>
        </p:nvSpPr>
        <p:spPr>
          <a:xfrm xmlns:a="http://schemas.openxmlformats.org/drawingml/2006/main">
            <a:off x="685800" y="1952625"/>
            <a:ext cx="5429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6B62"/>
                </a:solidFill>
                <a:latin typeface="Calibri"/>
                <a:ea typeface="Calibri"/>
                <a:cs typeface="Calibri"/>
              </a:defRPr>
            </a:pPr>
            <a:r>
              <a:rPr sz="2850" b="1">
                <a:solidFill>
                  <a:srgbClr val="FF6B62"/>
                </a:solidFill>
                <a:latin typeface="Calibri"/>
                <a:ea typeface="Calibri"/>
                <a:cs typeface="Calibri"/>
              </a:rPr>
              <a:t>Cognitive and Daily Assistance</a:t>
            </a:r>
          </a:p>
          <a:p xmlns:a="http://schemas.openxmlformats.org/drawingml/2006/main">
            <a:pPr algn="l">
              <a:defRPr sz="2850" b="1">
                <a:solidFill>
                  <a:srgbClr val="FF6B62"/>
                </a:solidFill>
                <a:latin typeface="Calibri"/>
                <a:ea typeface="Calibri"/>
                <a:cs typeface="Calibri"/>
              </a:defRPr>
            </a:pPr>
            <a:r>
              <a:rPr sz="2850" b="1">
                <a:solidFill>
                  <a:srgbClr val="FF6B62"/>
                </a:solidFill>
                <a:latin typeface="Calibri"/>
                <a:ea typeface="Calibri"/>
                <a:cs typeface="Calibri"/>
              </a:rPr>
              <a:t>for Dementia Care</a:t>
            </a:r>
          </a:p>
        </p:txBody>
      </p:sp>
      <p:sp>
        <p:nvSpPr>
          <p:cNvPr id="8" name="">
            <a:extLst xmlns:a="http://schemas.openxmlformats.org/drawingml/2006/main">
              <a:ext uri="{FF2B5EF4-FFF2-40B4-BE49-F238E27FC236}">
                <a16:creationId xmlns:a16="http://schemas.microsoft.com/office/drawing/2014/main" id="{7ECF152C-1D44-4824-858B-C3704DE180A3}"/>
              </a:ext>
            </a:extLst>
          </p:cNvPr>
          <p:cNvSpPr>
            <a:spLocks xmlns:a="http://schemas.openxmlformats.org/drawingml/2006/main" noGrp="1"/>
          </p:cNvSpPr>
          <p:nvPr/>
        </p:nvSpPr>
        <p:spPr>
          <a:xfrm xmlns:a="http://schemas.openxmlformats.org/drawingml/2006/main">
            <a:off x="704850" y="32194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B8B0D4"/>
                </a:solidFill>
                <a:latin typeface="Calibri"/>
                <a:ea typeface="Calibri"/>
                <a:cs typeface="Calibri"/>
              </a:defRPr>
            </a:pPr>
            <a:r>
              <a:rPr sz="1500" b="0">
                <a:solidFill>
                  <a:srgbClr val="B8B0D4"/>
                </a:solidFill>
                <a:latin typeface="Calibri"/>
                <a:ea typeface="Calibri"/>
                <a:cs typeface="Calibri"/>
              </a:rPr>
              <a:t>From an initial reminder concept to a personalised, adaptive and caregiver-connected system</a:t>
            </a:r>
          </a:p>
        </p:txBody>
      </p:sp>
      <p:sp>
        <p:nvSpPr>
          <p:cNvPr id="9" name="">
            <a:extLst xmlns:a="http://schemas.openxmlformats.org/drawingml/2006/main">
              <a:ext uri="{FF2B5EF4-FFF2-40B4-BE49-F238E27FC236}">
                <a16:creationId xmlns:a16="http://schemas.microsoft.com/office/drawing/2014/main" id="{17332DF5-60B5-450F-B00C-BCFB6F4D3142}"/>
              </a:ext>
            </a:extLst>
          </p:cNvPr>
          <p:cNvSpPr>
            <a:spLocks xmlns:a="http://schemas.openxmlformats.org/drawingml/2006/main" noGrp="1"/>
          </p:cNvSpPr>
          <p:nvPr/>
        </p:nvSpPr>
        <p:spPr>
          <a:xfrm xmlns:a="http://schemas.openxmlformats.org/drawingml/2006/main">
            <a:off x="704850" y="5600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F6FF"/>
                </a:solidFill>
                <a:latin typeface="Calibri"/>
                <a:ea typeface="Calibri"/>
                <a:cs typeface="Calibri"/>
              </a:defRPr>
            </a:pPr>
            <a:r>
              <a:rPr sz="1350" b="1">
                <a:solidFill>
                  <a:srgbClr val="F8F6FF"/>
                </a:solidFill>
                <a:latin typeface="Calibri"/>
                <a:ea typeface="Calibri"/>
                <a:cs typeface="Calibri"/>
              </a:rPr>
              <a:t>ANGEL YAP YOON YING · 2205499</a:t>
            </a:r>
          </a:p>
        </p:txBody>
      </p:sp>
      <p:sp>
        <p:nvSpPr>
          <p:cNvPr id="10" name="">
            <a:extLst xmlns:a="http://schemas.openxmlformats.org/drawingml/2006/main">
              <a:ext uri="{FF2B5EF4-FFF2-40B4-BE49-F238E27FC236}">
                <a16:creationId xmlns:a16="http://schemas.microsoft.com/office/drawing/2014/main" id="{9EB3EDAE-B2E7-4E33-A900-0F274676F639}"/>
              </a:ext>
            </a:extLst>
          </p:cNvPr>
          <p:cNvSpPr>
            <a:spLocks xmlns:a="http://schemas.openxmlformats.org/drawingml/2006/main" noGrp="1"/>
          </p:cNvSpPr>
          <p:nvPr/>
        </p:nvSpPr>
        <p:spPr>
          <a:xfrm xmlns:a="http://schemas.openxmlformats.org/drawingml/2006/main">
            <a:off x="704850" y="59245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Universiti Tunku Abdul Rahman</a:t>
            </a:r>
          </a:p>
        </p:txBody>
      </p:sp>
      <p:sp>
        <p:nvSpPr>
          <p:cNvPr id="11" name="">
            <a:extLst xmlns:a="http://schemas.openxmlformats.org/drawingml/2006/main">
              <a:ext uri="{FF2B5EF4-FFF2-40B4-BE49-F238E27FC236}">
                <a16:creationId xmlns:a16="http://schemas.microsoft.com/office/drawing/2014/main" id="{866E12A9-B78F-4BAB-9308-28CF01C6B2E1}"/>
              </a:ext>
            </a:extLst>
          </p:cNvPr>
          <p:cNvSpPr>
            <a:spLocks xmlns:a="http://schemas.openxmlformats.org/drawingml/2006/main" noGrp="1"/>
          </p:cNvSpPr>
          <p:nvPr/>
        </p:nvSpPr>
        <p:spPr>
          <a:xfrm xmlns:a="http://schemas.openxmlformats.org/drawingml/2006/main">
            <a:off x="6838950" y="1066800"/>
            <a:ext cx="4762500" cy="4991100"/>
          </a:xfrm>
          <a:prstGeom xmlns:a="http://schemas.openxmlformats.org/drawingml/2006/main" prst="roundRect">
            <a:avLst>
              <a:gd name="adj" fmla="val 3200"/>
            </a:avLst>
          </a:prstGeom>
          <a:solidFill xmlns:a="http://schemas.openxmlformats.org/drawingml/2006/main">
            <a:srgbClr val="100B2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9AB933A-C0A4-459E-9607-BF85F53F2E2E}"/>
              </a:ext>
            </a:extLst>
          </p:cNvPr>
          <p:cNvSpPr>
            <a:spLocks xmlns:a="http://schemas.openxmlformats.org/drawingml/2006/main" noGrp="1"/>
          </p:cNvSpPr>
          <p:nvPr/>
        </p:nvSpPr>
        <p:spPr>
          <a:xfrm xmlns:a="http://schemas.openxmlformats.org/drawingml/2006/main">
            <a:off x="6724650" y="933450"/>
            <a:ext cx="4838700" cy="5067300"/>
          </a:xfrm>
          <a:prstGeom xmlns:a="http://schemas.openxmlformats.org/drawingml/2006/main" prst="roundRect">
            <a:avLst>
              <a:gd name="adj" fmla="val 3150"/>
            </a:avLst>
          </a:prstGeom>
          <a:solidFill xmlns:a="http://schemas.openxmlformats.org/drawingml/2006/main">
            <a:srgbClr val="3A3160"/>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14f860ca9274900"/>
          <a:srcRect xmlns:a="http://schemas.openxmlformats.org/drawingml/2006/main" l="0" t="275" r="0" b="275"/>
          <a:stretch xmlns:a="http://schemas.openxmlformats.org/drawingml/2006/main">
            <a:fillRect l="0" t="0" r="0" b="0"/>
          </a:stretch>
        </p:blipFill>
        <p:spPr>
          <a:xfrm xmlns:a="http://schemas.openxmlformats.org/drawingml/2006/main">
            <a:off x="6762750" y="971550"/>
            <a:ext cx="4762500" cy="4991100"/>
          </a:xfrm>
          <a:prstGeom xmlns:a="http://schemas.openxmlformats.org/drawingml/2006/main" prst="roundRect">
            <a:avLst>
              <a:gd name="adj" fmla="val 2400"/>
            </a:avLst>
          </a:prstGeom>
        </p:spPr>
      </p:pic>
    </p:spTree>
    <p:extLst>
      <p:ext uri="{BB962C8B-B14F-4D97-AF65-F5344CB8AC3E}">
        <p14:creationId xmlns:p14="http://schemas.microsoft.com/office/powerpoint/2010/main" val="986911135"/>
      </p:ext>
    </p:extLst>
  </p:cSld>
</p:sld>
</file>

<file path=ppt/slides/slide2.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9D71D67-5AB9-4565-B301-7B1ED40C97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41A766-3BA2-4B28-94A0-DE5D5922AEB2}"/>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PROJECT EVOLUTION</a:t>
            </a:r>
          </a:p>
        </p:txBody>
      </p:sp>
      <p:sp>
        <p:nvSpPr>
          <p:cNvPr id="3" name="">
            <a:extLst xmlns:a="http://schemas.openxmlformats.org/drawingml/2006/main">
              <a:ext uri="{FF2B5EF4-FFF2-40B4-BE49-F238E27FC236}">
                <a16:creationId xmlns:a16="http://schemas.microsoft.com/office/drawing/2014/main" id="{F9089EF6-08D6-4555-947C-8D4C4664B1A1}"/>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What changed from proposal to final product</a:t>
            </a:r>
          </a:p>
        </p:txBody>
      </p:sp>
      <p:sp>
        <p:nvSpPr>
          <p:cNvPr id="4" name="">
            <a:extLst xmlns:a="http://schemas.openxmlformats.org/drawingml/2006/main">
              <a:ext uri="{FF2B5EF4-FFF2-40B4-BE49-F238E27FC236}">
                <a16:creationId xmlns:a16="http://schemas.microsoft.com/office/drawing/2014/main" id="{452A3E11-8BE7-402B-AD0A-D2138346FA8E}"/>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report transformed a broad concept into a traceable, personalised care platform.</a:t>
            </a:r>
          </a:p>
        </p:txBody>
      </p:sp>
      <p:sp>
        <p:nvSpPr>
          <p:cNvPr id="5" name="">
            <a:extLst xmlns:a="http://schemas.openxmlformats.org/drawingml/2006/main">
              <a:ext uri="{FF2B5EF4-FFF2-40B4-BE49-F238E27FC236}">
                <a16:creationId xmlns:a16="http://schemas.microsoft.com/office/drawing/2014/main" id="{7A8AFA7A-4BA5-4A1C-97B3-D2FD283116FB}"/>
              </a:ext>
            </a:extLst>
          </p:cNvPr>
          <p:cNvSpPr>
            <a:spLocks xmlns:a="http://schemas.openxmlformats.org/drawingml/2006/main" noGrp="1"/>
          </p:cNvSpPr>
          <p:nvPr/>
        </p:nvSpPr>
        <p:spPr>
          <a:xfrm xmlns:a="http://schemas.openxmlformats.org/drawingml/2006/main">
            <a:off x="6477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07FCCF-DDAE-4215-8FF2-798244448FA4}"/>
              </a:ext>
            </a:extLst>
          </p:cNvPr>
          <p:cNvSpPr>
            <a:spLocks xmlns:a="http://schemas.openxmlformats.org/drawingml/2006/main" noGrp="1"/>
          </p:cNvSpPr>
          <p:nvPr/>
        </p:nvSpPr>
        <p:spPr>
          <a:xfrm xmlns:a="http://schemas.openxmlformats.org/drawingml/2006/main">
            <a:off x="819150" y="2028825"/>
            <a:ext cx="457200" cy="76200"/>
          </a:xfrm>
          <a:prstGeom xmlns:a="http://schemas.openxmlformats.org/drawingml/2006/main" prst="roundRect">
            <a:avLst>
              <a:gd name="adj" fmla="val 50000"/>
            </a:avLst>
          </a:prstGeom>
          <a:solidFill xmlns:a="http://schemas.openxmlformats.org/drawingml/2006/main">
            <a:srgbClr val="8F87A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7772F03-E168-4471-883B-285F54215E1D}"/>
              </a:ext>
            </a:extLst>
          </p:cNvPr>
          <p:cNvSpPr>
            <a:spLocks xmlns:a="http://schemas.openxmlformats.org/drawingml/2006/main" noGrp="1"/>
          </p:cNvSpPr>
          <p:nvPr/>
        </p:nvSpPr>
        <p:spPr>
          <a:xfrm xmlns:a="http://schemas.openxmlformats.org/drawingml/2006/main">
            <a:off x="8191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8F6FF"/>
                </a:solidFill>
                <a:latin typeface="Calibri"/>
                <a:ea typeface="Calibri"/>
                <a:cs typeface="Calibri"/>
              </a:defRPr>
            </a:pPr>
            <a:r>
              <a:rPr sz="2550" b="1">
                <a:solidFill>
                  <a:srgbClr val="F8F6FF"/>
                </a:solidFill>
                <a:latin typeface="Calibri"/>
                <a:ea typeface="Calibri"/>
                <a:cs typeface="Calibri"/>
              </a:rPr>
              <a:t>9</a:t>
            </a:r>
          </a:p>
        </p:txBody>
      </p:sp>
      <p:sp>
        <p:nvSpPr>
          <p:cNvPr id="8" name="">
            <a:extLst xmlns:a="http://schemas.openxmlformats.org/drawingml/2006/main">
              <a:ext uri="{FF2B5EF4-FFF2-40B4-BE49-F238E27FC236}">
                <a16:creationId xmlns:a16="http://schemas.microsoft.com/office/drawing/2014/main" id="{2933D133-CC30-4C60-954C-F39EE9BB2E11}"/>
              </a:ext>
            </a:extLst>
          </p:cNvPr>
          <p:cNvSpPr>
            <a:spLocks xmlns:a="http://schemas.openxmlformats.org/drawingml/2006/main" noGrp="1"/>
          </p:cNvSpPr>
          <p:nvPr/>
        </p:nvSpPr>
        <p:spPr>
          <a:xfrm xmlns:a="http://schemas.openxmlformats.org/drawingml/2006/main">
            <a:off x="819150" y="258127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broad functional requirements in the proposal</a:t>
            </a:r>
          </a:p>
        </p:txBody>
      </p:sp>
      <p:sp>
        <p:nvSpPr>
          <p:cNvPr id="9" name="">
            <a:extLst xmlns:a="http://schemas.openxmlformats.org/drawingml/2006/main">
              <a:ext uri="{FF2B5EF4-FFF2-40B4-BE49-F238E27FC236}">
                <a16:creationId xmlns:a16="http://schemas.microsoft.com/office/drawing/2014/main" id="{C3A1EC7F-2A06-4894-BFA7-864EA9375828}"/>
              </a:ext>
            </a:extLst>
          </p:cNvPr>
          <p:cNvSpPr>
            <a:spLocks xmlns:a="http://schemas.openxmlformats.org/drawingml/2006/main" noGrp="1"/>
          </p:cNvSpPr>
          <p:nvPr/>
        </p:nvSpPr>
        <p:spPr>
          <a:xfrm xmlns:a="http://schemas.openxmlformats.org/drawingml/2006/main">
            <a:off x="32385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91ACBB8-7979-4375-9841-5ED177E312EB}"/>
              </a:ext>
            </a:extLst>
          </p:cNvPr>
          <p:cNvSpPr>
            <a:spLocks xmlns:a="http://schemas.openxmlformats.org/drawingml/2006/main" noGrp="1"/>
          </p:cNvSpPr>
          <p:nvPr/>
        </p:nvSpPr>
        <p:spPr>
          <a:xfrm xmlns:a="http://schemas.openxmlformats.org/drawingml/2006/main">
            <a:off x="3409950" y="2028825"/>
            <a:ext cx="457200" cy="76200"/>
          </a:xfrm>
          <a:prstGeom xmlns:a="http://schemas.openxmlformats.org/drawingml/2006/main" prst="roundRect">
            <a:avLst>
              <a:gd name="adj" fmla="val 50000"/>
            </a:avLst>
          </a:prstGeom>
          <a:solidFill xmlns:a="http://schemas.openxmlformats.org/drawingml/2006/main">
            <a:srgbClr val="FF6B6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C6AB4CE-BBD2-4926-BF85-096D2D878E83}"/>
              </a:ext>
            </a:extLst>
          </p:cNvPr>
          <p:cNvSpPr>
            <a:spLocks xmlns:a="http://schemas.openxmlformats.org/drawingml/2006/main" noGrp="1"/>
          </p:cNvSpPr>
          <p:nvPr/>
        </p:nvSpPr>
        <p:spPr>
          <a:xfrm xmlns:a="http://schemas.openxmlformats.org/drawingml/2006/main">
            <a:off x="34099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8F6FF"/>
                </a:solidFill>
                <a:latin typeface="Calibri"/>
                <a:ea typeface="Calibri"/>
                <a:cs typeface="Calibri"/>
              </a:defRPr>
            </a:pPr>
            <a:r>
              <a:rPr sz="2550" b="1">
                <a:solidFill>
                  <a:srgbClr val="F8F6FF"/>
                </a:solidFill>
                <a:latin typeface="Calibri"/>
                <a:ea typeface="Calibri"/>
                <a:cs typeface="Calibri"/>
              </a:rPr>
              <a:t>33</a:t>
            </a:r>
          </a:p>
        </p:txBody>
      </p:sp>
      <p:sp>
        <p:nvSpPr>
          <p:cNvPr id="12" name="">
            <a:extLst xmlns:a="http://schemas.openxmlformats.org/drawingml/2006/main">
              <a:ext uri="{FF2B5EF4-FFF2-40B4-BE49-F238E27FC236}">
                <a16:creationId xmlns:a16="http://schemas.microsoft.com/office/drawing/2014/main" id="{D4B56207-38D6-4D03-90A2-5CA49240BE0E}"/>
              </a:ext>
            </a:extLst>
          </p:cNvPr>
          <p:cNvSpPr>
            <a:spLocks xmlns:a="http://schemas.openxmlformats.org/drawingml/2006/main" noGrp="1"/>
          </p:cNvSpPr>
          <p:nvPr/>
        </p:nvSpPr>
        <p:spPr>
          <a:xfrm xmlns:a="http://schemas.openxmlformats.org/drawingml/2006/main">
            <a:off x="3409950" y="258127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traceable functional requirements in the final report</a:t>
            </a:r>
          </a:p>
        </p:txBody>
      </p:sp>
      <p:sp>
        <p:nvSpPr>
          <p:cNvPr id="13" name="">
            <a:extLst xmlns:a="http://schemas.openxmlformats.org/drawingml/2006/main">
              <a:ext uri="{FF2B5EF4-FFF2-40B4-BE49-F238E27FC236}">
                <a16:creationId xmlns:a16="http://schemas.microsoft.com/office/drawing/2014/main" id="{6078BF47-C389-45BB-8733-CBCC7A9283E3}"/>
              </a:ext>
            </a:extLst>
          </p:cNvPr>
          <p:cNvSpPr>
            <a:spLocks xmlns:a="http://schemas.openxmlformats.org/drawingml/2006/main" noGrp="1"/>
          </p:cNvSpPr>
          <p:nvPr/>
        </p:nvSpPr>
        <p:spPr>
          <a:xfrm xmlns:a="http://schemas.openxmlformats.org/drawingml/2006/main">
            <a:off x="58293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6D0E3C9-E92A-400D-9464-DCBFA848B05A}"/>
              </a:ext>
            </a:extLst>
          </p:cNvPr>
          <p:cNvSpPr>
            <a:spLocks xmlns:a="http://schemas.openxmlformats.org/drawingml/2006/main" noGrp="1"/>
          </p:cNvSpPr>
          <p:nvPr/>
        </p:nvSpPr>
        <p:spPr>
          <a:xfrm xmlns:a="http://schemas.openxmlformats.org/drawingml/2006/main">
            <a:off x="6000750" y="2028825"/>
            <a:ext cx="457200" cy="76200"/>
          </a:xfrm>
          <a:prstGeom xmlns:a="http://schemas.openxmlformats.org/drawingml/2006/main" prst="roundRect">
            <a:avLst>
              <a:gd name="adj" fmla="val 50000"/>
            </a:avLst>
          </a:prstGeom>
          <a:solidFill xmlns:a="http://schemas.openxmlformats.org/drawingml/2006/main">
            <a:srgbClr val="7C83F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283BEFA-12AE-4B74-BB11-CEF16F3760AA}"/>
              </a:ext>
            </a:extLst>
          </p:cNvPr>
          <p:cNvSpPr>
            <a:spLocks xmlns:a="http://schemas.openxmlformats.org/drawingml/2006/main" noGrp="1"/>
          </p:cNvSpPr>
          <p:nvPr/>
        </p:nvSpPr>
        <p:spPr>
          <a:xfrm xmlns:a="http://schemas.openxmlformats.org/drawingml/2006/main">
            <a:off x="60007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8F6FF"/>
                </a:solidFill>
                <a:latin typeface="Calibri"/>
                <a:ea typeface="Calibri"/>
                <a:cs typeface="Calibri"/>
              </a:defRPr>
            </a:pPr>
            <a:r>
              <a:rPr sz="2550" b="1">
                <a:solidFill>
                  <a:srgbClr val="F8F6FF"/>
                </a:solidFill>
                <a:latin typeface="Calibri"/>
                <a:ea typeface="Calibri"/>
                <a:cs typeface="Calibri"/>
              </a:rPr>
              <a:t>4 → 5</a:t>
            </a:r>
          </a:p>
        </p:txBody>
      </p:sp>
      <p:sp>
        <p:nvSpPr>
          <p:cNvPr id="16" name="">
            <a:extLst xmlns:a="http://schemas.openxmlformats.org/drawingml/2006/main">
              <a:ext uri="{FF2B5EF4-FFF2-40B4-BE49-F238E27FC236}">
                <a16:creationId xmlns:a16="http://schemas.microsoft.com/office/drawing/2014/main" id="{91DA4549-F508-46A7-A213-384F2CBA2D3C}"/>
              </a:ext>
            </a:extLst>
          </p:cNvPr>
          <p:cNvSpPr>
            <a:spLocks xmlns:a="http://schemas.openxmlformats.org/drawingml/2006/main" noGrp="1"/>
          </p:cNvSpPr>
          <p:nvPr/>
        </p:nvSpPr>
        <p:spPr>
          <a:xfrm xmlns:a="http://schemas.openxmlformats.org/drawingml/2006/main">
            <a:off x="6000750" y="258127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problem statements after adding personalisation</a:t>
            </a:r>
          </a:p>
        </p:txBody>
      </p:sp>
      <p:sp>
        <p:nvSpPr>
          <p:cNvPr id="17" name="">
            <a:extLst xmlns:a="http://schemas.openxmlformats.org/drawingml/2006/main">
              <a:ext uri="{FF2B5EF4-FFF2-40B4-BE49-F238E27FC236}">
                <a16:creationId xmlns:a16="http://schemas.microsoft.com/office/drawing/2014/main" id="{E50A2771-534D-4824-A10D-63EF09978818}"/>
              </a:ext>
            </a:extLst>
          </p:cNvPr>
          <p:cNvSpPr>
            <a:spLocks xmlns:a="http://schemas.openxmlformats.org/drawingml/2006/main" noGrp="1"/>
          </p:cNvSpPr>
          <p:nvPr/>
        </p:nvSpPr>
        <p:spPr>
          <a:xfrm xmlns:a="http://schemas.openxmlformats.org/drawingml/2006/main">
            <a:off x="84201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4942CAD-AFC8-4ECA-AF1F-21F59FACFCA6}"/>
              </a:ext>
            </a:extLst>
          </p:cNvPr>
          <p:cNvSpPr>
            <a:spLocks xmlns:a="http://schemas.openxmlformats.org/drawingml/2006/main" noGrp="1"/>
          </p:cNvSpPr>
          <p:nvPr/>
        </p:nvSpPr>
        <p:spPr>
          <a:xfrm xmlns:a="http://schemas.openxmlformats.org/drawingml/2006/main">
            <a:off x="8591550" y="2028825"/>
            <a:ext cx="457200" cy="76200"/>
          </a:xfrm>
          <a:prstGeom xmlns:a="http://schemas.openxmlformats.org/drawingml/2006/main" prst="roundRect">
            <a:avLst>
              <a:gd name="adj" fmla="val 50000"/>
            </a:avLst>
          </a:prstGeom>
          <a:solidFill xmlns:a="http://schemas.openxmlformats.org/drawingml/2006/main">
            <a:srgbClr val="2ED9A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75929CA-7CAF-4951-A0F7-2564CA869C5D}"/>
              </a:ext>
            </a:extLst>
          </p:cNvPr>
          <p:cNvSpPr>
            <a:spLocks xmlns:a="http://schemas.openxmlformats.org/drawingml/2006/main" noGrp="1"/>
          </p:cNvSpPr>
          <p:nvPr/>
        </p:nvSpPr>
        <p:spPr>
          <a:xfrm xmlns:a="http://schemas.openxmlformats.org/drawingml/2006/main">
            <a:off x="85915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8F6FF"/>
                </a:solidFill>
                <a:latin typeface="Calibri"/>
                <a:ea typeface="Calibri"/>
                <a:cs typeface="Calibri"/>
              </a:defRPr>
            </a:pPr>
            <a:r>
              <a:rPr sz="2550" b="1">
                <a:solidFill>
                  <a:srgbClr val="F8F6FF"/>
                </a:solidFill>
                <a:latin typeface="Calibri"/>
                <a:ea typeface="Calibri"/>
                <a:cs typeface="Calibri"/>
              </a:rPr>
              <a:t>91.0</a:t>
            </a:r>
          </a:p>
        </p:txBody>
      </p:sp>
      <p:sp>
        <p:nvSpPr>
          <p:cNvPr id="20" name="">
            <a:extLst xmlns:a="http://schemas.openxmlformats.org/drawingml/2006/main">
              <a:ext uri="{FF2B5EF4-FFF2-40B4-BE49-F238E27FC236}">
                <a16:creationId xmlns:a16="http://schemas.microsoft.com/office/drawing/2014/main" id="{58823243-E246-429A-A59C-241AEF58F4E3}"/>
              </a:ext>
            </a:extLst>
          </p:cNvPr>
          <p:cNvSpPr>
            <a:spLocks xmlns:a="http://schemas.openxmlformats.org/drawingml/2006/main" noGrp="1"/>
          </p:cNvSpPr>
          <p:nvPr/>
        </p:nvSpPr>
        <p:spPr>
          <a:xfrm xmlns:a="http://schemas.openxmlformats.org/drawingml/2006/main">
            <a:off x="8591550" y="258127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average SUS score against an 85 target</a:t>
            </a:r>
          </a:p>
        </p:txBody>
      </p:sp>
      <p:sp>
        <p:nvSpPr>
          <p:cNvPr id="21" name="">
            <a:extLst xmlns:a="http://schemas.openxmlformats.org/drawingml/2006/main">
              <a:ext uri="{FF2B5EF4-FFF2-40B4-BE49-F238E27FC236}">
                <a16:creationId xmlns:a16="http://schemas.microsoft.com/office/drawing/2014/main" id="{A2F3A90B-9C7C-408C-8DAA-57AF5D77CD46}"/>
              </a:ext>
            </a:extLst>
          </p:cNvPr>
          <p:cNvSpPr>
            <a:spLocks xmlns:a="http://schemas.openxmlformats.org/drawingml/2006/main" noGrp="1"/>
          </p:cNvSpPr>
          <p:nvPr/>
        </p:nvSpPr>
        <p:spPr>
          <a:xfrm xmlns:a="http://schemas.openxmlformats.org/drawingml/2006/main">
            <a:off x="647700" y="3295650"/>
            <a:ext cx="10153650" cy="2171700"/>
          </a:xfrm>
          <a:prstGeom xmlns:a="http://schemas.openxmlformats.org/drawingml/2006/main" prst="roundRect">
            <a:avLst>
              <a:gd name="adj" fmla="val 7018"/>
            </a:avLst>
          </a:prstGeom>
          <a:solidFill xmlns:a="http://schemas.openxmlformats.org/drawingml/2006/main">
            <a:srgbClr val="2E275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17D9548-5208-407B-B0DE-168A3B93297F}"/>
              </a:ext>
            </a:extLst>
          </p:cNvPr>
          <p:cNvSpPr>
            <a:spLocks xmlns:a="http://schemas.openxmlformats.org/drawingml/2006/main" noGrp="1"/>
          </p:cNvSpPr>
          <p:nvPr/>
        </p:nvSpPr>
        <p:spPr>
          <a:xfrm xmlns:a="http://schemas.openxmlformats.org/drawingml/2006/main">
            <a:off x="914400" y="35528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Reminder app</a:t>
            </a:r>
          </a:p>
        </p:txBody>
      </p:sp>
      <p:sp>
        <p:nvSpPr>
          <p:cNvPr id="23" name="">
            <a:extLst xmlns:a="http://schemas.openxmlformats.org/drawingml/2006/main">
              <a:ext uri="{FF2B5EF4-FFF2-40B4-BE49-F238E27FC236}">
                <a16:creationId xmlns:a16="http://schemas.microsoft.com/office/drawing/2014/main" id="{994C6D64-4309-4266-BDAE-8C30D193B4BB}"/>
              </a:ext>
            </a:extLst>
          </p:cNvPr>
          <p:cNvSpPr>
            <a:spLocks xmlns:a="http://schemas.openxmlformats.org/drawingml/2006/main" noGrp="1"/>
          </p:cNvSpPr>
          <p:nvPr/>
        </p:nvSpPr>
        <p:spPr>
          <a:xfrm xmlns:a="http://schemas.openxmlformats.org/drawingml/2006/main">
            <a:off x="3048000" y="3533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24" name="">
            <a:extLst xmlns:a="http://schemas.openxmlformats.org/drawingml/2006/main">
              <a:ext uri="{FF2B5EF4-FFF2-40B4-BE49-F238E27FC236}">
                <a16:creationId xmlns:a16="http://schemas.microsoft.com/office/drawing/2014/main" id="{5D7C1842-B01B-4A4A-8FEC-A8369DD50668}"/>
              </a:ext>
            </a:extLst>
          </p:cNvPr>
          <p:cNvSpPr>
            <a:spLocks xmlns:a="http://schemas.openxmlformats.org/drawingml/2006/main" noGrp="1"/>
          </p:cNvSpPr>
          <p:nvPr/>
        </p:nvSpPr>
        <p:spPr>
          <a:xfrm xmlns:a="http://schemas.openxmlformats.org/drawingml/2006/main">
            <a:off x="3581400" y="35528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F6FF"/>
                </a:solidFill>
                <a:latin typeface="Calibri"/>
                <a:ea typeface="Calibri"/>
                <a:cs typeface="Calibri"/>
              </a:defRPr>
            </a:pPr>
            <a:r>
              <a:rPr sz="1350" b="1">
                <a:solidFill>
                  <a:srgbClr val="F8F6FF"/>
                </a:solidFill>
                <a:latin typeface="Calibri"/>
                <a:ea typeface="Calibri"/>
                <a:cs typeface="Calibri"/>
              </a:rPr>
              <a:t>Recurring occurrence engine with response-aware notifications</a:t>
            </a:r>
          </a:p>
        </p:txBody>
      </p:sp>
      <p:sp>
        <p:nvSpPr>
          <p:cNvPr id="25" name="">
            <a:extLst xmlns:a="http://schemas.openxmlformats.org/drawingml/2006/main">
              <a:ext uri="{FF2B5EF4-FFF2-40B4-BE49-F238E27FC236}">
                <a16:creationId xmlns:a16="http://schemas.microsoft.com/office/drawing/2014/main" id="{EA888CF9-53D9-4C93-BCF0-326C2EF162F9}"/>
              </a:ext>
            </a:extLst>
          </p:cNvPr>
          <p:cNvSpPr>
            <a:spLocks xmlns:a="http://schemas.openxmlformats.org/drawingml/2006/main" noGrp="1"/>
          </p:cNvSpPr>
          <p:nvPr/>
        </p:nvSpPr>
        <p:spPr>
          <a:xfrm xmlns:a="http://schemas.openxmlformats.org/drawingml/2006/main">
            <a:off x="914400" y="39909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Generic games</a:t>
            </a:r>
          </a:p>
        </p:txBody>
      </p:sp>
      <p:sp>
        <p:nvSpPr>
          <p:cNvPr id="26" name="">
            <a:extLst xmlns:a="http://schemas.openxmlformats.org/drawingml/2006/main">
              <a:ext uri="{FF2B5EF4-FFF2-40B4-BE49-F238E27FC236}">
                <a16:creationId xmlns:a16="http://schemas.microsoft.com/office/drawing/2014/main" id="{F6F49022-B1F1-4EB7-8F04-A402DE2683A1}"/>
              </a:ext>
            </a:extLst>
          </p:cNvPr>
          <p:cNvSpPr>
            <a:spLocks xmlns:a="http://schemas.openxmlformats.org/drawingml/2006/main" noGrp="1"/>
          </p:cNvSpPr>
          <p:nvPr/>
        </p:nvSpPr>
        <p:spPr>
          <a:xfrm xmlns:a="http://schemas.openxmlformats.org/drawingml/2006/main">
            <a:off x="3048000" y="39719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2E0148CE-E226-453A-AD6F-2D05B5BFFF23}"/>
              </a:ext>
            </a:extLst>
          </p:cNvPr>
          <p:cNvSpPr>
            <a:spLocks xmlns:a="http://schemas.openxmlformats.org/drawingml/2006/main" noGrp="1"/>
          </p:cNvSpPr>
          <p:nvPr/>
        </p:nvSpPr>
        <p:spPr>
          <a:xfrm xmlns:a="http://schemas.openxmlformats.org/drawingml/2006/main">
            <a:off x="3581400" y="39909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F6FF"/>
                </a:solidFill>
                <a:latin typeface="Calibri"/>
                <a:ea typeface="Calibri"/>
                <a:cs typeface="Calibri"/>
              </a:defRPr>
            </a:pPr>
            <a:r>
              <a:rPr sz="1350" b="1">
                <a:solidFill>
                  <a:srgbClr val="F8F6FF"/>
                </a:solidFill>
                <a:latin typeface="Calibri"/>
                <a:ea typeface="Calibri"/>
                <a:cs typeface="Calibri"/>
              </a:rPr>
              <a:t>Dementia type-and-stage game sets with errorless guidance</a:t>
            </a:r>
          </a:p>
        </p:txBody>
      </p:sp>
      <p:sp>
        <p:nvSpPr>
          <p:cNvPr id="28" name="">
            <a:extLst xmlns:a="http://schemas.openxmlformats.org/drawingml/2006/main">
              <a:ext uri="{FF2B5EF4-FFF2-40B4-BE49-F238E27FC236}">
                <a16:creationId xmlns:a16="http://schemas.microsoft.com/office/drawing/2014/main" id="{5D87067E-35DE-4A8D-982A-669D9D05B814}"/>
              </a:ext>
            </a:extLst>
          </p:cNvPr>
          <p:cNvSpPr>
            <a:spLocks xmlns:a="http://schemas.openxmlformats.org/drawingml/2006/main" noGrp="1"/>
          </p:cNvSpPr>
          <p:nvPr/>
        </p:nvSpPr>
        <p:spPr>
          <a:xfrm xmlns:a="http://schemas.openxmlformats.org/drawingml/2006/main">
            <a:off x="914400" y="44291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Fixed challenge</a:t>
            </a:r>
          </a:p>
        </p:txBody>
      </p:sp>
      <p:sp>
        <p:nvSpPr>
          <p:cNvPr id="29" name="">
            <a:extLst xmlns:a="http://schemas.openxmlformats.org/drawingml/2006/main">
              <a:ext uri="{FF2B5EF4-FFF2-40B4-BE49-F238E27FC236}">
                <a16:creationId xmlns:a16="http://schemas.microsoft.com/office/drawing/2014/main" id="{60F61C46-44C4-4BBF-A37E-F2862E20B04C}"/>
              </a:ext>
            </a:extLst>
          </p:cNvPr>
          <p:cNvSpPr>
            <a:spLocks xmlns:a="http://schemas.openxmlformats.org/drawingml/2006/main" noGrp="1"/>
          </p:cNvSpPr>
          <p:nvPr/>
        </p:nvSpPr>
        <p:spPr>
          <a:xfrm xmlns:a="http://schemas.openxmlformats.org/drawingml/2006/main">
            <a:off x="3048000" y="44100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30" name="">
            <a:extLst xmlns:a="http://schemas.openxmlformats.org/drawingml/2006/main">
              <a:ext uri="{FF2B5EF4-FFF2-40B4-BE49-F238E27FC236}">
                <a16:creationId xmlns:a16="http://schemas.microsoft.com/office/drawing/2014/main" id="{446F3438-4EA3-47D7-965C-C46284C39A2C}"/>
              </a:ext>
            </a:extLst>
          </p:cNvPr>
          <p:cNvSpPr>
            <a:spLocks xmlns:a="http://schemas.openxmlformats.org/drawingml/2006/main" noGrp="1"/>
          </p:cNvSpPr>
          <p:nvPr/>
        </p:nvSpPr>
        <p:spPr>
          <a:xfrm xmlns:a="http://schemas.openxmlformats.org/drawingml/2006/main">
            <a:off x="3581400" y="44291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F6FF"/>
                </a:solidFill>
                <a:latin typeface="Calibri"/>
                <a:ea typeface="Calibri"/>
                <a:cs typeface="Calibri"/>
              </a:defRPr>
            </a:pPr>
            <a:r>
              <a:rPr sz="1350" b="1">
                <a:solidFill>
                  <a:srgbClr val="F8F6FF"/>
                </a:solidFill>
                <a:latin typeface="Calibri"/>
                <a:ea typeface="Calibri"/>
                <a:cs typeface="Calibri"/>
              </a:rPr>
              <a:t>Per-game adaptive difficulty with caregiver override and audit history</a:t>
            </a:r>
          </a:p>
        </p:txBody>
      </p:sp>
      <p:sp>
        <p:nvSpPr>
          <p:cNvPr id="31" name="">
            <a:extLst xmlns:a="http://schemas.openxmlformats.org/drawingml/2006/main">
              <a:ext uri="{FF2B5EF4-FFF2-40B4-BE49-F238E27FC236}">
                <a16:creationId xmlns:a16="http://schemas.microsoft.com/office/drawing/2014/main" id="{662428D2-EB46-47D2-B3CF-1878618DF0F4}"/>
              </a:ext>
            </a:extLst>
          </p:cNvPr>
          <p:cNvSpPr>
            <a:spLocks xmlns:a="http://schemas.openxmlformats.org/drawingml/2006/main" noGrp="1"/>
          </p:cNvSpPr>
          <p:nvPr/>
        </p:nvSpPr>
        <p:spPr>
          <a:xfrm xmlns:a="http://schemas.openxmlformats.org/drawingml/2006/main">
            <a:off x="914400" y="4867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Basic monitoring</a:t>
            </a:r>
          </a:p>
        </p:txBody>
      </p:sp>
      <p:sp>
        <p:nvSpPr>
          <p:cNvPr id="32" name="">
            <a:extLst xmlns:a="http://schemas.openxmlformats.org/drawingml/2006/main">
              <a:ext uri="{FF2B5EF4-FFF2-40B4-BE49-F238E27FC236}">
                <a16:creationId xmlns:a16="http://schemas.microsoft.com/office/drawing/2014/main" id="{0CBD43ED-19F2-405C-95C8-C0C1404CC9E5}"/>
              </a:ext>
            </a:extLst>
          </p:cNvPr>
          <p:cNvSpPr>
            <a:spLocks xmlns:a="http://schemas.openxmlformats.org/drawingml/2006/main" noGrp="1"/>
          </p:cNvSpPr>
          <p:nvPr/>
        </p:nvSpPr>
        <p:spPr>
          <a:xfrm xmlns:a="http://schemas.openxmlformats.org/drawingml/2006/main">
            <a:off x="3048000" y="48482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33" name="">
            <a:extLst xmlns:a="http://schemas.openxmlformats.org/drawingml/2006/main">
              <a:ext uri="{FF2B5EF4-FFF2-40B4-BE49-F238E27FC236}">
                <a16:creationId xmlns:a16="http://schemas.microsoft.com/office/drawing/2014/main" id="{EEE81168-FCF9-4487-A85D-4DA1B2C5BE5B}"/>
              </a:ext>
            </a:extLst>
          </p:cNvPr>
          <p:cNvSpPr>
            <a:spLocks xmlns:a="http://schemas.openxmlformats.org/drawingml/2006/main" noGrp="1"/>
          </p:cNvSpPr>
          <p:nvPr/>
        </p:nvSpPr>
        <p:spPr>
          <a:xfrm xmlns:a="http://schemas.openxmlformats.org/drawingml/2006/main">
            <a:off x="3581400" y="48672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F6FF"/>
                </a:solidFill>
                <a:latin typeface="Calibri"/>
                <a:ea typeface="Calibri"/>
                <a:cs typeface="Calibri"/>
              </a:defRPr>
            </a:pPr>
            <a:r>
              <a:rPr sz="1350" b="1">
                <a:solidFill>
                  <a:srgbClr val="F8F6FF"/>
                </a:solidFill>
                <a:latin typeface="Calibri"/>
                <a:ea typeface="Calibri"/>
                <a:cs typeface="Calibri"/>
              </a:rPr>
              <a:t>Period analytics, game statistics and caregiver-only risk indicators</a:t>
            </a:r>
          </a:p>
        </p:txBody>
      </p:sp>
      <p:sp>
        <p:nvSpPr>
          <p:cNvPr id="34" name="">
            <a:extLst xmlns:a="http://schemas.openxmlformats.org/drawingml/2006/main">
              <a:ext uri="{FF2B5EF4-FFF2-40B4-BE49-F238E27FC236}">
                <a16:creationId xmlns:a16="http://schemas.microsoft.com/office/drawing/2014/main" id="{2B495A48-447C-4983-A9B8-9ABF25E51F5B}"/>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44–45; final report pp. 21–30, 51–54, 224–225.</a:t>
            </a:r>
          </a:p>
        </p:txBody>
      </p:sp>
      <p:sp>
        <p:nvSpPr>
          <p:cNvPr id="35" name="">
            <a:extLst xmlns:a="http://schemas.openxmlformats.org/drawingml/2006/main">
              <a:ext uri="{FF2B5EF4-FFF2-40B4-BE49-F238E27FC236}">
                <a16:creationId xmlns:a16="http://schemas.microsoft.com/office/drawing/2014/main" id="{351D10EE-6C95-4C77-95D5-28927D8E7391}"/>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02</a:t>
            </a:r>
          </a:p>
        </p:txBody>
      </p:sp>
    </p:spTree>
    <p:extLst>
      <p:ext uri="{BB962C8B-B14F-4D97-AF65-F5344CB8AC3E}">
        <p14:creationId xmlns:p14="http://schemas.microsoft.com/office/powerpoint/2010/main" val="759442720"/>
      </p:ext>
    </p:extLst>
  </p:cSld>
</p:sld>
</file>

<file path=ppt/slides/slide3.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91A2648-AE60-4534-9F98-D3D87D1DBF6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48B1CE-835C-450D-BB36-86217F25D043}"/>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1 · INTRODUCTION</a:t>
            </a:r>
          </a:p>
        </p:txBody>
      </p:sp>
      <p:sp>
        <p:nvSpPr>
          <p:cNvPr id="3" name="">
            <a:extLst xmlns:a="http://schemas.openxmlformats.org/drawingml/2006/main">
              <a:ext uri="{FF2B5EF4-FFF2-40B4-BE49-F238E27FC236}">
                <a16:creationId xmlns:a16="http://schemas.microsoft.com/office/drawing/2014/main" id="{23E51FB4-02BB-4DCB-A27B-4BB0A5DD32EF}"/>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Problem statement evolution</a:t>
            </a:r>
          </a:p>
        </p:txBody>
      </p:sp>
      <p:sp>
        <p:nvSpPr>
          <p:cNvPr id="4" name="">
            <a:extLst xmlns:a="http://schemas.openxmlformats.org/drawingml/2006/main">
              <a:ext uri="{FF2B5EF4-FFF2-40B4-BE49-F238E27FC236}">
                <a16:creationId xmlns:a16="http://schemas.microsoft.com/office/drawing/2014/main" id="{3987B2EE-DBF3-4D72-B5BA-D3FC8B97C2DB}"/>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Four original problems remained; a fifth was added after development exposed the need for personalisation.</a:t>
            </a:r>
          </a:p>
        </p:txBody>
      </p:sp>
      <p:sp>
        <p:nvSpPr>
          <p:cNvPr id="5" name="">
            <a:extLst xmlns:a="http://schemas.openxmlformats.org/drawingml/2006/main">
              <a:ext uri="{FF2B5EF4-FFF2-40B4-BE49-F238E27FC236}">
                <a16:creationId xmlns:a16="http://schemas.microsoft.com/office/drawing/2014/main" id="{57E65B1B-AAE5-4FD6-9855-484BF20C0049}"/>
              </a:ext>
            </a:extLst>
          </p:cNvPr>
          <p:cNvSpPr>
            <a:spLocks xmlns:a="http://schemas.openxmlformats.org/drawingml/2006/main" noGrp="1"/>
          </p:cNvSpPr>
          <p:nvPr/>
        </p:nvSpPr>
        <p:spPr>
          <a:xfrm xmlns:a="http://schemas.openxmlformats.org/drawingml/2006/main">
            <a:off x="647700" y="16764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F87AC"/>
                </a:solidFill>
                <a:latin typeface="Calibri"/>
                <a:ea typeface="Calibri"/>
                <a:cs typeface="Calibri"/>
              </a:defRPr>
            </a:pPr>
            <a:r>
              <a:rPr sz="2250" b="1">
                <a:solidFill>
                  <a:srgbClr val="8F87AC"/>
                </a:solidFill>
                <a:latin typeface="Calibri"/>
                <a:ea typeface="Calibri"/>
                <a:cs typeface="Calibri"/>
              </a:rPr>
              <a:t>01</a:t>
            </a:r>
          </a:p>
        </p:txBody>
      </p:sp>
      <p:sp>
        <p:nvSpPr>
          <p:cNvPr id="6" name="">
            <a:extLst xmlns:a="http://schemas.openxmlformats.org/drawingml/2006/main">
              <a:ext uri="{FF2B5EF4-FFF2-40B4-BE49-F238E27FC236}">
                <a16:creationId xmlns:a16="http://schemas.microsoft.com/office/drawing/2014/main" id="{543FE864-7BF6-4F7F-AC62-3ADB139724E0}"/>
              </a:ext>
            </a:extLst>
          </p:cNvPr>
          <p:cNvSpPr>
            <a:spLocks xmlns:a="http://schemas.openxmlformats.org/drawingml/2006/main" noGrp="1"/>
          </p:cNvSpPr>
          <p:nvPr/>
        </p:nvSpPr>
        <p:spPr>
          <a:xfrm xmlns:a="http://schemas.openxmlformats.org/drawingml/2006/main">
            <a:off x="1333500" y="16859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Daily tasks &amp; medication</a:t>
            </a:r>
          </a:p>
        </p:txBody>
      </p:sp>
      <p:sp>
        <p:nvSpPr>
          <p:cNvPr id="7" name="">
            <a:extLst xmlns:a="http://schemas.openxmlformats.org/drawingml/2006/main">
              <a:ext uri="{FF2B5EF4-FFF2-40B4-BE49-F238E27FC236}">
                <a16:creationId xmlns:a16="http://schemas.microsoft.com/office/drawing/2014/main" id="{A2351222-5D17-4F04-84BA-D7B7D51F2E21}"/>
              </a:ext>
            </a:extLst>
          </p:cNvPr>
          <p:cNvSpPr>
            <a:spLocks xmlns:a="http://schemas.openxmlformats.org/drawingml/2006/main" noGrp="1"/>
          </p:cNvSpPr>
          <p:nvPr/>
        </p:nvSpPr>
        <p:spPr>
          <a:xfrm xmlns:a="http://schemas.openxmlformats.org/drawingml/2006/main">
            <a:off x="1333500" y="20002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Memory and executive-function decline made routine adherence difficult.</a:t>
            </a:r>
          </a:p>
        </p:txBody>
      </p:sp>
      <p:sp>
        <p:nvSpPr>
          <p:cNvPr id="8" name="">
            <a:extLst xmlns:a="http://schemas.openxmlformats.org/drawingml/2006/main">
              <a:ext uri="{FF2B5EF4-FFF2-40B4-BE49-F238E27FC236}">
                <a16:creationId xmlns:a16="http://schemas.microsoft.com/office/drawing/2014/main" id="{B20A55A3-E96B-4321-ABA7-C442555D816D}"/>
              </a:ext>
            </a:extLst>
          </p:cNvPr>
          <p:cNvSpPr>
            <a:spLocks xmlns:a="http://schemas.openxmlformats.org/drawingml/2006/main" noGrp="1"/>
          </p:cNvSpPr>
          <p:nvPr/>
        </p:nvSpPr>
        <p:spPr>
          <a:xfrm xmlns:a="http://schemas.openxmlformats.org/drawingml/2006/main">
            <a:off x="647700" y="26479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F87AC"/>
                </a:solidFill>
                <a:latin typeface="Calibri"/>
                <a:ea typeface="Calibri"/>
                <a:cs typeface="Calibri"/>
              </a:defRPr>
            </a:pPr>
            <a:r>
              <a:rPr sz="2250" b="1">
                <a:solidFill>
                  <a:srgbClr val="8F87AC"/>
                </a:solidFill>
                <a:latin typeface="Calibri"/>
                <a:ea typeface="Calibri"/>
                <a:cs typeface="Calibri"/>
              </a:rPr>
              <a:t>02</a:t>
            </a:r>
          </a:p>
        </p:txBody>
      </p:sp>
      <p:sp>
        <p:nvSpPr>
          <p:cNvPr id="9" name="">
            <a:extLst xmlns:a="http://schemas.openxmlformats.org/drawingml/2006/main">
              <a:ext uri="{FF2B5EF4-FFF2-40B4-BE49-F238E27FC236}">
                <a16:creationId xmlns:a16="http://schemas.microsoft.com/office/drawing/2014/main" id="{F85367D0-FD3F-4D7F-9C33-FE3050F4C9C7}"/>
              </a:ext>
            </a:extLst>
          </p:cNvPr>
          <p:cNvSpPr>
            <a:spLocks xmlns:a="http://schemas.openxmlformats.org/drawingml/2006/main" noGrp="1"/>
          </p:cNvSpPr>
          <p:nvPr/>
        </p:nvSpPr>
        <p:spPr>
          <a:xfrm xmlns:a="http://schemas.openxmlformats.org/drawingml/2006/main">
            <a:off x="1333500" y="265747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Low motivation</a:t>
            </a:r>
          </a:p>
        </p:txBody>
      </p:sp>
      <p:sp>
        <p:nvSpPr>
          <p:cNvPr id="10" name="">
            <a:extLst xmlns:a="http://schemas.openxmlformats.org/drawingml/2006/main">
              <a:ext uri="{FF2B5EF4-FFF2-40B4-BE49-F238E27FC236}">
                <a16:creationId xmlns:a16="http://schemas.microsoft.com/office/drawing/2014/main" id="{BA1E1284-69AB-4A24-8D9B-CAD699E0DBDA}"/>
              </a:ext>
            </a:extLst>
          </p:cNvPr>
          <p:cNvSpPr>
            <a:spLocks xmlns:a="http://schemas.openxmlformats.org/drawingml/2006/main" noGrp="1"/>
          </p:cNvSpPr>
          <p:nvPr/>
        </p:nvSpPr>
        <p:spPr>
          <a:xfrm xmlns:a="http://schemas.openxmlformats.org/drawingml/2006/main">
            <a:off x="1333500" y="297180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Traditional prompts alone did not sustain participation.</a:t>
            </a:r>
          </a:p>
        </p:txBody>
      </p:sp>
      <p:sp>
        <p:nvSpPr>
          <p:cNvPr id="11" name="">
            <a:extLst xmlns:a="http://schemas.openxmlformats.org/drawingml/2006/main">
              <a:ext uri="{FF2B5EF4-FFF2-40B4-BE49-F238E27FC236}">
                <a16:creationId xmlns:a16="http://schemas.microsoft.com/office/drawing/2014/main" id="{3730FF66-14D8-4E71-949C-7412F21945C8}"/>
              </a:ext>
            </a:extLst>
          </p:cNvPr>
          <p:cNvSpPr>
            <a:spLocks xmlns:a="http://schemas.openxmlformats.org/drawingml/2006/main" noGrp="1"/>
          </p:cNvSpPr>
          <p:nvPr/>
        </p:nvSpPr>
        <p:spPr>
          <a:xfrm xmlns:a="http://schemas.openxmlformats.org/drawingml/2006/main">
            <a:off x="647700" y="36195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F87AC"/>
                </a:solidFill>
                <a:latin typeface="Calibri"/>
                <a:ea typeface="Calibri"/>
                <a:cs typeface="Calibri"/>
              </a:defRPr>
            </a:pPr>
            <a:r>
              <a:rPr sz="2250" b="1">
                <a:solidFill>
                  <a:srgbClr val="8F87AC"/>
                </a:solidFill>
                <a:latin typeface="Calibri"/>
                <a:ea typeface="Calibri"/>
                <a:cs typeface="Calibri"/>
              </a:rPr>
              <a:t>03</a:t>
            </a:r>
          </a:p>
        </p:txBody>
      </p:sp>
      <p:sp>
        <p:nvSpPr>
          <p:cNvPr id="12" name="">
            <a:extLst xmlns:a="http://schemas.openxmlformats.org/drawingml/2006/main">
              <a:ext uri="{FF2B5EF4-FFF2-40B4-BE49-F238E27FC236}">
                <a16:creationId xmlns:a16="http://schemas.microsoft.com/office/drawing/2014/main" id="{5E3C8636-E04C-4CB7-98C0-51C7A3594AE2}"/>
              </a:ext>
            </a:extLst>
          </p:cNvPr>
          <p:cNvSpPr>
            <a:spLocks xmlns:a="http://schemas.openxmlformats.org/drawingml/2006/main" noGrp="1"/>
          </p:cNvSpPr>
          <p:nvPr/>
        </p:nvSpPr>
        <p:spPr>
          <a:xfrm xmlns:a="http://schemas.openxmlformats.org/drawingml/2006/main">
            <a:off x="1333500" y="36290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Cognitive overload</a:t>
            </a:r>
          </a:p>
        </p:txBody>
      </p:sp>
      <p:sp>
        <p:nvSpPr>
          <p:cNvPr id="13" name="">
            <a:extLst xmlns:a="http://schemas.openxmlformats.org/drawingml/2006/main">
              <a:ext uri="{FF2B5EF4-FFF2-40B4-BE49-F238E27FC236}">
                <a16:creationId xmlns:a16="http://schemas.microsoft.com/office/drawing/2014/main" id="{780F2322-7992-4C89-990A-C0D6B5ACEED2}"/>
              </a:ext>
            </a:extLst>
          </p:cNvPr>
          <p:cNvSpPr>
            <a:spLocks xmlns:a="http://schemas.openxmlformats.org/drawingml/2006/main" noGrp="1"/>
          </p:cNvSpPr>
          <p:nvPr/>
        </p:nvSpPr>
        <p:spPr>
          <a:xfrm xmlns:a="http://schemas.openxmlformats.org/drawingml/2006/main">
            <a:off x="1333500" y="39433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Complex interfaces reduced independent use.</a:t>
            </a:r>
          </a:p>
        </p:txBody>
      </p:sp>
      <p:sp>
        <p:nvSpPr>
          <p:cNvPr id="14" name="">
            <a:extLst xmlns:a="http://schemas.openxmlformats.org/drawingml/2006/main">
              <a:ext uri="{FF2B5EF4-FFF2-40B4-BE49-F238E27FC236}">
                <a16:creationId xmlns:a16="http://schemas.microsoft.com/office/drawing/2014/main" id="{D556B385-E6F6-4A39-9928-45C763EB1FC3}"/>
              </a:ext>
            </a:extLst>
          </p:cNvPr>
          <p:cNvSpPr>
            <a:spLocks xmlns:a="http://schemas.openxmlformats.org/drawingml/2006/main" noGrp="1"/>
          </p:cNvSpPr>
          <p:nvPr/>
        </p:nvSpPr>
        <p:spPr>
          <a:xfrm xmlns:a="http://schemas.openxmlformats.org/drawingml/2006/main">
            <a:off x="647700" y="45910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F87AC"/>
                </a:solidFill>
                <a:latin typeface="Calibri"/>
                <a:ea typeface="Calibri"/>
                <a:cs typeface="Calibri"/>
              </a:defRPr>
            </a:pPr>
            <a:r>
              <a:rPr sz="2250" b="1">
                <a:solidFill>
                  <a:srgbClr val="8F87AC"/>
                </a:solidFill>
                <a:latin typeface="Calibri"/>
                <a:ea typeface="Calibri"/>
                <a:cs typeface="Calibri"/>
              </a:rPr>
              <a:t>04</a:t>
            </a:r>
          </a:p>
        </p:txBody>
      </p:sp>
      <p:sp>
        <p:nvSpPr>
          <p:cNvPr id="15" name="">
            <a:extLst xmlns:a="http://schemas.openxmlformats.org/drawingml/2006/main">
              <a:ext uri="{FF2B5EF4-FFF2-40B4-BE49-F238E27FC236}">
                <a16:creationId xmlns:a16="http://schemas.microsoft.com/office/drawing/2014/main" id="{A5976937-D0F2-4276-927F-15A7555E1923}"/>
              </a:ext>
            </a:extLst>
          </p:cNvPr>
          <p:cNvSpPr>
            <a:spLocks xmlns:a="http://schemas.openxmlformats.org/drawingml/2006/main" noGrp="1"/>
          </p:cNvSpPr>
          <p:nvPr/>
        </p:nvSpPr>
        <p:spPr>
          <a:xfrm xmlns:a="http://schemas.openxmlformats.org/drawingml/2006/main">
            <a:off x="1333500" y="460057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Fragmented care</a:t>
            </a:r>
          </a:p>
        </p:txBody>
      </p:sp>
      <p:sp>
        <p:nvSpPr>
          <p:cNvPr id="16" name="">
            <a:extLst xmlns:a="http://schemas.openxmlformats.org/drawingml/2006/main">
              <a:ext uri="{FF2B5EF4-FFF2-40B4-BE49-F238E27FC236}">
                <a16:creationId xmlns:a16="http://schemas.microsoft.com/office/drawing/2014/main" id="{C9197F0E-4C0F-4588-9B94-E12A02843F84}"/>
              </a:ext>
            </a:extLst>
          </p:cNvPr>
          <p:cNvSpPr>
            <a:spLocks xmlns:a="http://schemas.openxmlformats.org/drawingml/2006/main" noGrp="1"/>
          </p:cNvSpPr>
          <p:nvPr/>
        </p:nvSpPr>
        <p:spPr>
          <a:xfrm xmlns:a="http://schemas.openxmlformats.org/drawingml/2006/main">
            <a:off x="1333500" y="491490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Separate tools limited timely caregiver awareness.</a:t>
            </a:r>
          </a:p>
        </p:txBody>
      </p:sp>
      <p:sp>
        <p:nvSpPr>
          <p:cNvPr id="17" name="">
            <a:extLst xmlns:a="http://schemas.openxmlformats.org/drawingml/2006/main">
              <a:ext uri="{FF2B5EF4-FFF2-40B4-BE49-F238E27FC236}">
                <a16:creationId xmlns:a16="http://schemas.microsoft.com/office/drawing/2014/main" id="{8CA868A4-F7E9-4EC8-A6B9-98B9EB95CBF3}"/>
              </a:ext>
            </a:extLst>
          </p:cNvPr>
          <p:cNvSpPr>
            <a:spLocks xmlns:a="http://schemas.openxmlformats.org/drawingml/2006/main" noGrp="1"/>
          </p:cNvSpPr>
          <p:nvPr/>
        </p:nvSpPr>
        <p:spPr>
          <a:xfrm xmlns:a="http://schemas.openxmlformats.org/drawingml/2006/main">
            <a:off x="6572250" y="1676400"/>
            <a:ext cx="4705350" cy="3886200"/>
          </a:xfrm>
          <a:prstGeom xmlns:a="http://schemas.openxmlformats.org/drawingml/2006/main" prst="roundRect">
            <a:avLst>
              <a:gd name="adj" fmla="val 3922"/>
            </a:avLst>
          </a:prstGeom>
          <a:solidFill xmlns:a="http://schemas.openxmlformats.org/drawingml/2006/main">
            <a:srgbClr val="2E275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BDC9A36-5AFB-4960-9787-8A68AF98A769}"/>
              </a:ext>
            </a:extLst>
          </p:cNvPr>
          <p:cNvSpPr>
            <a:spLocks xmlns:a="http://schemas.openxmlformats.org/drawingml/2006/main" noGrp="1"/>
          </p:cNvSpPr>
          <p:nvPr/>
        </p:nvSpPr>
        <p:spPr>
          <a:xfrm xmlns:a="http://schemas.openxmlformats.org/drawingml/2006/main">
            <a:off x="6838950" y="1924050"/>
            <a:ext cx="180975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B071C29-54BE-4CF8-ABDE-50635E2F3A4B}"/>
              </a:ext>
            </a:extLst>
          </p:cNvPr>
          <p:cNvSpPr>
            <a:spLocks xmlns:a="http://schemas.openxmlformats.org/drawingml/2006/main" noGrp="1"/>
          </p:cNvSpPr>
          <p:nvPr/>
        </p:nvSpPr>
        <p:spPr>
          <a:xfrm xmlns:a="http://schemas.openxmlformats.org/drawingml/2006/main">
            <a:off x="6838950" y="19335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F8F6FF"/>
                </a:solidFill>
                <a:latin typeface="Calibri"/>
                <a:ea typeface="Calibri"/>
                <a:cs typeface="Calibri"/>
              </a:defRPr>
            </a:pPr>
            <a:r>
              <a:rPr sz="1125" b="1">
                <a:solidFill>
                  <a:srgbClr val="F8F6FF"/>
                </a:solidFill>
                <a:latin typeface="Calibri"/>
                <a:ea typeface="Calibri"/>
                <a:cs typeface="Calibri"/>
              </a:rPr>
              <a:t>NEW IN FINAL REPORT</a:t>
            </a:r>
          </a:p>
        </p:txBody>
      </p:sp>
      <p:sp>
        <p:nvSpPr>
          <p:cNvPr id="20" name="">
            <a:extLst xmlns:a="http://schemas.openxmlformats.org/drawingml/2006/main">
              <a:ext uri="{FF2B5EF4-FFF2-40B4-BE49-F238E27FC236}">
                <a16:creationId xmlns:a16="http://schemas.microsoft.com/office/drawing/2014/main" id="{3F421BC9-B503-4877-914F-B58CBE534A12}"/>
              </a:ext>
            </a:extLst>
          </p:cNvPr>
          <p:cNvSpPr>
            <a:spLocks xmlns:a="http://schemas.openxmlformats.org/drawingml/2006/main" noGrp="1"/>
          </p:cNvSpPr>
          <p:nvPr/>
        </p:nvSpPr>
        <p:spPr>
          <a:xfrm xmlns:a="http://schemas.openxmlformats.org/drawingml/2006/main">
            <a:off x="6838950" y="2505075"/>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6B62"/>
                </a:solidFill>
                <a:latin typeface="Calibri"/>
                <a:ea typeface="Calibri"/>
                <a:cs typeface="Calibri"/>
              </a:defRPr>
            </a:pPr>
            <a:r>
              <a:rPr sz="3600" b="1">
                <a:solidFill>
                  <a:srgbClr val="FF6B62"/>
                </a:solidFill>
                <a:latin typeface="Calibri"/>
                <a:ea typeface="Calibri"/>
                <a:cs typeface="Calibri"/>
              </a:rPr>
              <a:t>05</a:t>
            </a:r>
          </a:p>
        </p:txBody>
      </p:sp>
      <p:sp>
        <p:nvSpPr>
          <p:cNvPr id="21" name="">
            <a:extLst xmlns:a="http://schemas.openxmlformats.org/drawingml/2006/main">
              <a:ext uri="{FF2B5EF4-FFF2-40B4-BE49-F238E27FC236}">
                <a16:creationId xmlns:a16="http://schemas.microsoft.com/office/drawing/2014/main" id="{2E730AE9-47CF-4255-A10F-BE00D593965A}"/>
              </a:ext>
            </a:extLst>
          </p:cNvPr>
          <p:cNvSpPr>
            <a:spLocks xmlns:a="http://schemas.openxmlformats.org/drawingml/2006/main" noGrp="1"/>
          </p:cNvSpPr>
          <p:nvPr/>
        </p:nvSpPr>
        <p:spPr>
          <a:xfrm xmlns:a="http://schemas.openxmlformats.org/drawingml/2006/main">
            <a:off x="6838950" y="314325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8F6FF"/>
                </a:solidFill>
                <a:latin typeface="Calibri"/>
                <a:ea typeface="Calibri"/>
                <a:cs typeface="Calibri"/>
              </a:defRPr>
            </a:pPr>
            <a:r>
              <a:rPr sz="2175" b="1">
                <a:solidFill>
                  <a:srgbClr val="F8F6FF"/>
                </a:solidFill>
                <a:latin typeface="Calibri"/>
                <a:ea typeface="Calibri"/>
                <a:cs typeface="Calibri"/>
              </a:rPr>
              <a:t>Lack of personalised and adaptive cognitive support</a:t>
            </a:r>
          </a:p>
        </p:txBody>
      </p:sp>
      <p:sp>
        <p:nvSpPr>
          <p:cNvPr id="22" name="">
            <a:extLst xmlns:a="http://schemas.openxmlformats.org/drawingml/2006/main">
              <a:ext uri="{FF2B5EF4-FFF2-40B4-BE49-F238E27FC236}">
                <a16:creationId xmlns:a16="http://schemas.microsoft.com/office/drawing/2014/main" id="{9758EF9A-F176-4E29-B159-E05E1D3C2554}"/>
              </a:ext>
            </a:extLst>
          </p:cNvPr>
          <p:cNvSpPr>
            <a:spLocks xmlns:a="http://schemas.openxmlformats.org/drawingml/2006/main" noGrp="1"/>
          </p:cNvSpPr>
          <p:nvPr/>
        </p:nvSpPr>
        <p:spPr>
          <a:xfrm xmlns:a="http://schemas.openxmlformats.org/drawingml/2006/main">
            <a:off x="6838950" y="425767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A single game set and fixed difficulty could be too demanding or too easy. The final system therefore matched activities to dementia type and stage, then adapted each game using recent performance.</a:t>
            </a:r>
          </a:p>
        </p:txBody>
      </p:sp>
      <p:sp>
        <p:nvSpPr>
          <p:cNvPr id="23" name="">
            <a:extLst xmlns:a="http://schemas.openxmlformats.org/drawingml/2006/main">
              <a:ext uri="{FF2B5EF4-FFF2-40B4-BE49-F238E27FC236}">
                <a16:creationId xmlns:a16="http://schemas.microsoft.com/office/drawing/2014/main" id="{CCA0FDB3-3074-4AE6-B3DD-8614B2F815C7}"/>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13–14; final report pp. 21–23.</a:t>
            </a:r>
          </a:p>
        </p:txBody>
      </p:sp>
      <p:sp>
        <p:nvSpPr>
          <p:cNvPr id="24" name="">
            <a:extLst xmlns:a="http://schemas.openxmlformats.org/drawingml/2006/main">
              <a:ext uri="{FF2B5EF4-FFF2-40B4-BE49-F238E27FC236}">
                <a16:creationId xmlns:a16="http://schemas.microsoft.com/office/drawing/2014/main" id="{8CAD8A46-BB90-49B5-BF79-366CAC67EA35}"/>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03</a:t>
            </a:r>
          </a:p>
        </p:txBody>
      </p:sp>
    </p:spTree>
    <p:extLst>
      <p:ext uri="{BB962C8B-B14F-4D97-AF65-F5344CB8AC3E}">
        <p14:creationId xmlns:p14="http://schemas.microsoft.com/office/powerpoint/2010/main" val="808284495"/>
      </p:ext>
    </p:extLst>
  </p:cSld>
</p:sld>
</file>

<file path=ppt/slides/slide4.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635B0D2-00DD-41BC-936C-83C39397AE6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0623D3-8167-4638-B959-456902B23257}"/>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1 · INTRODUCTION</a:t>
            </a:r>
          </a:p>
        </p:txBody>
      </p:sp>
      <p:sp>
        <p:nvSpPr>
          <p:cNvPr id="3" name="">
            <a:extLst xmlns:a="http://schemas.openxmlformats.org/drawingml/2006/main">
              <a:ext uri="{FF2B5EF4-FFF2-40B4-BE49-F238E27FC236}">
                <a16:creationId xmlns:a16="http://schemas.microsoft.com/office/drawing/2014/main" id="{14D74A6D-984F-4A4D-AA46-3BC22A96283C}"/>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Objectives became more specific and measurable</a:t>
            </a:r>
          </a:p>
        </p:txBody>
      </p:sp>
      <p:sp>
        <p:nvSpPr>
          <p:cNvPr id="4" name="">
            <a:extLst xmlns:a="http://schemas.openxmlformats.org/drawingml/2006/main">
              <a:ext uri="{FF2B5EF4-FFF2-40B4-BE49-F238E27FC236}">
                <a16:creationId xmlns:a16="http://schemas.microsoft.com/office/drawing/2014/main" id="{7DF2D06D-0759-47E2-8E92-EB9C03F15C11}"/>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target population remained early-to-middle-stage dementia patients, while caregiver responsibilities became explicit.</a:t>
            </a:r>
          </a:p>
        </p:txBody>
      </p:sp>
      <p:sp>
        <p:nvSpPr>
          <p:cNvPr id="5" name="">
            <a:extLst xmlns:a="http://schemas.openxmlformats.org/drawingml/2006/main">
              <a:ext uri="{FF2B5EF4-FFF2-40B4-BE49-F238E27FC236}">
                <a16:creationId xmlns:a16="http://schemas.microsoft.com/office/drawing/2014/main" id="{3F173E09-BF9A-4678-9D08-596416B9B8CA}"/>
              </a:ext>
            </a:extLst>
          </p:cNvPr>
          <p:cNvSpPr>
            <a:spLocks xmlns:a="http://schemas.openxmlformats.org/drawingml/2006/main" noGrp="1"/>
          </p:cNvSpPr>
          <p:nvPr/>
        </p:nvSpPr>
        <p:spPr>
          <a:xfrm xmlns:a="http://schemas.openxmlformats.org/drawingml/2006/main">
            <a:off x="647700" y="1657350"/>
            <a:ext cx="5219700" cy="4171950"/>
          </a:xfrm>
          <a:prstGeom xmlns:a="http://schemas.openxmlformats.org/drawingml/2006/main" prst="roundRect">
            <a:avLst>
              <a:gd name="adj" fmla="val 3653"/>
            </a:avLst>
          </a:prstGeom>
          <a:solidFill xmlns:a="http://schemas.openxmlformats.org/drawingml/2006/main">
            <a:srgbClr val="2E27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BA0556-3BED-4043-9DC1-F688CB22DCE2}"/>
              </a:ext>
            </a:extLst>
          </p:cNvPr>
          <p:cNvSpPr>
            <a:spLocks xmlns:a="http://schemas.openxmlformats.org/drawingml/2006/main" noGrp="1"/>
          </p:cNvSpPr>
          <p:nvPr/>
        </p:nvSpPr>
        <p:spPr>
          <a:xfrm xmlns:a="http://schemas.openxmlformats.org/drawingml/2006/main">
            <a:off x="876300" y="1885950"/>
            <a:ext cx="1619250" cy="323850"/>
          </a:xfrm>
          <a:prstGeom xmlns:a="http://schemas.openxmlformats.org/drawingml/2006/main" prst="roundRect">
            <a:avLst>
              <a:gd name="adj" fmla="val 35294"/>
            </a:avLst>
          </a:prstGeom>
          <a:solidFill xmlns:a="http://schemas.openxmlformats.org/drawingml/2006/main">
            <a:srgbClr val="3A31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12843F-42EA-4A77-8321-536A601F2158}"/>
              </a:ext>
            </a:extLst>
          </p:cNvPr>
          <p:cNvSpPr>
            <a:spLocks xmlns:a="http://schemas.openxmlformats.org/drawingml/2006/main" noGrp="1"/>
          </p:cNvSpPr>
          <p:nvPr/>
        </p:nvSpPr>
        <p:spPr>
          <a:xfrm xmlns:a="http://schemas.openxmlformats.org/drawingml/2006/main">
            <a:off x="876300" y="18954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B8B0D4"/>
                </a:solidFill>
                <a:latin typeface="Calibri"/>
                <a:ea typeface="Calibri"/>
                <a:cs typeface="Calibri"/>
              </a:defRPr>
            </a:pPr>
            <a:r>
              <a:rPr sz="1125" b="1">
                <a:solidFill>
                  <a:srgbClr val="B8B0D4"/>
                </a:solidFill>
                <a:latin typeface="Calibri"/>
                <a:ea typeface="Calibri"/>
                <a:cs typeface="Calibri"/>
              </a:rPr>
              <a:t>EARLIER PROPOSAL</a:t>
            </a:r>
          </a:p>
        </p:txBody>
      </p:sp>
      <p:sp>
        <p:nvSpPr>
          <p:cNvPr id="8" name="">
            <a:extLst xmlns:a="http://schemas.openxmlformats.org/drawingml/2006/main">
              <a:ext uri="{FF2B5EF4-FFF2-40B4-BE49-F238E27FC236}">
                <a16:creationId xmlns:a16="http://schemas.microsoft.com/office/drawing/2014/main" id="{BF1B9CC7-962A-4A73-9B52-E2005D476AEF}"/>
              </a:ext>
            </a:extLst>
          </p:cNvPr>
          <p:cNvSpPr>
            <a:spLocks xmlns:a="http://schemas.openxmlformats.org/drawingml/2006/main" noGrp="1"/>
          </p:cNvSpPr>
          <p:nvPr/>
        </p:nvSpPr>
        <p:spPr>
          <a:xfrm xmlns:a="http://schemas.openxmlformats.org/drawingml/2006/main">
            <a:off x="895350" y="2400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F87AC"/>
                </a:solidFill>
                <a:latin typeface="Calibri"/>
                <a:ea typeface="Calibri"/>
                <a:cs typeface="Calibri"/>
              </a:defRPr>
            </a:pPr>
            <a:r>
              <a:rPr sz="2250" b="1">
                <a:solidFill>
                  <a:srgbClr val="8F87AC"/>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33806974-C98C-42EC-8B70-7E4D3616901F}"/>
              </a:ext>
            </a:extLst>
          </p:cNvPr>
          <p:cNvSpPr>
            <a:spLocks xmlns:a="http://schemas.openxmlformats.org/drawingml/2006/main" noGrp="1"/>
          </p:cNvSpPr>
          <p:nvPr/>
        </p:nvSpPr>
        <p:spPr>
          <a:xfrm xmlns:a="http://schemas.openxmlformats.org/drawingml/2006/main">
            <a:off x="1581150" y="2409825"/>
            <a:ext cx="388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09CE7CA5-22DE-4D22-BE57-E9FBF512B85E}"/>
              </a:ext>
            </a:extLst>
          </p:cNvPr>
          <p:cNvSpPr>
            <a:spLocks xmlns:a="http://schemas.openxmlformats.org/drawingml/2006/main" noGrp="1"/>
          </p:cNvSpPr>
          <p:nvPr/>
        </p:nvSpPr>
        <p:spPr>
          <a:xfrm xmlns:a="http://schemas.openxmlformats.org/drawingml/2006/main">
            <a:off x="1581150" y="2724150"/>
            <a:ext cx="3886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Build a mobile app for tasks, medication, games and gamification</a:t>
            </a:r>
          </a:p>
        </p:txBody>
      </p:sp>
      <p:sp>
        <p:nvSpPr>
          <p:cNvPr id="11" name="">
            <a:extLst xmlns:a="http://schemas.openxmlformats.org/drawingml/2006/main">
              <a:ext uri="{FF2B5EF4-FFF2-40B4-BE49-F238E27FC236}">
                <a16:creationId xmlns:a16="http://schemas.microsoft.com/office/drawing/2014/main" id="{906DB418-7396-45F7-93A7-FBEFFC4C45EA}"/>
              </a:ext>
            </a:extLst>
          </p:cNvPr>
          <p:cNvSpPr>
            <a:spLocks xmlns:a="http://schemas.openxmlformats.org/drawingml/2006/main" noGrp="1"/>
          </p:cNvSpPr>
          <p:nvPr/>
        </p:nvSpPr>
        <p:spPr>
          <a:xfrm xmlns:a="http://schemas.openxmlformats.org/drawingml/2006/main">
            <a:off x="895350" y="33528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F87AC"/>
                </a:solidFill>
                <a:latin typeface="Calibri"/>
                <a:ea typeface="Calibri"/>
                <a:cs typeface="Calibri"/>
              </a:defRPr>
            </a:pPr>
            <a:r>
              <a:rPr sz="2250" b="1">
                <a:solidFill>
                  <a:srgbClr val="8F87AC"/>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2B1B9FD2-91A7-4F29-97EB-28B424F7B5B9}"/>
              </a:ext>
            </a:extLst>
          </p:cNvPr>
          <p:cNvSpPr>
            <a:spLocks xmlns:a="http://schemas.openxmlformats.org/drawingml/2006/main" noGrp="1"/>
          </p:cNvSpPr>
          <p:nvPr/>
        </p:nvSpPr>
        <p:spPr>
          <a:xfrm xmlns:a="http://schemas.openxmlformats.org/drawingml/2006/main">
            <a:off x="1581150" y="3362325"/>
            <a:ext cx="388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57CB046F-D5BE-44D7-B313-12CDEBAA52B1}"/>
              </a:ext>
            </a:extLst>
          </p:cNvPr>
          <p:cNvSpPr>
            <a:spLocks xmlns:a="http://schemas.openxmlformats.org/drawingml/2006/main" noGrp="1"/>
          </p:cNvSpPr>
          <p:nvPr/>
        </p:nvSpPr>
        <p:spPr>
          <a:xfrm xmlns:a="http://schemas.openxmlformats.org/drawingml/2006/main">
            <a:off x="1581150" y="3676650"/>
            <a:ext cx="3886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Create real-time caregiver monitoring</a:t>
            </a:r>
          </a:p>
        </p:txBody>
      </p:sp>
      <p:sp>
        <p:nvSpPr>
          <p:cNvPr id="14" name="">
            <a:extLst xmlns:a="http://schemas.openxmlformats.org/drawingml/2006/main">
              <a:ext uri="{FF2B5EF4-FFF2-40B4-BE49-F238E27FC236}">
                <a16:creationId xmlns:a16="http://schemas.microsoft.com/office/drawing/2014/main" id="{B2B3D27E-A24C-47E3-8FF0-FF26C7B65F92}"/>
              </a:ext>
            </a:extLst>
          </p:cNvPr>
          <p:cNvSpPr>
            <a:spLocks xmlns:a="http://schemas.openxmlformats.org/drawingml/2006/main" noGrp="1"/>
          </p:cNvSpPr>
          <p:nvPr/>
        </p:nvSpPr>
        <p:spPr>
          <a:xfrm xmlns:a="http://schemas.openxmlformats.org/drawingml/2006/main">
            <a:off x="895350" y="4305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F87AC"/>
                </a:solidFill>
                <a:latin typeface="Calibri"/>
                <a:ea typeface="Calibri"/>
                <a:cs typeface="Calibri"/>
              </a:defRPr>
            </a:pPr>
            <a:r>
              <a:rPr sz="2250" b="1">
                <a:solidFill>
                  <a:srgbClr val="8F87AC"/>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7FDF3DC3-EFB1-44CE-9B87-7A97E8B85302}"/>
              </a:ext>
            </a:extLst>
          </p:cNvPr>
          <p:cNvSpPr>
            <a:spLocks xmlns:a="http://schemas.openxmlformats.org/drawingml/2006/main" noGrp="1"/>
          </p:cNvSpPr>
          <p:nvPr/>
        </p:nvSpPr>
        <p:spPr>
          <a:xfrm xmlns:a="http://schemas.openxmlformats.org/drawingml/2006/main">
            <a:off x="1581150" y="4314825"/>
            <a:ext cx="388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69EE6FF3-8BAD-44F3-8C25-C63B69C00959}"/>
              </a:ext>
            </a:extLst>
          </p:cNvPr>
          <p:cNvSpPr>
            <a:spLocks xmlns:a="http://schemas.openxmlformats.org/drawingml/2006/main" noGrp="1"/>
          </p:cNvSpPr>
          <p:nvPr/>
        </p:nvSpPr>
        <p:spPr>
          <a:xfrm xmlns:a="http://schemas.openxmlformats.org/drawingml/2006/main">
            <a:off x="1581150" y="4629150"/>
            <a:ext cx="3886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Evaluate UAT and achieve SUS ≥ 85</a:t>
            </a:r>
          </a:p>
        </p:txBody>
      </p:sp>
      <p:sp>
        <p:nvSpPr>
          <p:cNvPr id="17" name="">
            <a:extLst xmlns:a="http://schemas.openxmlformats.org/drawingml/2006/main">
              <a:ext uri="{FF2B5EF4-FFF2-40B4-BE49-F238E27FC236}">
                <a16:creationId xmlns:a16="http://schemas.microsoft.com/office/drawing/2014/main" id="{DA3BE7A0-65D8-4C07-8FDF-13A913DFA9BD}"/>
              </a:ext>
            </a:extLst>
          </p:cNvPr>
          <p:cNvSpPr>
            <a:spLocks xmlns:a="http://schemas.openxmlformats.org/drawingml/2006/main" noGrp="1"/>
          </p:cNvSpPr>
          <p:nvPr/>
        </p:nvSpPr>
        <p:spPr>
          <a:xfrm xmlns:a="http://schemas.openxmlformats.org/drawingml/2006/main">
            <a:off x="6115050" y="1657350"/>
            <a:ext cx="5162550" cy="4171950"/>
          </a:xfrm>
          <a:prstGeom xmlns:a="http://schemas.openxmlformats.org/drawingml/2006/main" prst="roundRect">
            <a:avLst>
              <a:gd name="adj" fmla="val 3653"/>
            </a:avLst>
          </a:prstGeom>
          <a:solidFill xmlns:a="http://schemas.openxmlformats.org/drawingml/2006/main">
            <a:srgbClr val="2E275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3D67E7-CB85-4D3A-8D72-48F6E8913905}"/>
              </a:ext>
            </a:extLst>
          </p:cNvPr>
          <p:cNvSpPr>
            <a:spLocks xmlns:a="http://schemas.openxmlformats.org/drawingml/2006/main" noGrp="1"/>
          </p:cNvSpPr>
          <p:nvPr/>
        </p:nvSpPr>
        <p:spPr>
          <a:xfrm xmlns:a="http://schemas.openxmlformats.org/drawingml/2006/main">
            <a:off x="6343650" y="1885950"/>
            <a:ext cx="161925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B939956-06BA-4B88-9D0C-0199003ADE5C}"/>
              </a:ext>
            </a:extLst>
          </p:cNvPr>
          <p:cNvSpPr>
            <a:spLocks xmlns:a="http://schemas.openxmlformats.org/drawingml/2006/main" noGrp="1"/>
          </p:cNvSpPr>
          <p:nvPr/>
        </p:nvSpPr>
        <p:spPr>
          <a:xfrm xmlns:a="http://schemas.openxmlformats.org/drawingml/2006/main">
            <a:off x="6343650" y="18954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F8F6FF"/>
                </a:solidFill>
                <a:latin typeface="Calibri"/>
                <a:ea typeface="Calibri"/>
                <a:cs typeface="Calibri"/>
              </a:defRPr>
            </a:pPr>
            <a:r>
              <a:rPr sz="1125" b="1">
                <a:solidFill>
                  <a:srgbClr val="F8F6FF"/>
                </a:solidFill>
                <a:latin typeface="Calibri"/>
                <a:ea typeface="Calibri"/>
                <a:cs typeface="Calibri"/>
              </a:rPr>
              <a:t>FINAL OBJECTIVES</a:t>
            </a:r>
          </a:p>
        </p:txBody>
      </p:sp>
      <p:sp>
        <p:nvSpPr>
          <p:cNvPr id="20" name="">
            <a:extLst xmlns:a="http://schemas.openxmlformats.org/drawingml/2006/main">
              <a:ext uri="{FF2B5EF4-FFF2-40B4-BE49-F238E27FC236}">
                <a16:creationId xmlns:a16="http://schemas.microsoft.com/office/drawing/2014/main" id="{81F37230-5497-4BC2-8FB9-D37E1E84082B}"/>
              </a:ext>
            </a:extLst>
          </p:cNvPr>
          <p:cNvSpPr>
            <a:spLocks xmlns:a="http://schemas.openxmlformats.org/drawingml/2006/main" noGrp="1"/>
          </p:cNvSpPr>
          <p:nvPr/>
        </p:nvSpPr>
        <p:spPr>
          <a:xfrm xmlns:a="http://schemas.openxmlformats.org/drawingml/2006/main">
            <a:off x="6381750" y="2400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6B62"/>
                </a:solidFill>
                <a:latin typeface="Calibri"/>
                <a:ea typeface="Calibri"/>
                <a:cs typeface="Calibri"/>
              </a:defRPr>
            </a:pPr>
            <a:r>
              <a:rPr sz="2250" b="1">
                <a:solidFill>
                  <a:srgbClr val="FF6B62"/>
                </a:solidFill>
                <a:latin typeface="Calibri"/>
                <a:ea typeface="Calibri"/>
                <a:cs typeface="Calibri"/>
              </a:rPr>
              <a:t>01</a:t>
            </a:r>
          </a:p>
        </p:txBody>
      </p:sp>
      <p:sp>
        <p:nvSpPr>
          <p:cNvPr id="21" name="">
            <a:extLst xmlns:a="http://schemas.openxmlformats.org/drawingml/2006/main">
              <a:ext uri="{FF2B5EF4-FFF2-40B4-BE49-F238E27FC236}">
                <a16:creationId xmlns:a16="http://schemas.microsoft.com/office/drawing/2014/main" id="{787444B4-0398-41D4-94CD-6F3CA3327106}"/>
              </a:ext>
            </a:extLst>
          </p:cNvPr>
          <p:cNvSpPr>
            <a:spLocks xmlns:a="http://schemas.openxmlformats.org/drawingml/2006/main" noGrp="1"/>
          </p:cNvSpPr>
          <p:nvPr/>
        </p:nvSpPr>
        <p:spPr>
          <a:xfrm xmlns:a="http://schemas.openxmlformats.org/drawingml/2006/main">
            <a:off x="7067550" y="2409825"/>
            <a:ext cx="3790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Integrated support</a:t>
            </a:r>
          </a:p>
        </p:txBody>
      </p:sp>
      <p:sp>
        <p:nvSpPr>
          <p:cNvPr id="22" name="">
            <a:extLst xmlns:a="http://schemas.openxmlformats.org/drawingml/2006/main">
              <a:ext uri="{FF2B5EF4-FFF2-40B4-BE49-F238E27FC236}">
                <a16:creationId xmlns:a16="http://schemas.microsoft.com/office/drawing/2014/main" id="{E8F4EE28-DEAF-4ADD-9452-B3A74A6DC755}"/>
              </a:ext>
            </a:extLst>
          </p:cNvPr>
          <p:cNvSpPr>
            <a:spLocks xmlns:a="http://schemas.openxmlformats.org/drawingml/2006/main" noGrp="1"/>
          </p:cNvSpPr>
          <p:nvPr/>
        </p:nvSpPr>
        <p:spPr>
          <a:xfrm xmlns:a="http://schemas.openxmlformats.org/drawingml/2006/main">
            <a:off x="7067550" y="272415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Tasks, medication, games, rewards and caregiver monitoring in one system.</a:t>
            </a:r>
          </a:p>
        </p:txBody>
      </p:sp>
      <p:sp>
        <p:nvSpPr>
          <p:cNvPr id="23" name="">
            <a:extLst xmlns:a="http://schemas.openxmlformats.org/drawingml/2006/main">
              <a:ext uri="{FF2B5EF4-FFF2-40B4-BE49-F238E27FC236}">
                <a16:creationId xmlns:a16="http://schemas.microsoft.com/office/drawing/2014/main" id="{98159275-D8FA-44C2-B6B6-5F812A97E3D3}"/>
              </a:ext>
            </a:extLst>
          </p:cNvPr>
          <p:cNvSpPr>
            <a:spLocks xmlns:a="http://schemas.openxmlformats.org/drawingml/2006/main" noGrp="1"/>
          </p:cNvSpPr>
          <p:nvPr/>
        </p:nvSpPr>
        <p:spPr>
          <a:xfrm xmlns:a="http://schemas.openxmlformats.org/drawingml/2006/main">
            <a:off x="6381750" y="33528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6B62"/>
                </a:solidFill>
                <a:latin typeface="Calibri"/>
                <a:ea typeface="Calibri"/>
                <a:cs typeface="Calibri"/>
              </a:defRPr>
            </a:pPr>
            <a:r>
              <a:rPr sz="2250" b="1">
                <a:solidFill>
                  <a:srgbClr val="FF6B62"/>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335DB6A3-5888-43BB-BC0F-595A1D6C7FB3}"/>
              </a:ext>
            </a:extLst>
          </p:cNvPr>
          <p:cNvSpPr>
            <a:spLocks xmlns:a="http://schemas.openxmlformats.org/drawingml/2006/main" noGrp="1"/>
          </p:cNvSpPr>
          <p:nvPr/>
        </p:nvSpPr>
        <p:spPr>
          <a:xfrm xmlns:a="http://schemas.openxmlformats.org/drawingml/2006/main">
            <a:off x="7067550" y="3362325"/>
            <a:ext cx="3790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Measured usability</a:t>
            </a:r>
          </a:p>
        </p:txBody>
      </p:sp>
      <p:sp>
        <p:nvSpPr>
          <p:cNvPr id="25" name="">
            <a:extLst xmlns:a="http://schemas.openxmlformats.org/drawingml/2006/main">
              <a:ext uri="{FF2B5EF4-FFF2-40B4-BE49-F238E27FC236}">
                <a16:creationId xmlns:a16="http://schemas.microsoft.com/office/drawing/2014/main" id="{D85BA020-C900-46B2-9CBC-A0A28BE9D37E}"/>
              </a:ext>
            </a:extLst>
          </p:cNvPr>
          <p:cNvSpPr>
            <a:spLocks xmlns:a="http://schemas.openxmlformats.org/drawingml/2006/main" noGrp="1"/>
          </p:cNvSpPr>
          <p:nvPr/>
        </p:nvSpPr>
        <p:spPr>
          <a:xfrm xmlns:a="http://schemas.openxmlformats.org/drawingml/2006/main">
            <a:off x="7067550" y="367665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UAT plus SUS, with a defined target of at least 85.</a:t>
            </a:r>
          </a:p>
        </p:txBody>
      </p:sp>
      <p:sp>
        <p:nvSpPr>
          <p:cNvPr id="26" name="">
            <a:extLst xmlns:a="http://schemas.openxmlformats.org/drawingml/2006/main">
              <a:ext uri="{FF2B5EF4-FFF2-40B4-BE49-F238E27FC236}">
                <a16:creationId xmlns:a16="http://schemas.microsoft.com/office/drawing/2014/main" id="{0C64E9AC-C7E3-490D-BD85-5F8091E37630}"/>
              </a:ext>
            </a:extLst>
          </p:cNvPr>
          <p:cNvSpPr>
            <a:spLocks xmlns:a="http://schemas.openxmlformats.org/drawingml/2006/main" noGrp="1"/>
          </p:cNvSpPr>
          <p:nvPr/>
        </p:nvSpPr>
        <p:spPr>
          <a:xfrm xmlns:a="http://schemas.openxmlformats.org/drawingml/2006/main">
            <a:off x="6381750" y="4305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6B62"/>
                </a:solidFill>
                <a:latin typeface="Calibri"/>
                <a:ea typeface="Calibri"/>
                <a:cs typeface="Calibri"/>
              </a:defRPr>
            </a:pPr>
            <a:r>
              <a:rPr sz="2250" b="1">
                <a:solidFill>
                  <a:srgbClr val="FF6B62"/>
                </a:solidFill>
                <a:latin typeface="Calibri"/>
                <a:ea typeface="Calibri"/>
                <a:cs typeface="Calibri"/>
              </a:rPr>
              <a:t>03</a:t>
            </a:r>
          </a:p>
        </p:txBody>
      </p:sp>
      <p:sp>
        <p:nvSpPr>
          <p:cNvPr id="27" name="">
            <a:extLst xmlns:a="http://schemas.openxmlformats.org/drawingml/2006/main">
              <a:ext uri="{FF2B5EF4-FFF2-40B4-BE49-F238E27FC236}">
                <a16:creationId xmlns:a16="http://schemas.microsoft.com/office/drawing/2014/main" id="{E3ECD9E8-7E9C-4EF5-8FD7-8DF8934A4519}"/>
              </a:ext>
            </a:extLst>
          </p:cNvPr>
          <p:cNvSpPr>
            <a:spLocks xmlns:a="http://schemas.openxmlformats.org/drawingml/2006/main" noGrp="1"/>
          </p:cNvSpPr>
          <p:nvPr/>
        </p:nvSpPr>
        <p:spPr>
          <a:xfrm xmlns:a="http://schemas.openxmlformats.org/drawingml/2006/main">
            <a:off x="7067550" y="4314825"/>
            <a:ext cx="3790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Adaptive cognition</a:t>
            </a:r>
          </a:p>
        </p:txBody>
      </p:sp>
      <p:sp>
        <p:nvSpPr>
          <p:cNvPr id="28" name="">
            <a:extLst xmlns:a="http://schemas.openxmlformats.org/drawingml/2006/main">
              <a:ext uri="{FF2B5EF4-FFF2-40B4-BE49-F238E27FC236}">
                <a16:creationId xmlns:a16="http://schemas.microsoft.com/office/drawing/2014/main" id="{DB64D74C-DB4C-4384-89E5-F9028C1FF6BA}"/>
              </a:ext>
            </a:extLst>
          </p:cNvPr>
          <p:cNvSpPr>
            <a:spLocks xmlns:a="http://schemas.openxmlformats.org/drawingml/2006/main" noGrp="1"/>
          </p:cNvSpPr>
          <p:nvPr/>
        </p:nvSpPr>
        <p:spPr>
          <a:xfrm xmlns:a="http://schemas.openxmlformats.org/drawingml/2006/main">
            <a:off x="7067550" y="462915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Type-and-stage game selection, automatic per-game adjustment and caregiver override.</a:t>
            </a:r>
          </a:p>
        </p:txBody>
      </p:sp>
      <p:sp>
        <p:nvSpPr>
          <p:cNvPr id="29" name="">
            <a:extLst xmlns:a="http://schemas.openxmlformats.org/drawingml/2006/main">
              <a:ext uri="{FF2B5EF4-FFF2-40B4-BE49-F238E27FC236}">
                <a16:creationId xmlns:a16="http://schemas.microsoft.com/office/drawing/2014/main" id="{836E771B-5218-46F4-BB84-B2DD717A39DC}"/>
              </a:ext>
            </a:extLst>
          </p:cNvPr>
          <p:cNvSpPr>
            <a:spLocks xmlns:a="http://schemas.openxmlformats.org/drawingml/2006/main" noGrp="1"/>
          </p:cNvSpPr>
          <p:nvPr/>
        </p:nvSpPr>
        <p:spPr>
          <a:xfrm xmlns:a="http://schemas.openxmlformats.org/drawingml/2006/main">
            <a:off x="895350" y="54864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2ED9A4"/>
                </a:solidFill>
                <a:latin typeface="Calibri"/>
                <a:ea typeface="Calibri"/>
                <a:cs typeface="Calibri"/>
              </a:defRPr>
            </a:pPr>
            <a:r>
              <a:rPr sz="1050" b="1">
                <a:solidFill>
                  <a:srgbClr val="2ED9A4"/>
                </a:solidFill>
                <a:latin typeface="Calibri"/>
                <a:ea typeface="Calibri"/>
                <a:cs typeface="Calibri"/>
              </a:rPr>
              <a:t>PATIENT</a:t>
            </a:r>
          </a:p>
        </p:txBody>
      </p:sp>
      <p:sp>
        <p:nvSpPr>
          <p:cNvPr id="30" name="">
            <a:extLst xmlns:a="http://schemas.openxmlformats.org/drawingml/2006/main">
              <a:ext uri="{FF2B5EF4-FFF2-40B4-BE49-F238E27FC236}">
                <a16:creationId xmlns:a16="http://schemas.microsoft.com/office/drawing/2014/main" id="{9A708B37-AE3F-4B36-B00A-2829FDDF9ACC}"/>
              </a:ext>
            </a:extLst>
          </p:cNvPr>
          <p:cNvSpPr>
            <a:spLocks xmlns:a="http://schemas.openxmlformats.org/drawingml/2006/main" noGrp="1"/>
          </p:cNvSpPr>
          <p:nvPr/>
        </p:nvSpPr>
        <p:spPr>
          <a:xfrm xmlns:a="http://schemas.openxmlformats.org/drawingml/2006/main">
            <a:off x="1752600" y="5486400"/>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Completes routines, games and rewards</a:t>
            </a:r>
          </a:p>
        </p:txBody>
      </p:sp>
      <p:sp>
        <p:nvSpPr>
          <p:cNvPr id="31" name="">
            <a:extLst xmlns:a="http://schemas.openxmlformats.org/drawingml/2006/main">
              <a:ext uri="{FF2B5EF4-FFF2-40B4-BE49-F238E27FC236}">
                <a16:creationId xmlns:a16="http://schemas.microsoft.com/office/drawing/2014/main" id="{5D4C57EE-0DA5-4427-9857-B71D918785BB}"/>
              </a:ext>
            </a:extLst>
          </p:cNvPr>
          <p:cNvSpPr>
            <a:spLocks xmlns:a="http://schemas.openxmlformats.org/drawingml/2006/main" noGrp="1"/>
          </p:cNvSpPr>
          <p:nvPr/>
        </p:nvSpPr>
        <p:spPr>
          <a:xfrm xmlns:a="http://schemas.openxmlformats.org/drawingml/2006/main">
            <a:off x="6381750" y="54864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FFB020"/>
                </a:solidFill>
                <a:latin typeface="Calibri"/>
                <a:ea typeface="Calibri"/>
                <a:cs typeface="Calibri"/>
              </a:defRPr>
            </a:pPr>
            <a:r>
              <a:rPr sz="1050" b="1">
                <a:solidFill>
                  <a:srgbClr val="FFB020"/>
                </a:solidFill>
                <a:latin typeface="Calibri"/>
                <a:ea typeface="Calibri"/>
                <a:cs typeface="Calibri"/>
              </a:rPr>
              <a:t>CAREGIVER</a:t>
            </a:r>
          </a:p>
        </p:txBody>
      </p:sp>
      <p:sp>
        <p:nvSpPr>
          <p:cNvPr id="32" name="">
            <a:extLst xmlns:a="http://schemas.openxmlformats.org/drawingml/2006/main">
              <a:ext uri="{FF2B5EF4-FFF2-40B4-BE49-F238E27FC236}">
                <a16:creationId xmlns:a16="http://schemas.microsoft.com/office/drawing/2014/main" id="{040AEFF9-8A0E-4554-933E-FED6E9522F30}"/>
              </a:ext>
            </a:extLst>
          </p:cNvPr>
          <p:cNvSpPr>
            <a:spLocks xmlns:a="http://schemas.openxmlformats.org/drawingml/2006/main" noGrp="1"/>
          </p:cNvSpPr>
          <p:nvPr/>
        </p:nvSpPr>
        <p:spPr>
          <a:xfrm xmlns:a="http://schemas.openxmlformats.org/drawingml/2006/main">
            <a:off x="7448550" y="54864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Creates, monitors, adjusts and intervenes</a:t>
            </a:r>
          </a:p>
        </p:txBody>
      </p:sp>
      <p:sp>
        <p:nvSpPr>
          <p:cNvPr id="33" name="">
            <a:extLst xmlns:a="http://schemas.openxmlformats.org/drawingml/2006/main">
              <a:ext uri="{FF2B5EF4-FFF2-40B4-BE49-F238E27FC236}">
                <a16:creationId xmlns:a16="http://schemas.microsoft.com/office/drawing/2014/main" id="{14D90DB0-4F57-4155-832C-07C9C45A2C2D}"/>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16–17; final report pp. 25–27.</a:t>
            </a:r>
          </a:p>
        </p:txBody>
      </p:sp>
      <p:sp>
        <p:nvSpPr>
          <p:cNvPr id="34" name="">
            <a:extLst xmlns:a="http://schemas.openxmlformats.org/drawingml/2006/main">
              <a:ext uri="{FF2B5EF4-FFF2-40B4-BE49-F238E27FC236}">
                <a16:creationId xmlns:a16="http://schemas.microsoft.com/office/drawing/2014/main" id="{02755021-4712-45AB-9026-555C7A617FF9}"/>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04</a:t>
            </a:r>
          </a:p>
        </p:txBody>
      </p:sp>
    </p:spTree>
    <p:extLst>
      <p:ext uri="{BB962C8B-B14F-4D97-AF65-F5344CB8AC3E}">
        <p14:creationId xmlns:p14="http://schemas.microsoft.com/office/powerpoint/2010/main" val="111095095"/>
      </p:ext>
    </p:extLst>
  </p:cSld>
</p:sld>
</file>

<file path=ppt/slides/slide5.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083A68-23D9-4C25-8923-30E4C5BEB97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E7B856-5BC0-486B-95D4-0245E908EA81}"/>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2 · LITERATURE REVIEW</a:t>
            </a:r>
          </a:p>
        </p:txBody>
      </p:sp>
      <p:sp>
        <p:nvSpPr>
          <p:cNvPr id="3" name="">
            <a:extLst xmlns:a="http://schemas.openxmlformats.org/drawingml/2006/main">
              <a:ext uri="{FF2B5EF4-FFF2-40B4-BE49-F238E27FC236}">
                <a16:creationId xmlns:a16="http://schemas.microsoft.com/office/drawing/2014/main" id="{C0E4BA01-EA77-4C98-A118-A8D4EB2E8B2E}"/>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Where the final features came from</a:t>
            </a:r>
          </a:p>
        </p:txBody>
      </p:sp>
      <p:sp>
        <p:nvSpPr>
          <p:cNvPr id="4" name="">
            <a:extLst xmlns:a="http://schemas.openxmlformats.org/drawingml/2006/main">
              <a:ext uri="{FF2B5EF4-FFF2-40B4-BE49-F238E27FC236}">
                <a16:creationId xmlns:a16="http://schemas.microsoft.com/office/drawing/2014/main" id="{13E930BD-F1E1-4CED-A31B-32A1F3AEDB01}"/>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Existing apps showed useful fragments; literature justified how those fragments should be adapted for dementia care.</a:t>
            </a:r>
          </a:p>
        </p:txBody>
      </p:sp>
      <p:sp>
        <p:nvSpPr>
          <p:cNvPr id="5" name="">
            <a:extLst xmlns:a="http://schemas.openxmlformats.org/drawingml/2006/main">
              <a:ext uri="{FF2B5EF4-FFF2-40B4-BE49-F238E27FC236}">
                <a16:creationId xmlns:a16="http://schemas.microsoft.com/office/drawing/2014/main" id="{81C12CA1-6890-4E77-9E6A-91AF2EAEB0E3}"/>
              </a:ext>
            </a:extLst>
          </p:cNvPr>
          <p:cNvSpPr>
            <a:spLocks xmlns:a="http://schemas.openxmlformats.org/drawingml/2006/main" noGrp="1"/>
          </p:cNvSpPr>
          <p:nvPr/>
        </p:nvSpPr>
        <p:spPr>
          <a:xfrm xmlns:a="http://schemas.openxmlformats.org/drawingml/2006/main">
            <a:off x="666750" y="16764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FF6B62"/>
                </a:solidFill>
                <a:latin typeface="Calibri"/>
                <a:ea typeface="Calibri"/>
                <a:cs typeface="Calibri"/>
              </a:defRPr>
            </a:pPr>
            <a:r>
              <a:rPr sz="1050" b="1">
                <a:solidFill>
                  <a:srgbClr val="FF6B62"/>
                </a:solidFill>
                <a:latin typeface="Calibri"/>
                <a:ea typeface="Calibri"/>
                <a:cs typeface="Calibri"/>
              </a:rPr>
              <a:t>EVIDENCE / SOURCE</a:t>
            </a:r>
          </a:p>
        </p:txBody>
      </p:sp>
      <p:sp>
        <p:nvSpPr>
          <p:cNvPr id="6" name="">
            <a:extLst xmlns:a="http://schemas.openxmlformats.org/drawingml/2006/main">
              <a:ext uri="{FF2B5EF4-FFF2-40B4-BE49-F238E27FC236}">
                <a16:creationId xmlns:a16="http://schemas.microsoft.com/office/drawing/2014/main" id="{266EC6E8-437F-404D-8875-A2E10F61DEAC}"/>
              </a:ext>
            </a:extLst>
          </p:cNvPr>
          <p:cNvSpPr>
            <a:spLocks xmlns:a="http://schemas.openxmlformats.org/drawingml/2006/main" noGrp="1"/>
          </p:cNvSpPr>
          <p:nvPr/>
        </p:nvSpPr>
        <p:spPr>
          <a:xfrm xmlns:a="http://schemas.openxmlformats.org/drawingml/2006/main">
            <a:off x="3676650" y="16764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7C83FD"/>
                </a:solidFill>
                <a:latin typeface="Calibri"/>
                <a:ea typeface="Calibri"/>
                <a:cs typeface="Calibri"/>
              </a:defRPr>
            </a:pPr>
            <a:r>
              <a:rPr sz="1050" b="1">
                <a:solidFill>
                  <a:srgbClr val="7C83FD"/>
                </a:solidFill>
                <a:latin typeface="Calibri"/>
                <a:ea typeface="Calibri"/>
                <a:cs typeface="Calibri"/>
              </a:rPr>
              <a:t>DESIGN DECISION</a:t>
            </a:r>
          </a:p>
        </p:txBody>
      </p:sp>
      <p:sp>
        <p:nvSpPr>
          <p:cNvPr id="7" name="">
            <a:extLst xmlns:a="http://schemas.openxmlformats.org/drawingml/2006/main">
              <a:ext uri="{FF2B5EF4-FFF2-40B4-BE49-F238E27FC236}">
                <a16:creationId xmlns:a16="http://schemas.microsoft.com/office/drawing/2014/main" id="{C837526B-A32A-478B-B7B8-7B5EC75B9F22}"/>
              </a:ext>
            </a:extLst>
          </p:cNvPr>
          <p:cNvSpPr>
            <a:spLocks xmlns:a="http://schemas.openxmlformats.org/drawingml/2006/main" noGrp="1"/>
          </p:cNvSpPr>
          <p:nvPr/>
        </p:nvSpPr>
        <p:spPr>
          <a:xfrm xmlns:a="http://schemas.openxmlformats.org/drawingml/2006/main">
            <a:off x="8115300" y="16764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2ED9A4"/>
                </a:solidFill>
                <a:latin typeface="Calibri"/>
                <a:ea typeface="Calibri"/>
                <a:cs typeface="Calibri"/>
              </a:defRPr>
            </a:pPr>
            <a:r>
              <a:rPr sz="1050" b="1">
                <a:solidFill>
                  <a:srgbClr val="2ED9A4"/>
                </a:solidFill>
                <a:latin typeface="Calibri"/>
                <a:ea typeface="Calibri"/>
                <a:cs typeface="Calibri"/>
              </a:rPr>
              <a:t>END-USER VALUE</a:t>
            </a:r>
          </a:p>
        </p:txBody>
      </p:sp>
      <p:sp>
        <p:nvSpPr>
          <p:cNvPr id="8" name="">
            <a:extLst xmlns:a="http://schemas.openxmlformats.org/drawingml/2006/main">
              <a:ext uri="{FF2B5EF4-FFF2-40B4-BE49-F238E27FC236}">
                <a16:creationId xmlns:a16="http://schemas.microsoft.com/office/drawing/2014/main" id="{4B273385-B900-425F-99F7-D1E41E893673}"/>
              </a:ext>
            </a:extLst>
          </p:cNvPr>
          <p:cNvSpPr>
            <a:spLocks xmlns:a="http://schemas.openxmlformats.org/drawingml/2006/main" noGrp="1"/>
          </p:cNvSpPr>
          <p:nvPr/>
        </p:nvSpPr>
        <p:spPr>
          <a:xfrm xmlns:a="http://schemas.openxmlformats.org/drawingml/2006/main">
            <a:off x="647700" y="2047875"/>
            <a:ext cx="10744200" cy="647700"/>
          </a:xfrm>
          <a:prstGeom xmlns:a="http://schemas.openxmlformats.org/drawingml/2006/main" prst="roundRect">
            <a:avLst>
              <a:gd name="adj" fmla="val 17647"/>
            </a:avLst>
          </a:prstGeom>
          <a:solidFill xmlns:a="http://schemas.openxmlformats.org/drawingml/2006/main">
            <a:srgbClr val="2E275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816CFE8-DE87-444D-AC8A-DF23F5C36E1C}"/>
              </a:ext>
            </a:extLst>
          </p:cNvPr>
          <p:cNvSpPr>
            <a:spLocks xmlns:a="http://schemas.openxmlformats.org/drawingml/2006/main" noGrp="1"/>
          </p:cNvSpPr>
          <p:nvPr/>
        </p:nvSpPr>
        <p:spPr>
          <a:xfrm xmlns:a="http://schemas.openxmlformats.org/drawingml/2006/main">
            <a:off x="819150" y="214312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FF6B62"/>
                </a:solidFill>
                <a:latin typeface="Calibri"/>
                <a:ea typeface="Calibri"/>
                <a:cs typeface="Calibri"/>
              </a:defRPr>
            </a:pPr>
            <a:r>
              <a:rPr sz="975" b="1">
                <a:solidFill>
                  <a:srgbClr val="FF6B62"/>
                </a:solidFill>
                <a:latin typeface="Calibri"/>
                <a:ea typeface="Calibri"/>
                <a:cs typeface="Calibri"/>
              </a:rPr>
              <a:t>ROUTINES</a:t>
            </a:r>
          </a:p>
        </p:txBody>
      </p:sp>
      <p:sp>
        <p:nvSpPr>
          <p:cNvPr id="10" name="">
            <a:extLst xmlns:a="http://schemas.openxmlformats.org/drawingml/2006/main">
              <a:ext uri="{FF2B5EF4-FFF2-40B4-BE49-F238E27FC236}">
                <a16:creationId xmlns:a16="http://schemas.microsoft.com/office/drawing/2014/main" id="{CA825D05-D2FC-48B5-9EA1-7AB96B23E172}"/>
              </a:ext>
            </a:extLst>
          </p:cNvPr>
          <p:cNvSpPr>
            <a:spLocks xmlns:a="http://schemas.openxmlformats.org/drawingml/2006/main" noGrp="1"/>
          </p:cNvSpPr>
          <p:nvPr/>
        </p:nvSpPr>
        <p:spPr>
          <a:xfrm xmlns:a="http://schemas.openxmlformats.org/drawingml/2006/main">
            <a:off x="819150" y="23431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Elli Cares + reminder research</a:t>
            </a:r>
          </a:p>
        </p:txBody>
      </p:sp>
      <p:sp>
        <p:nvSpPr>
          <p:cNvPr id="11" name="">
            <a:extLst xmlns:a="http://schemas.openxmlformats.org/drawingml/2006/main">
              <a:ext uri="{FF2B5EF4-FFF2-40B4-BE49-F238E27FC236}">
                <a16:creationId xmlns:a16="http://schemas.microsoft.com/office/drawing/2014/main" id="{39B07B27-831C-4DFA-911C-CD74A99A80EA}"/>
              </a:ext>
            </a:extLst>
          </p:cNvPr>
          <p:cNvSpPr>
            <a:spLocks xmlns:a="http://schemas.openxmlformats.org/drawingml/2006/main" noGrp="1"/>
          </p:cNvSpPr>
          <p:nvPr/>
        </p:nvSpPr>
        <p:spPr>
          <a:xfrm xmlns:a="http://schemas.openxmlformats.org/drawingml/2006/main">
            <a:off x="3676650" y="21907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F8F6FF"/>
                </a:solidFill>
                <a:latin typeface="Calibri"/>
                <a:ea typeface="Calibri"/>
                <a:cs typeface="Calibri"/>
              </a:defRPr>
            </a:pPr>
            <a:r>
              <a:rPr sz="1200" b="1">
                <a:solidFill>
                  <a:srgbClr val="F8F6FF"/>
                </a:solidFill>
                <a:latin typeface="Calibri"/>
                <a:ea typeface="Calibri"/>
                <a:cs typeface="Calibri"/>
              </a:rPr>
              <a:t>Recurring tasks, medication dosage and response-aware alerts</a:t>
            </a:r>
          </a:p>
        </p:txBody>
      </p:sp>
      <p:sp>
        <p:nvSpPr>
          <p:cNvPr id="12" name="">
            <a:extLst xmlns:a="http://schemas.openxmlformats.org/drawingml/2006/main">
              <a:ext uri="{FF2B5EF4-FFF2-40B4-BE49-F238E27FC236}">
                <a16:creationId xmlns:a16="http://schemas.microsoft.com/office/drawing/2014/main" id="{812CCAA9-7466-4242-8C45-A3569862EFB0}"/>
              </a:ext>
            </a:extLst>
          </p:cNvPr>
          <p:cNvSpPr>
            <a:spLocks xmlns:a="http://schemas.openxmlformats.org/drawingml/2006/main" noGrp="1"/>
          </p:cNvSpPr>
          <p:nvPr/>
        </p:nvSpPr>
        <p:spPr>
          <a:xfrm xmlns:a="http://schemas.openxmlformats.org/drawingml/2006/main">
            <a:off x="8115300" y="218122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Supports adherence and reduces delayed caregiver awareness</a:t>
            </a:r>
          </a:p>
        </p:txBody>
      </p:sp>
      <p:sp>
        <p:nvSpPr>
          <p:cNvPr id="13" name="">
            <a:extLst xmlns:a="http://schemas.openxmlformats.org/drawingml/2006/main">
              <a:ext uri="{FF2B5EF4-FFF2-40B4-BE49-F238E27FC236}">
                <a16:creationId xmlns:a16="http://schemas.microsoft.com/office/drawing/2014/main" id="{78D68CAB-804E-415C-9366-4AAA1E886DA8}"/>
              </a:ext>
            </a:extLst>
          </p:cNvPr>
          <p:cNvSpPr>
            <a:spLocks xmlns:a="http://schemas.openxmlformats.org/drawingml/2006/main" noGrp="1"/>
          </p:cNvSpPr>
          <p:nvPr/>
        </p:nvSpPr>
        <p:spPr>
          <a:xfrm xmlns:a="http://schemas.openxmlformats.org/drawingml/2006/main">
            <a:off x="647700" y="2847975"/>
            <a:ext cx="10744200" cy="647700"/>
          </a:xfrm>
          <a:prstGeom xmlns:a="http://schemas.openxmlformats.org/drawingml/2006/main" prst="roundRect">
            <a:avLst>
              <a:gd name="adj" fmla="val 17647"/>
            </a:avLst>
          </a:prstGeom>
          <a:solidFill xmlns:a="http://schemas.openxmlformats.org/drawingml/2006/main">
            <a:srgbClr val="3A31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8AD61F-2E34-4EEA-89EF-34A24C417C2C}"/>
              </a:ext>
            </a:extLst>
          </p:cNvPr>
          <p:cNvSpPr>
            <a:spLocks xmlns:a="http://schemas.openxmlformats.org/drawingml/2006/main" noGrp="1"/>
          </p:cNvSpPr>
          <p:nvPr/>
        </p:nvSpPr>
        <p:spPr>
          <a:xfrm xmlns:a="http://schemas.openxmlformats.org/drawingml/2006/main">
            <a:off x="819150" y="294322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FF6B62"/>
                </a:solidFill>
                <a:latin typeface="Calibri"/>
                <a:ea typeface="Calibri"/>
                <a:cs typeface="Calibri"/>
              </a:defRPr>
            </a:pPr>
            <a:r>
              <a:rPr sz="975" b="1">
                <a:solidFill>
                  <a:srgbClr val="FF6B62"/>
                </a:solidFill>
                <a:latin typeface="Calibri"/>
                <a:ea typeface="Calibri"/>
                <a:cs typeface="Calibri"/>
              </a:rPr>
              <a:t>COGNITION</a:t>
            </a:r>
          </a:p>
        </p:txBody>
      </p:sp>
      <p:sp>
        <p:nvSpPr>
          <p:cNvPr id="15" name="">
            <a:extLst xmlns:a="http://schemas.openxmlformats.org/drawingml/2006/main">
              <a:ext uri="{FF2B5EF4-FFF2-40B4-BE49-F238E27FC236}">
                <a16:creationId xmlns:a16="http://schemas.microsoft.com/office/drawing/2014/main" id="{39FBE79D-02A8-44B7-9405-A89CD4613778}"/>
              </a:ext>
            </a:extLst>
          </p:cNvPr>
          <p:cNvSpPr>
            <a:spLocks xmlns:a="http://schemas.openxmlformats.org/drawingml/2006/main" noGrp="1"/>
          </p:cNvSpPr>
          <p:nvPr/>
        </p:nvSpPr>
        <p:spPr>
          <a:xfrm xmlns:a="http://schemas.openxmlformats.org/drawingml/2006/main">
            <a:off x="819150" y="31432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XDementia + BrainTrack</a:t>
            </a:r>
          </a:p>
        </p:txBody>
      </p:sp>
      <p:sp>
        <p:nvSpPr>
          <p:cNvPr id="16" name="">
            <a:extLst xmlns:a="http://schemas.openxmlformats.org/drawingml/2006/main">
              <a:ext uri="{FF2B5EF4-FFF2-40B4-BE49-F238E27FC236}">
                <a16:creationId xmlns:a16="http://schemas.microsoft.com/office/drawing/2014/main" id="{EB89433E-43FD-436D-B4CE-32126BA5DC01}"/>
              </a:ext>
            </a:extLst>
          </p:cNvPr>
          <p:cNvSpPr>
            <a:spLocks xmlns:a="http://schemas.openxmlformats.org/drawingml/2006/main" noGrp="1"/>
          </p:cNvSpPr>
          <p:nvPr/>
        </p:nvSpPr>
        <p:spPr>
          <a:xfrm xmlns:a="http://schemas.openxmlformats.org/drawingml/2006/main">
            <a:off x="3676650" y="29908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F8F6FF"/>
                </a:solidFill>
                <a:latin typeface="Calibri"/>
                <a:ea typeface="Calibri"/>
                <a:cs typeface="Calibri"/>
              </a:defRPr>
            </a:pPr>
            <a:r>
              <a:rPr sz="1200" b="1">
                <a:solidFill>
                  <a:srgbClr val="F8F6FF"/>
                </a:solidFill>
                <a:latin typeface="Calibri"/>
                <a:ea typeface="Calibri"/>
                <a:cs typeface="Calibri"/>
              </a:rPr>
              <a:t>Accessible games, performance logging and visual feedback</a:t>
            </a:r>
          </a:p>
        </p:txBody>
      </p:sp>
      <p:sp>
        <p:nvSpPr>
          <p:cNvPr id="17" name="">
            <a:extLst xmlns:a="http://schemas.openxmlformats.org/drawingml/2006/main">
              <a:ext uri="{FF2B5EF4-FFF2-40B4-BE49-F238E27FC236}">
                <a16:creationId xmlns:a16="http://schemas.microsoft.com/office/drawing/2014/main" id="{35CFA9C4-E744-4F68-965F-44001BE60467}"/>
              </a:ext>
            </a:extLst>
          </p:cNvPr>
          <p:cNvSpPr>
            <a:spLocks xmlns:a="http://schemas.openxmlformats.org/drawingml/2006/main" noGrp="1"/>
          </p:cNvSpPr>
          <p:nvPr/>
        </p:nvSpPr>
        <p:spPr>
          <a:xfrm xmlns:a="http://schemas.openxmlformats.org/drawingml/2006/main">
            <a:off x="8115300" y="298132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Encourages cognitive participation without a separate app</a:t>
            </a:r>
          </a:p>
        </p:txBody>
      </p:sp>
      <p:sp>
        <p:nvSpPr>
          <p:cNvPr id="18" name="">
            <a:extLst xmlns:a="http://schemas.openxmlformats.org/drawingml/2006/main">
              <a:ext uri="{FF2B5EF4-FFF2-40B4-BE49-F238E27FC236}">
                <a16:creationId xmlns:a16="http://schemas.microsoft.com/office/drawing/2014/main" id="{9E3E50AF-4E9E-445A-88BB-787F074820B2}"/>
              </a:ext>
            </a:extLst>
          </p:cNvPr>
          <p:cNvSpPr>
            <a:spLocks xmlns:a="http://schemas.openxmlformats.org/drawingml/2006/main" noGrp="1"/>
          </p:cNvSpPr>
          <p:nvPr/>
        </p:nvSpPr>
        <p:spPr>
          <a:xfrm xmlns:a="http://schemas.openxmlformats.org/drawingml/2006/main">
            <a:off x="647700" y="3648075"/>
            <a:ext cx="10744200" cy="647700"/>
          </a:xfrm>
          <a:prstGeom xmlns:a="http://schemas.openxmlformats.org/drawingml/2006/main" prst="roundRect">
            <a:avLst>
              <a:gd name="adj" fmla="val 17647"/>
            </a:avLst>
          </a:prstGeom>
          <a:solidFill xmlns:a="http://schemas.openxmlformats.org/drawingml/2006/main">
            <a:srgbClr val="2E275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6E272E6-B320-4102-8D7C-0EDB4288C00D}"/>
              </a:ext>
            </a:extLst>
          </p:cNvPr>
          <p:cNvSpPr>
            <a:spLocks xmlns:a="http://schemas.openxmlformats.org/drawingml/2006/main" noGrp="1"/>
          </p:cNvSpPr>
          <p:nvPr/>
        </p:nvSpPr>
        <p:spPr>
          <a:xfrm xmlns:a="http://schemas.openxmlformats.org/drawingml/2006/main">
            <a:off x="819150" y="374332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FF6B62"/>
                </a:solidFill>
                <a:latin typeface="Calibri"/>
                <a:ea typeface="Calibri"/>
                <a:cs typeface="Calibri"/>
              </a:defRPr>
            </a:pPr>
            <a:r>
              <a:rPr sz="975" b="1">
                <a:solidFill>
                  <a:srgbClr val="FF6B62"/>
                </a:solidFill>
                <a:latin typeface="Calibri"/>
                <a:ea typeface="Calibri"/>
                <a:cs typeface="Calibri"/>
              </a:rPr>
              <a:t>PERSONALISATION</a:t>
            </a:r>
          </a:p>
        </p:txBody>
      </p:sp>
      <p:sp>
        <p:nvSpPr>
          <p:cNvPr id="20" name="">
            <a:extLst xmlns:a="http://schemas.openxmlformats.org/drawingml/2006/main">
              <a:ext uri="{FF2B5EF4-FFF2-40B4-BE49-F238E27FC236}">
                <a16:creationId xmlns:a16="http://schemas.microsoft.com/office/drawing/2014/main" id="{A6E19BEA-E2BF-4799-B051-04EFBC196D90}"/>
              </a:ext>
            </a:extLst>
          </p:cNvPr>
          <p:cNvSpPr>
            <a:spLocks xmlns:a="http://schemas.openxmlformats.org/drawingml/2006/main" noGrp="1"/>
          </p:cNvSpPr>
          <p:nvPr/>
        </p:nvSpPr>
        <p:spPr>
          <a:xfrm xmlns:a="http://schemas.openxmlformats.org/drawingml/2006/main">
            <a:off x="819150" y="39433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Manera; Lu; Ortega Morán; Bahar-Fuchs</a:t>
            </a:r>
          </a:p>
        </p:txBody>
      </p:sp>
      <p:sp>
        <p:nvSpPr>
          <p:cNvPr id="21" name="">
            <a:extLst xmlns:a="http://schemas.openxmlformats.org/drawingml/2006/main">
              <a:ext uri="{FF2B5EF4-FFF2-40B4-BE49-F238E27FC236}">
                <a16:creationId xmlns:a16="http://schemas.microsoft.com/office/drawing/2014/main" id="{34C53D6A-779B-40B5-AA9F-DCC2C5E1C628}"/>
              </a:ext>
            </a:extLst>
          </p:cNvPr>
          <p:cNvSpPr>
            <a:spLocks xmlns:a="http://schemas.openxmlformats.org/drawingml/2006/main" noGrp="1"/>
          </p:cNvSpPr>
          <p:nvPr/>
        </p:nvSpPr>
        <p:spPr>
          <a:xfrm xmlns:a="http://schemas.openxmlformats.org/drawingml/2006/main">
            <a:off x="3676650" y="37909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F8F6FF"/>
                </a:solidFill>
                <a:latin typeface="Calibri"/>
                <a:ea typeface="Calibri"/>
                <a:cs typeface="Calibri"/>
              </a:defRPr>
            </a:pPr>
            <a:r>
              <a:rPr sz="1200" b="1">
                <a:solidFill>
                  <a:srgbClr val="F8F6FF"/>
                </a:solidFill>
                <a:latin typeface="Calibri"/>
                <a:ea typeface="Calibri"/>
                <a:cs typeface="Calibri"/>
              </a:rPr>
              <a:t>Type/stage routing and per-game adaptive difficulty</a:t>
            </a:r>
          </a:p>
        </p:txBody>
      </p:sp>
      <p:sp>
        <p:nvSpPr>
          <p:cNvPr id="22" name="">
            <a:extLst xmlns:a="http://schemas.openxmlformats.org/drawingml/2006/main">
              <a:ext uri="{FF2B5EF4-FFF2-40B4-BE49-F238E27FC236}">
                <a16:creationId xmlns:a16="http://schemas.microsoft.com/office/drawing/2014/main" id="{F06E0681-7B4B-4AA0-B66E-11BD6EE0B044}"/>
              </a:ext>
            </a:extLst>
          </p:cNvPr>
          <p:cNvSpPr>
            <a:spLocks xmlns:a="http://schemas.openxmlformats.org/drawingml/2006/main" noGrp="1"/>
          </p:cNvSpPr>
          <p:nvPr/>
        </p:nvSpPr>
        <p:spPr>
          <a:xfrm xmlns:a="http://schemas.openxmlformats.org/drawingml/2006/main">
            <a:off x="8115300" y="378142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Keeps challenge appropriate and avoids frustration</a:t>
            </a:r>
          </a:p>
        </p:txBody>
      </p:sp>
      <p:sp>
        <p:nvSpPr>
          <p:cNvPr id="23" name="">
            <a:extLst xmlns:a="http://schemas.openxmlformats.org/drawingml/2006/main">
              <a:ext uri="{FF2B5EF4-FFF2-40B4-BE49-F238E27FC236}">
                <a16:creationId xmlns:a16="http://schemas.microsoft.com/office/drawing/2014/main" id="{8F0615E6-5E7B-4AFC-9497-731B6C1E3E3E}"/>
              </a:ext>
            </a:extLst>
          </p:cNvPr>
          <p:cNvSpPr>
            <a:spLocks xmlns:a="http://schemas.openxmlformats.org/drawingml/2006/main" noGrp="1"/>
          </p:cNvSpPr>
          <p:nvPr/>
        </p:nvSpPr>
        <p:spPr>
          <a:xfrm xmlns:a="http://schemas.openxmlformats.org/drawingml/2006/main">
            <a:off x="647700" y="4448175"/>
            <a:ext cx="10744200" cy="647700"/>
          </a:xfrm>
          <a:prstGeom xmlns:a="http://schemas.openxmlformats.org/drawingml/2006/main" prst="roundRect">
            <a:avLst>
              <a:gd name="adj" fmla="val 17647"/>
            </a:avLst>
          </a:prstGeom>
          <a:solidFill xmlns:a="http://schemas.openxmlformats.org/drawingml/2006/main">
            <a:srgbClr val="3A316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A0A3F95-BA6D-4051-BBDF-97951D197A16}"/>
              </a:ext>
            </a:extLst>
          </p:cNvPr>
          <p:cNvSpPr>
            <a:spLocks xmlns:a="http://schemas.openxmlformats.org/drawingml/2006/main" noGrp="1"/>
          </p:cNvSpPr>
          <p:nvPr/>
        </p:nvSpPr>
        <p:spPr>
          <a:xfrm xmlns:a="http://schemas.openxmlformats.org/drawingml/2006/main">
            <a:off x="819150" y="454342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FF6B62"/>
                </a:solidFill>
                <a:latin typeface="Calibri"/>
                <a:ea typeface="Calibri"/>
                <a:cs typeface="Calibri"/>
              </a:defRPr>
            </a:pPr>
            <a:r>
              <a:rPr sz="975" b="1">
                <a:solidFill>
                  <a:srgbClr val="FF6B62"/>
                </a:solidFill>
                <a:latin typeface="Calibri"/>
                <a:ea typeface="Calibri"/>
                <a:cs typeface="Calibri"/>
              </a:rPr>
              <a:t>ACCESSIBILITY</a:t>
            </a:r>
          </a:p>
        </p:txBody>
      </p:sp>
      <p:sp>
        <p:nvSpPr>
          <p:cNvPr id="25" name="">
            <a:extLst xmlns:a="http://schemas.openxmlformats.org/drawingml/2006/main">
              <a:ext uri="{FF2B5EF4-FFF2-40B4-BE49-F238E27FC236}">
                <a16:creationId xmlns:a16="http://schemas.microsoft.com/office/drawing/2014/main" id="{FBB0FC90-4C8E-4A2C-AA83-A21584B5C827}"/>
              </a:ext>
            </a:extLst>
          </p:cNvPr>
          <p:cNvSpPr>
            <a:spLocks xmlns:a="http://schemas.openxmlformats.org/drawingml/2006/main" noGrp="1"/>
          </p:cNvSpPr>
          <p:nvPr/>
        </p:nvSpPr>
        <p:spPr>
          <a:xfrm xmlns:a="http://schemas.openxmlformats.org/drawingml/2006/main">
            <a:off x="819150" y="47434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DEMIGNED principles + usability reviews</a:t>
            </a:r>
          </a:p>
        </p:txBody>
      </p:sp>
      <p:sp>
        <p:nvSpPr>
          <p:cNvPr id="26" name="">
            <a:extLst xmlns:a="http://schemas.openxmlformats.org/drawingml/2006/main">
              <a:ext uri="{FF2B5EF4-FFF2-40B4-BE49-F238E27FC236}">
                <a16:creationId xmlns:a16="http://schemas.microsoft.com/office/drawing/2014/main" id="{B1B827AA-072F-4D1F-96EC-13D8603DF4A9}"/>
              </a:ext>
            </a:extLst>
          </p:cNvPr>
          <p:cNvSpPr>
            <a:spLocks xmlns:a="http://schemas.openxmlformats.org/drawingml/2006/main" noGrp="1"/>
          </p:cNvSpPr>
          <p:nvPr/>
        </p:nvSpPr>
        <p:spPr>
          <a:xfrm xmlns:a="http://schemas.openxmlformats.org/drawingml/2006/main">
            <a:off x="3676650" y="45910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F8F6FF"/>
                </a:solidFill>
                <a:latin typeface="Calibri"/>
                <a:ea typeface="Calibri"/>
                <a:cs typeface="Calibri"/>
              </a:defRPr>
            </a:pPr>
            <a:r>
              <a:rPr sz="1200" b="1">
                <a:solidFill>
                  <a:srgbClr val="F8F6FF"/>
                </a:solidFill>
                <a:latin typeface="Calibri"/>
                <a:ea typeface="Calibri"/>
                <a:cs typeface="Calibri"/>
              </a:rPr>
              <a:t>Large targets, high contrast, role-specific navigation</a:t>
            </a:r>
          </a:p>
        </p:txBody>
      </p:sp>
      <p:sp>
        <p:nvSpPr>
          <p:cNvPr id="27" name="">
            <a:extLst xmlns:a="http://schemas.openxmlformats.org/drawingml/2006/main">
              <a:ext uri="{FF2B5EF4-FFF2-40B4-BE49-F238E27FC236}">
                <a16:creationId xmlns:a16="http://schemas.microsoft.com/office/drawing/2014/main" id="{4143995D-E851-47B9-8670-ADAA532F5FAC}"/>
              </a:ext>
            </a:extLst>
          </p:cNvPr>
          <p:cNvSpPr>
            <a:spLocks xmlns:a="http://schemas.openxmlformats.org/drawingml/2006/main" noGrp="1"/>
          </p:cNvSpPr>
          <p:nvPr/>
        </p:nvSpPr>
        <p:spPr>
          <a:xfrm xmlns:a="http://schemas.openxmlformats.org/drawingml/2006/main">
            <a:off x="8115300" y="458152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Reduces cognitive load and supports independent use</a:t>
            </a:r>
          </a:p>
        </p:txBody>
      </p:sp>
      <p:sp>
        <p:nvSpPr>
          <p:cNvPr id="28" name="">
            <a:extLst xmlns:a="http://schemas.openxmlformats.org/drawingml/2006/main">
              <a:ext uri="{FF2B5EF4-FFF2-40B4-BE49-F238E27FC236}">
                <a16:creationId xmlns:a16="http://schemas.microsoft.com/office/drawing/2014/main" id="{A8EDC412-E249-4BFF-BB8D-CD664CA6F3F7}"/>
              </a:ext>
            </a:extLst>
          </p:cNvPr>
          <p:cNvSpPr>
            <a:spLocks xmlns:a="http://schemas.openxmlformats.org/drawingml/2006/main" noGrp="1"/>
          </p:cNvSpPr>
          <p:nvPr/>
        </p:nvSpPr>
        <p:spPr>
          <a:xfrm xmlns:a="http://schemas.openxmlformats.org/drawingml/2006/main">
            <a:off x="647700" y="5248275"/>
            <a:ext cx="10744200" cy="647700"/>
          </a:xfrm>
          <a:prstGeom xmlns:a="http://schemas.openxmlformats.org/drawingml/2006/main" prst="roundRect">
            <a:avLst>
              <a:gd name="adj" fmla="val 17647"/>
            </a:avLst>
          </a:prstGeom>
          <a:solidFill xmlns:a="http://schemas.openxmlformats.org/drawingml/2006/main">
            <a:srgbClr val="2E275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A943709-F034-45BC-98E5-A64F6384D5DF}"/>
              </a:ext>
            </a:extLst>
          </p:cNvPr>
          <p:cNvSpPr>
            <a:spLocks xmlns:a="http://schemas.openxmlformats.org/drawingml/2006/main" noGrp="1"/>
          </p:cNvSpPr>
          <p:nvPr/>
        </p:nvSpPr>
        <p:spPr>
          <a:xfrm xmlns:a="http://schemas.openxmlformats.org/drawingml/2006/main">
            <a:off x="819150" y="534352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FF6B62"/>
                </a:solidFill>
                <a:latin typeface="Calibri"/>
                <a:ea typeface="Calibri"/>
                <a:cs typeface="Calibri"/>
              </a:defRPr>
            </a:pPr>
            <a:r>
              <a:rPr sz="975" b="1">
                <a:solidFill>
                  <a:srgbClr val="FF6B62"/>
                </a:solidFill>
                <a:latin typeface="Calibri"/>
                <a:ea typeface="Calibri"/>
                <a:cs typeface="Calibri"/>
              </a:rPr>
              <a:t>MOTIVATION</a:t>
            </a:r>
          </a:p>
        </p:txBody>
      </p:sp>
      <p:sp>
        <p:nvSpPr>
          <p:cNvPr id="30" name="">
            <a:extLst xmlns:a="http://schemas.openxmlformats.org/drawingml/2006/main">
              <a:ext uri="{FF2B5EF4-FFF2-40B4-BE49-F238E27FC236}">
                <a16:creationId xmlns:a16="http://schemas.microsoft.com/office/drawing/2014/main" id="{C5C3286A-3972-43BD-814E-9C478760E077}"/>
              </a:ext>
            </a:extLst>
          </p:cNvPr>
          <p:cNvSpPr>
            <a:spLocks xmlns:a="http://schemas.openxmlformats.org/drawingml/2006/main" noGrp="1"/>
          </p:cNvSpPr>
          <p:nvPr/>
        </p:nvSpPr>
        <p:spPr>
          <a:xfrm xmlns:a="http://schemas.openxmlformats.org/drawingml/2006/main">
            <a:off x="819150" y="55435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Gamification evidence</a:t>
            </a:r>
          </a:p>
        </p:txBody>
      </p:sp>
      <p:sp>
        <p:nvSpPr>
          <p:cNvPr id="31" name="">
            <a:extLst xmlns:a="http://schemas.openxmlformats.org/drawingml/2006/main">
              <a:ext uri="{FF2B5EF4-FFF2-40B4-BE49-F238E27FC236}">
                <a16:creationId xmlns:a16="http://schemas.microsoft.com/office/drawing/2014/main" id="{538C7983-3B23-43F6-8CDB-1E1395D91B0B}"/>
              </a:ext>
            </a:extLst>
          </p:cNvPr>
          <p:cNvSpPr>
            <a:spLocks xmlns:a="http://schemas.openxmlformats.org/drawingml/2006/main" noGrp="1"/>
          </p:cNvSpPr>
          <p:nvPr/>
        </p:nvSpPr>
        <p:spPr>
          <a:xfrm xmlns:a="http://schemas.openxmlformats.org/drawingml/2006/main">
            <a:off x="3676650" y="53911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F8F6FF"/>
                </a:solidFill>
                <a:latin typeface="Calibri"/>
                <a:ea typeface="Calibri"/>
                <a:cs typeface="Calibri"/>
              </a:defRPr>
            </a:pPr>
            <a:r>
              <a:rPr sz="1200" b="1">
                <a:solidFill>
                  <a:srgbClr val="F8F6FF"/>
                </a:solidFill>
                <a:latin typeface="Calibri"/>
                <a:ea typeface="Calibri"/>
                <a:cs typeface="Calibri"/>
              </a:rPr>
              <a:t>Points, streaks, levels and unlockable reward games</a:t>
            </a:r>
          </a:p>
        </p:txBody>
      </p:sp>
      <p:sp>
        <p:nvSpPr>
          <p:cNvPr id="32" name="">
            <a:extLst xmlns:a="http://schemas.openxmlformats.org/drawingml/2006/main">
              <a:ext uri="{FF2B5EF4-FFF2-40B4-BE49-F238E27FC236}">
                <a16:creationId xmlns:a16="http://schemas.microsoft.com/office/drawing/2014/main" id="{30FF8CC5-5618-4AA5-A547-57C33BCFF966}"/>
              </a:ext>
            </a:extLst>
          </p:cNvPr>
          <p:cNvSpPr>
            <a:spLocks xmlns:a="http://schemas.openxmlformats.org/drawingml/2006/main" noGrp="1"/>
          </p:cNvSpPr>
          <p:nvPr/>
        </p:nvSpPr>
        <p:spPr>
          <a:xfrm xmlns:a="http://schemas.openxmlformats.org/drawingml/2006/main">
            <a:off x="8115300" y="538162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Reinforces repeated participation in routines and games</a:t>
            </a:r>
          </a:p>
        </p:txBody>
      </p:sp>
      <p:sp>
        <p:nvSpPr>
          <p:cNvPr id="33" name="">
            <a:extLst xmlns:a="http://schemas.openxmlformats.org/drawingml/2006/main">
              <a:ext uri="{FF2B5EF4-FFF2-40B4-BE49-F238E27FC236}">
                <a16:creationId xmlns:a16="http://schemas.microsoft.com/office/drawing/2014/main" id="{57D854EC-BEA8-413E-9D7C-BE8A399A7FB7}"/>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 2; Lim &amp; Sharmeen (2018); Manera et al. (2017); Ortega Morán et al. (2024); Engelsma et al. (2024); Greysen et al. (2024).</a:t>
            </a:r>
          </a:p>
        </p:txBody>
      </p:sp>
      <p:sp>
        <p:nvSpPr>
          <p:cNvPr id="34" name="">
            <a:extLst xmlns:a="http://schemas.openxmlformats.org/drawingml/2006/main">
              <a:ext uri="{FF2B5EF4-FFF2-40B4-BE49-F238E27FC236}">
                <a16:creationId xmlns:a16="http://schemas.microsoft.com/office/drawing/2014/main" id="{1C5C3657-4B50-43FF-84FF-0E0358DC3E92}"/>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05</a:t>
            </a:r>
          </a:p>
        </p:txBody>
      </p:sp>
    </p:spTree>
    <p:extLst>
      <p:ext uri="{BB962C8B-B14F-4D97-AF65-F5344CB8AC3E}">
        <p14:creationId xmlns:p14="http://schemas.microsoft.com/office/powerpoint/2010/main" val="510309201"/>
      </p:ext>
    </p:extLst>
  </p:cSld>
</p:sld>
</file>

<file path=ppt/slides/slide6.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89EF5E-6046-409A-9D69-DD3D5B6121F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492FCF-9E13-4C45-A9B0-EC72B15E34C9}"/>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2 · LITERATURE REVIEW</a:t>
            </a:r>
          </a:p>
        </p:txBody>
      </p:sp>
      <p:sp>
        <p:nvSpPr>
          <p:cNvPr id="3" name="">
            <a:extLst xmlns:a="http://schemas.openxmlformats.org/drawingml/2006/main">
              <a:ext uri="{FF2B5EF4-FFF2-40B4-BE49-F238E27FC236}">
                <a16:creationId xmlns:a16="http://schemas.microsoft.com/office/drawing/2014/main" id="{FB1FECF1-8943-434F-A636-8B21C0264636}"/>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MindCare closes the gap between assistance and cognitive support</a:t>
            </a:r>
          </a:p>
        </p:txBody>
      </p:sp>
      <p:sp>
        <p:nvSpPr>
          <p:cNvPr id="4" name="">
            <a:extLst xmlns:a="http://schemas.openxmlformats.org/drawingml/2006/main">
              <a:ext uri="{FF2B5EF4-FFF2-40B4-BE49-F238E27FC236}">
                <a16:creationId xmlns:a16="http://schemas.microsoft.com/office/drawing/2014/main" id="{E4332B1F-217B-49AA-822C-BE0EF6B81A89}"/>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No reviewed application combined the full caregiver workflow with personalised cognitive adaptation.</a:t>
            </a:r>
          </a:p>
        </p:txBody>
      </p:sp>
      <p:graphicFrame>
        <p:nvGraphicFramePr>
          <p:cNvPr id="12" name=""/>
          <p:cNvGraphicFramePr/>
          <p:nvPr/>
        </p:nvGraphicFramePr>
        <p:xfrm>
          <a:off xmlns:a="http://schemas.openxmlformats.org/drawingml/2006/main" x="647700" y="1619250"/>
          <a:ext xmlns:a="http://schemas.openxmlformats.org/drawingml/2006/main" cx="10744200" cy="4286250"/>
        </p:xfrm>
        <a:graphic xmlns:a="http://schemas.openxmlformats.org/drawingml/2006/main">
          <a:graphicData uri="http://schemas.openxmlformats.org/drawingml/2006/table">
            <a:tbl>
              <a:tblPr/>
              <a:tblGrid>
                <a:gridCol w="3524250"/>
                <a:gridCol w="1809750"/>
                <a:gridCol w="1809750"/>
                <a:gridCol w="1809750"/>
                <a:gridCol w="1790700"/>
              </a:tblGrid>
              <a:tr h="389659">
                <a:tc>
                  <a:txBody>
                    <a:bodyPr/>
                    <a:lstStyle/>
                    <a:p>
                      <a:pPr algn="ctr"/>
                      <a:r>
                        <a:rPr sz="1200" b="1">
                          <a:solidFill>
                            <a:srgbClr val="F8F6FF"/>
                          </a:solidFill>
                          <a:latin typeface="Calibri"/>
                          <a:ea typeface="Calibri"/>
                          <a:cs typeface="Calibri"/>
                        </a:rPr>
                        <a:t>Feature</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Elli Cares</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XDementia</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BrainTrack</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MindCare</a:t>
                      </a:r>
                    </a:p>
                  </a:txBody>
                  <a:tcPr marL="76200" marR="76200" marT="47625" marB="47625" anchor="ctr">
                    <a:solidFill>
                      <a:srgbClr val="FF6B62"/>
                    </a:solidFill>
                  </a:tcPr>
                </a:tc>
              </a:tr>
              <a:tr h="389659">
                <a:tc>
                  <a:txBody>
                    <a:bodyPr/>
                    <a:lstStyle/>
                    <a:p>
                      <a:pPr algn="l"/>
                      <a:r>
                        <a:rPr sz="1125" b="1">
                          <a:solidFill>
                            <a:srgbClr val="F8F6FF"/>
                          </a:solidFill>
                          <a:latin typeface="Calibri"/>
                          <a:ea typeface="Calibri"/>
                          <a:cs typeface="Calibri"/>
                        </a:rPr>
                        <a:t>Task &amp; medication reminders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Caregiver support</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Recurring schedules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Cognitive games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Adaptive game difficulty</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Game performance statistics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Type &amp; stage-specific games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Caregiver override + history</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Risk / attention indicator</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r>
                        <a:rPr sz="1125" b="1">
                          <a:solidFill>
                            <a:srgbClr val="F8F6FF"/>
                          </a:solidFill>
                          <a:latin typeface="Calibri"/>
                          <a:ea typeface="Calibri"/>
                          <a:cs typeface="Calibri"/>
                        </a:rPr>
                        <a:t>Unlockable reward games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tr>
            </a:tbl>
          </a:graphicData>
        </a:graphic>
      </p:graphicFrame>
      <p:sp>
        <p:nvSpPr>
          <p:cNvPr id="6" name="">
            <a:extLst xmlns:a="http://schemas.openxmlformats.org/drawingml/2006/main">
              <a:ext uri="{FF2B5EF4-FFF2-40B4-BE49-F238E27FC236}">
                <a16:creationId xmlns:a16="http://schemas.microsoft.com/office/drawing/2014/main" id="{B56C7DE9-1756-4DA8-9E76-3C06E9531D87}"/>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2.10, pp. 36–37 (condensed to presentation-critical features).</a:t>
            </a:r>
          </a:p>
        </p:txBody>
      </p:sp>
      <p:sp>
        <p:nvSpPr>
          <p:cNvPr id="7" name="">
            <a:extLst xmlns:a="http://schemas.openxmlformats.org/drawingml/2006/main">
              <a:ext uri="{FF2B5EF4-FFF2-40B4-BE49-F238E27FC236}">
                <a16:creationId xmlns:a16="http://schemas.microsoft.com/office/drawing/2014/main" id="{D1F8BCCF-4C9C-43B4-A137-CC4168D034F5}"/>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06</a:t>
            </a:r>
          </a:p>
        </p:txBody>
      </p:sp>
    </p:spTree>
    <p:extLst>
      <p:ext uri="{BB962C8B-B14F-4D97-AF65-F5344CB8AC3E}">
        <p14:creationId xmlns:p14="http://schemas.microsoft.com/office/powerpoint/2010/main" val="153782563"/>
      </p:ext>
    </p:extLst>
  </p:cSld>
</p:sld>
</file>

<file path=ppt/slides/slide7.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8F62114-4B53-4C95-BF7F-D23363CE013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6B5DDB-A378-44C7-9652-2E077CCFA810}"/>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3 · METHODOLOGY</a:t>
            </a:r>
          </a:p>
        </p:txBody>
      </p:sp>
      <p:sp>
        <p:nvSpPr>
          <p:cNvPr id="3" name="">
            <a:extLst xmlns:a="http://schemas.openxmlformats.org/drawingml/2006/main">
              <a:ext uri="{FF2B5EF4-FFF2-40B4-BE49-F238E27FC236}">
                <a16:creationId xmlns:a16="http://schemas.microsoft.com/office/drawing/2014/main" id="{B224CDA9-BE13-4343-BDA1-40F95298D00F}"/>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Prototyping model across the project</a:t>
            </a:r>
          </a:p>
        </p:txBody>
      </p:sp>
      <p:sp>
        <p:nvSpPr>
          <p:cNvPr id="4" name="">
            <a:extLst xmlns:a="http://schemas.openxmlformats.org/drawingml/2006/main">
              <a:ext uri="{FF2B5EF4-FFF2-40B4-BE49-F238E27FC236}">
                <a16:creationId xmlns:a16="http://schemas.microsoft.com/office/drawing/2014/main" id="{B63CEB54-DE97-4219-AB42-76198539355C}"/>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Each project phase applied a prototyping activity, from FYP I research to final validation.</a:t>
            </a:r>
          </a:p>
        </p:txBody>
      </p:sp>
      <p:sp>
        <p:nvSpPr>
          <p:cNvPr id="5" name="">
            <a:extLst xmlns:a="http://schemas.openxmlformats.org/drawingml/2006/main">
              <a:ext uri="{FF2B5EF4-FFF2-40B4-BE49-F238E27FC236}">
                <a16:creationId xmlns:a16="http://schemas.microsoft.com/office/drawing/2014/main" id="{F608A5A9-699C-45E2-B181-D18D60E7D4C1}"/>
              </a:ext>
            </a:extLst>
          </p:cNvPr>
          <p:cNvSpPr>
            <a:spLocks xmlns:a="http://schemas.openxmlformats.org/drawingml/2006/main" noGrp="1"/>
          </p:cNvSpPr>
          <p:nvPr/>
        </p:nvSpPr>
        <p:spPr>
          <a:xfrm xmlns:a="http://schemas.openxmlformats.org/drawingml/2006/main">
            <a:off x="1104900" y="2771775"/>
            <a:ext cx="9982200" cy="47625"/>
          </a:xfrm>
          <a:prstGeom xmlns:a="http://schemas.openxmlformats.org/drawingml/2006/main" prst="rect">
            <a:avLst/>
          </a:prstGeom>
          <a:solidFill xmlns:a="http://schemas.openxmlformats.org/drawingml/2006/main">
            <a:srgbClr val="3A316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154880-B728-453C-8991-6567BB25BD1E}"/>
              </a:ext>
            </a:extLst>
          </p:cNvPr>
          <p:cNvSpPr>
            <a:spLocks xmlns:a="http://schemas.openxmlformats.org/drawingml/2006/main" noGrp="1"/>
          </p:cNvSpPr>
          <p:nvPr/>
        </p:nvSpPr>
        <p:spPr>
          <a:xfrm xmlns:a="http://schemas.openxmlformats.org/drawingml/2006/main">
            <a:off x="552450" y="18097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7C83FD"/>
                </a:solidFill>
                <a:latin typeface="Calibri"/>
                <a:ea typeface="Calibri"/>
                <a:cs typeface="Calibri"/>
              </a:defRPr>
            </a:pPr>
            <a:r>
              <a:rPr sz="975" b="1">
                <a:solidFill>
                  <a:srgbClr val="7C83FD"/>
                </a:solidFill>
                <a:latin typeface="Calibri"/>
                <a:ea typeface="Calibri"/>
                <a:cs typeface="Calibri"/>
              </a:rPr>
              <a:t>FYP I</a:t>
            </a:r>
          </a:p>
        </p:txBody>
      </p:sp>
      <p:sp>
        <p:nvSpPr>
          <p:cNvPr id="7" name="">
            <a:extLst xmlns:a="http://schemas.openxmlformats.org/drawingml/2006/main">
              <a:ext uri="{FF2B5EF4-FFF2-40B4-BE49-F238E27FC236}">
                <a16:creationId xmlns:a16="http://schemas.microsoft.com/office/drawing/2014/main" id="{CC8269F9-CEF9-4804-A42D-7C58158FD652}"/>
              </a:ext>
            </a:extLst>
          </p:cNvPr>
          <p:cNvSpPr>
            <a:spLocks xmlns:a="http://schemas.openxmlformats.org/drawingml/2006/main" noGrp="1"/>
          </p:cNvSpPr>
          <p:nvPr/>
        </p:nvSpPr>
        <p:spPr>
          <a:xfrm xmlns:a="http://schemas.openxmlformats.org/drawingml/2006/main">
            <a:off x="1104900" y="24574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E5B94C-B476-4020-A114-23D5CC258D21}"/>
              </a:ext>
            </a:extLst>
          </p:cNvPr>
          <p:cNvSpPr>
            <a:spLocks xmlns:a="http://schemas.openxmlformats.org/drawingml/2006/main" noGrp="1"/>
          </p:cNvSpPr>
          <p:nvPr/>
        </p:nvSpPr>
        <p:spPr>
          <a:xfrm xmlns:a="http://schemas.openxmlformats.org/drawingml/2006/main">
            <a:off x="1104900" y="26289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F8F6FF"/>
                </a:solidFill>
                <a:latin typeface="Calibri"/>
                <a:ea typeface="Calibri"/>
                <a:cs typeface="Calibri"/>
              </a:defRPr>
            </a:pPr>
            <a:r>
              <a:rPr sz="1725" b="1">
                <a:solidFill>
                  <a:srgbClr val="F8F6FF"/>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950CDCE2-6E44-4B16-8A9F-D2CFC46EFB15}"/>
              </a:ext>
            </a:extLst>
          </p:cNvPr>
          <p:cNvSpPr>
            <a:spLocks xmlns:a="http://schemas.openxmlformats.org/drawingml/2006/main" noGrp="1"/>
          </p:cNvSpPr>
          <p:nvPr/>
        </p:nvSpPr>
        <p:spPr>
          <a:xfrm xmlns:a="http://schemas.openxmlformats.org/drawingml/2006/main">
            <a:off x="552450" y="33147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8F6FF"/>
                </a:solidFill>
                <a:latin typeface="Calibri"/>
                <a:ea typeface="Calibri"/>
                <a:cs typeface="Calibri"/>
              </a:defRPr>
            </a:pPr>
            <a:r>
              <a:rPr sz="1575" b="1">
                <a:solidFill>
                  <a:srgbClr val="F8F6FF"/>
                </a:solidFill>
                <a:latin typeface="Calibri"/>
                <a:ea typeface="Calibri"/>
                <a:cs typeface="Calibri"/>
              </a:rPr>
              <a:t>Understand</a:t>
            </a:r>
          </a:p>
        </p:txBody>
      </p:sp>
      <p:sp>
        <p:nvSpPr>
          <p:cNvPr id="10" name="">
            <a:extLst xmlns:a="http://schemas.openxmlformats.org/drawingml/2006/main">
              <a:ext uri="{FF2B5EF4-FFF2-40B4-BE49-F238E27FC236}">
                <a16:creationId xmlns:a16="http://schemas.microsoft.com/office/drawing/2014/main" id="{2CAE9677-C6CE-4EF0-8DFC-81220AC1F174}"/>
              </a:ext>
            </a:extLst>
          </p:cNvPr>
          <p:cNvSpPr>
            <a:spLocks xmlns:a="http://schemas.openxmlformats.org/drawingml/2006/main" noGrp="1"/>
          </p:cNvSpPr>
          <p:nvPr/>
        </p:nvSpPr>
        <p:spPr>
          <a:xfrm xmlns:a="http://schemas.openxmlformats.org/drawingml/2006/main">
            <a:off x="476250" y="37623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Problems, literature, scope and requirements</a:t>
            </a:r>
          </a:p>
        </p:txBody>
      </p:sp>
      <p:sp>
        <p:nvSpPr>
          <p:cNvPr id="11" name="">
            <a:extLst xmlns:a="http://schemas.openxmlformats.org/drawingml/2006/main">
              <a:ext uri="{FF2B5EF4-FFF2-40B4-BE49-F238E27FC236}">
                <a16:creationId xmlns:a16="http://schemas.microsoft.com/office/drawing/2014/main" id="{F7C765F0-19B9-4FDC-BF8F-C90BD9EC0F68}"/>
              </a:ext>
            </a:extLst>
          </p:cNvPr>
          <p:cNvSpPr>
            <a:spLocks xmlns:a="http://schemas.openxmlformats.org/drawingml/2006/main" noGrp="1"/>
          </p:cNvSpPr>
          <p:nvPr/>
        </p:nvSpPr>
        <p:spPr>
          <a:xfrm xmlns:a="http://schemas.openxmlformats.org/drawingml/2006/main">
            <a:off x="2876550" y="18097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7C83FD"/>
                </a:solidFill>
                <a:latin typeface="Calibri"/>
                <a:ea typeface="Calibri"/>
                <a:cs typeface="Calibri"/>
              </a:defRPr>
            </a:pPr>
            <a:r>
              <a:rPr sz="975" b="1">
                <a:solidFill>
                  <a:srgbClr val="7C83FD"/>
                </a:solidFill>
                <a:latin typeface="Calibri"/>
                <a:ea typeface="Calibri"/>
                <a:cs typeface="Calibri"/>
              </a:rPr>
              <a:t>ITERATION 1</a:t>
            </a:r>
          </a:p>
        </p:txBody>
      </p:sp>
      <p:sp>
        <p:nvSpPr>
          <p:cNvPr id="12" name="">
            <a:extLst xmlns:a="http://schemas.openxmlformats.org/drawingml/2006/main">
              <a:ext uri="{FF2B5EF4-FFF2-40B4-BE49-F238E27FC236}">
                <a16:creationId xmlns:a16="http://schemas.microsoft.com/office/drawing/2014/main" id="{DA421318-DF11-49CF-811F-4355D54E4B6F}"/>
              </a:ext>
            </a:extLst>
          </p:cNvPr>
          <p:cNvSpPr>
            <a:spLocks xmlns:a="http://schemas.openxmlformats.org/drawingml/2006/main" noGrp="1"/>
          </p:cNvSpPr>
          <p:nvPr/>
        </p:nvSpPr>
        <p:spPr>
          <a:xfrm xmlns:a="http://schemas.openxmlformats.org/drawingml/2006/main">
            <a:off x="3429000" y="24574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0CA909-4113-49D2-811E-BCFDE8F0E260}"/>
              </a:ext>
            </a:extLst>
          </p:cNvPr>
          <p:cNvSpPr>
            <a:spLocks xmlns:a="http://schemas.openxmlformats.org/drawingml/2006/main" noGrp="1"/>
          </p:cNvSpPr>
          <p:nvPr/>
        </p:nvSpPr>
        <p:spPr>
          <a:xfrm xmlns:a="http://schemas.openxmlformats.org/drawingml/2006/main">
            <a:off x="3429000" y="26289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F8F6FF"/>
                </a:solidFill>
                <a:latin typeface="Calibri"/>
                <a:ea typeface="Calibri"/>
                <a:cs typeface="Calibri"/>
              </a:defRPr>
            </a:pPr>
            <a:r>
              <a:rPr sz="1725" b="1">
                <a:solidFill>
                  <a:srgbClr val="F8F6FF"/>
                </a:solidFill>
                <a:latin typeface="Calibri"/>
                <a:ea typeface="Calibri"/>
                <a:cs typeface="Calibri"/>
              </a:rPr>
              <a:t>02</a:t>
            </a:r>
          </a:p>
        </p:txBody>
      </p:sp>
      <p:sp>
        <p:nvSpPr>
          <p:cNvPr id="14" name="">
            <a:extLst xmlns:a="http://schemas.openxmlformats.org/drawingml/2006/main">
              <a:ext uri="{FF2B5EF4-FFF2-40B4-BE49-F238E27FC236}">
                <a16:creationId xmlns:a16="http://schemas.microsoft.com/office/drawing/2014/main" id="{64399F3E-BA93-4ADE-89D8-1A2CBCD222B2}"/>
              </a:ext>
            </a:extLst>
          </p:cNvPr>
          <p:cNvSpPr>
            <a:spLocks xmlns:a="http://schemas.openxmlformats.org/drawingml/2006/main" noGrp="1"/>
          </p:cNvSpPr>
          <p:nvPr/>
        </p:nvSpPr>
        <p:spPr>
          <a:xfrm xmlns:a="http://schemas.openxmlformats.org/drawingml/2006/main">
            <a:off x="2876550" y="33147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8F6FF"/>
                </a:solidFill>
                <a:latin typeface="Calibri"/>
                <a:ea typeface="Calibri"/>
                <a:cs typeface="Calibri"/>
              </a:defRPr>
            </a:pPr>
            <a:r>
              <a:rPr sz="1575" b="1">
                <a:solidFill>
                  <a:srgbClr val="F8F6FF"/>
                </a:solidFill>
                <a:latin typeface="Calibri"/>
                <a:ea typeface="Calibri"/>
                <a:cs typeface="Calibri"/>
              </a:rPr>
              <a:t>Prototype</a:t>
            </a:r>
          </a:p>
        </p:txBody>
      </p:sp>
      <p:sp>
        <p:nvSpPr>
          <p:cNvPr id="15" name="">
            <a:extLst xmlns:a="http://schemas.openxmlformats.org/drawingml/2006/main">
              <a:ext uri="{FF2B5EF4-FFF2-40B4-BE49-F238E27FC236}">
                <a16:creationId xmlns:a16="http://schemas.microsoft.com/office/drawing/2014/main" id="{74E5B9E1-1F39-45A5-828B-9E3F93038557}"/>
              </a:ext>
            </a:extLst>
          </p:cNvPr>
          <p:cNvSpPr>
            <a:spLocks xmlns:a="http://schemas.openxmlformats.org/drawingml/2006/main" noGrp="1"/>
          </p:cNvSpPr>
          <p:nvPr/>
        </p:nvSpPr>
        <p:spPr>
          <a:xfrm xmlns:a="http://schemas.openxmlformats.org/drawingml/2006/main">
            <a:off x="2800350" y="37623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Low- and high-fidelity interfaces and workflows</a:t>
            </a:r>
          </a:p>
        </p:txBody>
      </p:sp>
      <p:sp>
        <p:nvSpPr>
          <p:cNvPr id="16" name="">
            <a:extLst xmlns:a="http://schemas.openxmlformats.org/drawingml/2006/main">
              <a:ext uri="{FF2B5EF4-FFF2-40B4-BE49-F238E27FC236}">
                <a16:creationId xmlns:a16="http://schemas.microsoft.com/office/drawing/2014/main" id="{7F5672DB-84B1-4B0E-B2CC-66B9EC628993}"/>
              </a:ext>
            </a:extLst>
          </p:cNvPr>
          <p:cNvSpPr>
            <a:spLocks xmlns:a="http://schemas.openxmlformats.org/drawingml/2006/main" noGrp="1"/>
          </p:cNvSpPr>
          <p:nvPr/>
        </p:nvSpPr>
        <p:spPr>
          <a:xfrm xmlns:a="http://schemas.openxmlformats.org/drawingml/2006/main">
            <a:off x="5200650" y="18097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7C83FD"/>
                </a:solidFill>
                <a:latin typeface="Calibri"/>
                <a:ea typeface="Calibri"/>
                <a:cs typeface="Calibri"/>
              </a:defRPr>
            </a:pPr>
            <a:r>
              <a:rPr sz="975" b="1">
                <a:solidFill>
                  <a:srgbClr val="7C83FD"/>
                </a:solidFill>
                <a:latin typeface="Calibri"/>
                <a:ea typeface="Calibri"/>
                <a:cs typeface="Calibri"/>
              </a:rPr>
              <a:t>ITERATION 2</a:t>
            </a:r>
          </a:p>
        </p:txBody>
      </p:sp>
      <p:sp>
        <p:nvSpPr>
          <p:cNvPr id="17" name="">
            <a:extLst xmlns:a="http://schemas.openxmlformats.org/drawingml/2006/main">
              <a:ext uri="{FF2B5EF4-FFF2-40B4-BE49-F238E27FC236}">
                <a16:creationId xmlns:a16="http://schemas.microsoft.com/office/drawing/2014/main" id="{2E7207B2-48E9-4A25-8DC3-D29E3116F399}"/>
              </a:ext>
            </a:extLst>
          </p:cNvPr>
          <p:cNvSpPr>
            <a:spLocks xmlns:a="http://schemas.openxmlformats.org/drawingml/2006/main" noGrp="1"/>
          </p:cNvSpPr>
          <p:nvPr/>
        </p:nvSpPr>
        <p:spPr>
          <a:xfrm xmlns:a="http://schemas.openxmlformats.org/drawingml/2006/main">
            <a:off x="5753100" y="24574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A58D789-D295-498A-BAC6-927455C45FCB}"/>
              </a:ext>
            </a:extLst>
          </p:cNvPr>
          <p:cNvSpPr>
            <a:spLocks xmlns:a="http://schemas.openxmlformats.org/drawingml/2006/main" noGrp="1"/>
          </p:cNvSpPr>
          <p:nvPr/>
        </p:nvSpPr>
        <p:spPr>
          <a:xfrm xmlns:a="http://schemas.openxmlformats.org/drawingml/2006/main">
            <a:off x="5753100" y="26289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F8F6FF"/>
                </a:solidFill>
                <a:latin typeface="Calibri"/>
                <a:ea typeface="Calibri"/>
                <a:cs typeface="Calibri"/>
              </a:defRPr>
            </a:pPr>
            <a:r>
              <a:rPr sz="1725" b="1">
                <a:solidFill>
                  <a:srgbClr val="F8F6FF"/>
                </a:solidFill>
                <a:latin typeface="Calibri"/>
                <a:ea typeface="Calibri"/>
                <a:cs typeface="Calibri"/>
              </a:rPr>
              <a:t>03</a:t>
            </a:r>
          </a:p>
        </p:txBody>
      </p:sp>
      <p:sp>
        <p:nvSpPr>
          <p:cNvPr id="19" name="">
            <a:extLst xmlns:a="http://schemas.openxmlformats.org/drawingml/2006/main">
              <a:ext uri="{FF2B5EF4-FFF2-40B4-BE49-F238E27FC236}">
                <a16:creationId xmlns:a16="http://schemas.microsoft.com/office/drawing/2014/main" id="{54903BFC-448A-4F62-88E8-2264C3DC8111}"/>
              </a:ext>
            </a:extLst>
          </p:cNvPr>
          <p:cNvSpPr>
            <a:spLocks xmlns:a="http://schemas.openxmlformats.org/drawingml/2006/main" noGrp="1"/>
          </p:cNvSpPr>
          <p:nvPr/>
        </p:nvSpPr>
        <p:spPr>
          <a:xfrm xmlns:a="http://schemas.openxmlformats.org/drawingml/2006/main">
            <a:off x="5200650" y="33147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8F6FF"/>
                </a:solidFill>
                <a:latin typeface="Calibri"/>
                <a:ea typeface="Calibri"/>
                <a:cs typeface="Calibri"/>
              </a:defRPr>
            </a:pPr>
            <a:r>
              <a:rPr sz="1575" b="1">
                <a:solidFill>
                  <a:srgbClr val="F8F6FF"/>
                </a:solidFill>
                <a:latin typeface="Calibri"/>
                <a:ea typeface="Calibri"/>
                <a:cs typeface="Calibri"/>
              </a:rPr>
              <a:t>Evaluate &amp; build</a:t>
            </a:r>
          </a:p>
        </p:txBody>
      </p:sp>
      <p:sp>
        <p:nvSpPr>
          <p:cNvPr id="20" name="">
            <a:extLst xmlns:a="http://schemas.openxmlformats.org/drawingml/2006/main">
              <a:ext uri="{FF2B5EF4-FFF2-40B4-BE49-F238E27FC236}">
                <a16:creationId xmlns:a16="http://schemas.microsoft.com/office/drawing/2014/main" id="{EA4A4B9F-864D-45D9-860F-5CFEA4D9F47B}"/>
              </a:ext>
            </a:extLst>
          </p:cNvPr>
          <p:cNvSpPr>
            <a:spLocks xmlns:a="http://schemas.openxmlformats.org/drawingml/2006/main" noGrp="1"/>
          </p:cNvSpPr>
          <p:nvPr/>
        </p:nvSpPr>
        <p:spPr>
          <a:xfrm xmlns:a="http://schemas.openxmlformats.org/drawingml/2006/main">
            <a:off x="5124450" y="37623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Feedback guided authentication, patients, tasks and notifications</a:t>
            </a:r>
          </a:p>
        </p:txBody>
      </p:sp>
      <p:sp>
        <p:nvSpPr>
          <p:cNvPr id="21" name="">
            <a:extLst xmlns:a="http://schemas.openxmlformats.org/drawingml/2006/main">
              <a:ext uri="{FF2B5EF4-FFF2-40B4-BE49-F238E27FC236}">
                <a16:creationId xmlns:a16="http://schemas.microsoft.com/office/drawing/2014/main" id="{339559E8-929E-4E67-9A63-64BABE83C9D4}"/>
              </a:ext>
            </a:extLst>
          </p:cNvPr>
          <p:cNvSpPr>
            <a:spLocks xmlns:a="http://schemas.openxmlformats.org/drawingml/2006/main" noGrp="1"/>
          </p:cNvSpPr>
          <p:nvPr/>
        </p:nvSpPr>
        <p:spPr>
          <a:xfrm xmlns:a="http://schemas.openxmlformats.org/drawingml/2006/main">
            <a:off x="7524750" y="18097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7C83FD"/>
                </a:solidFill>
                <a:latin typeface="Calibri"/>
                <a:ea typeface="Calibri"/>
                <a:cs typeface="Calibri"/>
              </a:defRPr>
            </a:pPr>
            <a:r>
              <a:rPr sz="975" b="1">
                <a:solidFill>
                  <a:srgbClr val="7C83FD"/>
                </a:solidFill>
                <a:latin typeface="Calibri"/>
                <a:ea typeface="Calibri"/>
                <a:cs typeface="Calibri"/>
              </a:rPr>
              <a:t>FYP II</a:t>
            </a:r>
          </a:p>
        </p:txBody>
      </p:sp>
      <p:sp>
        <p:nvSpPr>
          <p:cNvPr id="22" name="">
            <a:extLst xmlns:a="http://schemas.openxmlformats.org/drawingml/2006/main">
              <a:ext uri="{FF2B5EF4-FFF2-40B4-BE49-F238E27FC236}">
                <a16:creationId xmlns:a16="http://schemas.microsoft.com/office/drawing/2014/main" id="{30327BE9-7417-4017-939B-1C3D3FA4FBD7}"/>
              </a:ext>
            </a:extLst>
          </p:cNvPr>
          <p:cNvSpPr>
            <a:spLocks xmlns:a="http://schemas.openxmlformats.org/drawingml/2006/main" noGrp="1"/>
          </p:cNvSpPr>
          <p:nvPr/>
        </p:nvSpPr>
        <p:spPr>
          <a:xfrm xmlns:a="http://schemas.openxmlformats.org/drawingml/2006/main">
            <a:off x="8077200" y="24574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55DC780-29D4-4564-8D58-524ED3FFB97C}"/>
              </a:ext>
            </a:extLst>
          </p:cNvPr>
          <p:cNvSpPr>
            <a:spLocks xmlns:a="http://schemas.openxmlformats.org/drawingml/2006/main" noGrp="1"/>
          </p:cNvSpPr>
          <p:nvPr/>
        </p:nvSpPr>
        <p:spPr>
          <a:xfrm xmlns:a="http://schemas.openxmlformats.org/drawingml/2006/main">
            <a:off x="8077200" y="26289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F8F6FF"/>
                </a:solidFill>
                <a:latin typeface="Calibri"/>
                <a:ea typeface="Calibri"/>
                <a:cs typeface="Calibri"/>
              </a:defRPr>
            </a:pPr>
            <a:r>
              <a:rPr sz="1725" b="1">
                <a:solidFill>
                  <a:srgbClr val="F8F6FF"/>
                </a:solidFill>
                <a:latin typeface="Calibri"/>
                <a:ea typeface="Calibri"/>
                <a:cs typeface="Calibri"/>
              </a:rPr>
              <a:t>04</a:t>
            </a:r>
          </a:p>
        </p:txBody>
      </p:sp>
      <p:sp>
        <p:nvSpPr>
          <p:cNvPr id="24" name="">
            <a:extLst xmlns:a="http://schemas.openxmlformats.org/drawingml/2006/main">
              <a:ext uri="{FF2B5EF4-FFF2-40B4-BE49-F238E27FC236}">
                <a16:creationId xmlns:a16="http://schemas.microsoft.com/office/drawing/2014/main" id="{14E108C3-841D-4435-BA1A-DDFA5CE29E6E}"/>
              </a:ext>
            </a:extLst>
          </p:cNvPr>
          <p:cNvSpPr>
            <a:spLocks xmlns:a="http://schemas.openxmlformats.org/drawingml/2006/main" noGrp="1"/>
          </p:cNvSpPr>
          <p:nvPr/>
        </p:nvSpPr>
        <p:spPr>
          <a:xfrm xmlns:a="http://schemas.openxmlformats.org/drawingml/2006/main">
            <a:off x="7524750" y="33147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8F6FF"/>
                </a:solidFill>
                <a:latin typeface="Calibri"/>
                <a:ea typeface="Calibri"/>
                <a:cs typeface="Calibri"/>
              </a:defRPr>
            </a:pPr>
            <a:r>
              <a:rPr sz="1575" b="1">
                <a:solidFill>
                  <a:srgbClr val="F8F6FF"/>
                </a:solidFill>
                <a:latin typeface="Calibri"/>
                <a:ea typeface="Calibri"/>
                <a:cs typeface="Calibri"/>
              </a:rPr>
              <a:t>Refine</a:t>
            </a:r>
          </a:p>
        </p:txBody>
      </p:sp>
      <p:sp>
        <p:nvSpPr>
          <p:cNvPr id="25" name="">
            <a:extLst xmlns:a="http://schemas.openxmlformats.org/drawingml/2006/main">
              <a:ext uri="{FF2B5EF4-FFF2-40B4-BE49-F238E27FC236}">
                <a16:creationId xmlns:a16="http://schemas.microsoft.com/office/drawing/2014/main" id="{3E2C5D30-F29D-4A6E-857A-77A9BC1496B7}"/>
              </a:ext>
            </a:extLst>
          </p:cNvPr>
          <p:cNvSpPr>
            <a:spLocks xmlns:a="http://schemas.openxmlformats.org/drawingml/2006/main" noGrp="1"/>
          </p:cNvSpPr>
          <p:nvPr/>
        </p:nvSpPr>
        <p:spPr>
          <a:xfrm xmlns:a="http://schemas.openxmlformats.org/drawingml/2006/main">
            <a:off x="7448550" y="37623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Personalised games, adaptive difficulty, analytics, risk and rewards</a:t>
            </a:r>
          </a:p>
        </p:txBody>
      </p:sp>
      <p:sp>
        <p:nvSpPr>
          <p:cNvPr id="26" name="">
            <a:extLst xmlns:a="http://schemas.openxmlformats.org/drawingml/2006/main">
              <a:ext uri="{FF2B5EF4-FFF2-40B4-BE49-F238E27FC236}">
                <a16:creationId xmlns:a16="http://schemas.microsoft.com/office/drawing/2014/main" id="{05F02958-C918-478B-8924-519DE5B98677}"/>
              </a:ext>
            </a:extLst>
          </p:cNvPr>
          <p:cNvSpPr>
            <a:spLocks xmlns:a="http://schemas.openxmlformats.org/drawingml/2006/main" noGrp="1"/>
          </p:cNvSpPr>
          <p:nvPr/>
        </p:nvSpPr>
        <p:spPr>
          <a:xfrm xmlns:a="http://schemas.openxmlformats.org/drawingml/2006/main">
            <a:off x="9848850" y="18097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FF6B62"/>
                </a:solidFill>
                <a:latin typeface="Calibri"/>
                <a:ea typeface="Calibri"/>
                <a:cs typeface="Calibri"/>
              </a:defRPr>
            </a:pPr>
            <a:r>
              <a:rPr sz="975" b="1">
                <a:solidFill>
                  <a:srgbClr val="FF6B62"/>
                </a:solidFill>
                <a:latin typeface="Calibri"/>
                <a:ea typeface="Calibri"/>
                <a:cs typeface="Calibri"/>
              </a:rPr>
              <a:t>FINAL</a:t>
            </a:r>
          </a:p>
        </p:txBody>
      </p:sp>
      <p:sp>
        <p:nvSpPr>
          <p:cNvPr id="27" name="">
            <a:extLst xmlns:a="http://schemas.openxmlformats.org/drawingml/2006/main">
              <a:ext uri="{FF2B5EF4-FFF2-40B4-BE49-F238E27FC236}">
                <a16:creationId xmlns:a16="http://schemas.microsoft.com/office/drawing/2014/main" id="{667A56C0-FFED-4FF3-A2A5-3A06895086DF}"/>
              </a:ext>
            </a:extLst>
          </p:cNvPr>
          <p:cNvSpPr>
            <a:spLocks xmlns:a="http://schemas.openxmlformats.org/drawingml/2006/main" noGrp="1"/>
          </p:cNvSpPr>
          <p:nvPr/>
        </p:nvSpPr>
        <p:spPr>
          <a:xfrm xmlns:a="http://schemas.openxmlformats.org/drawingml/2006/main">
            <a:off x="10401300" y="2457450"/>
            <a:ext cx="685800" cy="685800"/>
          </a:xfrm>
          <a:prstGeom xmlns:a="http://schemas.openxmlformats.org/drawingml/2006/main" prst="ellipse">
            <a:avLst/>
          </a:prstGeom>
          <a:solidFill xmlns:a="http://schemas.openxmlformats.org/drawingml/2006/main">
            <a:srgbClr val="FF6B6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959C952-EE1F-4810-9A1C-B3C25E5EC0E6}"/>
              </a:ext>
            </a:extLst>
          </p:cNvPr>
          <p:cNvSpPr>
            <a:spLocks xmlns:a="http://schemas.openxmlformats.org/drawingml/2006/main" noGrp="1"/>
          </p:cNvSpPr>
          <p:nvPr/>
        </p:nvSpPr>
        <p:spPr>
          <a:xfrm xmlns:a="http://schemas.openxmlformats.org/drawingml/2006/main">
            <a:off x="10401300" y="26289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F8F6FF"/>
                </a:solidFill>
                <a:latin typeface="Calibri"/>
                <a:ea typeface="Calibri"/>
                <a:cs typeface="Calibri"/>
              </a:defRPr>
            </a:pPr>
            <a:r>
              <a:rPr sz="1725" b="1">
                <a:solidFill>
                  <a:srgbClr val="F8F6FF"/>
                </a:solidFill>
                <a:latin typeface="Calibri"/>
                <a:ea typeface="Calibri"/>
                <a:cs typeface="Calibri"/>
              </a:rPr>
              <a:t>05</a:t>
            </a:r>
          </a:p>
        </p:txBody>
      </p:sp>
      <p:sp>
        <p:nvSpPr>
          <p:cNvPr id="29" name="">
            <a:extLst xmlns:a="http://schemas.openxmlformats.org/drawingml/2006/main">
              <a:ext uri="{FF2B5EF4-FFF2-40B4-BE49-F238E27FC236}">
                <a16:creationId xmlns:a16="http://schemas.microsoft.com/office/drawing/2014/main" id="{D8E89836-C863-40F1-A040-7823AC344620}"/>
              </a:ext>
            </a:extLst>
          </p:cNvPr>
          <p:cNvSpPr>
            <a:spLocks xmlns:a="http://schemas.openxmlformats.org/drawingml/2006/main" noGrp="1"/>
          </p:cNvSpPr>
          <p:nvPr/>
        </p:nvSpPr>
        <p:spPr>
          <a:xfrm xmlns:a="http://schemas.openxmlformats.org/drawingml/2006/main">
            <a:off x="9848850" y="33147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F8F6FF"/>
                </a:solidFill>
                <a:latin typeface="Calibri"/>
                <a:ea typeface="Calibri"/>
                <a:cs typeface="Calibri"/>
              </a:defRPr>
            </a:pPr>
            <a:r>
              <a:rPr sz="1575" b="1">
                <a:solidFill>
                  <a:srgbClr val="F8F6FF"/>
                </a:solidFill>
                <a:latin typeface="Calibri"/>
                <a:ea typeface="Calibri"/>
                <a:cs typeface="Calibri"/>
              </a:rPr>
              <a:t>Validate</a:t>
            </a:r>
          </a:p>
        </p:txBody>
      </p:sp>
      <p:sp>
        <p:nvSpPr>
          <p:cNvPr id="30" name="">
            <a:extLst xmlns:a="http://schemas.openxmlformats.org/drawingml/2006/main">
              <a:ext uri="{FF2B5EF4-FFF2-40B4-BE49-F238E27FC236}">
                <a16:creationId xmlns:a16="http://schemas.microsoft.com/office/drawing/2014/main" id="{FA751374-A599-4CE3-B566-5C60C5777067}"/>
              </a:ext>
            </a:extLst>
          </p:cNvPr>
          <p:cNvSpPr>
            <a:spLocks xmlns:a="http://schemas.openxmlformats.org/drawingml/2006/main" noGrp="1"/>
          </p:cNvSpPr>
          <p:nvPr/>
        </p:nvSpPr>
        <p:spPr>
          <a:xfrm xmlns:a="http://schemas.openxmlformats.org/drawingml/2006/main">
            <a:off x="9772650" y="37623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Formal testing and final project deliverables</a:t>
            </a:r>
          </a:p>
        </p:txBody>
      </p:sp>
      <p:sp>
        <p:nvSpPr>
          <p:cNvPr id="31" name="">
            <a:extLst xmlns:a="http://schemas.openxmlformats.org/drawingml/2006/main">
              <a:ext uri="{FF2B5EF4-FFF2-40B4-BE49-F238E27FC236}">
                <a16:creationId xmlns:a16="http://schemas.microsoft.com/office/drawing/2014/main" id="{009E20E8-B1CD-475B-9F3B-16DF631BA84D}"/>
              </a:ext>
            </a:extLst>
          </p:cNvPr>
          <p:cNvSpPr>
            <a:spLocks xmlns:a="http://schemas.openxmlformats.org/drawingml/2006/main" noGrp="1"/>
          </p:cNvSpPr>
          <p:nvPr/>
        </p:nvSpPr>
        <p:spPr>
          <a:xfrm xmlns:a="http://schemas.openxmlformats.org/drawingml/2006/main">
            <a:off x="1257300" y="4953000"/>
            <a:ext cx="9677400" cy="742950"/>
          </a:xfrm>
          <a:prstGeom xmlns:a="http://schemas.openxmlformats.org/drawingml/2006/main" prst="roundRect">
            <a:avLst>
              <a:gd name="adj" fmla="val 15385"/>
            </a:avLst>
          </a:prstGeom>
          <a:solidFill xmlns:a="http://schemas.openxmlformats.org/drawingml/2006/main">
            <a:srgbClr val="2E2750"/>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AC5A7D9-ED87-468D-8ADE-C5305B0C7FAC}"/>
              </a:ext>
            </a:extLst>
          </p:cNvPr>
          <p:cNvSpPr>
            <a:spLocks xmlns:a="http://schemas.openxmlformats.org/drawingml/2006/main" noGrp="1"/>
          </p:cNvSpPr>
          <p:nvPr/>
        </p:nvSpPr>
        <p:spPr>
          <a:xfrm xmlns:a="http://schemas.openxmlformats.org/drawingml/2006/main">
            <a:off x="1524000" y="51435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6B62"/>
                </a:solidFill>
                <a:latin typeface="Calibri"/>
                <a:ea typeface="Calibri"/>
                <a:cs typeface="Calibri"/>
              </a:defRPr>
            </a:pPr>
            <a:r>
              <a:rPr sz="1350" b="1">
                <a:solidFill>
                  <a:srgbClr val="FF6B62"/>
                </a:solidFill>
                <a:latin typeface="Calibri"/>
                <a:ea typeface="Calibri"/>
                <a:cs typeface="Calibri"/>
              </a:rPr>
              <a:t>FYP II expansion</a:t>
            </a:r>
          </a:p>
        </p:txBody>
      </p:sp>
      <p:sp>
        <p:nvSpPr>
          <p:cNvPr id="33" name="">
            <a:extLst xmlns:a="http://schemas.openxmlformats.org/drawingml/2006/main">
              <a:ext uri="{FF2B5EF4-FFF2-40B4-BE49-F238E27FC236}">
                <a16:creationId xmlns:a16="http://schemas.microsoft.com/office/drawing/2014/main" id="{4D633C8C-3484-4638-A196-CF4BF64D5B05}"/>
              </a:ext>
            </a:extLst>
          </p:cNvPr>
          <p:cNvSpPr>
            <a:spLocks xmlns:a="http://schemas.openxmlformats.org/drawingml/2006/main" noGrp="1"/>
          </p:cNvSpPr>
          <p:nvPr/>
        </p:nvSpPr>
        <p:spPr>
          <a:xfrm xmlns:a="http://schemas.openxmlformats.org/drawingml/2006/main">
            <a:off x="3333750" y="50863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Feedback expanded MindCare from a basic prototype into a personalised care workflow with adaptive games, analytics, risk monitoring and rewards.</a:t>
            </a:r>
          </a:p>
        </p:txBody>
      </p:sp>
      <p:sp>
        <p:nvSpPr>
          <p:cNvPr id="34" name="">
            <a:extLst xmlns:a="http://schemas.openxmlformats.org/drawingml/2006/main">
              <a:ext uri="{FF2B5EF4-FFF2-40B4-BE49-F238E27FC236}">
                <a16:creationId xmlns:a16="http://schemas.microsoft.com/office/drawing/2014/main" id="{7A56CC0B-85FC-470A-B214-C8439CEE0827}"/>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 3, pp. 38–40; WBS, pp. 42–47.</a:t>
            </a:r>
          </a:p>
        </p:txBody>
      </p:sp>
      <p:sp>
        <p:nvSpPr>
          <p:cNvPr id="35" name="">
            <a:extLst xmlns:a="http://schemas.openxmlformats.org/drawingml/2006/main">
              <a:ext uri="{FF2B5EF4-FFF2-40B4-BE49-F238E27FC236}">
                <a16:creationId xmlns:a16="http://schemas.microsoft.com/office/drawing/2014/main" id="{AF3F235B-44E7-4418-A10E-CE4645895F1C}"/>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07</a:t>
            </a:r>
          </a:p>
        </p:txBody>
      </p:sp>
    </p:spTree>
    <p:extLst>
      <p:ext uri="{BB962C8B-B14F-4D97-AF65-F5344CB8AC3E}">
        <p14:creationId xmlns:p14="http://schemas.microsoft.com/office/powerpoint/2010/main" val="1114192809"/>
      </p:ext>
    </p:extLst>
  </p:cSld>
</p:sld>
</file>

<file path=ppt/slides/slide8.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F8D64B1-28AA-4EBD-88AB-DFEAD7B90AC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B28732-2BC3-4FFE-B828-3A67FA5C39AF}"/>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
            <a:extLst xmlns:a="http://schemas.openxmlformats.org/drawingml/2006/main">
              <a:ext uri="{FF2B5EF4-FFF2-40B4-BE49-F238E27FC236}">
                <a16:creationId xmlns:a16="http://schemas.microsoft.com/office/drawing/2014/main" id="{61A29CEE-9E7A-4AEC-9AC0-2DF08FA14B68}"/>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Functional requirements expanded from 9 to 33</a:t>
            </a:r>
          </a:p>
        </p:txBody>
      </p:sp>
      <p:sp>
        <p:nvSpPr>
          <p:cNvPr id="4" name="">
            <a:extLst xmlns:a="http://schemas.openxmlformats.org/drawingml/2006/main">
              <a:ext uri="{FF2B5EF4-FFF2-40B4-BE49-F238E27FC236}">
                <a16:creationId xmlns:a16="http://schemas.microsoft.com/office/drawing/2014/main" id="{02EAF46E-CFDA-4918-9B2A-C5CDCB77BD69}"/>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list converted broad expectations into testable, role-specific behaviour.</a:t>
            </a:r>
          </a:p>
        </p:txBody>
      </p:sp>
      <p:sp>
        <p:nvSpPr>
          <p:cNvPr id="5" name="">
            <a:extLst xmlns:a="http://schemas.openxmlformats.org/drawingml/2006/main">
              <a:ext uri="{FF2B5EF4-FFF2-40B4-BE49-F238E27FC236}">
                <a16:creationId xmlns:a16="http://schemas.microsoft.com/office/drawing/2014/main" id="{F269A5D9-4668-4B98-8344-2023638274BB}"/>
              </a:ext>
            </a:extLst>
          </p:cNvPr>
          <p:cNvSpPr>
            <a:spLocks xmlns:a="http://schemas.openxmlformats.org/drawingml/2006/main" noGrp="1"/>
          </p:cNvSpPr>
          <p:nvPr/>
        </p:nvSpPr>
        <p:spPr>
          <a:xfrm xmlns:a="http://schemas.openxmlformats.org/drawingml/2006/main">
            <a:off x="781050" y="18192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B8B0D4"/>
                </a:solidFill>
                <a:latin typeface="Calibri"/>
                <a:ea typeface="Calibri"/>
                <a:cs typeface="Calibri"/>
              </a:defRPr>
            </a:pPr>
            <a:r>
              <a:rPr sz="1125" b="1">
                <a:solidFill>
                  <a:srgbClr val="B8B0D4"/>
                </a:solidFill>
                <a:latin typeface="Calibri"/>
                <a:ea typeface="Calibri"/>
                <a:cs typeface="Calibri"/>
              </a:rPr>
              <a:t>EARLIER</a:t>
            </a:r>
          </a:p>
        </p:txBody>
      </p:sp>
      <p:sp>
        <p:nvSpPr>
          <p:cNvPr id="6" name="">
            <a:extLst xmlns:a="http://schemas.openxmlformats.org/drawingml/2006/main">
              <a:ext uri="{FF2B5EF4-FFF2-40B4-BE49-F238E27FC236}">
                <a16:creationId xmlns:a16="http://schemas.microsoft.com/office/drawing/2014/main" id="{5B7DA41E-3BB5-4B61-996D-7DDDFFF0C74D}"/>
              </a:ext>
            </a:extLst>
          </p:cNvPr>
          <p:cNvSpPr>
            <a:spLocks xmlns:a="http://schemas.openxmlformats.org/drawingml/2006/main" noGrp="1"/>
          </p:cNvSpPr>
          <p:nvPr/>
        </p:nvSpPr>
        <p:spPr>
          <a:xfrm xmlns:a="http://schemas.openxmlformats.org/drawingml/2006/main">
            <a:off x="762000" y="2076450"/>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8F87AC"/>
                </a:solidFill>
                <a:latin typeface="Calibri"/>
                <a:ea typeface="Calibri"/>
                <a:cs typeface="Calibri"/>
              </a:defRPr>
            </a:pPr>
            <a:r>
              <a:rPr sz="5850" b="1">
                <a:solidFill>
                  <a:srgbClr val="8F87AC"/>
                </a:solidFill>
                <a:latin typeface="Calibri"/>
                <a:ea typeface="Calibri"/>
                <a:cs typeface="Calibri"/>
              </a:rPr>
              <a:t>9</a:t>
            </a:r>
          </a:p>
        </p:txBody>
      </p:sp>
      <p:sp>
        <p:nvSpPr>
          <p:cNvPr id="7" name="">
            <a:extLst xmlns:a="http://schemas.openxmlformats.org/drawingml/2006/main">
              <a:ext uri="{FF2B5EF4-FFF2-40B4-BE49-F238E27FC236}">
                <a16:creationId xmlns:a16="http://schemas.microsoft.com/office/drawing/2014/main" id="{31EF65D9-ECAB-4B03-AAB0-DF584F168DC8}"/>
              </a:ext>
            </a:extLst>
          </p:cNvPr>
          <p:cNvSpPr>
            <a:spLocks xmlns:a="http://schemas.openxmlformats.org/drawingml/2006/main" noGrp="1"/>
          </p:cNvSpPr>
          <p:nvPr/>
        </p:nvSpPr>
        <p:spPr>
          <a:xfrm xmlns:a="http://schemas.openxmlformats.org/drawingml/2006/main">
            <a:off x="781050" y="29432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F8F6FF"/>
                </a:solidFill>
                <a:latin typeface="Calibri"/>
                <a:ea typeface="Calibri"/>
                <a:cs typeface="Calibri"/>
              </a:defRPr>
            </a:pPr>
            <a:r>
              <a:rPr sz="1575" b="1">
                <a:solidFill>
                  <a:srgbClr val="F8F6FF"/>
                </a:solidFill>
                <a:latin typeface="Calibri"/>
                <a:ea typeface="Calibri"/>
                <a:cs typeface="Calibri"/>
              </a:rPr>
              <a:t>General statements</a:t>
            </a:r>
          </a:p>
        </p:txBody>
      </p:sp>
      <p:sp>
        <p:nvSpPr>
          <p:cNvPr id="8" name="">
            <a:extLst xmlns:a="http://schemas.openxmlformats.org/drawingml/2006/main">
              <a:ext uri="{FF2B5EF4-FFF2-40B4-BE49-F238E27FC236}">
                <a16:creationId xmlns:a16="http://schemas.microsoft.com/office/drawing/2014/main" id="{350B4966-17A1-4E03-A238-CA1DDC34B2F0}"/>
              </a:ext>
            </a:extLst>
          </p:cNvPr>
          <p:cNvSpPr>
            <a:spLocks xmlns:a="http://schemas.openxmlformats.org/drawingml/2006/main" noGrp="1"/>
          </p:cNvSpPr>
          <p:nvPr/>
        </p:nvSpPr>
        <p:spPr>
          <a:xfrm xmlns:a="http://schemas.openxmlformats.org/drawingml/2006/main">
            <a:off x="781050" y="3362325"/>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Authentication, dashboard, status, notification, games, streaks and basic caregiver monitoring.</a:t>
            </a:r>
          </a:p>
        </p:txBody>
      </p:sp>
      <p:sp>
        <p:nvSpPr>
          <p:cNvPr id="9" name="">
            <a:extLst xmlns:a="http://schemas.openxmlformats.org/drawingml/2006/main">
              <a:ext uri="{FF2B5EF4-FFF2-40B4-BE49-F238E27FC236}">
                <a16:creationId xmlns:a16="http://schemas.microsoft.com/office/drawing/2014/main" id="{94E6376D-F298-435A-A4CB-FBB64E263277}"/>
              </a:ext>
            </a:extLst>
          </p:cNvPr>
          <p:cNvSpPr>
            <a:spLocks xmlns:a="http://schemas.openxmlformats.org/drawingml/2006/main" noGrp="1"/>
          </p:cNvSpPr>
          <p:nvPr/>
        </p:nvSpPr>
        <p:spPr>
          <a:xfrm xmlns:a="http://schemas.openxmlformats.org/drawingml/2006/main">
            <a:off x="3905250" y="2609850"/>
            <a:ext cx="838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350" b="1">
                <a:solidFill>
                  <a:srgbClr val="FF6B62"/>
                </a:solidFill>
                <a:latin typeface="Calibri"/>
                <a:ea typeface="Calibri"/>
                <a:cs typeface="Calibri"/>
              </a:defRPr>
            </a:pPr>
            <a:r>
              <a:rPr sz="4350" b="1">
                <a:solidFill>
                  <a:srgbClr val="FF6B62"/>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995C49D8-2A67-440C-952B-5CBAFF2A4566}"/>
              </a:ext>
            </a:extLst>
          </p:cNvPr>
          <p:cNvSpPr>
            <a:spLocks xmlns:a="http://schemas.openxmlformats.org/drawingml/2006/main" noGrp="1"/>
          </p:cNvSpPr>
          <p:nvPr/>
        </p:nvSpPr>
        <p:spPr>
          <a:xfrm xmlns:a="http://schemas.openxmlformats.org/drawingml/2006/main">
            <a:off x="5029200" y="18192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FINAL</a:t>
            </a:r>
          </a:p>
        </p:txBody>
      </p:sp>
      <p:sp>
        <p:nvSpPr>
          <p:cNvPr id="11" name="">
            <a:extLst xmlns:a="http://schemas.openxmlformats.org/drawingml/2006/main">
              <a:ext uri="{FF2B5EF4-FFF2-40B4-BE49-F238E27FC236}">
                <a16:creationId xmlns:a16="http://schemas.microsoft.com/office/drawing/2014/main" id="{48D39422-11D8-4D5D-951B-E73F2EBFFF17}"/>
              </a:ext>
            </a:extLst>
          </p:cNvPr>
          <p:cNvSpPr>
            <a:spLocks xmlns:a="http://schemas.openxmlformats.org/drawingml/2006/main" noGrp="1"/>
          </p:cNvSpPr>
          <p:nvPr/>
        </p:nvSpPr>
        <p:spPr>
          <a:xfrm xmlns:a="http://schemas.openxmlformats.org/drawingml/2006/main">
            <a:off x="5010150" y="207645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FF6B62"/>
                </a:solidFill>
                <a:latin typeface="Calibri"/>
                <a:ea typeface="Calibri"/>
                <a:cs typeface="Calibri"/>
              </a:defRPr>
            </a:pPr>
            <a:r>
              <a:rPr sz="5850" b="1">
                <a:solidFill>
                  <a:srgbClr val="FF6B62"/>
                </a:solidFill>
                <a:latin typeface="Calibri"/>
                <a:ea typeface="Calibri"/>
                <a:cs typeface="Calibri"/>
              </a:rPr>
              <a:t>33</a:t>
            </a:r>
          </a:p>
        </p:txBody>
      </p:sp>
      <p:sp>
        <p:nvSpPr>
          <p:cNvPr id="12" name="">
            <a:extLst xmlns:a="http://schemas.openxmlformats.org/drawingml/2006/main">
              <a:ext uri="{FF2B5EF4-FFF2-40B4-BE49-F238E27FC236}">
                <a16:creationId xmlns:a16="http://schemas.microsoft.com/office/drawing/2014/main" id="{857B6645-B03C-40FD-8625-E586346A3DCE}"/>
              </a:ext>
            </a:extLst>
          </p:cNvPr>
          <p:cNvSpPr>
            <a:spLocks xmlns:a="http://schemas.openxmlformats.org/drawingml/2006/main" noGrp="1"/>
          </p:cNvSpPr>
          <p:nvPr/>
        </p:nvSpPr>
        <p:spPr>
          <a:xfrm xmlns:a="http://schemas.openxmlformats.org/drawingml/2006/main">
            <a:off x="5029200" y="29432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F8F6FF"/>
                </a:solidFill>
                <a:latin typeface="Calibri"/>
                <a:ea typeface="Calibri"/>
                <a:cs typeface="Calibri"/>
              </a:defRPr>
            </a:pPr>
            <a:r>
              <a:rPr sz="1575" b="1">
                <a:solidFill>
                  <a:srgbClr val="F8F6FF"/>
                </a:solidFill>
                <a:latin typeface="Calibri"/>
                <a:ea typeface="Calibri"/>
                <a:cs typeface="Calibri"/>
              </a:rPr>
              <a:t>Traceable requirements</a:t>
            </a:r>
          </a:p>
        </p:txBody>
      </p:sp>
      <p:sp>
        <p:nvSpPr>
          <p:cNvPr id="13" name="">
            <a:extLst xmlns:a="http://schemas.openxmlformats.org/drawingml/2006/main">
              <a:ext uri="{FF2B5EF4-FFF2-40B4-BE49-F238E27FC236}">
                <a16:creationId xmlns:a16="http://schemas.microsoft.com/office/drawing/2014/main" id="{62E77E83-FC18-4DE4-93B0-445AA2F43B50}"/>
              </a:ext>
            </a:extLst>
          </p:cNvPr>
          <p:cNvSpPr>
            <a:spLocks xmlns:a="http://schemas.openxmlformats.org/drawingml/2006/main" noGrp="1"/>
          </p:cNvSpPr>
          <p:nvPr/>
        </p:nvSpPr>
        <p:spPr>
          <a:xfrm xmlns:a="http://schemas.openxmlformats.org/drawingml/2006/main">
            <a:off x="5029200" y="3362325"/>
            <a:ext cx="3095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Each requirement has an FR ID, module and role, enabling direct mapping into unit, integration, system and acceptance tests.</a:t>
            </a:r>
          </a:p>
        </p:txBody>
      </p:sp>
      <p:sp>
        <p:nvSpPr>
          <p:cNvPr id="14" name="">
            <a:extLst xmlns:a="http://schemas.openxmlformats.org/drawingml/2006/main">
              <a:ext uri="{FF2B5EF4-FFF2-40B4-BE49-F238E27FC236}">
                <a16:creationId xmlns:a16="http://schemas.microsoft.com/office/drawing/2014/main" id="{9316882A-6D67-4192-A083-B0FDBF4E4362}"/>
              </a:ext>
            </a:extLst>
          </p:cNvPr>
          <p:cNvSpPr>
            <a:spLocks xmlns:a="http://schemas.openxmlformats.org/drawingml/2006/main" noGrp="1"/>
          </p:cNvSpPr>
          <p:nvPr/>
        </p:nvSpPr>
        <p:spPr>
          <a:xfrm xmlns:a="http://schemas.openxmlformats.org/drawingml/2006/main">
            <a:off x="8477250" y="1809750"/>
            <a:ext cx="2857500" cy="3429000"/>
          </a:xfrm>
          <a:prstGeom xmlns:a="http://schemas.openxmlformats.org/drawingml/2006/main" prst="roundRect">
            <a:avLst>
              <a:gd name="adj" fmla="val 5333"/>
            </a:avLst>
          </a:prstGeom>
          <a:solidFill xmlns:a="http://schemas.openxmlformats.org/drawingml/2006/main">
            <a:srgbClr val="2E275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7FD9C3-DD7C-467B-8231-10868DFE514F}"/>
              </a:ext>
            </a:extLst>
          </p:cNvPr>
          <p:cNvSpPr>
            <a:spLocks xmlns:a="http://schemas.openxmlformats.org/drawingml/2006/main" noGrp="1"/>
          </p:cNvSpPr>
          <p:nvPr/>
        </p:nvSpPr>
        <p:spPr>
          <a:xfrm xmlns:a="http://schemas.openxmlformats.org/drawingml/2006/main">
            <a:off x="8724900" y="20574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7C83FD"/>
                </a:solidFill>
                <a:latin typeface="Calibri"/>
                <a:ea typeface="Calibri"/>
                <a:cs typeface="Calibri"/>
              </a:defRPr>
            </a:pPr>
            <a:r>
              <a:rPr sz="1050" b="1">
                <a:solidFill>
                  <a:srgbClr val="7C83FD"/>
                </a:solidFill>
                <a:latin typeface="Calibri"/>
                <a:ea typeface="Calibri"/>
                <a:cs typeface="Calibri"/>
              </a:rPr>
              <a:t>FR01–04</a:t>
            </a:r>
          </a:p>
        </p:txBody>
      </p:sp>
      <p:sp>
        <p:nvSpPr>
          <p:cNvPr id="16" name="">
            <a:extLst xmlns:a="http://schemas.openxmlformats.org/drawingml/2006/main">
              <a:ext uri="{FF2B5EF4-FFF2-40B4-BE49-F238E27FC236}">
                <a16:creationId xmlns:a16="http://schemas.microsoft.com/office/drawing/2014/main" id="{D43D6B5F-EE83-42C8-BF39-BF9823406589}"/>
              </a:ext>
            </a:extLst>
          </p:cNvPr>
          <p:cNvSpPr>
            <a:spLocks xmlns:a="http://schemas.openxmlformats.org/drawingml/2006/main" noGrp="1"/>
          </p:cNvSpPr>
          <p:nvPr/>
        </p:nvSpPr>
        <p:spPr>
          <a:xfrm xmlns:a="http://schemas.openxmlformats.org/drawingml/2006/main">
            <a:off x="9582150" y="20574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8F6FF"/>
                </a:solidFill>
                <a:latin typeface="Calibri"/>
                <a:ea typeface="Calibri"/>
                <a:cs typeface="Calibri"/>
              </a:defRPr>
            </a:pPr>
            <a:r>
              <a:rPr sz="1200" b="0">
                <a:solidFill>
                  <a:srgbClr val="F8F6FF"/>
                </a:solidFill>
                <a:latin typeface="Calibri"/>
                <a:ea typeface="Calibri"/>
                <a:cs typeface="Calibri"/>
              </a:rPr>
              <a:t>Access &amp; settings</a:t>
            </a:r>
          </a:p>
        </p:txBody>
      </p:sp>
      <p:sp>
        <p:nvSpPr>
          <p:cNvPr id="17" name="">
            <a:extLst xmlns:a="http://schemas.openxmlformats.org/drawingml/2006/main">
              <a:ext uri="{FF2B5EF4-FFF2-40B4-BE49-F238E27FC236}">
                <a16:creationId xmlns:a16="http://schemas.microsoft.com/office/drawing/2014/main" id="{E5B819B2-0AA5-4A31-B334-68EC146EB224}"/>
              </a:ext>
            </a:extLst>
          </p:cNvPr>
          <p:cNvSpPr>
            <a:spLocks xmlns:a="http://schemas.openxmlformats.org/drawingml/2006/main" noGrp="1"/>
          </p:cNvSpPr>
          <p:nvPr/>
        </p:nvSpPr>
        <p:spPr>
          <a:xfrm xmlns:a="http://schemas.openxmlformats.org/drawingml/2006/main">
            <a:off x="8724900" y="25336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7C83FD"/>
                </a:solidFill>
                <a:latin typeface="Calibri"/>
                <a:ea typeface="Calibri"/>
                <a:cs typeface="Calibri"/>
              </a:defRPr>
            </a:pPr>
            <a:r>
              <a:rPr sz="1050" b="1">
                <a:solidFill>
                  <a:srgbClr val="7C83FD"/>
                </a:solidFill>
                <a:latin typeface="Calibri"/>
                <a:ea typeface="Calibri"/>
                <a:cs typeface="Calibri"/>
              </a:rPr>
              <a:t>FR05–07</a:t>
            </a:r>
          </a:p>
        </p:txBody>
      </p:sp>
      <p:sp>
        <p:nvSpPr>
          <p:cNvPr id="18" name="">
            <a:extLst xmlns:a="http://schemas.openxmlformats.org/drawingml/2006/main">
              <a:ext uri="{FF2B5EF4-FFF2-40B4-BE49-F238E27FC236}">
                <a16:creationId xmlns:a16="http://schemas.microsoft.com/office/drawing/2014/main" id="{51855112-7FD5-4D0C-BD69-3DDB24FABEAD}"/>
              </a:ext>
            </a:extLst>
          </p:cNvPr>
          <p:cNvSpPr>
            <a:spLocks xmlns:a="http://schemas.openxmlformats.org/drawingml/2006/main" noGrp="1"/>
          </p:cNvSpPr>
          <p:nvPr/>
        </p:nvSpPr>
        <p:spPr>
          <a:xfrm xmlns:a="http://schemas.openxmlformats.org/drawingml/2006/main">
            <a:off x="9582150" y="25336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8F6FF"/>
                </a:solidFill>
                <a:latin typeface="Calibri"/>
                <a:ea typeface="Calibri"/>
                <a:cs typeface="Calibri"/>
              </a:defRPr>
            </a:pPr>
            <a:r>
              <a:rPr sz="1200" b="0">
                <a:solidFill>
                  <a:srgbClr val="F8F6FF"/>
                </a:solidFill>
                <a:latin typeface="Calibri"/>
                <a:ea typeface="Calibri"/>
                <a:cs typeface="Calibri"/>
              </a:rPr>
              <a:t>Cognitive &amp; adaptive</a:t>
            </a:r>
          </a:p>
        </p:txBody>
      </p:sp>
      <p:sp>
        <p:nvSpPr>
          <p:cNvPr id="19" name="">
            <a:extLst xmlns:a="http://schemas.openxmlformats.org/drawingml/2006/main">
              <a:ext uri="{FF2B5EF4-FFF2-40B4-BE49-F238E27FC236}">
                <a16:creationId xmlns:a16="http://schemas.microsoft.com/office/drawing/2014/main" id="{96374517-6236-4D8D-9C71-35BAA572C275}"/>
              </a:ext>
            </a:extLst>
          </p:cNvPr>
          <p:cNvSpPr>
            <a:spLocks xmlns:a="http://schemas.openxmlformats.org/drawingml/2006/main" noGrp="1"/>
          </p:cNvSpPr>
          <p:nvPr/>
        </p:nvSpPr>
        <p:spPr>
          <a:xfrm xmlns:a="http://schemas.openxmlformats.org/drawingml/2006/main">
            <a:off x="8724900" y="30099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7C83FD"/>
                </a:solidFill>
                <a:latin typeface="Calibri"/>
                <a:ea typeface="Calibri"/>
                <a:cs typeface="Calibri"/>
              </a:defRPr>
            </a:pPr>
            <a:r>
              <a:rPr sz="1050" b="1">
                <a:solidFill>
                  <a:srgbClr val="7C83FD"/>
                </a:solidFill>
                <a:latin typeface="Calibri"/>
                <a:ea typeface="Calibri"/>
                <a:cs typeface="Calibri"/>
              </a:rPr>
              <a:t>FR08–12</a:t>
            </a:r>
          </a:p>
        </p:txBody>
      </p:sp>
      <p:sp>
        <p:nvSpPr>
          <p:cNvPr id="20" name="">
            <a:extLst xmlns:a="http://schemas.openxmlformats.org/drawingml/2006/main">
              <a:ext uri="{FF2B5EF4-FFF2-40B4-BE49-F238E27FC236}">
                <a16:creationId xmlns:a16="http://schemas.microsoft.com/office/drawing/2014/main" id="{AE4C1E27-09CA-4DF6-9567-B1DB7A581B24}"/>
              </a:ext>
            </a:extLst>
          </p:cNvPr>
          <p:cNvSpPr>
            <a:spLocks xmlns:a="http://schemas.openxmlformats.org/drawingml/2006/main" noGrp="1"/>
          </p:cNvSpPr>
          <p:nvPr/>
        </p:nvSpPr>
        <p:spPr>
          <a:xfrm xmlns:a="http://schemas.openxmlformats.org/drawingml/2006/main">
            <a:off x="9582150" y="30099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8F6FF"/>
                </a:solidFill>
                <a:latin typeface="Calibri"/>
                <a:ea typeface="Calibri"/>
                <a:cs typeface="Calibri"/>
              </a:defRPr>
            </a:pPr>
            <a:r>
              <a:rPr sz="1200" b="0">
                <a:solidFill>
                  <a:srgbClr val="F8F6FF"/>
                </a:solidFill>
                <a:latin typeface="Calibri"/>
                <a:ea typeface="Calibri"/>
                <a:cs typeface="Calibri"/>
              </a:rPr>
              <a:t>Gamification</a:t>
            </a:r>
          </a:p>
        </p:txBody>
      </p:sp>
      <p:sp>
        <p:nvSpPr>
          <p:cNvPr id="21" name="">
            <a:extLst xmlns:a="http://schemas.openxmlformats.org/drawingml/2006/main">
              <a:ext uri="{FF2B5EF4-FFF2-40B4-BE49-F238E27FC236}">
                <a16:creationId xmlns:a16="http://schemas.microsoft.com/office/drawing/2014/main" id="{B011D43D-CF9F-451F-ACF7-3A580D5AFA31}"/>
              </a:ext>
            </a:extLst>
          </p:cNvPr>
          <p:cNvSpPr>
            <a:spLocks xmlns:a="http://schemas.openxmlformats.org/drawingml/2006/main" noGrp="1"/>
          </p:cNvSpPr>
          <p:nvPr/>
        </p:nvSpPr>
        <p:spPr>
          <a:xfrm xmlns:a="http://schemas.openxmlformats.org/drawingml/2006/main">
            <a:off x="8724900" y="34861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7C83FD"/>
                </a:solidFill>
                <a:latin typeface="Calibri"/>
                <a:ea typeface="Calibri"/>
                <a:cs typeface="Calibri"/>
              </a:defRPr>
            </a:pPr>
            <a:r>
              <a:rPr sz="1050" b="1">
                <a:solidFill>
                  <a:srgbClr val="7C83FD"/>
                </a:solidFill>
                <a:latin typeface="Calibri"/>
                <a:ea typeface="Calibri"/>
                <a:cs typeface="Calibri"/>
              </a:rPr>
              <a:t>FR13–17</a:t>
            </a:r>
          </a:p>
        </p:txBody>
      </p:sp>
      <p:sp>
        <p:nvSpPr>
          <p:cNvPr id="22" name="">
            <a:extLst xmlns:a="http://schemas.openxmlformats.org/drawingml/2006/main">
              <a:ext uri="{FF2B5EF4-FFF2-40B4-BE49-F238E27FC236}">
                <a16:creationId xmlns:a16="http://schemas.microsoft.com/office/drawing/2014/main" id="{E1F34455-F2FA-4FC6-9C35-0098E9F1695C}"/>
              </a:ext>
            </a:extLst>
          </p:cNvPr>
          <p:cNvSpPr>
            <a:spLocks xmlns:a="http://schemas.openxmlformats.org/drawingml/2006/main" noGrp="1"/>
          </p:cNvSpPr>
          <p:nvPr/>
        </p:nvSpPr>
        <p:spPr>
          <a:xfrm xmlns:a="http://schemas.openxmlformats.org/drawingml/2006/main">
            <a:off x="9582150" y="34861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8F6FF"/>
                </a:solidFill>
                <a:latin typeface="Calibri"/>
                <a:ea typeface="Calibri"/>
                <a:cs typeface="Calibri"/>
              </a:defRPr>
            </a:pPr>
            <a:r>
              <a:rPr sz="1200" b="0">
                <a:solidFill>
                  <a:srgbClr val="F8F6FF"/>
                </a:solidFill>
                <a:latin typeface="Calibri"/>
                <a:ea typeface="Calibri"/>
                <a:cs typeface="Calibri"/>
              </a:rPr>
              <a:t>Patient management</a:t>
            </a:r>
          </a:p>
        </p:txBody>
      </p:sp>
      <p:sp>
        <p:nvSpPr>
          <p:cNvPr id="23" name="">
            <a:extLst xmlns:a="http://schemas.openxmlformats.org/drawingml/2006/main">
              <a:ext uri="{FF2B5EF4-FFF2-40B4-BE49-F238E27FC236}">
                <a16:creationId xmlns:a16="http://schemas.microsoft.com/office/drawing/2014/main" id="{7A723C9C-9E8B-4B6D-82B9-400AA33D770B}"/>
              </a:ext>
            </a:extLst>
          </p:cNvPr>
          <p:cNvSpPr>
            <a:spLocks xmlns:a="http://schemas.openxmlformats.org/drawingml/2006/main" noGrp="1"/>
          </p:cNvSpPr>
          <p:nvPr/>
        </p:nvSpPr>
        <p:spPr>
          <a:xfrm xmlns:a="http://schemas.openxmlformats.org/drawingml/2006/main">
            <a:off x="8724900" y="39624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FF6B62"/>
                </a:solidFill>
                <a:latin typeface="Calibri"/>
                <a:ea typeface="Calibri"/>
                <a:cs typeface="Calibri"/>
              </a:defRPr>
            </a:pPr>
            <a:r>
              <a:rPr sz="1050" b="1">
                <a:solidFill>
                  <a:srgbClr val="FF6B62"/>
                </a:solidFill>
                <a:latin typeface="Calibri"/>
                <a:ea typeface="Calibri"/>
                <a:cs typeface="Calibri"/>
              </a:rPr>
              <a:t>FR18–31</a:t>
            </a:r>
          </a:p>
        </p:txBody>
      </p:sp>
      <p:sp>
        <p:nvSpPr>
          <p:cNvPr id="24" name="">
            <a:extLst xmlns:a="http://schemas.openxmlformats.org/drawingml/2006/main">
              <a:ext uri="{FF2B5EF4-FFF2-40B4-BE49-F238E27FC236}">
                <a16:creationId xmlns:a16="http://schemas.microsoft.com/office/drawing/2014/main" id="{DFB0617A-DAD2-4F81-AC03-99297AE91776}"/>
              </a:ext>
            </a:extLst>
          </p:cNvPr>
          <p:cNvSpPr>
            <a:spLocks xmlns:a="http://schemas.openxmlformats.org/drawingml/2006/main" noGrp="1"/>
          </p:cNvSpPr>
          <p:nvPr/>
        </p:nvSpPr>
        <p:spPr>
          <a:xfrm xmlns:a="http://schemas.openxmlformats.org/drawingml/2006/main">
            <a:off x="9582150" y="39624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8F6FF"/>
                </a:solidFill>
                <a:latin typeface="Calibri"/>
                <a:ea typeface="Calibri"/>
                <a:cs typeface="Calibri"/>
              </a:defRPr>
            </a:pPr>
            <a:r>
              <a:rPr sz="1200" b="0">
                <a:solidFill>
                  <a:srgbClr val="F8F6FF"/>
                </a:solidFill>
                <a:latin typeface="Calibri"/>
                <a:ea typeface="Calibri"/>
                <a:cs typeface="Calibri"/>
              </a:rPr>
              <a:t>Tasks &amp; reminders</a:t>
            </a:r>
          </a:p>
        </p:txBody>
      </p:sp>
      <p:sp>
        <p:nvSpPr>
          <p:cNvPr id="25" name="">
            <a:extLst xmlns:a="http://schemas.openxmlformats.org/drawingml/2006/main">
              <a:ext uri="{FF2B5EF4-FFF2-40B4-BE49-F238E27FC236}">
                <a16:creationId xmlns:a16="http://schemas.microsoft.com/office/drawing/2014/main" id="{EAF3948E-BAD7-4B53-907B-C164F4D7DD9B}"/>
              </a:ext>
            </a:extLst>
          </p:cNvPr>
          <p:cNvSpPr>
            <a:spLocks xmlns:a="http://schemas.openxmlformats.org/drawingml/2006/main" noGrp="1"/>
          </p:cNvSpPr>
          <p:nvPr/>
        </p:nvSpPr>
        <p:spPr>
          <a:xfrm xmlns:a="http://schemas.openxmlformats.org/drawingml/2006/main">
            <a:off x="8724900" y="44386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7C83FD"/>
                </a:solidFill>
                <a:latin typeface="Calibri"/>
                <a:ea typeface="Calibri"/>
                <a:cs typeface="Calibri"/>
              </a:defRPr>
            </a:pPr>
            <a:r>
              <a:rPr sz="1050" b="1">
                <a:solidFill>
                  <a:srgbClr val="7C83FD"/>
                </a:solidFill>
                <a:latin typeface="Calibri"/>
                <a:ea typeface="Calibri"/>
                <a:cs typeface="Calibri"/>
              </a:rPr>
              <a:t>FR32–33</a:t>
            </a:r>
          </a:p>
        </p:txBody>
      </p:sp>
      <p:sp>
        <p:nvSpPr>
          <p:cNvPr id="26" name="">
            <a:extLst xmlns:a="http://schemas.openxmlformats.org/drawingml/2006/main">
              <a:ext uri="{FF2B5EF4-FFF2-40B4-BE49-F238E27FC236}">
                <a16:creationId xmlns:a16="http://schemas.microsoft.com/office/drawing/2014/main" id="{E6B93F68-3036-4804-8C8D-96EA54F5C16B}"/>
              </a:ext>
            </a:extLst>
          </p:cNvPr>
          <p:cNvSpPr>
            <a:spLocks xmlns:a="http://schemas.openxmlformats.org/drawingml/2006/main" noGrp="1"/>
          </p:cNvSpPr>
          <p:nvPr/>
        </p:nvSpPr>
        <p:spPr>
          <a:xfrm xmlns:a="http://schemas.openxmlformats.org/drawingml/2006/main">
            <a:off x="9582150" y="44386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8F6FF"/>
                </a:solidFill>
                <a:latin typeface="Calibri"/>
                <a:ea typeface="Calibri"/>
                <a:cs typeface="Calibri"/>
              </a:defRPr>
            </a:pPr>
            <a:r>
              <a:rPr sz="1200" b="0">
                <a:solidFill>
                  <a:srgbClr val="F8F6FF"/>
                </a:solidFill>
                <a:latin typeface="Calibri"/>
                <a:ea typeface="Calibri"/>
                <a:cs typeface="Calibri"/>
              </a:rPr>
              <a:t>Monitoring &amp; analytics</a:t>
            </a:r>
          </a:p>
        </p:txBody>
      </p:sp>
      <p:sp>
        <p:nvSpPr>
          <p:cNvPr id="27" name="">
            <a:extLst xmlns:a="http://schemas.openxmlformats.org/drawingml/2006/main">
              <a:ext uri="{FF2B5EF4-FFF2-40B4-BE49-F238E27FC236}">
                <a16:creationId xmlns:a16="http://schemas.microsoft.com/office/drawing/2014/main" id="{52531AE2-6592-4077-9A2E-FA9285F8564B}"/>
              </a:ext>
            </a:extLst>
          </p:cNvPr>
          <p:cNvSpPr>
            <a:spLocks xmlns:a="http://schemas.openxmlformats.org/drawingml/2006/main" noGrp="1"/>
          </p:cNvSpPr>
          <p:nvPr/>
        </p:nvSpPr>
        <p:spPr>
          <a:xfrm xmlns:a="http://schemas.openxmlformats.org/drawingml/2006/main">
            <a:off x="9048750" y="4781550"/>
            <a:ext cx="169545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759B270-294C-4C3E-AACE-3838E01D50A7}"/>
              </a:ext>
            </a:extLst>
          </p:cNvPr>
          <p:cNvSpPr>
            <a:spLocks xmlns:a="http://schemas.openxmlformats.org/drawingml/2006/main" noGrp="1"/>
          </p:cNvSpPr>
          <p:nvPr/>
        </p:nvSpPr>
        <p:spPr>
          <a:xfrm xmlns:a="http://schemas.openxmlformats.org/drawingml/2006/main">
            <a:off x="9048750" y="479107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F8F6FF"/>
                </a:solidFill>
                <a:latin typeface="Calibri"/>
                <a:ea typeface="Calibri"/>
                <a:cs typeface="Calibri"/>
              </a:defRPr>
            </a:pPr>
            <a:r>
              <a:rPr sz="1125" b="1">
                <a:solidFill>
                  <a:srgbClr val="F8F6FF"/>
                </a:solidFill>
                <a:latin typeface="Calibri"/>
                <a:ea typeface="Calibri"/>
                <a:cs typeface="Calibri"/>
              </a:rPr>
              <a:t>6 MODULES</a:t>
            </a:r>
          </a:p>
        </p:txBody>
      </p:sp>
      <p:sp>
        <p:nvSpPr>
          <p:cNvPr id="29" name="">
            <a:extLst xmlns:a="http://schemas.openxmlformats.org/drawingml/2006/main">
              <a:ext uri="{FF2B5EF4-FFF2-40B4-BE49-F238E27FC236}">
                <a16:creationId xmlns:a16="http://schemas.microsoft.com/office/drawing/2014/main" id="{B38DD44B-2FAC-4E2C-86F9-61F3E297F52A}"/>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44–45; final report Table 4.1, pp. 51–54.</a:t>
            </a:r>
          </a:p>
        </p:txBody>
      </p:sp>
      <p:sp>
        <p:nvSpPr>
          <p:cNvPr id="30" name="">
            <a:extLst xmlns:a="http://schemas.openxmlformats.org/drawingml/2006/main">
              <a:ext uri="{FF2B5EF4-FFF2-40B4-BE49-F238E27FC236}">
                <a16:creationId xmlns:a16="http://schemas.microsoft.com/office/drawing/2014/main" id="{0258C0C8-D07C-45EA-9914-C5B1B139B78C}"/>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08</a:t>
            </a:r>
          </a:p>
        </p:txBody>
      </p:sp>
    </p:spTree>
    <p:extLst>
      <p:ext uri="{BB962C8B-B14F-4D97-AF65-F5344CB8AC3E}">
        <p14:creationId xmlns:p14="http://schemas.microsoft.com/office/powerpoint/2010/main" val="1532612383"/>
      </p:ext>
    </p:extLst>
  </p:cSld>
</p:sld>
</file>

<file path=ppt/slides/slide9.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74EB431-18A5-438D-A626-7C027B7B4A4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DB42C7-82B9-4B9F-A26F-C0E76167BEAF}"/>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
            <a:extLst xmlns:a="http://schemas.openxmlformats.org/drawingml/2006/main">
              <a:ext uri="{FF2B5EF4-FFF2-40B4-BE49-F238E27FC236}">
                <a16:creationId xmlns:a16="http://schemas.microsoft.com/office/drawing/2014/main" id="{24F8B393-D50A-4696-9B9D-50696144F90F}"/>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New capabilities added during development</a:t>
            </a:r>
          </a:p>
        </p:txBody>
      </p:sp>
      <p:sp>
        <p:nvSpPr>
          <p:cNvPr id="4" name="">
            <a:extLst xmlns:a="http://schemas.openxmlformats.org/drawingml/2006/main">
              <a:ext uri="{FF2B5EF4-FFF2-40B4-BE49-F238E27FC236}">
                <a16:creationId xmlns:a16="http://schemas.microsoft.com/office/drawing/2014/main" id="{257ABCE1-ED9C-4288-A786-DA2560562CBE}"/>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These additions account for most of the change between the original proposal and the completed system.</a:t>
            </a:r>
          </a:p>
        </p:txBody>
      </p:sp>
      <p:sp>
        <p:nvSpPr>
          <p:cNvPr id="5" name="">
            <a:extLst xmlns:a="http://schemas.openxmlformats.org/drawingml/2006/main">
              <a:ext uri="{FF2B5EF4-FFF2-40B4-BE49-F238E27FC236}">
                <a16:creationId xmlns:a16="http://schemas.microsoft.com/office/drawing/2014/main" id="{91763EC6-5D1D-4E52-A11D-773506F203CB}"/>
              </a:ext>
            </a:extLst>
          </p:cNvPr>
          <p:cNvSpPr>
            <a:spLocks xmlns:a="http://schemas.openxmlformats.org/drawingml/2006/main" noGrp="1"/>
          </p:cNvSpPr>
          <p:nvPr/>
        </p:nvSpPr>
        <p:spPr>
          <a:xfrm xmlns:a="http://schemas.openxmlformats.org/drawingml/2006/main">
            <a:off x="685800" y="16954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8A5EB4-0547-4031-9C1F-713928F217AF}"/>
              </a:ext>
            </a:extLst>
          </p:cNvPr>
          <p:cNvSpPr>
            <a:spLocks xmlns:a="http://schemas.openxmlformats.org/drawingml/2006/main" noGrp="1"/>
          </p:cNvSpPr>
          <p:nvPr/>
        </p:nvSpPr>
        <p:spPr>
          <a:xfrm xmlns:a="http://schemas.openxmlformats.org/drawingml/2006/main">
            <a:off x="895350" y="18764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6B62"/>
                </a:solidFill>
                <a:latin typeface="Calibri"/>
                <a:ea typeface="Calibri"/>
                <a:cs typeface="Calibri"/>
              </a:defRPr>
            </a:pPr>
            <a:r>
              <a:rPr sz="2025" b="1">
                <a:solidFill>
                  <a:srgbClr val="FF6B62"/>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5966BBA7-4A63-437D-B02B-AE22691F6114}"/>
              </a:ext>
            </a:extLst>
          </p:cNvPr>
          <p:cNvSpPr>
            <a:spLocks xmlns:a="http://schemas.openxmlformats.org/drawingml/2006/main" noGrp="1"/>
          </p:cNvSpPr>
          <p:nvPr/>
        </p:nvSpPr>
        <p:spPr>
          <a:xfrm xmlns:a="http://schemas.openxmlformats.org/drawingml/2006/main">
            <a:off x="1466850" y="18478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Complete recurrence</a:t>
            </a:r>
          </a:p>
        </p:txBody>
      </p:sp>
      <p:sp>
        <p:nvSpPr>
          <p:cNvPr id="8" name="">
            <a:extLst xmlns:a="http://schemas.openxmlformats.org/drawingml/2006/main">
              <a:ext uri="{FF2B5EF4-FFF2-40B4-BE49-F238E27FC236}">
                <a16:creationId xmlns:a16="http://schemas.microsoft.com/office/drawing/2014/main" id="{B380AED6-22A6-4A82-8CE7-909F6B01C714}"/>
              </a:ext>
            </a:extLst>
          </p:cNvPr>
          <p:cNvSpPr>
            <a:spLocks xmlns:a="http://schemas.openxmlformats.org/drawingml/2006/main" noGrp="1"/>
          </p:cNvSpPr>
          <p:nvPr/>
        </p:nvSpPr>
        <p:spPr>
          <a:xfrm xmlns:a="http://schemas.openxmlformats.org/drawingml/2006/main">
            <a:off x="1466850" y="22098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Daily, weekly, monthly, yearly and custom schedules; occurrence-specific status.</a:t>
            </a:r>
          </a:p>
        </p:txBody>
      </p:sp>
      <p:sp>
        <p:nvSpPr>
          <p:cNvPr id="9" name="">
            <a:extLst xmlns:a="http://schemas.openxmlformats.org/drawingml/2006/main">
              <a:ext uri="{FF2B5EF4-FFF2-40B4-BE49-F238E27FC236}">
                <a16:creationId xmlns:a16="http://schemas.microsoft.com/office/drawing/2014/main" id="{62DC03BD-66D2-4CAA-AA4A-F7D27F2EAD5F}"/>
              </a:ext>
            </a:extLst>
          </p:cNvPr>
          <p:cNvSpPr>
            <a:spLocks xmlns:a="http://schemas.openxmlformats.org/drawingml/2006/main" noGrp="1"/>
          </p:cNvSpPr>
          <p:nvPr/>
        </p:nvSpPr>
        <p:spPr>
          <a:xfrm xmlns:a="http://schemas.openxmlformats.org/drawingml/2006/main">
            <a:off x="6229350" y="16954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C020CB-077F-4537-97D6-116EA540AFDA}"/>
              </a:ext>
            </a:extLst>
          </p:cNvPr>
          <p:cNvSpPr>
            <a:spLocks xmlns:a="http://schemas.openxmlformats.org/drawingml/2006/main" noGrp="1"/>
          </p:cNvSpPr>
          <p:nvPr/>
        </p:nvSpPr>
        <p:spPr>
          <a:xfrm xmlns:a="http://schemas.openxmlformats.org/drawingml/2006/main">
            <a:off x="6438900" y="18764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6B62"/>
                </a:solidFill>
                <a:latin typeface="Calibri"/>
                <a:ea typeface="Calibri"/>
                <a:cs typeface="Calibri"/>
              </a:defRPr>
            </a:pPr>
            <a:r>
              <a:rPr sz="2025" b="1">
                <a:solidFill>
                  <a:srgbClr val="FF6B62"/>
                </a:solidFill>
                <a:latin typeface="Calibri"/>
                <a:ea typeface="Calibri"/>
                <a:cs typeface="Calibri"/>
              </a:rPr>
              <a:t>02</a:t>
            </a:r>
          </a:p>
        </p:txBody>
      </p:sp>
      <p:sp>
        <p:nvSpPr>
          <p:cNvPr id="11" name="">
            <a:extLst xmlns:a="http://schemas.openxmlformats.org/drawingml/2006/main">
              <a:ext uri="{FF2B5EF4-FFF2-40B4-BE49-F238E27FC236}">
                <a16:creationId xmlns:a16="http://schemas.microsoft.com/office/drawing/2014/main" id="{6D182E3D-882E-41AD-AC38-BDD56A34941E}"/>
              </a:ext>
            </a:extLst>
          </p:cNvPr>
          <p:cNvSpPr>
            <a:spLocks xmlns:a="http://schemas.openxmlformats.org/drawingml/2006/main" noGrp="1"/>
          </p:cNvSpPr>
          <p:nvPr/>
        </p:nvSpPr>
        <p:spPr>
          <a:xfrm xmlns:a="http://schemas.openxmlformats.org/drawingml/2006/main">
            <a:off x="7010400" y="18478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Responsive reminders</a:t>
            </a:r>
          </a:p>
        </p:txBody>
      </p:sp>
      <p:sp>
        <p:nvSpPr>
          <p:cNvPr id="12" name="">
            <a:extLst xmlns:a="http://schemas.openxmlformats.org/drawingml/2006/main">
              <a:ext uri="{FF2B5EF4-FFF2-40B4-BE49-F238E27FC236}">
                <a16:creationId xmlns:a16="http://schemas.microsoft.com/office/drawing/2014/main" id="{A78EB7AC-6973-47AF-B432-C091C5557E67}"/>
              </a:ext>
            </a:extLst>
          </p:cNvPr>
          <p:cNvSpPr>
            <a:spLocks xmlns:a="http://schemas.openxmlformats.org/drawingml/2006/main" noGrp="1"/>
          </p:cNvSpPr>
          <p:nvPr/>
        </p:nvSpPr>
        <p:spPr>
          <a:xfrm xmlns:a="http://schemas.openxmlformats.org/drawingml/2006/main">
            <a:off x="7010400" y="22098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5–15 minute repetition, sound, Complete/Missed actions and automatic missed handling.</a:t>
            </a:r>
          </a:p>
        </p:txBody>
      </p:sp>
      <p:sp>
        <p:nvSpPr>
          <p:cNvPr id="13" name="">
            <a:extLst xmlns:a="http://schemas.openxmlformats.org/drawingml/2006/main">
              <a:ext uri="{FF2B5EF4-FFF2-40B4-BE49-F238E27FC236}">
                <a16:creationId xmlns:a16="http://schemas.microsoft.com/office/drawing/2014/main" id="{539B4085-F935-48F2-A771-6AA7B047A2FC}"/>
              </a:ext>
            </a:extLst>
          </p:cNvPr>
          <p:cNvSpPr>
            <a:spLocks xmlns:a="http://schemas.openxmlformats.org/drawingml/2006/main" noGrp="1"/>
          </p:cNvSpPr>
          <p:nvPr/>
        </p:nvSpPr>
        <p:spPr>
          <a:xfrm xmlns:a="http://schemas.openxmlformats.org/drawingml/2006/main">
            <a:off x="685800" y="3105150"/>
            <a:ext cx="5219700" cy="1162050"/>
          </a:xfrm>
          <a:prstGeom xmlns:a="http://schemas.openxmlformats.org/drawingml/2006/main" prst="roundRect">
            <a:avLst>
              <a:gd name="adj" fmla="val 9836"/>
            </a:avLst>
          </a:prstGeom>
          <a:solidFill xmlns:a="http://schemas.openxmlformats.org/drawingml/2006/main">
            <a:srgbClr val="3A31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EAB277F-F2C8-4AEB-BB2F-F8545060B5B6}"/>
              </a:ext>
            </a:extLst>
          </p:cNvPr>
          <p:cNvSpPr>
            <a:spLocks xmlns:a="http://schemas.openxmlformats.org/drawingml/2006/main" noGrp="1"/>
          </p:cNvSpPr>
          <p:nvPr/>
        </p:nvSpPr>
        <p:spPr>
          <a:xfrm xmlns:a="http://schemas.openxmlformats.org/drawingml/2006/main">
            <a:off x="895350" y="32861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6B62"/>
                </a:solidFill>
                <a:latin typeface="Calibri"/>
                <a:ea typeface="Calibri"/>
                <a:cs typeface="Calibri"/>
              </a:defRPr>
            </a:pPr>
            <a:r>
              <a:rPr sz="2025" b="1">
                <a:solidFill>
                  <a:srgbClr val="FF6B62"/>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2F9BEF1F-7362-41D6-A943-DC5AF48EE1B6}"/>
              </a:ext>
            </a:extLst>
          </p:cNvPr>
          <p:cNvSpPr>
            <a:spLocks xmlns:a="http://schemas.openxmlformats.org/drawingml/2006/main" noGrp="1"/>
          </p:cNvSpPr>
          <p:nvPr/>
        </p:nvSpPr>
        <p:spPr>
          <a:xfrm xmlns:a="http://schemas.openxmlformats.org/drawingml/2006/main">
            <a:off x="1466850" y="32575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Personalised games</a:t>
            </a:r>
          </a:p>
        </p:txBody>
      </p:sp>
      <p:sp>
        <p:nvSpPr>
          <p:cNvPr id="16" name="">
            <a:extLst xmlns:a="http://schemas.openxmlformats.org/drawingml/2006/main">
              <a:ext uri="{FF2B5EF4-FFF2-40B4-BE49-F238E27FC236}">
                <a16:creationId xmlns:a16="http://schemas.microsoft.com/office/drawing/2014/main" id="{743B2CDC-95D9-42AB-B0FD-374DA247408D}"/>
              </a:ext>
            </a:extLst>
          </p:cNvPr>
          <p:cNvSpPr>
            <a:spLocks xmlns:a="http://schemas.openxmlformats.org/drawingml/2006/main" noGrp="1"/>
          </p:cNvSpPr>
          <p:nvPr/>
        </p:nvSpPr>
        <p:spPr>
          <a:xfrm xmlns:a="http://schemas.openxmlformats.org/drawingml/2006/main">
            <a:off x="1466850" y="36195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Four type-and-stage game sets with supportive errorless guidance.</a:t>
            </a:r>
          </a:p>
        </p:txBody>
      </p:sp>
      <p:sp>
        <p:nvSpPr>
          <p:cNvPr id="17" name="">
            <a:extLst xmlns:a="http://schemas.openxmlformats.org/drawingml/2006/main">
              <a:ext uri="{FF2B5EF4-FFF2-40B4-BE49-F238E27FC236}">
                <a16:creationId xmlns:a16="http://schemas.microsoft.com/office/drawing/2014/main" id="{1635576E-ADA7-4DE8-B7A3-01C2390452AC}"/>
              </a:ext>
            </a:extLst>
          </p:cNvPr>
          <p:cNvSpPr>
            <a:spLocks xmlns:a="http://schemas.openxmlformats.org/drawingml/2006/main" noGrp="1"/>
          </p:cNvSpPr>
          <p:nvPr/>
        </p:nvSpPr>
        <p:spPr>
          <a:xfrm xmlns:a="http://schemas.openxmlformats.org/drawingml/2006/main">
            <a:off x="6229350" y="3105150"/>
            <a:ext cx="5219700" cy="1162050"/>
          </a:xfrm>
          <a:prstGeom xmlns:a="http://schemas.openxmlformats.org/drawingml/2006/main" prst="roundRect">
            <a:avLst>
              <a:gd name="adj" fmla="val 9836"/>
            </a:avLst>
          </a:prstGeom>
          <a:solidFill xmlns:a="http://schemas.openxmlformats.org/drawingml/2006/main">
            <a:srgbClr val="3A316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CDAF00B-65CE-4394-9710-D7F57FD34F27}"/>
              </a:ext>
            </a:extLst>
          </p:cNvPr>
          <p:cNvSpPr>
            <a:spLocks xmlns:a="http://schemas.openxmlformats.org/drawingml/2006/main" noGrp="1"/>
          </p:cNvSpPr>
          <p:nvPr/>
        </p:nvSpPr>
        <p:spPr>
          <a:xfrm xmlns:a="http://schemas.openxmlformats.org/drawingml/2006/main">
            <a:off x="6438900" y="32861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6B62"/>
                </a:solidFill>
                <a:latin typeface="Calibri"/>
                <a:ea typeface="Calibri"/>
                <a:cs typeface="Calibri"/>
              </a:defRPr>
            </a:pPr>
            <a:r>
              <a:rPr sz="2025" b="1">
                <a:solidFill>
                  <a:srgbClr val="FF6B62"/>
                </a:solidFill>
                <a:latin typeface="Calibri"/>
                <a:ea typeface="Calibri"/>
                <a:cs typeface="Calibri"/>
              </a:rPr>
              <a:t>04</a:t>
            </a:r>
          </a:p>
        </p:txBody>
      </p:sp>
      <p:sp>
        <p:nvSpPr>
          <p:cNvPr id="19" name="">
            <a:extLst xmlns:a="http://schemas.openxmlformats.org/drawingml/2006/main">
              <a:ext uri="{FF2B5EF4-FFF2-40B4-BE49-F238E27FC236}">
                <a16:creationId xmlns:a16="http://schemas.microsoft.com/office/drawing/2014/main" id="{0F33CE28-4FF9-401D-BCDB-FA24FE3329B0}"/>
              </a:ext>
            </a:extLst>
          </p:cNvPr>
          <p:cNvSpPr>
            <a:spLocks xmlns:a="http://schemas.openxmlformats.org/drawingml/2006/main" noGrp="1"/>
          </p:cNvSpPr>
          <p:nvPr/>
        </p:nvSpPr>
        <p:spPr>
          <a:xfrm xmlns:a="http://schemas.openxmlformats.org/drawingml/2006/main">
            <a:off x="7010400" y="32575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Adaptive difficulty</a:t>
            </a:r>
          </a:p>
        </p:txBody>
      </p:sp>
      <p:sp>
        <p:nvSpPr>
          <p:cNvPr id="20" name="">
            <a:extLst xmlns:a="http://schemas.openxmlformats.org/drawingml/2006/main">
              <a:ext uri="{FF2B5EF4-FFF2-40B4-BE49-F238E27FC236}">
                <a16:creationId xmlns:a16="http://schemas.microsoft.com/office/drawing/2014/main" id="{A932BFF5-15E3-43E5-B655-77BF1A29CA7C}"/>
              </a:ext>
            </a:extLst>
          </p:cNvPr>
          <p:cNvSpPr>
            <a:spLocks xmlns:a="http://schemas.openxmlformats.org/drawingml/2006/main" noGrp="1"/>
          </p:cNvSpPr>
          <p:nvPr/>
        </p:nvSpPr>
        <p:spPr>
          <a:xfrm xmlns:a="http://schemas.openxmlformats.org/drawingml/2006/main">
            <a:off x="7010400" y="36195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Per-game promotion/demotion, caregiver override, freeze/resume and audit history.</a:t>
            </a:r>
          </a:p>
        </p:txBody>
      </p:sp>
      <p:sp>
        <p:nvSpPr>
          <p:cNvPr id="21" name="">
            <a:extLst xmlns:a="http://schemas.openxmlformats.org/drawingml/2006/main">
              <a:ext uri="{FF2B5EF4-FFF2-40B4-BE49-F238E27FC236}">
                <a16:creationId xmlns:a16="http://schemas.microsoft.com/office/drawing/2014/main" id="{E046B224-DF41-47D9-9C80-54522546C444}"/>
              </a:ext>
            </a:extLst>
          </p:cNvPr>
          <p:cNvSpPr>
            <a:spLocks xmlns:a="http://schemas.openxmlformats.org/drawingml/2006/main" noGrp="1"/>
          </p:cNvSpPr>
          <p:nvPr/>
        </p:nvSpPr>
        <p:spPr>
          <a:xfrm xmlns:a="http://schemas.openxmlformats.org/drawingml/2006/main">
            <a:off x="685800" y="45148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246680F-DE2D-449F-807C-293BB5EDDADB}"/>
              </a:ext>
            </a:extLst>
          </p:cNvPr>
          <p:cNvSpPr>
            <a:spLocks xmlns:a="http://schemas.openxmlformats.org/drawingml/2006/main" noGrp="1"/>
          </p:cNvSpPr>
          <p:nvPr/>
        </p:nvSpPr>
        <p:spPr>
          <a:xfrm xmlns:a="http://schemas.openxmlformats.org/drawingml/2006/main">
            <a:off x="895350" y="46958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6B62"/>
                </a:solidFill>
                <a:latin typeface="Calibri"/>
                <a:ea typeface="Calibri"/>
                <a:cs typeface="Calibri"/>
              </a:defRPr>
            </a:pPr>
            <a:r>
              <a:rPr sz="2025" b="1">
                <a:solidFill>
                  <a:srgbClr val="FF6B62"/>
                </a:solidFill>
                <a:latin typeface="Calibri"/>
                <a:ea typeface="Calibri"/>
                <a:cs typeface="Calibri"/>
              </a:rPr>
              <a:t>05</a:t>
            </a:r>
          </a:p>
        </p:txBody>
      </p:sp>
      <p:sp>
        <p:nvSpPr>
          <p:cNvPr id="23" name="">
            <a:extLst xmlns:a="http://schemas.openxmlformats.org/drawingml/2006/main">
              <a:ext uri="{FF2B5EF4-FFF2-40B4-BE49-F238E27FC236}">
                <a16:creationId xmlns:a16="http://schemas.microsoft.com/office/drawing/2014/main" id="{966905CC-88B2-4FAD-9119-A2D570989B86}"/>
              </a:ext>
            </a:extLst>
          </p:cNvPr>
          <p:cNvSpPr>
            <a:spLocks xmlns:a="http://schemas.openxmlformats.org/drawingml/2006/main" noGrp="1"/>
          </p:cNvSpPr>
          <p:nvPr/>
        </p:nvSpPr>
        <p:spPr>
          <a:xfrm xmlns:a="http://schemas.openxmlformats.org/drawingml/2006/main">
            <a:off x="1466850" y="46672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Monitoring depth</a:t>
            </a:r>
          </a:p>
        </p:txBody>
      </p:sp>
      <p:sp>
        <p:nvSpPr>
          <p:cNvPr id="24" name="">
            <a:extLst xmlns:a="http://schemas.openxmlformats.org/drawingml/2006/main">
              <a:ext uri="{FF2B5EF4-FFF2-40B4-BE49-F238E27FC236}">
                <a16:creationId xmlns:a16="http://schemas.microsoft.com/office/drawing/2014/main" id="{BD00CEA0-7B71-4726-8660-51C512271F3F}"/>
              </a:ext>
            </a:extLst>
          </p:cNvPr>
          <p:cNvSpPr>
            <a:spLocks xmlns:a="http://schemas.openxmlformats.org/drawingml/2006/main" noGrp="1"/>
          </p:cNvSpPr>
          <p:nvPr/>
        </p:nvSpPr>
        <p:spPr>
          <a:xfrm xmlns:a="http://schemas.openxmlformats.org/drawingml/2006/main">
            <a:off x="1466850" y="50292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Period analytics, trends, rankings, hint use and graded caregiver risk signals.</a:t>
            </a:r>
          </a:p>
        </p:txBody>
      </p:sp>
      <p:sp>
        <p:nvSpPr>
          <p:cNvPr id="25" name="">
            <a:extLst xmlns:a="http://schemas.openxmlformats.org/drawingml/2006/main">
              <a:ext uri="{FF2B5EF4-FFF2-40B4-BE49-F238E27FC236}">
                <a16:creationId xmlns:a16="http://schemas.microsoft.com/office/drawing/2014/main" id="{8C8B7420-9DD1-4B75-B0FB-65E276CC0908}"/>
              </a:ext>
            </a:extLst>
          </p:cNvPr>
          <p:cNvSpPr>
            <a:spLocks xmlns:a="http://schemas.openxmlformats.org/drawingml/2006/main" noGrp="1"/>
          </p:cNvSpPr>
          <p:nvPr/>
        </p:nvSpPr>
        <p:spPr>
          <a:xfrm xmlns:a="http://schemas.openxmlformats.org/drawingml/2006/main">
            <a:off x="6229350" y="45148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D487335-D652-44D2-89E8-5C2946667F6A}"/>
              </a:ext>
            </a:extLst>
          </p:cNvPr>
          <p:cNvSpPr>
            <a:spLocks xmlns:a="http://schemas.openxmlformats.org/drawingml/2006/main" noGrp="1"/>
          </p:cNvSpPr>
          <p:nvPr/>
        </p:nvSpPr>
        <p:spPr>
          <a:xfrm xmlns:a="http://schemas.openxmlformats.org/drawingml/2006/main">
            <a:off x="6438900" y="46958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6B62"/>
                </a:solidFill>
                <a:latin typeface="Calibri"/>
                <a:ea typeface="Calibri"/>
                <a:cs typeface="Calibri"/>
              </a:defRPr>
            </a:pPr>
            <a:r>
              <a:rPr sz="2025" b="1">
                <a:solidFill>
                  <a:srgbClr val="FF6B62"/>
                </a:solidFill>
                <a:latin typeface="Calibri"/>
                <a:ea typeface="Calibri"/>
                <a:cs typeface="Calibri"/>
              </a:rPr>
              <a:t>06</a:t>
            </a:r>
          </a:p>
        </p:txBody>
      </p:sp>
      <p:sp>
        <p:nvSpPr>
          <p:cNvPr id="27" name="">
            <a:extLst xmlns:a="http://schemas.openxmlformats.org/drawingml/2006/main">
              <a:ext uri="{FF2B5EF4-FFF2-40B4-BE49-F238E27FC236}">
                <a16:creationId xmlns:a16="http://schemas.microsoft.com/office/drawing/2014/main" id="{B048E0CD-E238-4FA8-96C9-DC8DA5974D6E}"/>
              </a:ext>
            </a:extLst>
          </p:cNvPr>
          <p:cNvSpPr>
            <a:spLocks xmlns:a="http://schemas.openxmlformats.org/drawingml/2006/main" noGrp="1"/>
          </p:cNvSpPr>
          <p:nvPr/>
        </p:nvSpPr>
        <p:spPr>
          <a:xfrm xmlns:a="http://schemas.openxmlformats.org/drawingml/2006/main">
            <a:off x="7010400" y="46672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Reward pathway</a:t>
            </a:r>
          </a:p>
        </p:txBody>
      </p:sp>
      <p:sp>
        <p:nvSpPr>
          <p:cNvPr id="28" name="">
            <a:extLst xmlns:a="http://schemas.openxmlformats.org/drawingml/2006/main">
              <a:ext uri="{FF2B5EF4-FFF2-40B4-BE49-F238E27FC236}">
                <a16:creationId xmlns:a16="http://schemas.microsoft.com/office/drawing/2014/main" id="{2F46B5CB-EC04-43F0-8332-C8C63773F717}"/>
              </a:ext>
            </a:extLst>
          </p:cNvPr>
          <p:cNvSpPr>
            <a:spLocks xmlns:a="http://schemas.openxmlformats.org/drawingml/2006/main" noGrp="1"/>
          </p:cNvSpPr>
          <p:nvPr/>
        </p:nvSpPr>
        <p:spPr>
          <a:xfrm xmlns:a="http://schemas.openxmlformats.org/drawingml/2006/main">
            <a:off x="7010400" y="50292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Daily streak cycle, shared points, levels and points-unlocked Just for Fun games.</a:t>
            </a:r>
          </a:p>
        </p:txBody>
      </p:sp>
      <p:sp>
        <p:nvSpPr>
          <p:cNvPr id="29" name="">
            <a:extLst xmlns:a="http://schemas.openxmlformats.org/drawingml/2006/main">
              <a:ext uri="{FF2B5EF4-FFF2-40B4-BE49-F238E27FC236}">
                <a16:creationId xmlns:a16="http://schemas.microsoft.com/office/drawing/2014/main" id="{5C0E40F2-F94A-4C50-956B-4DB45DC9668E}"/>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4.1 and Chapter 6.</a:t>
            </a:r>
          </a:p>
        </p:txBody>
      </p:sp>
      <p:sp>
        <p:nvSpPr>
          <p:cNvPr id="30" name="">
            <a:extLst xmlns:a="http://schemas.openxmlformats.org/drawingml/2006/main">
              <a:ext uri="{FF2B5EF4-FFF2-40B4-BE49-F238E27FC236}">
                <a16:creationId xmlns:a16="http://schemas.microsoft.com/office/drawing/2014/main" id="{10656C06-3929-4ADF-9BB4-B1410A382A6D}"/>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09</a:t>
            </a:r>
          </a:p>
        </p:txBody>
      </p:sp>
    </p:spTree>
    <p:extLst>
      <p:ext uri="{BB962C8B-B14F-4D97-AF65-F5344CB8AC3E}">
        <p14:creationId xmlns:p14="http://schemas.microsoft.com/office/powerpoint/2010/main" val="1099698864"/>
      </p:ext>
    </p:extLst>
  </p:cSld>
</p:sld>
</file>

<file path=ppt/slides/slide10.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C2C3F2-AFFB-42EF-9AEE-6157BBA22D0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92D2F7-340A-4A35-AAE1-943FC827BAA8}"/>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
            <a:extLst xmlns:a="http://schemas.openxmlformats.org/drawingml/2006/main">
              <a:ext uri="{FF2B5EF4-FFF2-40B4-BE49-F238E27FC236}">
                <a16:creationId xmlns:a16="http://schemas.microsoft.com/office/drawing/2014/main" id="{286F96E5-0F8D-4FE0-B60C-C0AC14BF5560}"/>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Updated use-case diagram</a:t>
            </a:r>
          </a:p>
        </p:txBody>
      </p:sp>
      <p:sp>
        <p:nvSpPr>
          <p:cNvPr id="4" name="">
            <a:extLst xmlns:a="http://schemas.openxmlformats.org/drawingml/2006/main">
              <a:ext uri="{FF2B5EF4-FFF2-40B4-BE49-F238E27FC236}">
                <a16:creationId xmlns:a16="http://schemas.microsoft.com/office/drawing/2014/main" id="{FBC89226-1E95-4BF4-AE6A-BD915BECD009}"/>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Insert the latest diagram here before presenting.</a:t>
            </a:r>
          </a:p>
        </p:txBody>
      </p:sp>
      <p:sp>
        <p:nvSpPr>
          <p:cNvPr id="5" name="">
            <a:extLst xmlns:a="http://schemas.openxmlformats.org/drawingml/2006/main">
              <a:ext uri="{FF2B5EF4-FFF2-40B4-BE49-F238E27FC236}">
                <a16:creationId xmlns:a16="http://schemas.microsoft.com/office/drawing/2014/main" id="{252DC288-A9DE-4120-9B32-CCD6C5569FF3}"/>
              </a:ext>
            </a:extLst>
          </p:cNvPr>
          <p:cNvSpPr>
            <a:spLocks xmlns:a="http://schemas.openxmlformats.org/drawingml/2006/main" noGrp="1"/>
          </p:cNvSpPr>
          <p:nvPr/>
        </p:nvSpPr>
        <p:spPr>
          <a:xfrm xmlns:a="http://schemas.openxmlformats.org/drawingml/2006/main">
            <a:off x="1028700" y="1685925"/>
            <a:ext cx="10134600" cy="4171950"/>
          </a:xfrm>
          <a:prstGeom xmlns:a="http://schemas.openxmlformats.org/drawingml/2006/main" prst="roundRect">
            <a:avLst>
              <a:gd name="adj" fmla="val 3653"/>
            </a:avLst>
          </a:prstGeom>
          <a:solidFill xmlns:a="http://schemas.openxmlformats.org/drawingml/2006/main">
            <a:srgbClr val="2E2750"/>
          </a:solidFill>
          <a:ln xmlns:a="http://schemas.openxmlformats.org/drawingml/2006/main" w="19050">
            <a:solidFill>
              <a:srgbClr val="7C83FD"/>
            </a:solidFill>
            <a:prstDash val="dash"/>
          </a:ln>
        </p:spPr>
      </p:sp>
      <p:sp>
        <p:nvSpPr>
          <p:cNvPr id="6" name="">
            <a:extLst xmlns:a="http://schemas.openxmlformats.org/drawingml/2006/main">
              <a:ext uri="{FF2B5EF4-FFF2-40B4-BE49-F238E27FC236}">
                <a16:creationId xmlns:a16="http://schemas.microsoft.com/office/drawing/2014/main" id="{B966BFCB-17B2-4295-8D82-F34058C154E5}"/>
              </a:ext>
            </a:extLst>
          </p:cNvPr>
          <p:cNvSpPr>
            <a:spLocks xmlns:a="http://schemas.openxmlformats.org/drawingml/2006/main" noGrp="1"/>
          </p:cNvSpPr>
          <p:nvPr/>
        </p:nvSpPr>
        <p:spPr>
          <a:xfrm xmlns:a="http://schemas.openxmlformats.org/drawingml/2006/main">
            <a:off x="2171700" y="2695575"/>
            <a:ext cx="784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7C83FD"/>
                </a:solidFill>
                <a:latin typeface="Calibri"/>
                <a:ea typeface="Calibri"/>
                <a:cs typeface="Calibri"/>
              </a:defRPr>
            </a:pPr>
            <a:r>
              <a:rPr sz="2250" b="1">
                <a:solidFill>
                  <a:srgbClr val="7C83FD"/>
                </a:solidFill>
                <a:latin typeface="Calibri"/>
                <a:ea typeface="Calibri"/>
                <a:cs typeface="Calibri"/>
              </a:rPr>
              <a:t>USE-CASE DIAGRAM PLACEHOLDER</a:t>
            </a:r>
          </a:p>
        </p:txBody>
      </p:sp>
      <p:sp>
        <p:nvSpPr>
          <p:cNvPr id="7" name="">
            <a:extLst xmlns:a="http://schemas.openxmlformats.org/drawingml/2006/main">
              <a:ext uri="{FF2B5EF4-FFF2-40B4-BE49-F238E27FC236}">
                <a16:creationId xmlns:a16="http://schemas.microsoft.com/office/drawing/2014/main" id="{930FD91D-7457-47D1-BB7B-FFB0E9434FD4}"/>
              </a:ext>
            </a:extLst>
          </p:cNvPr>
          <p:cNvSpPr>
            <a:spLocks xmlns:a="http://schemas.openxmlformats.org/drawingml/2006/main" noGrp="1"/>
          </p:cNvSpPr>
          <p:nvPr/>
        </p:nvSpPr>
        <p:spPr>
          <a:xfrm xmlns:a="http://schemas.openxmlformats.org/drawingml/2006/main">
            <a:off x="4267200" y="3429000"/>
            <a:ext cx="365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FF6B62"/>
                </a:solidFill>
                <a:latin typeface="Calibri"/>
                <a:ea typeface="Calibri"/>
                <a:cs typeface="Calibri"/>
              </a:defRPr>
            </a:pPr>
            <a:r>
              <a:rPr sz="1275" b="1">
                <a:solidFill>
                  <a:srgbClr val="FF6B62"/>
                </a:solidFill>
                <a:latin typeface="Calibri"/>
                <a:ea typeface="Calibri"/>
                <a:cs typeface="Calibri"/>
              </a:rPr>
              <a:t>Recommended emphasis</a:t>
            </a:r>
          </a:p>
        </p:txBody>
      </p:sp>
      <p:sp>
        <p:nvSpPr>
          <p:cNvPr id="8" name="">
            <a:extLst xmlns:a="http://schemas.openxmlformats.org/drawingml/2006/main">
              <a:ext uri="{FF2B5EF4-FFF2-40B4-BE49-F238E27FC236}">
                <a16:creationId xmlns:a16="http://schemas.microsoft.com/office/drawing/2014/main" id="{D18A2144-2D01-48E4-89D5-5C73796C627B}"/>
              </a:ext>
            </a:extLst>
          </p:cNvPr>
          <p:cNvSpPr>
            <a:spLocks xmlns:a="http://schemas.openxmlformats.org/drawingml/2006/main" noGrp="1"/>
          </p:cNvSpPr>
          <p:nvPr/>
        </p:nvSpPr>
        <p:spPr>
          <a:xfrm xmlns:a="http://schemas.openxmlformats.org/drawingml/2006/main">
            <a:off x="2724150" y="3848100"/>
            <a:ext cx="674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B8B0D4"/>
                </a:solidFill>
                <a:latin typeface="Calibri"/>
                <a:ea typeface="Calibri"/>
                <a:cs typeface="Calibri"/>
              </a:defRPr>
            </a:pPr>
            <a:r>
              <a:rPr sz="1350" b="0">
                <a:solidFill>
                  <a:srgbClr val="B8B0D4"/>
                </a:solidFill>
                <a:latin typeface="Calibri"/>
                <a:ea typeface="Calibri"/>
                <a:cs typeface="Calibri"/>
              </a:rPr>
              <a:t>Show the separate caregiver and patient actors, then make the new adaptive difficulty, statistics, recurrence, rewards and risk use cases clearly visible.</a:t>
            </a:r>
          </a:p>
        </p:txBody>
      </p:sp>
      <p:sp>
        <p:nvSpPr>
          <p:cNvPr id="9" name="">
            <a:extLst xmlns:a="http://schemas.openxmlformats.org/drawingml/2006/main">
              <a:ext uri="{FF2B5EF4-FFF2-40B4-BE49-F238E27FC236}">
                <a16:creationId xmlns:a16="http://schemas.microsoft.com/office/drawing/2014/main" id="{230AAF84-1379-40EB-9E0E-1A7F7E6C8C3F}"/>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10</a:t>
            </a:r>
          </a:p>
        </p:txBody>
      </p:sp>
    </p:spTree>
    <p:extLst>
      <p:ext uri="{BB962C8B-B14F-4D97-AF65-F5344CB8AC3E}">
        <p14:creationId xmlns:p14="http://schemas.microsoft.com/office/powerpoint/2010/main" val="1786641120"/>
      </p:ext>
    </p:extLst>
  </p:cSld>
</p:sld>
</file>

<file path=ppt/slides/slide11.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108213-2F9B-4D9F-B41D-3856063E29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378843-C624-400E-BE04-17DDFA96883B}"/>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5 · SYSTEM DESIGN</a:t>
            </a:r>
          </a:p>
        </p:txBody>
      </p:sp>
      <p:sp>
        <p:nvSpPr>
          <p:cNvPr id="3" name="">
            <a:extLst xmlns:a="http://schemas.openxmlformats.org/drawingml/2006/main">
              <a:ext uri="{FF2B5EF4-FFF2-40B4-BE49-F238E27FC236}">
                <a16:creationId xmlns:a16="http://schemas.microsoft.com/office/drawing/2014/main" id="{471F39B5-7C35-4089-9631-639F16DDB82C}"/>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Architecture and data design</a:t>
            </a:r>
          </a:p>
        </p:txBody>
      </p:sp>
      <p:sp>
        <p:nvSpPr>
          <p:cNvPr id="4" name="">
            <a:extLst xmlns:a="http://schemas.openxmlformats.org/drawingml/2006/main">
              <a:ext uri="{FF2B5EF4-FFF2-40B4-BE49-F238E27FC236}">
                <a16:creationId xmlns:a16="http://schemas.microsoft.com/office/drawing/2014/main" id="{D6087EAD-0168-4D1D-BB28-345F25EE2605}"/>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Insert the final diagrams while retaining this two-part composition.</a:t>
            </a:r>
          </a:p>
        </p:txBody>
      </p:sp>
      <p:sp>
        <p:nvSpPr>
          <p:cNvPr id="5" name="">
            <a:extLst xmlns:a="http://schemas.openxmlformats.org/drawingml/2006/main">
              <a:ext uri="{FF2B5EF4-FFF2-40B4-BE49-F238E27FC236}">
                <a16:creationId xmlns:a16="http://schemas.microsoft.com/office/drawing/2014/main" id="{38BB2416-9461-4F2E-81DF-9984CA3D401A}"/>
              </a:ext>
            </a:extLst>
          </p:cNvPr>
          <p:cNvSpPr>
            <a:spLocks xmlns:a="http://schemas.openxmlformats.org/drawingml/2006/main" noGrp="1"/>
          </p:cNvSpPr>
          <p:nvPr/>
        </p:nvSpPr>
        <p:spPr>
          <a:xfrm xmlns:a="http://schemas.openxmlformats.org/drawingml/2006/main">
            <a:off x="647700" y="1714500"/>
            <a:ext cx="5200650" cy="4038600"/>
          </a:xfrm>
          <a:prstGeom xmlns:a="http://schemas.openxmlformats.org/drawingml/2006/main" prst="roundRect">
            <a:avLst>
              <a:gd name="adj" fmla="val 3774"/>
            </a:avLst>
          </a:prstGeom>
          <a:solidFill xmlns:a="http://schemas.openxmlformats.org/drawingml/2006/main">
            <a:srgbClr val="2E2750"/>
          </a:solidFill>
          <a:ln xmlns:a="http://schemas.openxmlformats.org/drawingml/2006/main" w="19050">
            <a:solidFill>
              <a:srgbClr val="7C83FD"/>
            </a:solidFill>
            <a:prstDash val="dash"/>
          </a:ln>
        </p:spPr>
      </p:sp>
      <p:sp>
        <p:nvSpPr>
          <p:cNvPr id="6" name="">
            <a:extLst xmlns:a="http://schemas.openxmlformats.org/drawingml/2006/main">
              <a:ext uri="{FF2B5EF4-FFF2-40B4-BE49-F238E27FC236}">
                <a16:creationId xmlns:a16="http://schemas.microsoft.com/office/drawing/2014/main" id="{DBEA6ED5-EA45-4C4E-BB4B-5FCBE4617412}"/>
              </a:ext>
            </a:extLst>
          </p:cNvPr>
          <p:cNvSpPr>
            <a:spLocks xmlns:a="http://schemas.openxmlformats.org/drawingml/2006/main" noGrp="1"/>
          </p:cNvSpPr>
          <p:nvPr/>
        </p:nvSpPr>
        <p:spPr>
          <a:xfrm xmlns:a="http://schemas.openxmlformats.org/drawingml/2006/main">
            <a:off x="1181100" y="2819400"/>
            <a:ext cx="413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7C83FD"/>
                </a:solidFill>
                <a:latin typeface="Calibri"/>
                <a:ea typeface="Calibri"/>
                <a:cs typeface="Calibri"/>
              </a:defRPr>
            </a:pPr>
            <a:r>
              <a:rPr sz="2100" b="1">
                <a:solidFill>
                  <a:srgbClr val="7C83FD"/>
                </a:solidFill>
                <a:latin typeface="Calibri"/>
                <a:ea typeface="Calibri"/>
                <a:cs typeface="Calibri"/>
              </a:rPr>
              <a:t>SYSTEM ARCHITECTURE</a:t>
            </a:r>
          </a:p>
        </p:txBody>
      </p:sp>
      <p:sp>
        <p:nvSpPr>
          <p:cNvPr id="7" name="">
            <a:extLst xmlns:a="http://schemas.openxmlformats.org/drawingml/2006/main">
              <a:ext uri="{FF2B5EF4-FFF2-40B4-BE49-F238E27FC236}">
                <a16:creationId xmlns:a16="http://schemas.microsoft.com/office/drawing/2014/main" id="{9134C2A9-89FC-4E73-AFEB-A1AB65B9F020}"/>
              </a:ext>
            </a:extLst>
          </p:cNvPr>
          <p:cNvSpPr>
            <a:spLocks xmlns:a="http://schemas.openxmlformats.org/drawingml/2006/main" noGrp="1"/>
          </p:cNvSpPr>
          <p:nvPr/>
        </p:nvSpPr>
        <p:spPr>
          <a:xfrm xmlns:a="http://schemas.openxmlformats.org/drawingml/2006/main">
            <a:off x="1276350" y="3371850"/>
            <a:ext cx="3943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B8B0D4"/>
                </a:solidFill>
                <a:latin typeface="Calibri"/>
                <a:ea typeface="Calibri"/>
                <a:cs typeface="Calibri"/>
              </a:defRPr>
            </a:pPr>
            <a:r>
              <a:rPr sz="1350" b="0">
                <a:solidFill>
                  <a:srgbClr val="B8B0D4"/>
                </a:solidFill>
                <a:latin typeface="Calibri"/>
                <a:ea typeface="Calibri"/>
                <a:cs typeface="Calibri"/>
              </a:rPr>
              <a:t>Flutter UI · Firebase Auth · Cloud Firestore · Android notifications</a:t>
            </a:r>
          </a:p>
        </p:txBody>
      </p:sp>
      <p:sp>
        <p:nvSpPr>
          <p:cNvPr id="8" name="">
            <a:extLst xmlns:a="http://schemas.openxmlformats.org/drawingml/2006/main">
              <a:ext uri="{FF2B5EF4-FFF2-40B4-BE49-F238E27FC236}">
                <a16:creationId xmlns:a16="http://schemas.microsoft.com/office/drawing/2014/main" id="{452A48F9-64EA-40DF-9FA9-EB6746411568}"/>
              </a:ext>
            </a:extLst>
          </p:cNvPr>
          <p:cNvSpPr>
            <a:spLocks xmlns:a="http://schemas.openxmlformats.org/drawingml/2006/main" noGrp="1"/>
          </p:cNvSpPr>
          <p:nvPr/>
        </p:nvSpPr>
        <p:spPr>
          <a:xfrm xmlns:a="http://schemas.openxmlformats.org/drawingml/2006/main">
            <a:off x="6343650" y="1714500"/>
            <a:ext cx="5200650" cy="4038600"/>
          </a:xfrm>
          <a:prstGeom xmlns:a="http://schemas.openxmlformats.org/drawingml/2006/main" prst="roundRect">
            <a:avLst>
              <a:gd name="adj" fmla="val 3774"/>
            </a:avLst>
          </a:prstGeom>
          <a:solidFill xmlns:a="http://schemas.openxmlformats.org/drawingml/2006/main">
            <a:srgbClr val="2E2750"/>
          </a:solidFill>
          <a:ln xmlns:a="http://schemas.openxmlformats.org/drawingml/2006/main" w="19050">
            <a:solidFill>
              <a:srgbClr val="FF6B62"/>
            </a:solidFill>
            <a:prstDash val="dash"/>
          </a:ln>
        </p:spPr>
      </p:sp>
      <p:sp>
        <p:nvSpPr>
          <p:cNvPr id="9" name="">
            <a:extLst xmlns:a="http://schemas.openxmlformats.org/drawingml/2006/main">
              <a:ext uri="{FF2B5EF4-FFF2-40B4-BE49-F238E27FC236}">
                <a16:creationId xmlns:a16="http://schemas.microsoft.com/office/drawing/2014/main" id="{BEFB8AE8-CD9B-4E9B-BA07-4EC064C795BE}"/>
              </a:ext>
            </a:extLst>
          </p:cNvPr>
          <p:cNvSpPr>
            <a:spLocks xmlns:a="http://schemas.openxmlformats.org/drawingml/2006/main" noGrp="1"/>
          </p:cNvSpPr>
          <p:nvPr/>
        </p:nvSpPr>
        <p:spPr>
          <a:xfrm xmlns:a="http://schemas.openxmlformats.org/drawingml/2006/main">
            <a:off x="6877050" y="2819400"/>
            <a:ext cx="413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6B62"/>
                </a:solidFill>
                <a:latin typeface="Calibri"/>
                <a:ea typeface="Calibri"/>
                <a:cs typeface="Calibri"/>
              </a:defRPr>
            </a:pPr>
            <a:r>
              <a:rPr sz="2100" b="1">
                <a:solidFill>
                  <a:srgbClr val="FF6B62"/>
                </a:solidFill>
                <a:latin typeface="Calibri"/>
                <a:ea typeface="Calibri"/>
                <a:cs typeface="Calibri"/>
              </a:rPr>
              <a:t>ERD / DATA MODEL</a:t>
            </a:r>
          </a:p>
        </p:txBody>
      </p:sp>
      <p:sp>
        <p:nvSpPr>
          <p:cNvPr id="10" name="">
            <a:extLst xmlns:a="http://schemas.openxmlformats.org/drawingml/2006/main">
              <a:ext uri="{FF2B5EF4-FFF2-40B4-BE49-F238E27FC236}">
                <a16:creationId xmlns:a16="http://schemas.microsoft.com/office/drawing/2014/main" id="{B139DC25-FE17-4904-8C75-8A17CF607016}"/>
              </a:ext>
            </a:extLst>
          </p:cNvPr>
          <p:cNvSpPr>
            <a:spLocks xmlns:a="http://schemas.openxmlformats.org/drawingml/2006/main" noGrp="1"/>
          </p:cNvSpPr>
          <p:nvPr/>
        </p:nvSpPr>
        <p:spPr>
          <a:xfrm xmlns:a="http://schemas.openxmlformats.org/drawingml/2006/main">
            <a:off x="6972300" y="3371850"/>
            <a:ext cx="3943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B8B0D4"/>
                </a:solidFill>
                <a:latin typeface="Calibri"/>
                <a:ea typeface="Calibri"/>
                <a:cs typeface="Calibri"/>
              </a:defRPr>
            </a:pPr>
            <a:r>
              <a:rPr sz="1350" b="0">
                <a:solidFill>
                  <a:srgbClr val="B8B0D4"/>
                </a:solidFill>
                <a:latin typeface="Calibri"/>
                <a:ea typeface="Calibri"/>
                <a:cs typeface="Calibri"/>
              </a:rPr>
              <a:t>Users · tasks · occurrence status · game sessions · difficulty state/history · risk history</a:t>
            </a:r>
          </a:p>
        </p:txBody>
      </p:sp>
      <p:sp>
        <p:nvSpPr>
          <p:cNvPr id="11" name="">
            <a:extLst xmlns:a="http://schemas.openxmlformats.org/drawingml/2006/main">
              <a:ext uri="{FF2B5EF4-FFF2-40B4-BE49-F238E27FC236}">
                <a16:creationId xmlns:a16="http://schemas.microsoft.com/office/drawing/2014/main" id="{95030752-C664-48B2-9C67-3A7845500A72}"/>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11</a:t>
            </a:r>
          </a:p>
        </p:txBody>
      </p:sp>
    </p:spTree>
    <p:extLst>
      <p:ext uri="{BB962C8B-B14F-4D97-AF65-F5344CB8AC3E}">
        <p14:creationId xmlns:p14="http://schemas.microsoft.com/office/powerpoint/2010/main" val="1247121090"/>
      </p:ext>
    </p:extLst>
  </p:cSld>
</p:sld>
</file>

<file path=ppt/slides/slide12.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A9942D-767F-4410-97A1-6757E5EA8F9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41A156-ECEF-4575-BD14-F5E8F3820EA1}"/>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6 · IMPLEMENTATION</a:t>
            </a:r>
          </a:p>
        </p:txBody>
      </p:sp>
      <p:sp>
        <p:nvSpPr>
          <p:cNvPr id="3" name="">
            <a:extLst xmlns:a="http://schemas.openxmlformats.org/drawingml/2006/main">
              <a:ext uri="{FF2B5EF4-FFF2-40B4-BE49-F238E27FC236}">
                <a16:creationId xmlns:a16="http://schemas.microsoft.com/office/drawing/2014/main" id="{991399A3-EDE8-4B53-BF77-D7CD3D2D68A7}"/>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The final interface connected both roles</a:t>
            </a:r>
          </a:p>
        </p:txBody>
      </p:sp>
      <p:sp>
        <p:nvSpPr>
          <p:cNvPr id="4" name="">
            <a:extLst xmlns:a="http://schemas.openxmlformats.org/drawingml/2006/main">
              <a:ext uri="{FF2B5EF4-FFF2-40B4-BE49-F238E27FC236}">
                <a16:creationId xmlns:a16="http://schemas.microsoft.com/office/drawing/2014/main" id="{D34ED928-5849-4A99-9994-AEAAB6914A6C}"/>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A shared visual language was retained while each role received only the controls required for its responsibilities.</a:t>
            </a:r>
          </a:p>
        </p:txBody>
      </p:sp>
      <p:sp>
        <p:nvSpPr>
          <p:cNvPr id="5" name="">
            <a:extLst xmlns:a="http://schemas.openxmlformats.org/drawingml/2006/main">
              <a:ext uri="{FF2B5EF4-FFF2-40B4-BE49-F238E27FC236}">
                <a16:creationId xmlns:a16="http://schemas.microsoft.com/office/drawing/2014/main" id="{EB2B1259-30B5-45D1-8C09-8503D0998E4E}"/>
              </a:ext>
            </a:extLst>
          </p:cNvPr>
          <p:cNvSpPr>
            <a:spLocks xmlns:a="http://schemas.openxmlformats.org/drawingml/2006/main" noGrp="1"/>
          </p:cNvSpPr>
          <p:nvPr/>
        </p:nvSpPr>
        <p:spPr>
          <a:xfrm xmlns:a="http://schemas.openxmlformats.org/drawingml/2006/main">
            <a:off x="666750" y="1828800"/>
            <a:ext cx="4857750" cy="4248150"/>
          </a:xfrm>
          <a:prstGeom xmlns:a="http://schemas.openxmlformats.org/drawingml/2006/main" prst="roundRect">
            <a:avLst>
              <a:gd name="adj" fmla="val 3587"/>
            </a:avLst>
          </a:prstGeom>
          <a:solidFill xmlns:a="http://schemas.openxmlformats.org/drawingml/2006/main">
            <a:srgbClr val="100B2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F2A251-1E80-4292-B6A5-5E02BA9390B5}"/>
              </a:ext>
            </a:extLst>
          </p:cNvPr>
          <p:cNvSpPr>
            <a:spLocks xmlns:a="http://schemas.openxmlformats.org/drawingml/2006/main" noGrp="1"/>
          </p:cNvSpPr>
          <p:nvPr/>
        </p:nvSpPr>
        <p:spPr>
          <a:xfrm xmlns:a="http://schemas.openxmlformats.org/drawingml/2006/main">
            <a:off x="552450" y="1695450"/>
            <a:ext cx="4933950" cy="4324350"/>
          </a:xfrm>
          <a:prstGeom xmlns:a="http://schemas.openxmlformats.org/drawingml/2006/main" prst="roundRect">
            <a:avLst>
              <a:gd name="adj" fmla="val 3524"/>
            </a:avLst>
          </a:prstGeom>
          <a:solidFill xmlns:a="http://schemas.openxmlformats.org/drawingml/2006/main">
            <a:srgbClr val="3A3160"/>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195c6c805de4897"/>
          <a:stretch xmlns:a="http://schemas.openxmlformats.org/drawingml/2006/main"/>
        </p:blipFill>
        <p:spPr>
          <a:xfrm xmlns:a="http://schemas.openxmlformats.org/drawingml/2006/main">
            <a:off x="1003797" y="1733550"/>
            <a:ext cx="4031255" cy="4248150"/>
          </a:xfrm>
          <a:prstGeom xmlns:a="http://schemas.openxmlformats.org/drawingml/2006/main" prst="roundRect">
            <a:avLst>
              <a:gd name="adj" fmla="val 2691"/>
            </a:avLst>
          </a:prstGeom>
        </p:spPr>
      </p:pic>
      <p:sp>
        <p:nvSpPr>
          <p:cNvPr id="8" name="">
            <a:extLst xmlns:a="http://schemas.openxmlformats.org/drawingml/2006/main">
              <a:ext uri="{FF2B5EF4-FFF2-40B4-BE49-F238E27FC236}">
                <a16:creationId xmlns:a16="http://schemas.microsoft.com/office/drawing/2014/main" id="{724B87D4-A9DF-4A2D-AC8B-197641C1E5B1}"/>
              </a:ext>
            </a:extLst>
          </p:cNvPr>
          <p:cNvSpPr>
            <a:spLocks xmlns:a="http://schemas.openxmlformats.org/drawingml/2006/main" noGrp="1"/>
          </p:cNvSpPr>
          <p:nvPr/>
        </p:nvSpPr>
        <p:spPr>
          <a:xfrm xmlns:a="http://schemas.openxmlformats.org/drawingml/2006/main">
            <a:off x="5886450" y="1828800"/>
            <a:ext cx="5676900" cy="4248150"/>
          </a:xfrm>
          <a:prstGeom xmlns:a="http://schemas.openxmlformats.org/drawingml/2006/main" prst="roundRect">
            <a:avLst>
              <a:gd name="adj" fmla="val 3587"/>
            </a:avLst>
          </a:prstGeom>
          <a:solidFill xmlns:a="http://schemas.openxmlformats.org/drawingml/2006/main">
            <a:srgbClr val="100B2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DAD0458-DE96-4C53-8559-5E744DE9EDA0}"/>
              </a:ext>
            </a:extLst>
          </p:cNvPr>
          <p:cNvSpPr>
            <a:spLocks xmlns:a="http://schemas.openxmlformats.org/drawingml/2006/main" noGrp="1"/>
          </p:cNvSpPr>
          <p:nvPr/>
        </p:nvSpPr>
        <p:spPr>
          <a:xfrm xmlns:a="http://schemas.openxmlformats.org/drawingml/2006/main">
            <a:off x="5772150" y="1695450"/>
            <a:ext cx="5753100" cy="4324350"/>
          </a:xfrm>
          <a:prstGeom xmlns:a="http://schemas.openxmlformats.org/drawingml/2006/main" prst="roundRect">
            <a:avLst>
              <a:gd name="adj" fmla="val 3524"/>
            </a:avLst>
          </a:prstGeom>
          <a:solidFill xmlns:a="http://schemas.openxmlformats.org/drawingml/2006/main">
            <a:srgbClr val="3A3160"/>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0732abf24e54f60"/>
          <a:stretch xmlns:a="http://schemas.openxmlformats.org/drawingml/2006/main"/>
        </p:blipFill>
        <p:spPr>
          <a:xfrm xmlns:a="http://schemas.openxmlformats.org/drawingml/2006/main">
            <a:off x="6379389" y="1733550"/>
            <a:ext cx="4538622" cy="4248150"/>
          </a:xfrm>
          <a:prstGeom xmlns:a="http://schemas.openxmlformats.org/drawingml/2006/main" prst="roundRect">
            <a:avLst>
              <a:gd name="adj" fmla="val 2691"/>
            </a:avLst>
          </a:prstGeom>
        </p:spPr>
      </p:pic>
      <p:sp>
        <p:nvSpPr>
          <p:cNvPr id="11" name="">
            <a:extLst xmlns:a="http://schemas.openxmlformats.org/drawingml/2006/main">
              <a:ext uri="{FF2B5EF4-FFF2-40B4-BE49-F238E27FC236}">
                <a16:creationId xmlns:a16="http://schemas.microsoft.com/office/drawing/2014/main" id="{39000529-CC98-448C-8FA3-6AB4936FE480}"/>
              </a:ext>
            </a:extLst>
          </p:cNvPr>
          <p:cNvSpPr>
            <a:spLocks xmlns:a="http://schemas.openxmlformats.org/drawingml/2006/main" noGrp="1"/>
          </p:cNvSpPr>
          <p:nvPr/>
        </p:nvSpPr>
        <p:spPr>
          <a:xfrm xmlns:a="http://schemas.openxmlformats.org/drawingml/2006/main">
            <a:off x="1371600" y="5638800"/>
            <a:ext cx="329565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9C158F0-2471-46FF-BEAB-1563A802BCAB}"/>
              </a:ext>
            </a:extLst>
          </p:cNvPr>
          <p:cNvSpPr>
            <a:spLocks xmlns:a="http://schemas.openxmlformats.org/drawingml/2006/main" noGrp="1"/>
          </p:cNvSpPr>
          <p:nvPr/>
        </p:nvSpPr>
        <p:spPr>
          <a:xfrm xmlns:a="http://schemas.openxmlformats.org/drawingml/2006/main">
            <a:off x="1371600" y="5648325"/>
            <a:ext cx="329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F8F6FF"/>
                </a:solidFill>
                <a:latin typeface="Calibri"/>
                <a:ea typeface="Calibri"/>
                <a:cs typeface="Calibri"/>
              </a:defRPr>
            </a:pPr>
            <a:r>
              <a:rPr sz="1125" b="1">
                <a:solidFill>
                  <a:srgbClr val="F8F6FF"/>
                </a:solidFill>
                <a:latin typeface="Calibri"/>
                <a:ea typeface="Calibri"/>
                <a:cs typeface="Calibri"/>
              </a:rPr>
              <a:t>CAREGIVER + PATIENT DASHBOARDS</a:t>
            </a:r>
          </a:p>
        </p:txBody>
      </p:sp>
      <p:sp>
        <p:nvSpPr>
          <p:cNvPr id="13" name="">
            <a:extLst xmlns:a="http://schemas.openxmlformats.org/drawingml/2006/main">
              <a:ext uri="{FF2B5EF4-FFF2-40B4-BE49-F238E27FC236}">
                <a16:creationId xmlns:a16="http://schemas.microsoft.com/office/drawing/2014/main" id="{9337A4B5-6A28-49EC-A609-D47733B6152B}"/>
              </a:ext>
            </a:extLst>
          </p:cNvPr>
          <p:cNvSpPr>
            <a:spLocks xmlns:a="http://schemas.openxmlformats.org/drawingml/2006/main" noGrp="1"/>
          </p:cNvSpPr>
          <p:nvPr/>
        </p:nvSpPr>
        <p:spPr>
          <a:xfrm xmlns:a="http://schemas.openxmlformats.org/drawingml/2006/main">
            <a:off x="7162800" y="5638800"/>
            <a:ext cx="2952750" cy="323850"/>
          </a:xfrm>
          <a:prstGeom xmlns:a="http://schemas.openxmlformats.org/drawingml/2006/main" prst="roundRect">
            <a:avLst>
              <a:gd name="adj" fmla="val 35294"/>
            </a:avLst>
          </a:prstGeom>
          <a:solidFill xmlns:a="http://schemas.openxmlformats.org/drawingml/2006/main">
            <a:srgbClr val="7C83F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26B327F-F461-46FF-A83D-C5382BC322F6}"/>
              </a:ext>
            </a:extLst>
          </p:cNvPr>
          <p:cNvSpPr>
            <a:spLocks xmlns:a="http://schemas.openxmlformats.org/drawingml/2006/main" noGrp="1"/>
          </p:cNvSpPr>
          <p:nvPr/>
        </p:nvSpPr>
        <p:spPr>
          <a:xfrm xmlns:a="http://schemas.openxmlformats.org/drawingml/2006/main">
            <a:off x="7162800" y="56483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F8F6FF"/>
                </a:solidFill>
                <a:latin typeface="Calibri"/>
                <a:ea typeface="Calibri"/>
                <a:cs typeface="Calibri"/>
              </a:defRPr>
            </a:pPr>
            <a:r>
              <a:rPr sz="1125" b="1">
                <a:solidFill>
                  <a:srgbClr val="F8F6FF"/>
                </a:solidFill>
                <a:latin typeface="Calibri"/>
                <a:ea typeface="Calibri"/>
                <a:cs typeface="Calibri"/>
              </a:rPr>
              <a:t>PERSONALISED GAME SETS</a:t>
            </a:r>
          </a:p>
        </p:txBody>
      </p:sp>
      <p:sp>
        <p:nvSpPr>
          <p:cNvPr id="15" name="">
            <a:extLst xmlns:a="http://schemas.openxmlformats.org/drawingml/2006/main">
              <a:ext uri="{FF2B5EF4-FFF2-40B4-BE49-F238E27FC236}">
                <a16:creationId xmlns:a16="http://schemas.microsoft.com/office/drawing/2014/main" id="{62D0701A-6D62-4103-BFA9-BF5FBB31A095}"/>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Figures 6.6 and 6.19.</a:t>
            </a:r>
          </a:p>
        </p:txBody>
      </p:sp>
      <p:sp>
        <p:nvSpPr>
          <p:cNvPr id="16" name="">
            <a:extLst xmlns:a="http://schemas.openxmlformats.org/drawingml/2006/main">
              <a:ext uri="{FF2B5EF4-FFF2-40B4-BE49-F238E27FC236}">
                <a16:creationId xmlns:a16="http://schemas.microsoft.com/office/drawing/2014/main" id="{5DB8731C-E11E-4F3B-A4C9-AF29110BD718}"/>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12</a:t>
            </a:r>
          </a:p>
        </p:txBody>
      </p:sp>
    </p:spTree>
    <p:extLst>
      <p:ext uri="{BB962C8B-B14F-4D97-AF65-F5344CB8AC3E}">
        <p14:creationId xmlns:p14="http://schemas.microsoft.com/office/powerpoint/2010/main" val="1953506727"/>
      </p:ext>
    </p:extLst>
  </p:cSld>
</p:sld>
</file>

<file path=ppt/slides/slide13.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2C0D156-25DD-44EE-984B-C2DB74EFF7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ED5488-C4D4-4E6D-BBD3-E5B7D367905A}"/>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6 · IMPLEMENTATION</a:t>
            </a:r>
          </a:p>
        </p:txBody>
      </p:sp>
      <p:sp>
        <p:nvSpPr>
          <p:cNvPr id="3" name="">
            <a:extLst xmlns:a="http://schemas.openxmlformats.org/drawingml/2006/main">
              <a:ext uri="{FF2B5EF4-FFF2-40B4-BE49-F238E27FC236}">
                <a16:creationId xmlns:a16="http://schemas.microsoft.com/office/drawing/2014/main" id="{E1902F68-425A-48AE-9F26-6C40F32A5935}"/>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Five connected engines made the system work</a:t>
            </a:r>
          </a:p>
        </p:txBody>
      </p:sp>
      <p:sp>
        <p:nvSpPr>
          <p:cNvPr id="4" name="">
            <a:extLst xmlns:a="http://schemas.openxmlformats.org/drawingml/2006/main">
              <a:ext uri="{FF2B5EF4-FFF2-40B4-BE49-F238E27FC236}">
                <a16:creationId xmlns:a16="http://schemas.microsoft.com/office/drawing/2014/main" id="{C9B05F63-895F-4189-B7A8-77AB630DB6BF}"/>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technical complexity came from coordinating state across roles, dates, notifications and game sessions.</a:t>
            </a:r>
          </a:p>
        </p:txBody>
      </p:sp>
      <p:sp>
        <p:nvSpPr>
          <p:cNvPr id="5" name="">
            <a:extLst xmlns:a="http://schemas.openxmlformats.org/drawingml/2006/main">
              <a:ext uri="{FF2B5EF4-FFF2-40B4-BE49-F238E27FC236}">
                <a16:creationId xmlns:a16="http://schemas.microsoft.com/office/drawing/2014/main" id="{BA45EC5B-DED1-44E6-BCF7-7469336691A2}"/>
              </a:ext>
            </a:extLst>
          </p:cNvPr>
          <p:cNvSpPr>
            <a:spLocks xmlns:a="http://schemas.openxmlformats.org/drawingml/2006/main" noGrp="1"/>
          </p:cNvSpPr>
          <p:nvPr/>
        </p:nvSpPr>
        <p:spPr>
          <a:xfrm xmlns:a="http://schemas.openxmlformats.org/drawingml/2006/main">
            <a:off x="590550" y="2000250"/>
            <a:ext cx="2000250" cy="2857500"/>
          </a:xfrm>
          <a:prstGeom xmlns:a="http://schemas.openxmlformats.org/drawingml/2006/main" prst="roundRect">
            <a:avLst>
              <a:gd name="adj" fmla="val 7619"/>
            </a:avLst>
          </a:prstGeom>
          <a:solidFill xmlns:a="http://schemas.openxmlformats.org/drawingml/2006/main">
            <a:srgbClr val="2E27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45C5052-129F-4994-A7B9-253C300CFCF0}"/>
              </a:ext>
            </a:extLst>
          </p:cNvPr>
          <p:cNvSpPr>
            <a:spLocks xmlns:a="http://schemas.openxmlformats.org/drawingml/2006/main" noGrp="1"/>
          </p:cNvSpPr>
          <p:nvPr/>
        </p:nvSpPr>
        <p:spPr>
          <a:xfrm xmlns:a="http://schemas.openxmlformats.org/drawingml/2006/main">
            <a:off x="781050" y="22383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7C83FD"/>
                </a:solidFill>
                <a:latin typeface="Calibri"/>
                <a:ea typeface="Calibri"/>
                <a:cs typeface="Calibri"/>
              </a:defRPr>
            </a:pPr>
            <a:r>
              <a:rPr sz="975" b="1">
                <a:solidFill>
                  <a:srgbClr val="7C83FD"/>
                </a:solidFill>
                <a:latin typeface="Calibri"/>
                <a:ea typeface="Calibri"/>
                <a:cs typeface="Calibri"/>
              </a:rPr>
              <a:t>AUTH</a:t>
            </a:r>
          </a:p>
        </p:txBody>
      </p:sp>
      <p:sp>
        <p:nvSpPr>
          <p:cNvPr id="7" name="">
            <a:extLst xmlns:a="http://schemas.openxmlformats.org/drawingml/2006/main">
              <a:ext uri="{FF2B5EF4-FFF2-40B4-BE49-F238E27FC236}">
                <a16:creationId xmlns:a16="http://schemas.microsoft.com/office/drawing/2014/main" id="{595ACC82-0F0D-417B-B5EB-6E6797C8EA83}"/>
              </a:ext>
            </a:extLst>
          </p:cNvPr>
          <p:cNvSpPr>
            <a:spLocks xmlns:a="http://schemas.openxmlformats.org/drawingml/2006/main" noGrp="1"/>
          </p:cNvSpPr>
          <p:nvPr/>
        </p:nvSpPr>
        <p:spPr>
          <a:xfrm xmlns:a="http://schemas.openxmlformats.org/drawingml/2006/main">
            <a:off x="781050" y="26670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8F87AC"/>
                </a:solidFill>
                <a:latin typeface="Calibri"/>
                <a:ea typeface="Calibri"/>
                <a:cs typeface="Calibri"/>
              </a:defRPr>
            </a:pPr>
            <a:r>
              <a:rPr sz="3900" b="1">
                <a:solidFill>
                  <a:srgbClr val="8F87AC"/>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F825A7BB-0B0E-4C4A-848F-BD303472F0E6}"/>
              </a:ext>
            </a:extLst>
          </p:cNvPr>
          <p:cNvSpPr>
            <a:spLocks xmlns:a="http://schemas.openxmlformats.org/drawingml/2006/main" noGrp="1"/>
          </p:cNvSpPr>
          <p:nvPr/>
        </p:nvSpPr>
        <p:spPr>
          <a:xfrm xmlns:a="http://schemas.openxmlformats.org/drawingml/2006/main">
            <a:off x="781050" y="3438525"/>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Role routing</a:t>
            </a:r>
          </a:p>
        </p:txBody>
      </p:sp>
      <p:sp>
        <p:nvSpPr>
          <p:cNvPr id="9" name="">
            <a:extLst xmlns:a="http://schemas.openxmlformats.org/drawingml/2006/main">
              <a:ext uri="{FF2B5EF4-FFF2-40B4-BE49-F238E27FC236}">
                <a16:creationId xmlns:a16="http://schemas.microsoft.com/office/drawing/2014/main" id="{47BC8D08-7F5F-4478-86B7-F642B833F871}"/>
              </a:ext>
            </a:extLst>
          </p:cNvPr>
          <p:cNvSpPr>
            <a:spLocks xmlns:a="http://schemas.openxmlformats.org/drawingml/2006/main" noGrp="1"/>
          </p:cNvSpPr>
          <p:nvPr/>
        </p:nvSpPr>
        <p:spPr>
          <a:xfrm xmlns:a="http://schemas.openxmlformats.org/drawingml/2006/main">
            <a:off x="781050" y="409575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Firebase authentication and role-aware navigation</a:t>
            </a:r>
          </a:p>
        </p:txBody>
      </p:sp>
      <p:sp>
        <p:nvSpPr>
          <p:cNvPr id="10" name="">
            <a:extLst xmlns:a="http://schemas.openxmlformats.org/drawingml/2006/main">
              <a:ext uri="{FF2B5EF4-FFF2-40B4-BE49-F238E27FC236}">
                <a16:creationId xmlns:a16="http://schemas.microsoft.com/office/drawing/2014/main" id="{22AA41F6-4365-4E73-B311-E3683ACD6DEE}"/>
              </a:ext>
            </a:extLst>
          </p:cNvPr>
          <p:cNvSpPr>
            <a:spLocks xmlns:a="http://schemas.openxmlformats.org/drawingml/2006/main" noGrp="1"/>
          </p:cNvSpPr>
          <p:nvPr/>
        </p:nvSpPr>
        <p:spPr>
          <a:xfrm xmlns:a="http://schemas.openxmlformats.org/drawingml/2006/main">
            <a:off x="2876550" y="2000250"/>
            <a:ext cx="2000250" cy="2857500"/>
          </a:xfrm>
          <a:prstGeom xmlns:a="http://schemas.openxmlformats.org/drawingml/2006/main" prst="roundRect">
            <a:avLst>
              <a:gd name="adj" fmla="val 7619"/>
            </a:avLst>
          </a:prstGeom>
          <a:solidFill xmlns:a="http://schemas.openxmlformats.org/drawingml/2006/main">
            <a:srgbClr val="2E275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C9E477-C163-4321-A425-849CBEDE73F1}"/>
              </a:ext>
            </a:extLst>
          </p:cNvPr>
          <p:cNvSpPr>
            <a:spLocks xmlns:a="http://schemas.openxmlformats.org/drawingml/2006/main" noGrp="1"/>
          </p:cNvSpPr>
          <p:nvPr/>
        </p:nvSpPr>
        <p:spPr>
          <a:xfrm xmlns:a="http://schemas.openxmlformats.org/drawingml/2006/main">
            <a:off x="3067050" y="22383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7C83FD"/>
                </a:solidFill>
                <a:latin typeface="Calibri"/>
                <a:ea typeface="Calibri"/>
                <a:cs typeface="Calibri"/>
              </a:defRPr>
            </a:pPr>
            <a:r>
              <a:rPr sz="975" b="1">
                <a:solidFill>
                  <a:srgbClr val="7C83FD"/>
                </a:solidFill>
                <a:latin typeface="Calibri"/>
                <a:ea typeface="Calibri"/>
                <a:cs typeface="Calibri"/>
              </a:rPr>
              <a:t>TASKS</a:t>
            </a:r>
          </a:p>
        </p:txBody>
      </p:sp>
      <p:sp>
        <p:nvSpPr>
          <p:cNvPr id="12" name="">
            <a:extLst xmlns:a="http://schemas.openxmlformats.org/drawingml/2006/main">
              <a:ext uri="{FF2B5EF4-FFF2-40B4-BE49-F238E27FC236}">
                <a16:creationId xmlns:a16="http://schemas.microsoft.com/office/drawing/2014/main" id="{36EDACFF-E9DF-41EA-8F2D-CD43ABE22A8E}"/>
              </a:ext>
            </a:extLst>
          </p:cNvPr>
          <p:cNvSpPr>
            <a:spLocks xmlns:a="http://schemas.openxmlformats.org/drawingml/2006/main" noGrp="1"/>
          </p:cNvSpPr>
          <p:nvPr/>
        </p:nvSpPr>
        <p:spPr>
          <a:xfrm xmlns:a="http://schemas.openxmlformats.org/drawingml/2006/main">
            <a:off x="3067050" y="26670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8F87AC"/>
                </a:solidFill>
                <a:latin typeface="Calibri"/>
                <a:ea typeface="Calibri"/>
                <a:cs typeface="Calibri"/>
              </a:defRPr>
            </a:pPr>
            <a:r>
              <a:rPr sz="3900" b="1">
                <a:solidFill>
                  <a:srgbClr val="8F87AC"/>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DFA82DA7-3B78-4104-9F72-462934B7CCA7}"/>
              </a:ext>
            </a:extLst>
          </p:cNvPr>
          <p:cNvSpPr>
            <a:spLocks xmlns:a="http://schemas.openxmlformats.org/drawingml/2006/main" noGrp="1"/>
          </p:cNvSpPr>
          <p:nvPr/>
        </p:nvSpPr>
        <p:spPr>
          <a:xfrm xmlns:a="http://schemas.openxmlformats.org/drawingml/2006/main">
            <a:off x="3067050" y="3438525"/>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Occurrence model</a:t>
            </a:r>
          </a:p>
        </p:txBody>
      </p:sp>
      <p:sp>
        <p:nvSpPr>
          <p:cNvPr id="14" name="">
            <a:extLst xmlns:a="http://schemas.openxmlformats.org/drawingml/2006/main">
              <a:ext uri="{FF2B5EF4-FFF2-40B4-BE49-F238E27FC236}">
                <a16:creationId xmlns:a16="http://schemas.microsoft.com/office/drawing/2014/main" id="{71E13D09-E1B7-431A-B6AC-C1888C4DE46E}"/>
              </a:ext>
            </a:extLst>
          </p:cNvPr>
          <p:cNvSpPr>
            <a:spLocks xmlns:a="http://schemas.openxmlformats.org/drawingml/2006/main" noGrp="1"/>
          </p:cNvSpPr>
          <p:nvPr/>
        </p:nvSpPr>
        <p:spPr>
          <a:xfrm xmlns:a="http://schemas.openxmlformats.org/drawingml/2006/main">
            <a:off x="3067050" y="409575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Recurring series produced date-specific statuses</a:t>
            </a:r>
          </a:p>
        </p:txBody>
      </p:sp>
      <p:sp>
        <p:nvSpPr>
          <p:cNvPr id="15" name="">
            <a:extLst xmlns:a="http://schemas.openxmlformats.org/drawingml/2006/main">
              <a:ext uri="{FF2B5EF4-FFF2-40B4-BE49-F238E27FC236}">
                <a16:creationId xmlns:a16="http://schemas.microsoft.com/office/drawing/2014/main" id="{6416A75B-46FF-450E-BF89-9B5703B48CC0}"/>
              </a:ext>
            </a:extLst>
          </p:cNvPr>
          <p:cNvSpPr>
            <a:spLocks xmlns:a="http://schemas.openxmlformats.org/drawingml/2006/main" noGrp="1"/>
          </p:cNvSpPr>
          <p:nvPr/>
        </p:nvSpPr>
        <p:spPr>
          <a:xfrm xmlns:a="http://schemas.openxmlformats.org/drawingml/2006/main">
            <a:off x="5162550" y="2000250"/>
            <a:ext cx="2000250" cy="2857500"/>
          </a:xfrm>
          <a:prstGeom xmlns:a="http://schemas.openxmlformats.org/drawingml/2006/main" prst="roundRect">
            <a:avLst>
              <a:gd name="adj" fmla="val 7619"/>
            </a:avLst>
          </a:prstGeom>
          <a:solidFill xmlns:a="http://schemas.openxmlformats.org/drawingml/2006/main">
            <a:srgbClr val="2E275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4FE211E-0593-453B-B471-4EC5C0DCAE6B}"/>
              </a:ext>
            </a:extLst>
          </p:cNvPr>
          <p:cNvSpPr>
            <a:spLocks xmlns:a="http://schemas.openxmlformats.org/drawingml/2006/main" noGrp="1"/>
          </p:cNvSpPr>
          <p:nvPr/>
        </p:nvSpPr>
        <p:spPr>
          <a:xfrm xmlns:a="http://schemas.openxmlformats.org/drawingml/2006/main">
            <a:off x="5353050" y="22383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7C83FD"/>
                </a:solidFill>
                <a:latin typeface="Calibri"/>
                <a:ea typeface="Calibri"/>
                <a:cs typeface="Calibri"/>
              </a:defRPr>
            </a:pPr>
            <a:r>
              <a:rPr sz="975" b="1">
                <a:solidFill>
                  <a:srgbClr val="7C83FD"/>
                </a:solidFill>
                <a:latin typeface="Calibri"/>
                <a:ea typeface="Calibri"/>
                <a:cs typeface="Calibri"/>
              </a:rPr>
              <a:t>ALERTS</a:t>
            </a:r>
          </a:p>
        </p:txBody>
      </p:sp>
      <p:sp>
        <p:nvSpPr>
          <p:cNvPr id="17" name="">
            <a:extLst xmlns:a="http://schemas.openxmlformats.org/drawingml/2006/main">
              <a:ext uri="{FF2B5EF4-FFF2-40B4-BE49-F238E27FC236}">
                <a16:creationId xmlns:a16="http://schemas.microsoft.com/office/drawing/2014/main" id="{6F526E92-2F65-4AC1-AF85-928F880EB630}"/>
              </a:ext>
            </a:extLst>
          </p:cNvPr>
          <p:cNvSpPr>
            <a:spLocks xmlns:a="http://schemas.openxmlformats.org/drawingml/2006/main" noGrp="1"/>
          </p:cNvSpPr>
          <p:nvPr/>
        </p:nvSpPr>
        <p:spPr>
          <a:xfrm xmlns:a="http://schemas.openxmlformats.org/drawingml/2006/main">
            <a:off x="5353050" y="26670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8F87AC"/>
                </a:solidFill>
                <a:latin typeface="Calibri"/>
                <a:ea typeface="Calibri"/>
                <a:cs typeface="Calibri"/>
              </a:defRPr>
            </a:pPr>
            <a:r>
              <a:rPr sz="3900" b="1">
                <a:solidFill>
                  <a:srgbClr val="8F87AC"/>
                </a:solidFill>
                <a:latin typeface="Calibri"/>
                <a:ea typeface="Calibri"/>
                <a:cs typeface="Calibri"/>
              </a:rPr>
              <a:t>03</a:t>
            </a:r>
          </a:p>
        </p:txBody>
      </p:sp>
      <p:sp>
        <p:nvSpPr>
          <p:cNvPr id="18" name="">
            <a:extLst xmlns:a="http://schemas.openxmlformats.org/drawingml/2006/main">
              <a:ext uri="{FF2B5EF4-FFF2-40B4-BE49-F238E27FC236}">
                <a16:creationId xmlns:a16="http://schemas.microsoft.com/office/drawing/2014/main" id="{1DCA3CF6-ED7C-46BF-BB76-5F97751A4FE9}"/>
              </a:ext>
            </a:extLst>
          </p:cNvPr>
          <p:cNvSpPr>
            <a:spLocks xmlns:a="http://schemas.openxmlformats.org/drawingml/2006/main" noGrp="1"/>
          </p:cNvSpPr>
          <p:nvPr/>
        </p:nvSpPr>
        <p:spPr>
          <a:xfrm xmlns:a="http://schemas.openxmlformats.org/drawingml/2006/main">
            <a:off x="5353050" y="3438525"/>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Reminder lifecycle</a:t>
            </a:r>
          </a:p>
        </p:txBody>
      </p:sp>
      <p:sp>
        <p:nvSpPr>
          <p:cNvPr id="19" name="">
            <a:extLst xmlns:a="http://schemas.openxmlformats.org/drawingml/2006/main">
              <a:ext uri="{FF2B5EF4-FFF2-40B4-BE49-F238E27FC236}">
                <a16:creationId xmlns:a16="http://schemas.microsoft.com/office/drawing/2014/main" id="{F03A9A1B-7574-400C-90EA-141EDC72CE3C}"/>
              </a:ext>
            </a:extLst>
          </p:cNvPr>
          <p:cNvSpPr>
            <a:spLocks xmlns:a="http://schemas.openxmlformats.org/drawingml/2006/main" noGrp="1"/>
          </p:cNvSpPr>
          <p:nvPr/>
        </p:nvSpPr>
        <p:spPr>
          <a:xfrm xmlns:a="http://schemas.openxmlformats.org/drawingml/2006/main">
            <a:off x="5353050" y="409575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Repeat until response; cancel or mark missed</a:t>
            </a:r>
          </a:p>
        </p:txBody>
      </p:sp>
      <p:sp>
        <p:nvSpPr>
          <p:cNvPr id="20" name="">
            <a:extLst xmlns:a="http://schemas.openxmlformats.org/drawingml/2006/main">
              <a:ext uri="{FF2B5EF4-FFF2-40B4-BE49-F238E27FC236}">
                <a16:creationId xmlns:a16="http://schemas.microsoft.com/office/drawing/2014/main" id="{3D25BFA3-5482-41F8-B35B-5C269F66E390}"/>
              </a:ext>
            </a:extLst>
          </p:cNvPr>
          <p:cNvSpPr>
            <a:spLocks xmlns:a="http://schemas.openxmlformats.org/drawingml/2006/main" noGrp="1"/>
          </p:cNvSpPr>
          <p:nvPr/>
        </p:nvSpPr>
        <p:spPr>
          <a:xfrm xmlns:a="http://schemas.openxmlformats.org/drawingml/2006/main">
            <a:off x="7448550" y="2000250"/>
            <a:ext cx="2000250" cy="2857500"/>
          </a:xfrm>
          <a:prstGeom xmlns:a="http://schemas.openxmlformats.org/drawingml/2006/main" prst="roundRect">
            <a:avLst>
              <a:gd name="adj" fmla="val 7619"/>
            </a:avLst>
          </a:prstGeom>
          <a:solidFill xmlns:a="http://schemas.openxmlformats.org/drawingml/2006/main">
            <a:srgbClr val="3A316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0C245D7-16D7-433C-AA4E-ACCB8BAE0FC5}"/>
              </a:ext>
            </a:extLst>
          </p:cNvPr>
          <p:cNvSpPr>
            <a:spLocks xmlns:a="http://schemas.openxmlformats.org/drawingml/2006/main" noGrp="1"/>
          </p:cNvSpPr>
          <p:nvPr/>
        </p:nvSpPr>
        <p:spPr>
          <a:xfrm xmlns:a="http://schemas.openxmlformats.org/drawingml/2006/main">
            <a:off x="7639050" y="22383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FF6B62"/>
                </a:solidFill>
                <a:latin typeface="Calibri"/>
                <a:ea typeface="Calibri"/>
                <a:cs typeface="Calibri"/>
              </a:defRPr>
            </a:pPr>
            <a:r>
              <a:rPr sz="975" b="1">
                <a:solidFill>
                  <a:srgbClr val="FF6B62"/>
                </a:solidFill>
                <a:latin typeface="Calibri"/>
                <a:ea typeface="Calibri"/>
                <a:cs typeface="Calibri"/>
              </a:rPr>
              <a:t>GAMES</a:t>
            </a:r>
          </a:p>
        </p:txBody>
      </p:sp>
      <p:sp>
        <p:nvSpPr>
          <p:cNvPr id="22" name="">
            <a:extLst xmlns:a="http://schemas.openxmlformats.org/drawingml/2006/main">
              <a:ext uri="{FF2B5EF4-FFF2-40B4-BE49-F238E27FC236}">
                <a16:creationId xmlns:a16="http://schemas.microsoft.com/office/drawing/2014/main" id="{DE910663-E160-4EF2-AECE-559C281802E6}"/>
              </a:ext>
            </a:extLst>
          </p:cNvPr>
          <p:cNvSpPr>
            <a:spLocks xmlns:a="http://schemas.openxmlformats.org/drawingml/2006/main" noGrp="1"/>
          </p:cNvSpPr>
          <p:nvPr/>
        </p:nvSpPr>
        <p:spPr>
          <a:xfrm xmlns:a="http://schemas.openxmlformats.org/drawingml/2006/main">
            <a:off x="7639050" y="26670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F6B62"/>
                </a:solidFill>
                <a:latin typeface="Calibri"/>
                <a:ea typeface="Calibri"/>
                <a:cs typeface="Calibri"/>
              </a:defRPr>
            </a:pPr>
            <a:r>
              <a:rPr sz="3900" b="1">
                <a:solidFill>
                  <a:srgbClr val="FF6B62"/>
                </a:solidFill>
                <a:latin typeface="Calibri"/>
                <a:ea typeface="Calibri"/>
                <a:cs typeface="Calibri"/>
              </a:rPr>
              <a:t>04</a:t>
            </a:r>
          </a:p>
        </p:txBody>
      </p:sp>
      <p:sp>
        <p:nvSpPr>
          <p:cNvPr id="23" name="">
            <a:extLst xmlns:a="http://schemas.openxmlformats.org/drawingml/2006/main">
              <a:ext uri="{FF2B5EF4-FFF2-40B4-BE49-F238E27FC236}">
                <a16:creationId xmlns:a16="http://schemas.microsoft.com/office/drawing/2014/main" id="{3AD47B9F-223D-4755-990E-2EB52569B835}"/>
              </a:ext>
            </a:extLst>
          </p:cNvPr>
          <p:cNvSpPr>
            <a:spLocks xmlns:a="http://schemas.openxmlformats.org/drawingml/2006/main" noGrp="1"/>
          </p:cNvSpPr>
          <p:nvPr/>
        </p:nvSpPr>
        <p:spPr>
          <a:xfrm xmlns:a="http://schemas.openxmlformats.org/drawingml/2006/main">
            <a:off x="7639050" y="3438525"/>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Adaptive state</a:t>
            </a:r>
          </a:p>
        </p:txBody>
      </p:sp>
      <p:sp>
        <p:nvSpPr>
          <p:cNvPr id="24" name="">
            <a:extLst xmlns:a="http://schemas.openxmlformats.org/drawingml/2006/main">
              <a:ext uri="{FF2B5EF4-FFF2-40B4-BE49-F238E27FC236}">
                <a16:creationId xmlns:a16="http://schemas.microsoft.com/office/drawing/2014/main" id="{EE77556C-64C2-48F2-AEAB-1D0237DABF81}"/>
              </a:ext>
            </a:extLst>
          </p:cNvPr>
          <p:cNvSpPr>
            <a:spLocks xmlns:a="http://schemas.openxmlformats.org/drawingml/2006/main" noGrp="1"/>
          </p:cNvSpPr>
          <p:nvPr/>
        </p:nvSpPr>
        <p:spPr>
          <a:xfrm xmlns:a="http://schemas.openxmlformats.org/drawingml/2006/main">
            <a:off x="7639050" y="409575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Session accuracy and hints drove per-game levels</a:t>
            </a:r>
          </a:p>
        </p:txBody>
      </p:sp>
      <p:sp>
        <p:nvSpPr>
          <p:cNvPr id="25" name="">
            <a:extLst xmlns:a="http://schemas.openxmlformats.org/drawingml/2006/main">
              <a:ext uri="{FF2B5EF4-FFF2-40B4-BE49-F238E27FC236}">
                <a16:creationId xmlns:a16="http://schemas.microsoft.com/office/drawing/2014/main" id="{622587F5-39EA-4F38-AACB-BE1486E5FF5F}"/>
              </a:ext>
            </a:extLst>
          </p:cNvPr>
          <p:cNvSpPr>
            <a:spLocks xmlns:a="http://schemas.openxmlformats.org/drawingml/2006/main" noGrp="1"/>
          </p:cNvSpPr>
          <p:nvPr/>
        </p:nvSpPr>
        <p:spPr>
          <a:xfrm xmlns:a="http://schemas.openxmlformats.org/drawingml/2006/main">
            <a:off x="9734550" y="2000250"/>
            <a:ext cx="2000250" cy="2857500"/>
          </a:xfrm>
          <a:prstGeom xmlns:a="http://schemas.openxmlformats.org/drawingml/2006/main" prst="roundRect">
            <a:avLst>
              <a:gd name="adj" fmla="val 7619"/>
            </a:avLst>
          </a:prstGeom>
          <a:solidFill xmlns:a="http://schemas.openxmlformats.org/drawingml/2006/main">
            <a:srgbClr val="2E275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D47D39-D637-430C-AE87-59466A18E841}"/>
              </a:ext>
            </a:extLst>
          </p:cNvPr>
          <p:cNvSpPr>
            <a:spLocks xmlns:a="http://schemas.openxmlformats.org/drawingml/2006/main" noGrp="1"/>
          </p:cNvSpPr>
          <p:nvPr/>
        </p:nvSpPr>
        <p:spPr>
          <a:xfrm xmlns:a="http://schemas.openxmlformats.org/drawingml/2006/main">
            <a:off x="9925050" y="22383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7C83FD"/>
                </a:solidFill>
                <a:latin typeface="Calibri"/>
                <a:ea typeface="Calibri"/>
                <a:cs typeface="Calibri"/>
              </a:defRPr>
            </a:pPr>
            <a:r>
              <a:rPr sz="975" b="1">
                <a:solidFill>
                  <a:srgbClr val="7C83FD"/>
                </a:solidFill>
                <a:latin typeface="Calibri"/>
                <a:ea typeface="Calibri"/>
                <a:cs typeface="Calibri"/>
              </a:rPr>
              <a:t>RISK</a:t>
            </a:r>
          </a:p>
        </p:txBody>
      </p:sp>
      <p:sp>
        <p:nvSpPr>
          <p:cNvPr id="27" name="">
            <a:extLst xmlns:a="http://schemas.openxmlformats.org/drawingml/2006/main">
              <a:ext uri="{FF2B5EF4-FFF2-40B4-BE49-F238E27FC236}">
                <a16:creationId xmlns:a16="http://schemas.microsoft.com/office/drawing/2014/main" id="{6B6A4974-3492-4374-80C6-425EB302EA3A}"/>
              </a:ext>
            </a:extLst>
          </p:cNvPr>
          <p:cNvSpPr>
            <a:spLocks xmlns:a="http://schemas.openxmlformats.org/drawingml/2006/main" noGrp="1"/>
          </p:cNvSpPr>
          <p:nvPr/>
        </p:nvSpPr>
        <p:spPr>
          <a:xfrm xmlns:a="http://schemas.openxmlformats.org/drawingml/2006/main">
            <a:off x="9925050" y="26670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8F87AC"/>
                </a:solidFill>
                <a:latin typeface="Calibri"/>
                <a:ea typeface="Calibri"/>
                <a:cs typeface="Calibri"/>
              </a:defRPr>
            </a:pPr>
            <a:r>
              <a:rPr sz="3900" b="1">
                <a:solidFill>
                  <a:srgbClr val="8F87AC"/>
                </a:solidFill>
                <a:latin typeface="Calibri"/>
                <a:ea typeface="Calibri"/>
                <a:cs typeface="Calibri"/>
              </a:rPr>
              <a:t>05</a:t>
            </a:r>
          </a:p>
        </p:txBody>
      </p:sp>
      <p:sp>
        <p:nvSpPr>
          <p:cNvPr id="28" name="">
            <a:extLst xmlns:a="http://schemas.openxmlformats.org/drawingml/2006/main">
              <a:ext uri="{FF2B5EF4-FFF2-40B4-BE49-F238E27FC236}">
                <a16:creationId xmlns:a16="http://schemas.microsoft.com/office/drawing/2014/main" id="{21203909-C0BD-49B9-8E42-29AFD89927FE}"/>
              </a:ext>
            </a:extLst>
          </p:cNvPr>
          <p:cNvSpPr>
            <a:spLocks xmlns:a="http://schemas.openxmlformats.org/drawingml/2006/main" noGrp="1"/>
          </p:cNvSpPr>
          <p:nvPr/>
        </p:nvSpPr>
        <p:spPr>
          <a:xfrm xmlns:a="http://schemas.openxmlformats.org/drawingml/2006/main">
            <a:off x="9925050" y="3438525"/>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Caregiver signal</a:t>
            </a:r>
          </a:p>
        </p:txBody>
      </p:sp>
      <p:sp>
        <p:nvSpPr>
          <p:cNvPr id="29" name="">
            <a:extLst xmlns:a="http://schemas.openxmlformats.org/drawingml/2006/main">
              <a:ext uri="{FF2B5EF4-FFF2-40B4-BE49-F238E27FC236}">
                <a16:creationId xmlns:a16="http://schemas.microsoft.com/office/drawing/2014/main" id="{E6DB7C52-E5F0-44B7-8CEE-7B9490578E22}"/>
              </a:ext>
            </a:extLst>
          </p:cNvPr>
          <p:cNvSpPr>
            <a:spLocks xmlns:a="http://schemas.openxmlformats.org/drawingml/2006/main" noGrp="1"/>
          </p:cNvSpPr>
          <p:nvPr/>
        </p:nvSpPr>
        <p:spPr>
          <a:xfrm xmlns:a="http://schemas.openxmlformats.org/drawingml/2006/main">
            <a:off x="9925050" y="409575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8B0D4"/>
                </a:solidFill>
                <a:latin typeface="Calibri"/>
                <a:ea typeface="Calibri"/>
                <a:cs typeface="Calibri"/>
              </a:defRPr>
            </a:pPr>
            <a:r>
              <a:rPr sz="1125" b="0">
                <a:solidFill>
                  <a:srgbClr val="B8B0D4"/>
                </a:solidFill>
                <a:latin typeface="Calibri"/>
                <a:ea typeface="Calibri"/>
                <a:cs typeface="Calibri"/>
              </a:rPr>
              <a:t>Missed tasks, decline and inactivity were combined</a:t>
            </a:r>
          </a:p>
        </p:txBody>
      </p:sp>
      <p:sp>
        <p:nvSpPr>
          <p:cNvPr id="30" name="">
            <a:extLst xmlns:a="http://schemas.openxmlformats.org/drawingml/2006/main">
              <a:ext uri="{FF2B5EF4-FFF2-40B4-BE49-F238E27FC236}">
                <a16:creationId xmlns:a16="http://schemas.microsoft.com/office/drawing/2014/main" id="{A4E3A9FF-5F19-40D7-832C-4DFDA12D55B5}"/>
              </a:ext>
            </a:extLst>
          </p:cNvPr>
          <p:cNvSpPr>
            <a:spLocks xmlns:a="http://schemas.openxmlformats.org/drawingml/2006/main" noGrp="1"/>
          </p:cNvSpPr>
          <p:nvPr/>
        </p:nvSpPr>
        <p:spPr>
          <a:xfrm xmlns:a="http://schemas.openxmlformats.org/drawingml/2006/main">
            <a:off x="1924050" y="5286375"/>
            <a:ext cx="8343900" cy="514350"/>
          </a:xfrm>
          <a:prstGeom xmlns:a="http://schemas.openxmlformats.org/drawingml/2006/main" prst="roundRect">
            <a:avLst>
              <a:gd name="adj" fmla="val 22222"/>
            </a:avLst>
          </a:prstGeom>
          <a:solidFill xmlns:a="http://schemas.openxmlformats.org/drawingml/2006/main">
            <a:srgbClr val="100B2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A26F364-4D15-448A-8D89-33965380BE90}"/>
              </a:ext>
            </a:extLst>
          </p:cNvPr>
          <p:cNvSpPr>
            <a:spLocks xmlns:a="http://schemas.openxmlformats.org/drawingml/2006/main" noGrp="1"/>
          </p:cNvSpPr>
          <p:nvPr/>
        </p:nvSpPr>
        <p:spPr>
          <a:xfrm xmlns:a="http://schemas.openxmlformats.org/drawingml/2006/main">
            <a:off x="2143125" y="5429250"/>
            <a:ext cx="790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2ED9A4"/>
                </a:solidFill>
                <a:latin typeface="Calibri"/>
                <a:ea typeface="Calibri"/>
                <a:cs typeface="Calibri"/>
              </a:defRPr>
            </a:pPr>
            <a:r>
              <a:rPr sz="1350" b="1">
                <a:solidFill>
                  <a:srgbClr val="2ED9A4"/>
                </a:solidFill>
                <a:latin typeface="Calibri"/>
                <a:ea typeface="Calibri"/>
                <a:cs typeface="Calibri"/>
              </a:rPr>
              <a:t>Core data path: user action → validated Firestore write → reactive UI update → analytics/history</a:t>
            </a:r>
          </a:p>
        </p:txBody>
      </p:sp>
      <p:sp>
        <p:nvSpPr>
          <p:cNvPr id="32" name="">
            <a:extLst xmlns:a="http://schemas.openxmlformats.org/drawingml/2006/main">
              <a:ext uri="{FF2B5EF4-FFF2-40B4-BE49-F238E27FC236}">
                <a16:creationId xmlns:a16="http://schemas.microsoft.com/office/drawing/2014/main" id="{47031A35-DE1A-4B80-B9B7-2D609A31184F}"/>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Chapter 6, pp. 121–152.</a:t>
            </a:r>
          </a:p>
        </p:txBody>
      </p:sp>
      <p:sp>
        <p:nvSpPr>
          <p:cNvPr id="33" name="">
            <a:extLst xmlns:a="http://schemas.openxmlformats.org/drawingml/2006/main">
              <a:ext uri="{FF2B5EF4-FFF2-40B4-BE49-F238E27FC236}">
                <a16:creationId xmlns:a16="http://schemas.microsoft.com/office/drawing/2014/main" id="{F860D82C-A63E-4380-A715-46958C39F67A}"/>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13</a:t>
            </a:r>
          </a:p>
        </p:txBody>
      </p:sp>
    </p:spTree>
    <p:extLst>
      <p:ext uri="{BB962C8B-B14F-4D97-AF65-F5344CB8AC3E}">
        <p14:creationId xmlns:p14="http://schemas.microsoft.com/office/powerpoint/2010/main" val="805149475"/>
      </p:ext>
    </p:extLst>
  </p:cSld>
</p:sld>
</file>

<file path=ppt/slides/slide14.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60C211-2E13-4469-90AB-52061A18C9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3455B9-D011-4A04-BBC1-370BB7E21880}"/>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6 · IMPLEMENTATION</a:t>
            </a:r>
          </a:p>
        </p:txBody>
      </p:sp>
      <p:sp>
        <p:nvSpPr>
          <p:cNvPr id="3" name="">
            <a:extLst xmlns:a="http://schemas.openxmlformats.org/drawingml/2006/main">
              <a:ext uri="{FF2B5EF4-FFF2-40B4-BE49-F238E27FC236}">
                <a16:creationId xmlns:a16="http://schemas.microsoft.com/office/drawing/2014/main" id="{D2641709-0B23-4B4C-B068-494AB7CD6702}"/>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Insert implementation evidence</a:t>
            </a:r>
          </a:p>
        </p:txBody>
      </p:sp>
      <p:sp>
        <p:nvSpPr>
          <p:cNvPr id="4" name="">
            <a:extLst xmlns:a="http://schemas.openxmlformats.org/drawingml/2006/main">
              <a:ext uri="{FF2B5EF4-FFF2-40B4-BE49-F238E27FC236}">
                <a16:creationId xmlns:a16="http://schemas.microsoft.com/office/drawing/2014/main" id="{0F4A5C08-3180-4565-8BC6-9BA7AF04B501}"/>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Use this slide for the diagrams or code snippets that best demonstrate technical complexity.</a:t>
            </a:r>
          </a:p>
        </p:txBody>
      </p:sp>
      <p:sp>
        <p:nvSpPr>
          <p:cNvPr id="5" name="">
            <a:extLst xmlns:a="http://schemas.openxmlformats.org/drawingml/2006/main">
              <a:ext uri="{FF2B5EF4-FFF2-40B4-BE49-F238E27FC236}">
                <a16:creationId xmlns:a16="http://schemas.microsoft.com/office/drawing/2014/main" id="{C3221CBD-B690-4080-8AC6-C23FE759FD3E}"/>
              </a:ext>
            </a:extLst>
          </p:cNvPr>
          <p:cNvSpPr>
            <a:spLocks xmlns:a="http://schemas.openxmlformats.org/drawingml/2006/main" noGrp="1"/>
          </p:cNvSpPr>
          <p:nvPr/>
        </p:nvSpPr>
        <p:spPr>
          <a:xfrm xmlns:a="http://schemas.openxmlformats.org/drawingml/2006/main">
            <a:off x="590550" y="1809750"/>
            <a:ext cx="3486150" cy="3771900"/>
          </a:xfrm>
          <a:prstGeom xmlns:a="http://schemas.openxmlformats.org/drawingml/2006/main" prst="roundRect">
            <a:avLst>
              <a:gd name="adj" fmla="val 4372"/>
            </a:avLst>
          </a:prstGeom>
          <a:solidFill xmlns:a="http://schemas.openxmlformats.org/drawingml/2006/main">
            <a:srgbClr val="2E2750"/>
          </a:solidFill>
          <a:ln xmlns:a="http://schemas.openxmlformats.org/drawingml/2006/main" w="19050">
            <a:solidFill>
              <a:srgbClr val="7C83FD"/>
            </a:solidFill>
            <a:prstDash val="dash"/>
          </a:ln>
        </p:spPr>
      </p:sp>
      <p:sp>
        <p:nvSpPr>
          <p:cNvPr id="6" name="">
            <a:extLst xmlns:a="http://schemas.openxmlformats.org/drawingml/2006/main">
              <a:ext uri="{FF2B5EF4-FFF2-40B4-BE49-F238E27FC236}">
                <a16:creationId xmlns:a16="http://schemas.microsoft.com/office/drawing/2014/main" id="{DA2B80F2-4D90-4284-9C67-9E725C263C32}"/>
              </a:ext>
            </a:extLst>
          </p:cNvPr>
          <p:cNvSpPr>
            <a:spLocks xmlns:a="http://schemas.openxmlformats.org/drawingml/2006/main" noGrp="1"/>
          </p:cNvSpPr>
          <p:nvPr/>
        </p:nvSpPr>
        <p:spPr>
          <a:xfrm xmlns:a="http://schemas.openxmlformats.org/drawingml/2006/main">
            <a:off x="857250" y="2095500"/>
            <a:ext cx="514350" cy="514350"/>
          </a:xfrm>
          <a:prstGeom xmlns:a="http://schemas.openxmlformats.org/drawingml/2006/main" prst="ellipse">
            <a:avLst/>
          </a:prstGeom>
          <a:solidFill xmlns:a="http://schemas.openxmlformats.org/drawingml/2006/main">
            <a:srgbClr val="7C83F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C465869-ADA9-4DC2-9706-A6A8666DCEDD}"/>
              </a:ext>
            </a:extLst>
          </p:cNvPr>
          <p:cNvSpPr>
            <a:spLocks xmlns:a="http://schemas.openxmlformats.org/drawingml/2006/main" noGrp="1"/>
          </p:cNvSpPr>
          <p:nvPr/>
        </p:nvSpPr>
        <p:spPr>
          <a:xfrm xmlns:a="http://schemas.openxmlformats.org/drawingml/2006/main">
            <a:off x="857250" y="22098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8F6FF"/>
                </a:solidFill>
                <a:latin typeface="Calibri"/>
                <a:ea typeface="Calibri"/>
                <a:cs typeface="Calibri"/>
              </a:defRPr>
            </a:pPr>
            <a:r>
              <a:rPr sz="1500" b="1">
                <a:solidFill>
                  <a:srgbClr val="F8F6FF"/>
                </a:solidFill>
                <a:latin typeface="Calibri"/>
                <a:ea typeface="Calibri"/>
                <a:cs typeface="Calibri"/>
              </a:rPr>
              <a:t>A</a:t>
            </a:r>
          </a:p>
        </p:txBody>
      </p:sp>
      <p:sp>
        <p:nvSpPr>
          <p:cNvPr id="8" name="">
            <a:extLst xmlns:a="http://schemas.openxmlformats.org/drawingml/2006/main">
              <a:ext uri="{FF2B5EF4-FFF2-40B4-BE49-F238E27FC236}">
                <a16:creationId xmlns:a16="http://schemas.microsoft.com/office/drawing/2014/main" id="{AF2EAF95-1034-489E-9B89-3DCC7475FB11}"/>
              </a:ext>
            </a:extLst>
          </p:cNvPr>
          <p:cNvSpPr>
            <a:spLocks xmlns:a="http://schemas.openxmlformats.org/drawingml/2006/main" noGrp="1"/>
          </p:cNvSpPr>
          <p:nvPr/>
        </p:nvSpPr>
        <p:spPr>
          <a:xfrm xmlns:a="http://schemas.openxmlformats.org/drawingml/2006/main">
            <a:off x="857250" y="28956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8F6FF"/>
                </a:solidFill>
                <a:latin typeface="Calibri"/>
                <a:ea typeface="Calibri"/>
                <a:cs typeface="Calibri"/>
              </a:defRPr>
            </a:pPr>
            <a:r>
              <a:rPr sz="1800" b="1">
                <a:solidFill>
                  <a:srgbClr val="F8F6FF"/>
                </a:solidFill>
                <a:latin typeface="Calibri"/>
                <a:ea typeface="Calibri"/>
                <a:cs typeface="Calibri"/>
              </a:rPr>
              <a:t>Recurrence + notification flow</a:t>
            </a:r>
          </a:p>
        </p:txBody>
      </p:sp>
      <p:sp>
        <p:nvSpPr>
          <p:cNvPr id="9" name="">
            <a:extLst xmlns:a="http://schemas.openxmlformats.org/drawingml/2006/main">
              <a:ext uri="{FF2B5EF4-FFF2-40B4-BE49-F238E27FC236}">
                <a16:creationId xmlns:a16="http://schemas.microsoft.com/office/drawing/2014/main" id="{5D9C143D-5620-4E43-B3CD-75DA4F77904F}"/>
              </a:ext>
            </a:extLst>
          </p:cNvPr>
          <p:cNvSpPr>
            <a:spLocks xmlns:a="http://schemas.openxmlformats.org/drawingml/2006/main" noGrp="1"/>
          </p:cNvSpPr>
          <p:nvPr/>
        </p:nvSpPr>
        <p:spPr>
          <a:xfrm xmlns:a="http://schemas.openxmlformats.org/drawingml/2006/main">
            <a:off x="857250" y="372427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Create series → generate occurrence → notify → response → cancel / missed</a:t>
            </a:r>
          </a:p>
        </p:txBody>
      </p:sp>
      <p:sp>
        <p:nvSpPr>
          <p:cNvPr id="10" name="">
            <a:extLst xmlns:a="http://schemas.openxmlformats.org/drawingml/2006/main">
              <a:ext uri="{FF2B5EF4-FFF2-40B4-BE49-F238E27FC236}">
                <a16:creationId xmlns:a16="http://schemas.microsoft.com/office/drawing/2014/main" id="{025EA23A-8EC9-450F-89A6-B5F4BBCA3238}"/>
              </a:ext>
            </a:extLst>
          </p:cNvPr>
          <p:cNvSpPr>
            <a:spLocks xmlns:a="http://schemas.openxmlformats.org/drawingml/2006/main" noGrp="1"/>
          </p:cNvSpPr>
          <p:nvPr/>
        </p:nvSpPr>
        <p:spPr>
          <a:xfrm xmlns:a="http://schemas.openxmlformats.org/drawingml/2006/main">
            <a:off x="857250" y="497205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8F87AC"/>
                </a:solidFill>
                <a:latin typeface="Calibri"/>
                <a:ea typeface="Calibri"/>
                <a:cs typeface="Calibri"/>
              </a:defRPr>
            </a:pPr>
            <a:r>
              <a:rPr sz="975" b="1">
                <a:solidFill>
                  <a:srgbClr val="8F87AC"/>
                </a:solidFill>
                <a:latin typeface="Calibri"/>
                <a:ea typeface="Calibri"/>
                <a:cs typeface="Calibri"/>
              </a:rPr>
              <a:t>DROP DIAGRAM / CODE HERE</a:t>
            </a:r>
          </a:p>
        </p:txBody>
      </p:sp>
      <p:sp>
        <p:nvSpPr>
          <p:cNvPr id="11" name="">
            <a:extLst xmlns:a="http://schemas.openxmlformats.org/drawingml/2006/main">
              <a:ext uri="{FF2B5EF4-FFF2-40B4-BE49-F238E27FC236}">
                <a16:creationId xmlns:a16="http://schemas.microsoft.com/office/drawing/2014/main" id="{F60A8AE3-7ADE-40C6-95A1-1964D4EDCB75}"/>
              </a:ext>
            </a:extLst>
          </p:cNvPr>
          <p:cNvSpPr>
            <a:spLocks xmlns:a="http://schemas.openxmlformats.org/drawingml/2006/main" noGrp="1"/>
          </p:cNvSpPr>
          <p:nvPr/>
        </p:nvSpPr>
        <p:spPr>
          <a:xfrm xmlns:a="http://schemas.openxmlformats.org/drawingml/2006/main">
            <a:off x="4419600" y="1809750"/>
            <a:ext cx="3486150" cy="3771900"/>
          </a:xfrm>
          <a:prstGeom xmlns:a="http://schemas.openxmlformats.org/drawingml/2006/main" prst="roundRect">
            <a:avLst>
              <a:gd name="adj" fmla="val 4372"/>
            </a:avLst>
          </a:prstGeom>
          <a:solidFill xmlns:a="http://schemas.openxmlformats.org/drawingml/2006/main">
            <a:srgbClr val="2E2750"/>
          </a:solidFill>
          <a:ln xmlns:a="http://schemas.openxmlformats.org/drawingml/2006/main" w="19050">
            <a:solidFill>
              <a:srgbClr val="FF6B62"/>
            </a:solidFill>
            <a:prstDash val="dash"/>
          </a:ln>
        </p:spPr>
      </p:sp>
      <p:sp>
        <p:nvSpPr>
          <p:cNvPr id="12" name="">
            <a:extLst xmlns:a="http://schemas.openxmlformats.org/drawingml/2006/main">
              <a:ext uri="{FF2B5EF4-FFF2-40B4-BE49-F238E27FC236}">
                <a16:creationId xmlns:a16="http://schemas.microsoft.com/office/drawing/2014/main" id="{96237E98-7E61-4C39-A5B5-BF1435F78B48}"/>
              </a:ext>
            </a:extLst>
          </p:cNvPr>
          <p:cNvSpPr>
            <a:spLocks xmlns:a="http://schemas.openxmlformats.org/drawingml/2006/main" noGrp="1"/>
          </p:cNvSpPr>
          <p:nvPr/>
        </p:nvSpPr>
        <p:spPr>
          <a:xfrm xmlns:a="http://schemas.openxmlformats.org/drawingml/2006/main">
            <a:off x="4686300" y="2095500"/>
            <a:ext cx="514350" cy="514350"/>
          </a:xfrm>
          <a:prstGeom xmlns:a="http://schemas.openxmlformats.org/drawingml/2006/main" prst="ellipse">
            <a:avLst/>
          </a:prstGeom>
          <a:solidFill xmlns:a="http://schemas.openxmlformats.org/drawingml/2006/main">
            <a:srgbClr val="FF6B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F406D1-89E7-40A8-92C1-C116C7484FD6}"/>
              </a:ext>
            </a:extLst>
          </p:cNvPr>
          <p:cNvSpPr>
            <a:spLocks xmlns:a="http://schemas.openxmlformats.org/drawingml/2006/main" noGrp="1"/>
          </p:cNvSpPr>
          <p:nvPr/>
        </p:nvSpPr>
        <p:spPr>
          <a:xfrm xmlns:a="http://schemas.openxmlformats.org/drawingml/2006/main">
            <a:off x="4686300" y="22098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8F6FF"/>
                </a:solidFill>
                <a:latin typeface="Calibri"/>
                <a:ea typeface="Calibri"/>
                <a:cs typeface="Calibri"/>
              </a:defRPr>
            </a:pPr>
            <a:r>
              <a:rPr sz="1500" b="1">
                <a:solidFill>
                  <a:srgbClr val="F8F6FF"/>
                </a:solidFill>
                <a:latin typeface="Calibri"/>
                <a:ea typeface="Calibri"/>
                <a:cs typeface="Calibri"/>
              </a:rPr>
              <a:t>B</a:t>
            </a:r>
          </a:p>
        </p:txBody>
      </p:sp>
      <p:sp>
        <p:nvSpPr>
          <p:cNvPr id="14" name="">
            <a:extLst xmlns:a="http://schemas.openxmlformats.org/drawingml/2006/main">
              <a:ext uri="{FF2B5EF4-FFF2-40B4-BE49-F238E27FC236}">
                <a16:creationId xmlns:a16="http://schemas.microsoft.com/office/drawing/2014/main" id="{8C78D439-148A-45DE-8119-7C1680A8734F}"/>
              </a:ext>
            </a:extLst>
          </p:cNvPr>
          <p:cNvSpPr>
            <a:spLocks xmlns:a="http://schemas.openxmlformats.org/drawingml/2006/main" noGrp="1"/>
          </p:cNvSpPr>
          <p:nvPr/>
        </p:nvSpPr>
        <p:spPr>
          <a:xfrm xmlns:a="http://schemas.openxmlformats.org/drawingml/2006/main">
            <a:off x="4686300" y="28956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8F6FF"/>
                </a:solidFill>
                <a:latin typeface="Calibri"/>
                <a:ea typeface="Calibri"/>
                <a:cs typeface="Calibri"/>
              </a:defRPr>
            </a:pPr>
            <a:r>
              <a:rPr sz="1800" b="1">
                <a:solidFill>
                  <a:srgbClr val="F8F6FF"/>
                </a:solidFill>
                <a:latin typeface="Calibri"/>
                <a:ea typeface="Calibri"/>
                <a:cs typeface="Calibri"/>
              </a:rPr>
              <a:t>Adaptive difficulty transaction</a:t>
            </a:r>
          </a:p>
        </p:txBody>
      </p:sp>
      <p:sp>
        <p:nvSpPr>
          <p:cNvPr id="15" name="">
            <a:extLst xmlns:a="http://schemas.openxmlformats.org/drawingml/2006/main">
              <a:ext uri="{FF2B5EF4-FFF2-40B4-BE49-F238E27FC236}">
                <a16:creationId xmlns:a16="http://schemas.microsoft.com/office/drawing/2014/main" id="{7B57B77C-5B04-4DF9-9B6D-1C697C5C5A7E}"/>
              </a:ext>
            </a:extLst>
          </p:cNvPr>
          <p:cNvSpPr>
            <a:spLocks xmlns:a="http://schemas.openxmlformats.org/drawingml/2006/main" noGrp="1"/>
          </p:cNvSpPr>
          <p:nvPr/>
        </p:nvSpPr>
        <p:spPr>
          <a:xfrm xmlns:a="http://schemas.openxmlformats.org/drawingml/2006/main">
            <a:off x="4686300" y="372427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Record session → evaluate thresholds → update state → append history</a:t>
            </a:r>
          </a:p>
        </p:txBody>
      </p:sp>
      <p:sp>
        <p:nvSpPr>
          <p:cNvPr id="16" name="">
            <a:extLst xmlns:a="http://schemas.openxmlformats.org/drawingml/2006/main">
              <a:ext uri="{FF2B5EF4-FFF2-40B4-BE49-F238E27FC236}">
                <a16:creationId xmlns:a16="http://schemas.microsoft.com/office/drawing/2014/main" id="{42E1A64E-49B4-45B9-99FC-2A4D590596D3}"/>
              </a:ext>
            </a:extLst>
          </p:cNvPr>
          <p:cNvSpPr>
            <a:spLocks xmlns:a="http://schemas.openxmlformats.org/drawingml/2006/main" noGrp="1"/>
          </p:cNvSpPr>
          <p:nvPr/>
        </p:nvSpPr>
        <p:spPr>
          <a:xfrm xmlns:a="http://schemas.openxmlformats.org/drawingml/2006/main">
            <a:off x="4686300" y="497205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8F87AC"/>
                </a:solidFill>
                <a:latin typeface="Calibri"/>
                <a:ea typeface="Calibri"/>
                <a:cs typeface="Calibri"/>
              </a:defRPr>
            </a:pPr>
            <a:r>
              <a:rPr sz="975" b="1">
                <a:solidFill>
                  <a:srgbClr val="8F87AC"/>
                </a:solidFill>
                <a:latin typeface="Calibri"/>
                <a:ea typeface="Calibri"/>
                <a:cs typeface="Calibri"/>
              </a:rPr>
              <a:t>DROP DIAGRAM / CODE HERE</a:t>
            </a:r>
          </a:p>
        </p:txBody>
      </p:sp>
      <p:sp>
        <p:nvSpPr>
          <p:cNvPr id="17" name="">
            <a:extLst xmlns:a="http://schemas.openxmlformats.org/drawingml/2006/main">
              <a:ext uri="{FF2B5EF4-FFF2-40B4-BE49-F238E27FC236}">
                <a16:creationId xmlns:a16="http://schemas.microsoft.com/office/drawing/2014/main" id="{08E9B9F4-AE4F-4667-8F98-D18145DA44E6}"/>
              </a:ext>
            </a:extLst>
          </p:cNvPr>
          <p:cNvSpPr>
            <a:spLocks xmlns:a="http://schemas.openxmlformats.org/drawingml/2006/main" noGrp="1"/>
          </p:cNvSpPr>
          <p:nvPr/>
        </p:nvSpPr>
        <p:spPr>
          <a:xfrm xmlns:a="http://schemas.openxmlformats.org/drawingml/2006/main">
            <a:off x="8248650" y="1809750"/>
            <a:ext cx="3486150" cy="3771900"/>
          </a:xfrm>
          <a:prstGeom xmlns:a="http://schemas.openxmlformats.org/drawingml/2006/main" prst="roundRect">
            <a:avLst>
              <a:gd name="adj" fmla="val 4372"/>
            </a:avLst>
          </a:prstGeom>
          <a:solidFill xmlns:a="http://schemas.openxmlformats.org/drawingml/2006/main">
            <a:srgbClr val="2E2750"/>
          </a:solidFill>
          <a:ln xmlns:a="http://schemas.openxmlformats.org/drawingml/2006/main" w="19050">
            <a:solidFill>
              <a:srgbClr val="7C83FD"/>
            </a:solidFill>
            <a:prstDash val="dash"/>
          </a:ln>
        </p:spPr>
      </p:sp>
      <p:sp>
        <p:nvSpPr>
          <p:cNvPr id="18" name="">
            <a:extLst xmlns:a="http://schemas.openxmlformats.org/drawingml/2006/main">
              <a:ext uri="{FF2B5EF4-FFF2-40B4-BE49-F238E27FC236}">
                <a16:creationId xmlns:a16="http://schemas.microsoft.com/office/drawing/2014/main" id="{9AC750E6-94D5-4E78-89BB-012835CEF624}"/>
              </a:ext>
            </a:extLst>
          </p:cNvPr>
          <p:cNvSpPr>
            <a:spLocks xmlns:a="http://schemas.openxmlformats.org/drawingml/2006/main" noGrp="1"/>
          </p:cNvSpPr>
          <p:nvPr/>
        </p:nvSpPr>
        <p:spPr>
          <a:xfrm xmlns:a="http://schemas.openxmlformats.org/drawingml/2006/main">
            <a:off x="8515350" y="2095500"/>
            <a:ext cx="514350" cy="514350"/>
          </a:xfrm>
          <a:prstGeom xmlns:a="http://schemas.openxmlformats.org/drawingml/2006/main" prst="ellipse">
            <a:avLst/>
          </a:prstGeom>
          <a:solidFill xmlns:a="http://schemas.openxmlformats.org/drawingml/2006/main">
            <a:srgbClr val="7C83F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EDA9585-510B-4C6B-A0C5-0B1EB40919AF}"/>
              </a:ext>
            </a:extLst>
          </p:cNvPr>
          <p:cNvSpPr>
            <a:spLocks xmlns:a="http://schemas.openxmlformats.org/drawingml/2006/main" noGrp="1"/>
          </p:cNvSpPr>
          <p:nvPr/>
        </p:nvSpPr>
        <p:spPr>
          <a:xfrm xmlns:a="http://schemas.openxmlformats.org/drawingml/2006/main">
            <a:off x="8515350" y="22098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8F6FF"/>
                </a:solidFill>
                <a:latin typeface="Calibri"/>
                <a:ea typeface="Calibri"/>
                <a:cs typeface="Calibri"/>
              </a:defRPr>
            </a:pPr>
            <a:r>
              <a:rPr sz="1500" b="1">
                <a:solidFill>
                  <a:srgbClr val="F8F6FF"/>
                </a:solidFill>
                <a:latin typeface="Calibri"/>
                <a:ea typeface="Calibri"/>
                <a:cs typeface="Calibri"/>
              </a:rPr>
              <a:t>C</a:t>
            </a:r>
          </a:p>
        </p:txBody>
      </p:sp>
      <p:sp>
        <p:nvSpPr>
          <p:cNvPr id="20" name="">
            <a:extLst xmlns:a="http://schemas.openxmlformats.org/drawingml/2006/main">
              <a:ext uri="{FF2B5EF4-FFF2-40B4-BE49-F238E27FC236}">
                <a16:creationId xmlns:a16="http://schemas.microsoft.com/office/drawing/2014/main" id="{239F726D-7E4C-4D4D-8CC7-57697699CD5E}"/>
              </a:ext>
            </a:extLst>
          </p:cNvPr>
          <p:cNvSpPr>
            <a:spLocks xmlns:a="http://schemas.openxmlformats.org/drawingml/2006/main" noGrp="1"/>
          </p:cNvSpPr>
          <p:nvPr/>
        </p:nvSpPr>
        <p:spPr>
          <a:xfrm xmlns:a="http://schemas.openxmlformats.org/drawingml/2006/main">
            <a:off x="8515350" y="28956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8F6FF"/>
                </a:solidFill>
                <a:latin typeface="Calibri"/>
                <a:ea typeface="Calibri"/>
                <a:cs typeface="Calibri"/>
              </a:defRPr>
            </a:pPr>
            <a:r>
              <a:rPr sz="1800" b="1">
                <a:solidFill>
                  <a:srgbClr val="F8F6FF"/>
                </a:solidFill>
                <a:latin typeface="Calibri"/>
                <a:ea typeface="Calibri"/>
                <a:cs typeface="Calibri"/>
              </a:rPr>
              <a:t>Risk classification</a:t>
            </a:r>
          </a:p>
        </p:txBody>
      </p:sp>
      <p:sp>
        <p:nvSpPr>
          <p:cNvPr id="21" name="">
            <a:extLst xmlns:a="http://schemas.openxmlformats.org/drawingml/2006/main">
              <a:ext uri="{FF2B5EF4-FFF2-40B4-BE49-F238E27FC236}">
                <a16:creationId xmlns:a16="http://schemas.microsoft.com/office/drawing/2014/main" id="{A9D159C4-315A-4113-B974-BB153FBB831F}"/>
              </a:ext>
            </a:extLst>
          </p:cNvPr>
          <p:cNvSpPr>
            <a:spLocks xmlns:a="http://schemas.openxmlformats.org/drawingml/2006/main" noGrp="1"/>
          </p:cNvSpPr>
          <p:nvPr/>
        </p:nvSpPr>
        <p:spPr>
          <a:xfrm xmlns:a="http://schemas.openxmlformats.org/drawingml/2006/main">
            <a:off x="8515350" y="372427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Task misses + performance decline + inactivity → monitor / at risk</a:t>
            </a:r>
          </a:p>
        </p:txBody>
      </p:sp>
      <p:sp>
        <p:nvSpPr>
          <p:cNvPr id="22" name="">
            <a:extLst xmlns:a="http://schemas.openxmlformats.org/drawingml/2006/main">
              <a:ext uri="{FF2B5EF4-FFF2-40B4-BE49-F238E27FC236}">
                <a16:creationId xmlns:a16="http://schemas.microsoft.com/office/drawing/2014/main" id="{6D0B2C04-FAEB-4C28-BD1D-489E6AB26B2E}"/>
              </a:ext>
            </a:extLst>
          </p:cNvPr>
          <p:cNvSpPr>
            <a:spLocks xmlns:a="http://schemas.openxmlformats.org/drawingml/2006/main" noGrp="1"/>
          </p:cNvSpPr>
          <p:nvPr/>
        </p:nvSpPr>
        <p:spPr>
          <a:xfrm xmlns:a="http://schemas.openxmlformats.org/drawingml/2006/main">
            <a:off x="8515350" y="497205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8F87AC"/>
                </a:solidFill>
                <a:latin typeface="Calibri"/>
                <a:ea typeface="Calibri"/>
                <a:cs typeface="Calibri"/>
              </a:defRPr>
            </a:pPr>
            <a:r>
              <a:rPr sz="975" b="1">
                <a:solidFill>
                  <a:srgbClr val="8F87AC"/>
                </a:solidFill>
                <a:latin typeface="Calibri"/>
                <a:ea typeface="Calibri"/>
                <a:cs typeface="Calibri"/>
              </a:rPr>
              <a:t>DROP DIAGRAM / CODE HERE</a:t>
            </a:r>
          </a:p>
        </p:txBody>
      </p:sp>
      <p:sp>
        <p:nvSpPr>
          <p:cNvPr id="23" name="">
            <a:extLst xmlns:a="http://schemas.openxmlformats.org/drawingml/2006/main">
              <a:ext uri="{FF2B5EF4-FFF2-40B4-BE49-F238E27FC236}">
                <a16:creationId xmlns:a16="http://schemas.microsoft.com/office/drawing/2014/main" id="{56D55761-2FB2-4D40-A947-E3340A84B591}"/>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14</a:t>
            </a:r>
          </a:p>
        </p:txBody>
      </p:sp>
    </p:spTree>
    <p:extLst>
      <p:ext uri="{BB962C8B-B14F-4D97-AF65-F5344CB8AC3E}">
        <p14:creationId xmlns:p14="http://schemas.microsoft.com/office/powerpoint/2010/main" val="1773027171"/>
      </p:ext>
    </p:extLst>
  </p:cSld>
</p:sld>
</file>

<file path=ppt/slides/slide15.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F36FD0E-666F-41BB-BB99-E0E07052664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5A7DA0-F41C-495E-B71F-3F6B9A15B614}"/>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
            <a:extLst xmlns:a="http://schemas.openxmlformats.org/drawingml/2006/main">
              <a:ext uri="{FF2B5EF4-FFF2-40B4-BE49-F238E27FC236}">
                <a16:creationId xmlns:a16="http://schemas.microsoft.com/office/drawing/2014/main" id="{D368CA86-6A92-4DD5-8848-17DF0FE69B15}"/>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Testing covered logic, integration, workflows and acceptance</a:t>
            </a:r>
          </a:p>
        </p:txBody>
      </p:sp>
      <p:sp>
        <p:nvSpPr>
          <p:cNvPr id="4" name="">
            <a:extLst xmlns:a="http://schemas.openxmlformats.org/drawingml/2006/main">
              <a:ext uri="{FF2B5EF4-FFF2-40B4-BE49-F238E27FC236}">
                <a16:creationId xmlns:a16="http://schemas.microsoft.com/office/drawing/2014/main" id="{A319D0D2-1D07-459D-9142-026B9FCD42AA}"/>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report documented tests from isolated functions through complete caregiver and patient journeys.</a:t>
            </a:r>
          </a:p>
        </p:txBody>
      </p:sp>
      <p:sp>
        <p:nvSpPr>
          <p:cNvPr id="5" name="">
            <a:extLst xmlns:a="http://schemas.openxmlformats.org/drawingml/2006/main">
              <a:ext uri="{FF2B5EF4-FFF2-40B4-BE49-F238E27FC236}">
                <a16:creationId xmlns:a16="http://schemas.microsoft.com/office/drawing/2014/main" id="{738D2B5A-1FA0-4607-864D-FFEAA41485D4}"/>
              </a:ext>
            </a:extLst>
          </p:cNvPr>
          <p:cNvSpPr>
            <a:spLocks xmlns:a="http://schemas.openxmlformats.org/drawingml/2006/main" noGrp="1"/>
          </p:cNvSpPr>
          <p:nvPr/>
        </p:nvSpPr>
        <p:spPr>
          <a:xfrm xmlns:a="http://schemas.openxmlformats.org/drawingml/2006/main">
            <a:off x="685800" y="2000250"/>
            <a:ext cx="2419350" cy="2857500"/>
          </a:xfrm>
          <a:prstGeom xmlns:a="http://schemas.openxmlformats.org/drawingml/2006/main" prst="roundRect">
            <a:avLst>
              <a:gd name="adj" fmla="val 6299"/>
            </a:avLst>
          </a:prstGeom>
          <a:solidFill xmlns:a="http://schemas.openxmlformats.org/drawingml/2006/main">
            <a:srgbClr val="2E27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D90F84-F828-4135-B0A5-595840DCF3E3}"/>
              </a:ext>
            </a:extLst>
          </p:cNvPr>
          <p:cNvSpPr>
            <a:spLocks xmlns:a="http://schemas.openxmlformats.org/drawingml/2006/main" noGrp="1"/>
          </p:cNvSpPr>
          <p:nvPr/>
        </p:nvSpPr>
        <p:spPr>
          <a:xfrm xmlns:a="http://schemas.openxmlformats.org/drawingml/2006/main">
            <a:off x="87630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350" b="1">
                <a:solidFill>
                  <a:srgbClr val="7C83FD"/>
                </a:solidFill>
                <a:latin typeface="Calibri"/>
                <a:ea typeface="Calibri"/>
                <a:cs typeface="Calibri"/>
              </a:defRPr>
            </a:pPr>
            <a:r>
              <a:rPr sz="4350" b="1">
                <a:solidFill>
                  <a:srgbClr val="7C83FD"/>
                </a:solidFill>
                <a:latin typeface="Calibri"/>
                <a:ea typeface="Calibri"/>
                <a:cs typeface="Calibri"/>
              </a:rPr>
              <a:t>14</a:t>
            </a:r>
          </a:p>
        </p:txBody>
      </p:sp>
      <p:sp>
        <p:nvSpPr>
          <p:cNvPr id="7" name="">
            <a:extLst xmlns:a="http://schemas.openxmlformats.org/drawingml/2006/main">
              <a:ext uri="{FF2B5EF4-FFF2-40B4-BE49-F238E27FC236}">
                <a16:creationId xmlns:a16="http://schemas.microsoft.com/office/drawing/2014/main" id="{F13F76D5-EDF0-42A6-8120-DE2EF4372728}"/>
              </a:ext>
            </a:extLst>
          </p:cNvPr>
          <p:cNvSpPr>
            <a:spLocks xmlns:a="http://schemas.openxmlformats.org/drawingml/2006/main" noGrp="1"/>
          </p:cNvSpPr>
          <p:nvPr/>
        </p:nvSpPr>
        <p:spPr>
          <a:xfrm xmlns:a="http://schemas.openxmlformats.org/drawingml/2006/main">
            <a:off x="87630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F8F6FF"/>
                </a:solidFill>
                <a:latin typeface="Calibri"/>
                <a:ea typeface="Calibri"/>
                <a:cs typeface="Calibri"/>
              </a:defRPr>
            </a:pPr>
            <a:r>
              <a:rPr sz="1275" b="1">
                <a:solidFill>
                  <a:srgbClr val="F8F6FF"/>
                </a:solidFill>
                <a:latin typeface="Calibri"/>
                <a:ea typeface="Calibri"/>
                <a:cs typeface="Calibri"/>
              </a:rPr>
              <a:t>UNIT CASES</a:t>
            </a:r>
          </a:p>
        </p:txBody>
      </p:sp>
      <p:sp>
        <p:nvSpPr>
          <p:cNvPr id="8" name="">
            <a:extLst xmlns:a="http://schemas.openxmlformats.org/drawingml/2006/main">
              <a:ext uri="{FF2B5EF4-FFF2-40B4-BE49-F238E27FC236}">
                <a16:creationId xmlns:a16="http://schemas.microsoft.com/office/drawing/2014/main" id="{CCDEA80E-53AF-4A96-A4E0-443A704DD7D0}"/>
              </a:ext>
            </a:extLst>
          </p:cNvPr>
          <p:cNvSpPr>
            <a:spLocks xmlns:a="http://schemas.openxmlformats.org/drawingml/2006/main" noGrp="1"/>
          </p:cNvSpPr>
          <p:nvPr/>
        </p:nvSpPr>
        <p:spPr>
          <a:xfrm xmlns:a="http://schemas.openxmlformats.org/drawingml/2006/main">
            <a:off x="92392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Authentication, recurrence, game calculations, gamification and risk rules</a:t>
            </a:r>
          </a:p>
        </p:txBody>
      </p:sp>
      <p:sp>
        <p:nvSpPr>
          <p:cNvPr id="9" name="">
            <a:extLst xmlns:a="http://schemas.openxmlformats.org/drawingml/2006/main">
              <a:ext uri="{FF2B5EF4-FFF2-40B4-BE49-F238E27FC236}">
                <a16:creationId xmlns:a16="http://schemas.microsoft.com/office/drawing/2014/main" id="{7EDBD64E-8FF1-4261-95A2-215C56729528}"/>
              </a:ext>
            </a:extLst>
          </p:cNvPr>
          <p:cNvSpPr>
            <a:spLocks xmlns:a="http://schemas.openxmlformats.org/drawingml/2006/main" noGrp="1"/>
          </p:cNvSpPr>
          <p:nvPr/>
        </p:nvSpPr>
        <p:spPr>
          <a:xfrm xmlns:a="http://schemas.openxmlformats.org/drawingml/2006/main">
            <a:off x="3448050" y="2000250"/>
            <a:ext cx="2419350" cy="2857500"/>
          </a:xfrm>
          <a:prstGeom xmlns:a="http://schemas.openxmlformats.org/drawingml/2006/main" prst="roundRect">
            <a:avLst>
              <a:gd name="adj" fmla="val 6299"/>
            </a:avLst>
          </a:prstGeom>
          <a:solidFill xmlns:a="http://schemas.openxmlformats.org/drawingml/2006/main">
            <a:srgbClr val="2E275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19056C-7CCF-4A74-909E-5FC03CEF9D0C}"/>
              </a:ext>
            </a:extLst>
          </p:cNvPr>
          <p:cNvSpPr>
            <a:spLocks xmlns:a="http://schemas.openxmlformats.org/drawingml/2006/main" noGrp="1"/>
          </p:cNvSpPr>
          <p:nvPr/>
        </p:nvSpPr>
        <p:spPr>
          <a:xfrm xmlns:a="http://schemas.openxmlformats.org/drawingml/2006/main">
            <a:off x="363855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350" b="1">
                <a:solidFill>
                  <a:srgbClr val="7C83FD"/>
                </a:solidFill>
                <a:latin typeface="Calibri"/>
                <a:ea typeface="Calibri"/>
                <a:cs typeface="Calibri"/>
              </a:defRPr>
            </a:pPr>
            <a:r>
              <a:rPr sz="4350" b="1">
                <a:solidFill>
                  <a:srgbClr val="7C83FD"/>
                </a:solidFill>
                <a:latin typeface="Calibri"/>
                <a:ea typeface="Calibri"/>
                <a:cs typeface="Calibri"/>
              </a:rPr>
              <a:t>9</a:t>
            </a:r>
          </a:p>
        </p:txBody>
      </p:sp>
      <p:sp>
        <p:nvSpPr>
          <p:cNvPr id="11" name="">
            <a:extLst xmlns:a="http://schemas.openxmlformats.org/drawingml/2006/main">
              <a:ext uri="{FF2B5EF4-FFF2-40B4-BE49-F238E27FC236}">
                <a16:creationId xmlns:a16="http://schemas.microsoft.com/office/drawing/2014/main" id="{1BBD1ACA-46F0-426C-B549-6B9AA30597F9}"/>
              </a:ext>
            </a:extLst>
          </p:cNvPr>
          <p:cNvSpPr>
            <a:spLocks xmlns:a="http://schemas.openxmlformats.org/drawingml/2006/main" noGrp="1"/>
          </p:cNvSpPr>
          <p:nvPr/>
        </p:nvSpPr>
        <p:spPr>
          <a:xfrm xmlns:a="http://schemas.openxmlformats.org/drawingml/2006/main">
            <a:off x="363855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F8F6FF"/>
                </a:solidFill>
                <a:latin typeface="Calibri"/>
                <a:ea typeface="Calibri"/>
                <a:cs typeface="Calibri"/>
              </a:defRPr>
            </a:pPr>
            <a:r>
              <a:rPr sz="1275" b="1">
                <a:solidFill>
                  <a:srgbClr val="F8F6FF"/>
                </a:solidFill>
                <a:latin typeface="Calibri"/>
                <a:ea typeface="Calibri"/>
                <a:cs typeface="Calibri"/>
              </a:rPr>
              <a:t>INTEGRATION FLOWS</a:t>
            </a:r>
          </a:p>
        </p:txBody>
      </p:sp>
      <p:sp>
        <p:nvSpPr>
          <p:cNvPr id="12" name="">
            <a:extLst xmlns:a="http://schemas.openxmlformats.org/drawingml/2006/main">
              <a:ext uri="{FF2B5EF4-FFF2-40B4-BE49-F238E27FC236}">
                <a16:creationId xmlns:a16="http://schemas.microsoft.com/office/drawing/2014/main" id="{757F49A7-0F3E-4A6B-A97D-D1A3AFBD8A76}"/>
              </a:ext>
            </a:extLst>
          </p:cNvPr>
          <p:cNvSpPr>
            <a:spLocks xmlns:a="http://schemas.openxmlformats.org/drawingml/2006/main" noGrp="1"/>
          </p:cNvSpPr>
          <p:nvPr/>
        </p:nvSpPr>
        <p:spPr>
          <a:xfrm xmlns:a="http://schemas.openxmlformats.org/drawingml/2006/main">
            <a:off x="368617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Cross-module task, notification, game, analytics and risk interactions</a:t>
            </a:r>
          </a:p>
        </p:txBody>
      </p:sp>
      <p:sp>
        <p:nvSpPr>
          <p:cNvPr id="13" name="">
            <a:extLst xmlns:a="http://schemas.openxmlformats.org/drawingml/2006/main">
              <a:ext uri="{FF2B5EF4-FFF2-40B4-BE49-F238E27FC236}">
                <a16:creationId xmlns:a16="http://schemas.microsoft.com/office/drawing/2014/main" id="{83E09562-4DD2-4C82-A885-304D2AEAD02C}"/>
              </a:ext>
            </a:extLst>
          </p:cNvPr>
          <p:cNvSpPr>
            <a:spLocks xmlns:a="http://schemas.openxmlformats.org/drawingml/2006/main" noGrp="1"/>
          </p:cNvSpPr>
          <p:nvPr/>
        </p:nvSpPr>
        <p:spPr>
          <a:xfrm xmlns:a="http://schemas.openxmlformats.org/drawingml/2006/main">
            <a:off x="6210300" y="2000250"/>
            <a:ext cx="2419350" cy="2857500"/>
          </a:xfrm>
          <a:prstGeom xmlns:a="http://schemas.openxmlformats.org/drawingml/2006/main" prst="roundRect">
            <a:avLst>
              <a:gd name="adj" fmla="val 6299"/>
            </a:avLst>
          </a:prstGeom>
          <a:solidFill xmlns:a="http://schemas.openxmlformats.org/drawingml/2006/main">
            <a:srgbClr val="2E27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A29F47-EFD5-42E8-B136-EA6391FC8D93}"/>
              </a:ext>
            </a:extLst>
          </p:cNvPr>
          <p:cNvSpPr>
            <a:spLocks xmlns:a="http://schemas.openxmlformats.org/drawingml/2006/main" noGrp="1"/>
          </p:cNvSpPr>
          <p:nvPr/>
        </p:nvSpPr>
        <p:spPr>
          <a:xfrm xmlns:a="http://schemas.openxmlformats.org/drawingml/2006/main">
            <a:off x="640080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350" b="1">
                <a:solidFill>
                  <a:srgbClr val="7C83FD"/>
                </a:solidFill>
                <a:latin typeface="Calibri"/>
                <a:ea typeface="Calibri"/>
                <a:cs typeface="Calibri"/>
              </a:defRPr>
            </a:pPr>
            <a:r>
              <a:rPr sz="4350" b="1">
                <a:solidFill>
                  <a:srgbClr val="7C83FD"/>
                </a:solidFill>
                <a:latin typeface="Calibri"/>
                <a:ea typeface="Calibri"/>
                <a:cs typeface="Calibri"/>
              </a:rPr>
              <a:t>17</a:t>
            </a:r>
          </a:p>
        </p:txBody>
      </p:sp>
      <p:sp>
        <p:nvSpPr>
          <p:cNvPr id="15" name="">
            <a:extLst xmlns:a="http://schemas.openxmlformats.org/drawingml/2006/main">
              <a:ext uri="{FF2B5EF4-FFF2-40B4-BE49-F238E27FC236}">
                <a16:creationId xmlns:a16="http://schemas.microsoft.com/office/drawing/2014/main" id="{E0DBF6CD-F29D-4047-85F4-4DDDEB290F96}"/>
              </a:ext>
            </a:extLst>
          </p:cNvPr>
          <p:cNvSpPr>
            <a:spLocks xmlns:a="http://schemas.openxmlformats.org/drawingml/2006/main" noGrp="1"/>
          </p:cNvSpPr>
          <p:nvPr/>
        </p:nvSpPr>
        <p:spPr>
          <a:xfrm xmlns:a="http://schemas.openxmlformats.org/drawingml/2006/main">
            <a:off x="640080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F8F6FF"/>
                </a:solidFill>
                <a:latin typeface="Calibri"/>
                <a:ea typeface="Calibri"/>
                <a:cs typeface="Calibri"/>
              </a:defRPr>
            </a:pPr>
            <a:r>
              <a:rPr sz="1275" b="1">
                <a:solidFill>
                  <a:srgbClr val="F8F6FF"/>
                </a:solidFill>
                <a:latin typeface="Calibri"/>
                <a:ea typeface="Calibri"/>
                <a:cs typeface="Calibri"/>
              </a:rPr>
              <a:t>SYSTEM SCENARIOS</a:t>
            </a:r>
          </a:p>
        </p:txBody>
      </p:sp>
      <p:sp>
        <p:nvSpPr>
          <p:cNvPr id="16" name="">
            <a:extLst xmlns:a="http://schemas.openxmlformats.org/drawingml/2006/main">
              <a:ext uri="{FF2B5EF4-FFF2-40B4-BE49-F238E27FC236}">
                <a16:creationId xmlns:a16="http://schemas.microsoft.com/office/drawing/2014/main" id="{D1D0C2CA-BFBC-4F9E-AACC-4F10091EED9F}"/>
              </a:ext>
            </a:extLst>
          </p:cNvPr>
          <p:cNvSpPr>
            <a:spLocks xmlns:a="http://schemas.openxmlformats.org/drawingml/2006/main" noGrp="1"/>
          </p:cNvSpPr>
          <p:nvPr/>
        </p:nvSpPr>
        <p:spPr>
          <a:xfrm xmlns:a="http://schemas.openxmlformats.org/drawingml/2006/main">
            <a:off x="644842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End-to-end caregiver and patient workflows</a:t>
            </a:r>
          </a:p>
        </p:txBody>
      </p:sp>
      <p:sp>
        <p:nvSpPr>
          <p:cNvPr id="17" name="">
            <a:extLst xmlns:a="http://schemas.openxmlformats.org/drawingml/2006/main">
              <a:ext uri="{FF2B5EF4-FFF2-40B4-BE49-F238E27FC236}">
                <a16:creationId xmlns:a16="http://schemas.microsoft.com/office/drawing/2014/main" id="{B7BA8054-D03A-4CD7-A14E-F955CF1FBC91}"/>
              </a:ext>
            </a:extLst>
          </p:cNvPr>
          <p:cNvSpPr>
            <a:spLocks xmlns:a="http://schemas.openxmlformats.org/drawingml/2006/main" noGrp="1"/>
          </p:cNvSpPr>
          <p:nvPr/>
        </p:nvSpPr>
        <p:spPr>
          <a:xfrm xmlns:a="http://schemas.openxmlformats.org/drawingml/2006/main">
            <a:off x="8972550" y="2000250"/>
            <a:ext cx="2419350" cy="2857500"/>
          </a:xfrm>
          <a:prstGeom xmlns:a="http://schemas.openxmlformats.org/drawingml/2006/main" prst="roundRect">
            <a:avLst>
              <a:gd name="adj" fmla="val 6299"/>
            </a:avLst>
          </a:prstGeom>
          <a:solidFill xmlns:a="http://schemas.openxmlformats.org/drawingml/2006/main">
            <a:srgbClr val="3A316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2F01FDE-6007-4F91-8087-94B90946AE47}"/>
              </a:ext>
            </a:extLst>
          </p:cNvPr>
          <p:cNvSpPr>
            <a:spLocks xmlns:a="http://schemas.openxmlformats.org/drawingml/2006/main" noGrp="1"/>
          </p:cNvSpPr>
          <p:nvPr/>
        </p:nvSpPr>
        <p:spPr>
          <a:xfrm xmlns:a="http://schemas.openxmlformats.org/drawingml/2006/main">
            <a:off x="916305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350" b="1">
                <a:solidFill>
                  <a:srgbClr val="FF6B62"/>
                </a:solidFill>
                <a:latin typeface="Calibri"/>
                <a:ea typeface="Calibri"/>
                <a:cs typeface="Calibri"/>
              </a:defRPr>
            </a:pPr>
            <a:r>
              <a:rPr sz="4350" b="1">
                <a:solidFill>
                  <a:srgbClr val="FF6B62"/>
                </a:solidFill>
                <a:latin typeface="Calibri"/>
                <a:ea typeface="Calibri"/>
                <a:cs typeface="Calibri"/>
              </a:rPr>
              <a:t>34</a:t>
            </a:r>
          </a:p>
        </p:txBody>
      </p:sp>
      <p:sp>
        <p:nvSpPr>
          <p:cNvPr id="19" name="">
            <a:extLst xmlns:a="http://schemas.openxmlformats.org/drawingml/2006/main">
              <a:ext uri="{FF2B5EF4-FFF2-40B4-BE49-F238E27FC236}">
                <a16:creationId xmlns:a16="http://schemas.microsoft.com/office/drawing/2014/main" id="{BABE82DB-ABFE-43B9-A783-E58261BB6B2A}"/>
              </a:ext>
            </a:extLst>
          </p:cNvPr>
          <p:cNvSpPr>
            <a:spLocks xmlns:a="http://schemas.openxmlformats.org/drawingml/2006/main" noGrp="1"/>
          </p:cNvSpPr>
          <p:nvPr/>
        </p:nvSpPr>
        <p:spPr>
          <a:xfrm xmlns:a="http://schemas.openxmlformats.org/drawingml/2006/main">
            <a:off x="916305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F8F6FF"/>
                </a:solidFill>
                <a:latin typeface="Calibri"/>
                <a:ea typeface="Calibri"/>
                <a:cs typeface="Calibri"/>
              </a:defRPr>
            </a:pPr>
            <a:r>
              <a:rPr sz="1275" b="1">
                <a:solidFill>
                  <a:srgbClr val="F8F6FF"/>
                </a:solidFill>
                <a:latin typeface="Calibri"/>
                <a:ea typeface="Calibri"/>
                <a:cs typeface="Calibri"/>
              </a:rPr>
              <a:t>UAT CASES</a:t>
            </a:r>
          </a:p>
        </p:txBody>
      </p:sp>
      <p:sp>
        <p:nvSpPr>
          <p:cNvPr id="20" name="">
            <a:extLst xmlns:a="http://schemas.openxmlformats.org/drawingml/2006/main">
              <a:ext uri="{FF2B5EF4-FFF2-40B4-BE49-F238E27FC236}">
                <a16:creationId xmlns:a16="http://schemas.microsoft.com/office/drawing/2014/main" id="{397ABA71-79B7-4230-A222-3F6FBC2F8355}"/>
              </a:ext>
            </a:extLst>
          </p:cNvPr>
          <p:cNvSpPr>
            <a:spLocks xmlns:a="http://schemas.openxmlformats.org/drawingml/2006/main" noGrp="1"/>
          </p:cNvSpPr>
          <p:nvPr/>
        </p:nvSpPr>
        <p:spPr>
          <a:xfrm xmlns:a="http://schemas.openxmlformats.org/drawingml/2006/main">
            <a:off x="921067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B8B0D4"/>
                </a:solidFill>
                <a:latin typeface="Calibri"/>
                <a:ea typeface="Calibri"/>
                <a:cs typeface="Calibri"/>
              </a:defRPr>
            </a:pPr>
            <a:r>
              <a:rPr sz="1125" b="0">
                <a:solidFill>
                  <a:srgbClr val="B8B0D4"/>
                </a:solidFill>
                <a:latin typeface="Calibri"/>
                <a:ea typeface="Calibri"/>
                <a:cs typeface="Calibri"/>
              </a:rPr>
              <a:t>19 caregiver + 15 patient acceptance checks</a:t>
            </a:r>
          </a:p>
        </p:txBody>
      </p:sp>
      <p:sp>
        <p:nvSpPr>
          <p:cNvPr id="21" name="">
            <a:extLst xmlns:a="http://schemas.openxmlformats.org/drawingml/2006/main">
              <a:ext uri="{FF2B5EF4-FFF2-40B4-BE49-F238E27FC236}">
                <a16:creationId xmlns:a16="http://schemas.microsoft.com/office/drawing/2014/main" id="{4B1254E7-832D-40C3-9F30-D96BE75443B0}"/>
              </a:ext>
            </a:extLst>
          </p:cNvPr>
          <p:cNvSpPr>
            <a:spLocks xmlns:a="http://schemas.openxmlformats.org/drawingml/2006/main" noGrp="1"/>
          </p:cNvSpPr>
          <p:nvPr/>
        </p:nvSpPr>
        <p:spPr>
          <a:xfrm xmlns:a="http://schemas.openxmlformats.org/drawingml/2006/main">
            <a:off x="685800" y="52578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FF6B62"/>
                </a:solidFill>
                <a:latin typeface="Calibri"/>
                <a:ea typeface="Calibri"/>
                <a:cs typeface="Calibri"/>
              </a:defRPr>
            </a:pPr>
            <a:r>
              <a:rPr sz="1200" b="1">
                <a:solidFill>
                  <a:srgbClr val="FF6B62"/>
                </a:solidFill>
                <a:latin typeface="Calibri"/>
                <a:ea typeface="Calibri"/>
                <a:cs typeface="Calibri"/>
              </a:rPr>
              <a:t>Testing focus</a:t>
            </a:r>
          </a:p>
        </p:txBody>
      </p:sp>
      <p:sp>
        <p:nvSpPr>
          <p:cNvPr id="22" name="">
            <a:extLst xmlns:a="http://schemas.openxmlformats.org/drawingml/2006/main">
              <a:ext uri="{FF2B5EF4-FFF2-40B4-BE49-F238E27FC236}">
                <a16:creationId xmlns:a16="http://schemas.microsoft.com/office/drawing/2014/main" id="{2E899154-8D01-4B18-86C2-E149A1F09A4E}"/>
              </a:ext>
            </a:extLst>
          </p:cNvPr>
          <p:cNvSpPr>
            <a:spLocks xmlns:a="http://schemas.openxmlformats.org/drawingml/2006/main" noGrp="1"/>
          </p:cNvSpPr>
          <p:nvPr/>
        </p:nvSpPr>
        <p:spPr>
          <a:xfrm xmlns:a="http://schemas.openxmlformats.org/drawingml/2006/main">
            <a:off x="2114550" y="5219700"/>
            <a:ext cx="885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most important checks followed the full chains: recurrence → reminder → status → points/progress, and game session → adaptive difficulty → statistics/history.</a:t>
            </a:r>
          </a:p>
        </p:txBody>
      </p:sp>
      <p:sp>
        <p:nvSpPr>
          <p:cNvPr id="23" name="">
            <a:extLst xmlns:a="http://schemas.openxmlformats.org/drawingml/2006/main">
              <a:ext uri="{FF2B5EF4-FFF2-40B4-BE49-F238E27FC236}">
                <a16:creationId xmlns:a16="http://schemas.microsoft.com/office/drawing/2014/main" id="{0E2F87A5-23B7-47EF-8610-09CB2D60776D}"/>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Chapter 7, Tables 7.1–7.9.</a:t>
            </a:r>
          </a:p>
        </p:txBody>
      </p:sp>
      <p:sp>
        <p:nvSpPr>
          <p:cNvPr id="24" name="">
            <a:extLst xmlns:a="http://schemas.openxmlformats.org/drawingml/2006/main">
              <a:ext uri="{FF2B5EF4-FFF2-40B4-BE49-F238E27FC236}">
                <a16:creationId xmlns:a16="http://schemas.microsoft.com/office/drawing/2014/main" id="{D46B8E67-5905-42B6-AFF3-49D42D82377E}"/>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15</a:t>
            </a:r>
          </a:p>
        </p:txBody>
      </p:sp>
    </p:spTree>
    <p:extLst>
      <p:ext uri="{BB962C8B-B14F-4D97-AF65-F5344CB8AC3E}">
        <p14:creationId xmlns:p14="http://schemas.microsoft.com/office/powerpoint/2010/main" val="857849578"/>
      </p:ext>
    </p:extLst>
  </p:cSld>
</p:sld>
</file>

<file path=ppt/slides/slide16.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97F925F-C69B-4242-A24D-66F2D4B454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9833DC-AC78-483C-AB96-76514EC5B062}"/>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
            <a:extLst xmlns:a="http://schemas.openxmlformats.org/drawingml/2006/main">
              <a:ext uri="{FF2B5EF4-FFF2-40B4-BE49-F238E27FC236}">
                <a16:creationId xmlns:a16="http://schemas.microsoft.com/office/drawing/2014/main" id="{99D6C35B-27A6-43A8-A0A3-BECEDB44B9AA}"/>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All 34 user-acceptance cases passed</a:t>
            </a:r>
          </a:p>
        </p:txBody>
      </p:sp>
      <p:sp>
        <p:nvSpPr>
          <p:cNvPr id="4" name="">
            <a:extLst xmlns:a="http://schemas.openxmlformats.org/drawingml/2006/main">
              <a:ext uri="{FF2B5EF4-FFF2-40B4-BE49-F238E27FC236}">
                <a16:creationId xmlns:a16="http://schemas.microsoft.com/office/drawing/2014/main" id="{CEF41EE5-8BAB-49B2-AA09-136A34BD232A}"/>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Both roles accepted the workflows relevant to their responsibilities.</a:t>
            </a:r>
          </a:p>
        </p:txBody>
      </p:sp>
      <p:sp>
        <p:nvSpPr>
          <p:cNvPr id="5" name="">
            <a:extLst xmlns:a="http://schemas.openxmlformats.org/drawingml/2006/main">
              <a:ext uri="{FF2B5EF4-FFF2-40B4-BE49-F238E27FC236}">
                <a16:creationId xmlns:a16="http://schemas.microsoft.com/office/drawing/2014/main" id="{D5F812E8-AB9C-4991-97CF-A935C53471BF}"/>
              </a:ext>
            </a:extLst>
          </p:cNvPr>
          <p:cNvSpPr>
            <a:spLocks xmlns:a="http://schemas.openxmlformats.org/drawingml/2006/main" noGrp="1"/>
          </p:cNvSpPr>
          <p:nvPr/>
        </p:nvSpPr>
        <p:spPr>
          <a:xfrm xmlns:a="http://schemas.openxmlformats.org/drawingml/2006/main">
            <a:off x="685800" y="1866900"/>
            <a:ext cx="3143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5EC284-1037-4F0C-95B8-A122161C0663}"/>
              </a:ext>
            </a:extLst>
          </p:cNvPr>
          <p:cNvSpPr>
            <a:spLocks xmlns:a="http://schemas.openxmlformats.org/drawingml/2006/main" noGrp="1"/>
          </p:cNvSpPr>
          <p:nvPr/>
        </p:nvSpPr>
        <p:spPr>
          <a:xfrm xmlns:a="http://schemas.openxmlformats.org/drawingml/2006/main">
            <a:off x="857250" y="2038350"/>
            <a:ext cx="457200" cy="76200"/>
          </a:xfrm>
          <a:prstGeom xmlns:a="http://schemas.openxmlformats.org/drawingml/2006/main" prst="roundRect">
            <a:avLst>
              <a:gd name="adj" fmla="val 50000"/>
            </a:avLst>
          </a:prstGeom>
          <a:solidFill xmlns:a="http://schemas.openxmlformats.org/drawingml/2006/main">
            <a:srgbClr val="FFB0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10EF1D-AD13-4813-8C5D-8AD419D21D74}"/>
              </a:ext>
            </a:extLst>
          </p:cNvPr>
          <p:cNvSpPr>
            <a:spLocks xmlns:a="http://schemas.openxmlformats.org/drawingml/2006/main" noGrp="1"/>
          </p:cNvSpPr>
          <p:nvPr/>
        </p:nvSpPr>
        <p:spPr>
          <a:xfrm xmlns:a="http://schemas.openxmlformats.org/drawingml/2006/main">
            <a:off x="857250" y="21621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8F6FF"/>
                </a:solidFill>
                <a:latin typeface="Calibri"/>
                <a:ea typeface="Calibri"/>
                <a:cs typeface="Calibri"/>
              </a:defRPr>
            </a:pPr>
            <a:r>
              <a:rPr sz="2550" b="1">
                <a:solidFill>
                  <a:srgbClr val="F8F6FF"/>
                </a:solidFill>
                <a:latin typeface="Calibri"/>
                <a:ea typeface="Calibri"/>
                <a:cs typeface="Calibri"/>
              </a:rPr>
              <a:t>19 / 19</a:t>
            </a:r>
          </a:p>
        </p:txBody>
      </p:sp>
      <p:sp>
        <p:nvSpPr>
          <p:cNvPr id="8" name="">
            <a:extLst xmlns:a="http://schemas.openxmlformats.org/drawingml/2006/main">
              <a:ext uri="{FF2B5EF4-FFF2-40B4-BE49-F238E27FC236}">
                <a16:creationId xmlns:a16="http://schemas.microsoft.com/office/drawing/2014/main" id="{A76C297F-840D-4E96-9965-C9A1CFFF8B41}"/>
              </a:ext>
            </a:extLst>
          </p:cNvPr>
          <p:cNvSpPr>
            <a:spLocks xmlns:a="http://schemas.openxmlformats.org/drawingml/2006/main" noGrp="1"/>
          </p:cNvSpPr>
          <p:nvPr/>
        </p:nvSpPr>
        <p:spPr>
          <a:xfrm xmlns:a="http://schemas.openxmlformats.org/drawingml/2006/main">
            <a:off x="857250" y="2590800"/>
            <a:ext cx="2800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caregiver acceptance cases passed</a:t>
            </a:r>
          </a:p>
        </p:txBody>
      </p:sp>
      <p:sp>
        <p:nvSpPr>
          <p:cNvPr id="9" name="">
            <a:extLst xmlns:a="http://schemas.openxmlformats.org/drawingml/2006/main">
              <a:ext uri="{FF2B5EF4-FFF2-40B4-BE49-F238E27FC236}">
                <a16:creationId xmlns:a16="http://schemas.microsoft.com/office/drawing/2014/main" id="{5C140235-9A38-4503-AFFD-0783945EA63B}"/>
              </a:ext>
            </a:extLst>
          </p:cNvPr>
          <p:cNvSpPr>
            <a:spLocks xmlns:a="http://schemas.openxmlformats.org/drawingml/2006/main" noGrp="1"/>
          </p:cNvSpPr>
          <p:nvPr/>
        </p:nvSpPr>
        <p:spPr>
          <a:xfrm xmlns:a="http://schemas.openxmlformats.org/drawingml/2006/main">
            <a:off x="4095750" y="1866900"/>
            <a:ext cx="3143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2503FC2-7439-48FA-AD91-7D29D403762B}"/>
              </a:ext>
            </a:extLst>
          </p:cNvPr>
          <p:cNvSpPr>
            <a:spLocks xmlns:a="http://schemas.openxmlformats.org/drawingml/2006/main" noGrp="1"/>
          </p:cNvSpPr>
          <p:nvPr/>
        </p:nvSpPr>
        <p:spPr>
          <a:xfrm xmlns:a="http://schemas.openxmlformats.org/drawingml/2006/main">
            <a:off x="4267200" y="2038350"/>
            <a:ext cx="457200" cy="76200"/>
          </a:xfrm>
          <a:prstGeom xmlns:a="http://schemas.openxmlformats.org/drawingml/2006/main" prst="roundRect">
            <a:avLst>
              <a:gd name="adj" fmla="val 50000"/>
            </a:avLst>
          </a:prstGeom>
          <a:solidFill xmlns:a="http://schemas.openxmlformats.org/drawingml/2006/main">
            <a:srgbClr val="2ED9A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1192BD-4801-4AE6-9D92-00ACD9AE00C9}"/>
              </a:ext>
            </a:extLst>
          </p:cNvPr>
          <p:cNvSpPr>
            <a:spLocks xmlns:a="http://schemas.openxmlformats.org/drawingml/2006/main" noGrp="1"/>
          </p:cNvSpPr>
          <p:nvPr/>
        </p:nvSpPr>
        <p:spPr>
          <a:xfrm xmlns:a="http://schemas.openxmlformats.org/drawingml/2006/main">
            <a:off x="4267200" y="21621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8F6FF"/>
                </a:solidFill>
                <a:latin typeface="Calibri"/>
                <a:ea typeface="Calibri"/>
                <a:cs typeface="Calibri"/>
              </a:defRPr>
            </a:pPr>
            <a:r>
              <a:rPr sz="2550" b="1">
                <a:solidFill>
                  <a:srgbClr val="F8F6FF"/>
                </a:solidFill>
                <a:latin typeface="Calibri"/>
                <a:ea typeface="Calibri"/>
                <a:cs typeface="Calibri"/>
              </a:rPr>
              <a:t>15 / 15</a:t>
            </a:r>
          </a:p>
        </p:txBody>
      </p:sp>
      <p:sp>
        <p:nvSpPr>
          <p:cNvPr id="12" name="">
            <a:extLst xmlns:a="http://schemas.openxmlformats.org/drawingml/2006/main">
              <a:ext uri="{FF2B5EF4-FFF2-40B4-BE49-F238E27FC236}">
                <a16:creationId xmlns:a16="http://schemas.microsoft.com/office/drawing/2014/main" id="{6A462DDF-4B45-4943-963A-84DA41431284}"/>
              </a:ext>
            </a:extLst>
          </p:cNvPr>
          <p:cNvSpPr>
            <a:spLocks xmlns:a="http://schemas.openxmlformats.org/drawingml/2006/main" noGrp="1"/>
          </p:cNvSpPr>
          <p:nvPr/>
        </p:nvSpPr>
        <p:spPr>
          <a:xfrm xmlns:a="http://schemas.openxmlformats.org/drawingml/2006/main">
            <a:off x="4267200" y="2590800"/>
            <a:ext cx="2800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patient acceptance cases passed</a:t>
            </a:r>
          </a:p>
        </p:txBody>
      </p:sp>
      <p:sp>
        <p:nvSpPr>
          <p:cNvPr id="13" name="">
            <a:extLst xmlns:a="http://schemas.openxmlformats.org/drawingml/2006/main">
              <a:ext uri="{FF2B5EF4-FFF2-40B4-BE49-F238E27FC236}">
                <a16:creationId xmlns:a16="http://schemas.microsoft.com/office/drawing/2014/main" id="{E606AE84-B785-45D1-953B-156ABC2269D3}"/>
              </a:ext>
            </a:extLst>
          </p:cNvPr>
          <p:cNvSpPr>
            <a:spLocks xmlns:a="http://schemas.openxmlformats.org/drawingml/2006/main" noGrp="1"/>
          </p:cNvSpPr>
          <p:nvPr/>
        </p:nvSpPr>
        <p:spPr>
          <a:xfrm xmlns:a="http://schemas.openxmlformats.org/drawingml/2006/main">
            <a:off x="7505700" y="1866900"/>
            <a:ext cx="3143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B87BEF8-0C77-4783-BE68-BC6A379BBAF0}"/>
              </a:ext>
            </a:extLst>
          </p:cNvPr>
          <p:cNvSpPr>
            <a:spLocks xmlns:a="http://schemas.openxmlformats.org/drawingml/2006/main" noGrp="1"/>
          </p:cNvSpPr>
          <p:nvPr/>
        </p:nvSpPr>
        <p:spPr>
          <a:xfrm xmlns:a="http://schemas.openxmlformats.org/drawingml/2006/main">
            <a:off x="7677150" y="2038350"/>
            <a:ext cx="457200" cy="76200"/>
          </a:xfrm>
          <a:prstGeom xmlns:a="http://schemas.openxmlformats.org/drawingml/2006/main" prst="roundRect">
            <a:avLst>
              <a:gd name="adj" fmla="val 50000"/>
            </a:avLst>
          </a:prstGeom>
          <a:solidFill xmlns:a="http://schemas.openxmlformats.org/drawingml/2006/main">
            <a:srgbClr val="FF6B6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2E1855-9418-418A-BF7F-BFBDB8AFF0BD}"/>
              </a:ext>
            </a:extLst>
          </p:cNvPr>
          <p:cNvSpPr>
            <a:spLocks xmlns:a="http://schemas.openxmlformats.org/drawingml/2006/main" noGrp="1"/>
          </p:cNvSpPr>
          <p:nvPr/>
        </p:nvSpPr>
        <p:spPr>
          <a:xfrm xmlns:a="http://schemas.openxmlformats.org/drawingml/2006/main">
            <a:off x="7677150" y="21621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8F6FF"/>
                </a:solidFill>
                <a:latin typeface="Calibri"/>
                <a:ea typeface="Calibri"/>
                <a:cs typeface="Calibri"/>
              </a:defRPr>
            </a:pPr>
            <a:r>
              <a:rPr sz="2550" b="1">
                <a:solidFill>
                  <a:srgbClr val="F8F6FF"/>
                </a:solidFill>
                <a:latin typeface="Calibri"/>
                <a:ea typeface="Calibri"/>
                <a:cs typeface="Calibri"/>
              </a:rPr>
              <a:t>100%</a:t>
            </a:r>
          </a:p>
        </p:txBody>
      </p:sp>
      <p:sp>
        <p:nvSpPr>
          <p:cNvPr id="16" name="">
            <a:extLst xmlns:a="http://schemas.openxmlformats.org/drawingml/2006/main">
              <a:ext uri="{FF2B5EF4-FFF2-40B4-BE49-F238E27FC236}">
                <a16:creationId xmlns:a16="http://schemas.microsoft.com/office/drawing/2014/main" id="{C94CBE36-82DF-42CB-9159-7E296D6826AD}"/>
              </a:ext>
            </a:extLst>
          </p:cNvPr>
          <p:cNvSpPr>
            <a:spLocks xmlns:a="http://schemas.openxmlformats.org/drawingml/2006/main" noGrp="1"/>
          </p:cNvSpPr>
          <p:nvPr/>
        </p:nvSpPr>
        <p:spPr>
          <a:xfrm xmlns:a="http://schemas.openxmlformats.org/drawingml/2006/main">
            <a:off x="7677150" y="2590800"/>
            <a:ext cx="2800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8B0D4"/>
                </a:solidFill>
                <a:latin typeface="Calibri"/>
                <a:ea typeface="Calibri"/>
                <a:cs typeface="Calibri"/>
              </a:defRPr>
            </a:pPr>
            <a:r>
              <a:rPr sz="1050" b="0">
                <a:solidFill>
                  <a:srgbClr val="B8B0D4"/>
                </a:solidFill>
                <a:latin typeface="Calibri"/>
                <a:ea typeface="Calibri"/>
                <a:cs typeface="Calibri"/>
              </a:rPr>
              <a:t>overall UAT pass rate</a:t>
            </a:r>
          </a:p>
        </p:txBody>
      </p:sp>
      <p:sp>
        <p:nvSpPr>
          <p:cNvPr id="17" name="">
            <a:extLst xmlns:a="http://schemas.openxmlformats.org/drawingml/2006/main">
              <a:ext uri="{FF2B5EF4-FFF2-40B4-BE49-F238E27FC236}">
                <a16:creationId xmlns:a16="http://schemas.microsoft.com/office/drawing/2014/main" id="{5A210614-2F00-4D87-B91E-E168A8762502}"/>
              </a:ext>
            </a:extLst>
          </p:cNvPr>
          <p:cNvSpPr>
            <a:spLocks xmlns:a="http://schemas.openxmlformats.org/drawingml/2006/main" noGrp="1"/>
          </p:cNvSpPr>
          <p:nvPr/>
        </p:nvSpPr>
        <p:spPr>
          <a:xfrm xmlns:a="http://schemas.openxmlformats.org/drawingml/2006/main">
            <a:off x="685800" y="3238500"/>
            <a:ext cx="9963150" cy="2114550"/>
          </a:xfrm>
          <a:prstGeom xmlns:a="http://schemas.openxmlformats.org/drawingml/2006/main" prst="roundRect">
            <a:avLst>
              <a:gd name="adj" fmla="val 7207"/>
            </a:avLst>
          </a:prstGeom>
          <a:solidFill xmlns:a="http://schemas.openxmlformats.org/drawingml/2006/main">
            <a:srgbClr val="2E275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DE43ACC-FAE6-4BCB-85BC-792BBECB8588}"/>
              </a:ext>
            </a:extLst>
          </p:cNvPr>
          <p:cNvSpPr>
            <a:spLocks xmlns:a="http://schemas.openxmlformats.org/drawingml/2006/main" noGrp="1"/>
          </p:cNvSpPr>
          <p:nvPr/>
        </p:nvSpPr>
        <p:spPr>
          <a:xfrm xmlns:a="http://schemas.openxmlformats.org/drawingml/2006/main">
            <a:off x="952500" y="349567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19" name="">
            <a:extLst xmlns:a="http://schemas.openxmlformats.org/drawingml/2006/main">
              <a:ext uri="{FF2B5EF4-FFF2-40B4-BE49-F238E27FC236}">
                <a16:creationId xmlns:a16="http://schemas.microsoft.com/office/drawing/2014/main" id="{CC85F5CD-6841-48B5-9EE2-9F2F4E8B4442}"/>
              </a:ext>
            </a:extLst>
          </p:cNvPr>
          <p:cNvSpPr>
            <a:spLocks xmlns:a="http://schemas.openxmlformats.org/drawingml/2006/main" noGrp="1"/>
          </p:cNvSpPr>
          <p:nvPr/>
        </p:nvSpPr>
        <p:spPr>
          <a:xfrm xmlns:a="http://schemas.openxmlformats.org/drawingml/2006/main">
            <a:off x="1390650" y="34956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8F6FF"/>
                </a:solidFill>
                <a:latin typeface="Calibri"/>
                <a:ea typeface="Calibri"/>
                <a:cs typeface="Calibri"/>
              </a:defRPr>
            </a:pPr>
            <a:r>
              <a:rPr sz="1275" b="1">
                <a:solidFill>
                  <a:srgbClr val="F8F6FF"/>
                </a:solidFill>
                <a:latin typeface="Calibri"/>
                <a:ea typeface="Calibri"/>
                <a:cs typeface="Calibri"/>
              </a:rPr>
              <a:t>Role separation</a:t>
            </a:r>
          </a:p>
        </p:txBody>
      </p:sp>
      <p:sp>
        <p:nvSpPr>
          <p:cNvPr id="20" name="">
            <a:extLst xmlns:a="http://schemas.openxmlformats.org/drawingml/2006/main">
              <a:ext uri="{FF2B5EF4-FFF2-40B4-BE49-F238E27FC236}">
                <a16:creationId xmlns:a16="http://schemas.microsoft.com/office/drawing/2014/main" id="{B60F61A4-121E-41A2-A057-6AE052F7FA20}"/>
              </a:ext>
            </a:extLst>
          </p:cNvPr>
          <p:cNvSpPr>
            <a:spLocks xmlns:a="http://schemas.openxmlformats.org/drawingml/2006/main" noGrp="1"/>
          </p:cNvSpPr>
          <p:nvPr/>
        </p:nvSpPr>
        <p:spPr>
          <a:xfrm xmlns:a="http://schemas.openxmlformats.org/drawingml/2006/main">
            <a:off x="3314700" y="3495675"/>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Correct dashboards, navigation and logout locations</a:t>
            </a:r>
          </a:p>
        </p:txBody>
      </p:sp>
      <p:sp>
        <p:nvSpPr>
          <p:cNvPr id="21" name="">
            <a:extLst xmlns:a="http://schemas.openxmlformats.org/drawingml/2006/main">
              <a:ext uri="{FF2B5EF4-FFF2-40B4-BE49-F238E27FC236}">
                <a16:creationId xmlns:a16="http://schemas.microsoft.com/office/drawing/2014/main" id="{62C1D0E2-E9FA-42B8-92FF-C9D18D444E96}"/>
              </a:ext>
            </a:extLst>
          </p:cNvPr>
          <p:cNvSpPr>
            <a:spLocks xmlns:a="http://schemas.openxmlformats.org/drawingml/2006/main" noGrp="1"/>
          </p:cNvSpPr>
          <p:nvPr/>
        </p:nvSpPr>
        <p:spPr>
          <a:xfrm xmlns:a="http://schemas.openxmlformats.org/drawingml/2006/main">
            <a:off x="952500" y="390525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2" name="">
            <a:extLst xmlns:a="http://schemas.openxmlformats.org/drawingml/2006/main">
              <a:ext uri="{FF2B5EF4-FFF2-40B4-BE49-F238E27FC236}">
                <a16:creationId xmlns:a16="http://schemas.microsoft.com/office/drawing/2014/main" id="{C2F10F7A-2912-4347-9945-7161CD7FBE4E}"/>
              </a:ext>
            </a:extLst>
          </p:cNvPr>
          <p:cNvSpPr>
            <a:spLocks xmlns:a="http://schemas.openxmlformats.org/drawingml/2006/main" noGrp="1"/>
          </p:cNvSpPr>
          <p:nvPr/>
        </p:nvSpPr>
        <p:spPr>
          <a:xfrm xmlns:a="http://schemas.openxmlformats.org/drawingml/2006/main">
            <a:off x="1390650" y="39052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8F6FF"/>
                </a:solidFill>
                <a:latin typeface="Calibri"/>
                <a:ea typeface="Calibri"/>
                <a:cs typeface="Calibri"/>
              </a:defRPr>
            </a:pPr>
            <a:r>
              <a:rPr sz="1275" b="1">
                <a:solidFill>
                  <a:srgbClr val="F8F6FF"/>
                </a:solidFill>
                <a:latin typeface="Calibri"/>
                <a:ea typeface="Calibri"/>
                <a:cs typeface="Calibri"/>
              </a:rPr>
              <a:t>Task lifecycle</a:t>
            </a:r>
          </a:p>
        </p:txBody>
      </p:sp>
      <p:sp>
        <p:nvSpPr>
          <p:cNvPr id="23" name="">
            <a:extLst xmlns:a="http://schemas.openxmlformats.org/drawingml/2006/main">
              <a:ext uri="{FF2B5EF4-FFF2-40B4-BE49-F238E27FC236}">
                <a16:creationId xmlns:a16="http://schemas.microsoft.com/office/drawing/2014/main" id="{294D51D7-7EE3-4C12-A6D7-B851AACE01D1}"/>
              </a:ext>
            </a:extLst>
          </p:cNvPr>
          <p:cNvSpPr>
            <a:spLocks xmlns:a="http://schemas.openxmlformats.org/drawingml/2006/main" noGrp="1"/>
          </p:cNvSpPr>
          <p:nvPr/>
        </p:nvSpPr>
        <p:spPr>
          <a:xfrm xmlns:a="http://schemas.openxmlformats.org/drawingml/2006/main">
            <a:off x="3314700" y="390525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Create, recur, remind, respond, edit, delete and monitor</a:t>
            </a:r>
          </a:p>
        </p:txBody>
      </p:sp>
      <p:sp>
        <p:nvSpPr>
          <p:cNvPr id="24" name="">
            <a:extLst xmlns:a="http://schemas.openxmlformats.org/drawingml/2006/main">
              <a:ext uri="{FF2B5EF4-FFF2-40B4-BE49-F238E27FC236}">
                <a16:creationId xmlns:a16="http://schemas.microsoft.com/office/drawing/2014/main" id="{B52ADD7C-18EB-42CA-9141-D0B595DD260C}"/>
              </a:ext>
            </a:extLst>
          </p:cNvPr>
          <p:cNvSpPr>
            <a:spLocks xmlns:a="http://schemas.openxmlformats.org/drawingml/2006/main" noGrp="1"/>
          </p:cNvSpPr>
          <p:nvPr/>
        </p:nvSpPr>
        <p:spPr>
          <a:xfrm xmlns:a="http://schemas.openxmlformats.org/drawingml/2006/main">
            <a:off x="952500" y="43148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5" name="">
            <a:extLst xmlns:a="http://schemas.openxmlformats.org/drawingml/2006/main">
              <a:ext uri="{FF2B5EF4-FFF2-40B4-BE49-F238E27FC236}">
                <a16:creationId xmlns:a16="http://schemas.microsoft.com/office/drawing/2014/main" id="{F987DE51-02A3-4A0B-849A-4B18C9DDB324}"/>
              </a:ext>
            </a:extLst>
          </p:cNvPr>
          <p:cNvSpPr>
            <a:spLocks xmlns:a="http://schemas.openxmlformats.org/drawingml/2006/main" noGrp="1"/>
          </p:cNvSpPr>
          <p:nvPr/>
        </p:nvSpPr>
        <p:spPr>
          <a:xfrm xmlns:a="http://schemas.openxmlformats.org/drawingml/2006/main">
            <a:off x="1390650" y="431482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8F6FF"/>
                </a:solidFill>
                <a:latin typeface="Calibri"/>
                <a:ea typeface="Calibri"/>
                <a:cs typeface="Calibri"/>
              </a:defRPr>
            </a:pPr>
            <a:r>
              <a:rPr sz="1275" b="1">
                <a:solidFill>
                  <a:srgbClr val="F8F6FF"/>
                </a:solidFill>
                <a:latin typeface="Calibri"/>
                <a:ea typeface="Calibri"/>
                <a:cs typeface="Calibri"/>
              </a:rPr>
              <a:t>Adaptive cognition</a:t>
            </a:r>
          </a:p>
        </p:txBody>
      </p:sp>
      <p:sp>
        <p:nvSpPr>
          <p:cNvPr id="26" name="">
            <a:extLst xmlns:a="http://schemas.openxmlformats.org/drawingml/2006/main">
              <a:ext uri="{FF2B5EF4-FFF2-40B4-BE49-F238E27FC236}">
                <a16:creationId xmlns:a16="http://schemas.microsoft.com/office/drawing/2014/main" id="{BDF3B2C0-08B9-4C23-B7D2-7DC165D8362E}"/>
              </a:ext>
            </a:extLst>
          </p:cNvPr>
          <p:cNvSpPr>
            <a:spLocks xmlns:a="http://schemas.openxmlformats.org/drawingml/2006/main" noGrp="1"/>
          </p:cNvSpPr>
          <p:nvPr/>
        </p:nvSpPr>
        <p:spPr>
          <a:xfrm xmlns:a="http://schemas.openxmlformats.org/drawingml/2006/main">
            <a:off x="3314700" y="4314825"/>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Correct game set, supportive guidance and independent level adjustment</a:t>
            </a:r>
          </a:p>
        </p:txBody>
      </p:sp>
      <p:sp>
        <p:nvSpPr>
          <p:cNvPr id="27" name="">
            <a:extLst xmlns:a="http://schemas.openxmlformats.org/drawingml/2006/main">
              <a:ext uri="{FF2B5EF4-FFF2-40B4-BE49-F238E27FC236}">
                <a16:creationId xmlns:a16="http://schemas.microsoft.com/office/drawing/2014/main" id="{9D70D8F2-793C-4CF9-AD06-E37CD3F9201F}"/>
              </a:ext>
            </a:extLst>
          </p:cNvPr>
          <p:cNvSpPr>
            <a:spLocks xmlns:a="http://schemas.openxmlformats.org/drawingml/2006/main" noGrp="1"/>
          </p:cNvSpPr>
          <p:nvPr/>
        </p:nvSpPr>
        <p:spPr>
          <a:xfrm xmlns:a="http://schemas.openxmlformats.org/drawingml/2006/main">
            <a:off x="952500" y="472440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8" name="">
            <a:extLst xmlns:a="http://schemas.openxmlformats.org/drawingml/2006/main">
              <a:ext uri="{FF2B5EF4-FFF2-40B4-BE49-F238E27FC236}">
                <a16:creationId xmlns:a16="http://schemas.microsoft.com/office/drawing/2014/main" id="{1C03C8C4-CB17-4D8A-8220-3361B0CD8548}"/>
              </a:ext>
            </a:extLst>
          </p:cNvPr>
          <p:cNvSpPr>
            <a:spLocks xmlns:a="http://schemas.openxmlformats.org/drawingml/2006/main" noGrp="1"/>
          </p:cNvSpPr>
          <p:nvPr/>
        </p:nvSpPr>
        <p:spPr>
          <a:xfrm xmlns:a="http://schemas.openxmlformats.org/drawingml/2006/main">
            <a:off x="1390650" y="47244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8F6FF"/>
                </a:solidFill>
                <a:latin typeface="Calibri"/>
                <a:ea typeface="Calibri"/>
                <a:cs typeface="Calibri"/>
              </a:defRPr>
            </a:pPr>
            <a:r>
              <a:rPr sz="1275" b="1">
                <a:solidFill>
                  <a:srgbClr val="F8F6FF"/>
                </a:solidFill>
                <a:latin typeface="Calibri"/>
                <a:ea typeface="Calibri"/>
                <a:cs typeface="Calibri"/>
              </a:rPr>
              <a:t>Motivation</a:t>
            </a:r>
          </a:p>
        </p:txBody>
      </p:sp>
      <p:sp>
        <p:nvSpPr>
          <p:cNvPr id="29" name="">
            <a:extLst xmlns:a="http://schemas.openxmlformats.org/drawingml/2006/main">
              <a:ext uri="{FF2B5EF4-FFF2-40B4-BE49-F238E27FC236}">
                <a16:creationId xmlns:a16="http://schemas.microsoft.com/office/drawing/2014/main" id="{FA2A21C0-633E-478A-8EB2-9D01823CFDFF}"/>
              </a:ext>
            </a:extLst>
          </p:cNvPr>
          <p:cNvSpPr>
            <a:spLocks xmlns:a="http://schemas.openxmlformats.org/drawingml/2006/main" noGrp="1"/>
          </p:cNvSpPr>
          <p:nvPr/>
        </p:nvSpPr>
        <p:spPr>
          <a:xfrm xmlns:a="http://schemas.openxmlformats.org/drawingml/2006/main">
            <a:off x="3314700" y="47244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8B0D4"/>
                </a:solidFill>
                <a:latin typeface="Calibri"/>
                <a:ea typeface="Calibri"/>
                <a:cs typeface="Calibri"/>
              </a:defRPr>
            </a:pPr>
            <a:r>
              <a:rPr sz="1200" b="0">
                <a:solidFill>
                  <a:srgbClr val="B8B0D4"/>
                </a:solidFill>
                <a:latin typeface="Calibri"/>
                <a:ea typeface="Calibri"/>
                <a:cs typeface="Calibri"/>
              </a:rPr>
              <a:t>Daily streak, shared points, level progress and reward unlocking</a:t>
            </a:r>
          </a:p>
        </p:txBody>
      </p:sp>
      <p:sp>
        <p:nvSpPr>
          <p:cNvPr id="30" name="">
            <a:extLst xmlns:a="http://schemas.openxmlformats.org/drawingml/2006/main">
              <a:ext uri="{FF2B5EF4-FFF2-40B4-BE49-F238E27FC236}">
                <a16:creationId xmlns:a16="http://schemas.microsoft.com/office/drawing/2014/main" id="{2664FB7E-8EA3-47B9-901C-65DC476D2ADC}"/>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7.9, pp. 216–223.</a:t>
            </a:r>
          </a:p>
        </p:txBody>
      </p:sp>
      <p:sp>
        <p:nvSpPr>
          <p:cNvPr id="31" name="">
            <a:extLst xmlns:a="http://schemas.openxmlformats.org/drawingml/2006/main">
              <a:ext uri="{FF2B5EF4-FFF2-40B4-BE49-F238E27FC236}">
                <a16:creationId xmlns:a16="http://schemas.microsoft.com/office/drawing/2014/main" id="{18CD2986-DBF3-49C2-B1ED-E659A68F93AE}"/>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16</a:t>
            </a:r>
          </a:p>
        </p:txBody>
      </p:sp>
    </p:spTree>
    <p:extLst>
      <p:ext uri="{BB962C8B-B14F-4D97-AF65-F5344CB8AC3E}">
        <p14:creationId xmlns:p14="http://schemas.microsoft.com/office/powerpoint/2010/main" val="374064574"/>
      </p:ext>
    </p:extLst>
  </p:cSld>
</p:sld>
</file>

<file path=ppt/slides/slide17.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BC5357-12A8-478D-8FE5-92BAD428B46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6F6AA2-AD88-40C7-8973-4ADB3CEBC385}"/>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
            <a:extLst xmlns:a="http://schemas.openxmlformats.org/drawingml/2006/main">
              <a:ext uri="{FF2B5EF4-FFF2-40B4-BE49-F238E27FC236}">
                <a16:creationId xmlns:a16="http://schemas.microsoft.com/office/drawing/2014/main" id="{0719738A-C467-41BF-AAE6-C426C6B03DE1}"/>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Usability exceeded the target</a:t>
            </a:r>
          </a:p>
        </p:txBody>
      </p:sp>
      <p:sp>
        <p:nvSpPr>
          <p:cNvPr id="4" name="">
            <a:extLst xmlns:a="http://schemas.openxmlformats.org/drawingml/2006/main">
              <a:ext uri="{FF2B5EF4-FFF2-40B4-BE49-F238E27FC236}">
                <a16:creationId xmlns:a16="http://schemas.microsoft.com/office/drawing/2014/main" id="{FF260D90-C18F-4D2B-AAB3-84FA47273F4B}"/>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Five participants produced an average System Usability Scale score of 91.0.</a:t>
            </a:r>
          </a:p>
        </p:txBody>
      </p:sp>
      <p:graphicFrame>
        <p:nvGraphicFramePr>
          <p:cNvPr id="19" name="Chart"/>
          <p:cNvGraphicFramePr/>
          <p:nvPr/>
        </p:nvGraphicFramePr>
        <p:xfrm>
          <a:off xmlns:a="http://schemas.openxmlformats.org/drawingml/2006/main" x="666750" y="1762125"/>
          <a:ext xmlns:a="http://schemas.openxmlformats.org/drawingml/2006/main" cx="7620000" cy="3857625"/>
        </p:xfrm>
        <a:graphic xmlns:a="http://schemas.openxmlformats.org/drawingml/2006/main">
          <a:graphicData uri="http://schemas.openxmlformats.org/drawingml/2006/chart">
            <c:chart xmlns:r="http://schemas.openxmlformats.org/officeDocument/2006/relationships" xmlns:c="http://schemas.openxmlformats.org/drawingml/2006/chart" r:id="Rbace77ea2e5f4fc4"/>
          </a:graphicData>
        </a:graphic>
      </p:graphicFrame>
      <p:sp>
        <p:nvSpPr>
          <p:cNvPr id="6" name="">
            <a:extLst xmlns:a="http://schemas.openxmlformats.org/drawingml/2006/main">
              <a:ext uri="{FF2B5EF4-FFF2-40B4-BE49-F238E27FC236}">
                <a16:creationId xmlns:a16="http://schemas.microsoft.com/office/drawing/2014/main" id="{9A3573F6-3A5C-4343-A680-4D7CC47AFEFB}"/>
              </a:ext>
            </a:extLst>
          </p:cNvPr>
          <p:cNvSpPr>
            <a:spLocks xmlns:a="http://schemas.openxmlformats.org/drawingml/2006/main" noGrp="1"/>
          </p:cNvSpPr>
          <p:nvPr/>
        </p:nvSpPr>
        <p:spPr>
          <a:xfrm xmlns:a="http://schemas.openxmlformats.org/drawingml/2006/main">
            <a:off x="8667750" y="1828800"/>
            <a:ext cx="2647950" cy="1714500"/>
          </a:xfrm>
          <a:prstGeom xmlns:a="http://schemas.openxmlformats.org/drawingml/2006/main" prst="roundRect">
            <a:avLst>
              <a:gd name="adj" fmla="val 8889"/>
            </a:avLst>
          </a:prstGeom>
          <a:solidFill xmlns:a="http://schemas.openxmlformats.org/drawingml/2006/main">
            <a:srgbClr val="2E275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3B6630-D613-4F70-9E77-72352C8C196F}"/>
              </a:ext>
            </a:extLst>
          </p:cNvPr>
          <p:cNvSpPr>
            <a:spLocks xmlns:a="http://schemas.openxmlformats.org/drawingml/2006/main" noGrp="1"/>
          </p:cNvSpPr>
          <p:nvPr/>
        </p:nvSpPr>
        <p:spPr>
          <a:xfrm xmlns:a="http://schemas.openxmlformats.org/drawingml/2006/main">
            <a:off x="8858250" y="2057400"/>
            <a:ext cx="2266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350" b="1">
                <a:solidFill>
                  <a:srgbClr val="2ED9A4"/>
                </a:solidFill>
                <a:latin typeface="Calibri"/>
                <a:ea typeface="Calibri"/>
                <a:cs typeface="Calibri"/>
              </a:defRPr>
            </a:pPr>
            <a:r>
              <a:rPr sz="4350" b="1">
                <a:solidFill>
                  <a:srgbClr val="2ED9A4"/>
                </a:solidFill>
                <a:latin typeface="Calibri"/>
                <a:ea typeface="Calibri"/>
                <a:cs typeface="Calibri"/>
              </a:rPr>
              <a:t>91.0</a:t>
            </a:r>
          </a:p>
        </p:txBody>
      </p:sp>
      <p:sp>
        <p:nvSpPr>
          <p:cNvPr id="8" name="">
            <a:extLst xmlns:a="http://schemas.openxmlformats.org/drawingml/2006/main">
              <a:ext uri="{FF2B5EF4-FFF2-40B4-BE49-F238E27FC236}">
                <a16:creationId xmlns:a16="http://schemas.microsoft.com/office/drawing/2014/main" id="{77CE9357-848C-4797-8F6F-B50D4A6F953C}"/>
              </a:ext>
            </a:extLst>
          </p:cNvPr>
          <p:cNvSpPr>
            <a:spLocks xmlns:a="http://schemas.openxmlformats.org/drawingml/2006/main" noGrp="1"/>
          </p:cNvSpPr>
          <p:nvPr/>
        </p:nvSpPr>
        <p:spPr>
          <a:xfrm xmlns:a="http://schemas.openxmlformats.org/drawingml/2006/main">
            <a:off x="8858250" y="2838450"/>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B8B0D4"/>
                </a:solidFill>
                <a:latin typeface="Calibri"/>
                <a:ea typeface="Calibri"/>
                <a:cs typeface="Calibri"/>
              </a:defRPr>
            </a:pPr>
            <a:r>
              <a:rPr sz="1125" b="1">
                <a:solidFill>
                  <a:srgbClr val="B8B0D4"/>
                </a:solidFill>
                <a:latin typeface="Calibri"/>
                <a:ea typeface="Calibri"/>
                <a:cs typeface="Calibri"/>
              </a:rPr>
              <a:t>AVERAGE SUS</a:t>
            </a:r>
          </a:p>
        </p:txBody>
      </p:sp>
      <p:sp>
        <p:nvSpPr>
          <p:cNvPr id="9" name="">
            <a:extLst xmlns:a="http://schemas.openxmlformats.org/drawingml/2006/main">
              <a:ext uri="{FF2B5EF4-FFF2-40B4-BE49-F238E27FC236}">
                <a16:creationId xmlns:a16="http://schemas.microsoft.com/office/drawing/2014/main" id="{32AE33C9-5DF0-45BF-87BC-0F7FC6FE8FBC}"/>
              </a:ext>
            </a:extLst>
          </p:cNvPr>
          <p:cNvSpPr>
            <a:spLocks xmlns:a="http://schemas.openxmlformats.org/drawingml/2006/main" noGrp="1"/>
          </p:cNvSpPr>
          <p:nvPr/>
        </p:nvSpPr>
        <p:spPr>
          <a:xfrm xmlns:a="http://schemas.openxmlformats.org/drawingml/2006/main">
            <a:off x="8972550" y="3771900"/>
            <a:ext cx="205740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5107AB-9A9D-4988-83F1-7AB2CDB92144}"/>
              </a:ext>
            </a:extLst>
          </p:cNvPr>
          <p:cNvSpPr>
            <a:spLocks xmlns:a="http://schemas.openxmlformats.org/drawingml/2006/main" noGrp="1"/>
          </p:cNvSpPr>
          <p:nvPr/>
        </p:nvSpPr>
        <p:spPr>
          <a:xfrm xmlns:a="http://schemas.openxmlformats.org/drawingml/2006/main">
            <a:off x="8972550" y="378142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F8F6FF"/>
                </a:solidFill>
                <a:latin typeface="Calibri"/>
                <a:ea typeface="Calibri"/>
                <a:cs typeface="Calibri"/>
              </a:defRPr>
            </a:pPr>
            <a:r>
              <a:rPr sz="1125" b="1">
                <a:solidFill>
                  <a:srgbClr val="F8F6FF"/>
                </a:solidFill>
                <a:latin typeface="Calibri"/>
                <a:ea typeface="Calibri"/>
                <a:cs typeface="Calibri"/>
              </a:rPr>
              <a:t>+6.0 ABOVE TARGET</a:t>
            </a:r>
          </a:p>
        </p:txBody>
      </p:sp>
      <p:sp>
        <p:nvSpPr>
          <p:cNvPr id="11" name="">
            <a:extLst xmlns:a="http://schemas.openxmlformats.org/drawingml/2006/main">
              <a:ext uri="{FF2B5EF4-FFF2-40B4-BE49-F238E27FC236}">
                <a16:creationId xmlns:a16="http://schemas.microsoft.com/office/drawing/2014/main" id="{F86F2778-813B-4CC7-B7D8-98B70AD80F57}"/>
              </a:ext>
            </a:extLst>
          </p:cNvPr>
          <p:cNvSpPr>
            <a:spLocks xmlns:a="http://schemas.openxmlformats.org/drawingml/2006/main" noGrp="1"/>
          </p:cNvSpPr>
          <p:nvPr/>
        </p:nvSpPr>
        <p:spPr>
          <a:xfrm xmlns:a="http://schemas.openxmlformats.org/drawingml/2006/main">
            <a:off x="8896350" y="43719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F6FF"/>
                </a:solidFill>
                <a:latin typeface="Calibri"/>
                <a:ea typeface="Calibri"/>
                <a:cs typeface="Calibri"/>
              </a:defRPr>
            </a:pPr>
            <a:r>
              <a:rPr sz="1350" b="1">
                <a:solidFill>
                  <a:srgbClr val="F8F6FF"/>
                </a:solidFill>
                <a:latin typeface="Calibri"/>
                <a:ea typeface="Calibri"/>
                <a:cs typeface="Calibri"/>
              </a:rPr>
              <a:t>Finding</a:t>
            </a:r>
          </a:p>
        </p:txBody>
      </p:sp>
      <p:sp>
        <p:nvSpPr>
          <p:cNvPr id="12" name="">
            <a:extLst xmlns:a="http://schemas.openxmlformats.org/drawingml/2006/main">
              <a:ext uri="{FF2B5EF4-FFF2-40B4-BE49-F238E27FC236}">
                <a16:creationId xmlns:a16="http://schemas.microsoft.com/office/drawing/2014/main" id="{8273D97F-8B9F-4104-A570-2DCE0D274485}"/>
              </a:ext>
            </a:extLst>
          </p:cNvPr>
          <p:cNvSpPr>
            <a:spLocks xmlns:a="http://schemas.openxmlformats.org/drawingml/2006/main" noGrp="1"/>
          </p:cNvSpPr>
          <p:nvPr/>
        </p:nvSpPr>
        <p:spPr>
          <a:xfrm xmlns:a="http://schemas.openxmlformats.org/drawingml/2006/main">
            <a:off x="8896350" y="4724400"/>
            <a:ext cx="2057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Participants found MindCare highly usable, understandable and consistent across its features.</a:t>
            </a:r>
          </a:p>
        </p:txBody>
      </p:sp>
      <p:sp>
        <p:nvSpPr>
          <p:cNvPr id="13" name="">
            <a:extLst xmlns:a="http://schemas.openxmlformats.org/drawingml/2006/main">
              <a:ext uri="{FF2B5EF4-FFF2-40B4-BE49-F238E27FC236}">
                <a16:creationId xmlns:a16="http://schemas.microsoft.com/office/drawing/2014/main" id="{814D6527-7BF6-417A-A6B9-8164E08A73E7}"/>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7.11, pp. 224–225. Target SUS = 85.</a:t>
            </a:r>
          </a:p>
        </p:txBody>
      </p:sp>
      <p:sp>
        <p:nvSpPr>
          <p:cNvPr id="14" name="">
            <a:extLst xmlns:a="http://schemas.openxmlformats.org/drawingml/2006/main">
              <a:ext uri="{FF2B5EF4-FFF2-40B4-BE49-F238E27FC236}">
                <a16:creationId xmlns:a16="http://schemas.microsoft.com/office/drawing/2014/main" id="{17911D92-1D65-4281-962D-19F19C591D47}"/>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17</a:t>
            </a:r>
          </a:p>
        </p:txBody>
      </p:sp>
    </p:spTree>
    <p:extLst>
      <p:ext uri="{BB962C8B-B14F-4D97-AF65-F5344CB8AC3E}">
        <p14:creationId xmlns:p14="http://schemas.microsoft.com/office/powerpoint/2010/main" val="995647898"/>
      </p:ext>
    </p:extLst>
  </p:cSld>
</p:sld>
</file>

<file path=ppt/slides/slide18.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AB179AB-A57F-44CE-92D2-45FA67602AC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326CFF-8F27-4911-8466-52A7EE1DFA72}"/>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
            <a:extLst xmlns:a="http://schemas.openxmlformats.org/drawingml/2006/main">
              <a:ext uri="{FF2B5EF4-FFF2-40B4-BE49-F238E27FC236}">
                <a16:creationId xmlns:a16="http://schemas.microsoft.com/office/drawing/2014/main" id="{35DF33AB-EAE0-44DE-A5F6-0EC162EB0A02}"/>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What the results demonstrated</a:t>
            </a:r>
          </a:p>
        </p:txBody>
      </p:sp>
      <p:sp>
        <p:nvSpPr>
          <p:cNvPr id="4" name="">
            <a:extLst xmlns:a="http://schemas.openxmlformats.org/drawingml/2006/main">
              <a:ext uri="{FF2B5EF4-FFF2-40B4-BE49-F238E27FC236}">
                <a16:creationId xmlns:a16="http://schemas.microsoft.com/office/drawing/2014/main" id="{9C905C42-20C5-42BC-9AE5-75A18CE3EAE8}"/>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evidence supported usability and workflow completion, while also revealing the boundary of the evaluation.</a:t>
            </a:r>
          </a:p>
        </p:txBody>
      </p:sp>
      <p:sp>
        <p:nvSpPr>
          <p:cNvPr id="5" name="">
            <a:extLst xmlns:a="http://schemas.openxmlformats.org/drawingml/2006/main">
              <a:ext uri="{FF2B5EF4-FFF2-40B4-BE49-F238E27FC236}">
                <a16:creationId xmlns:a16="http://schemas.microsoft.com/office/drawing/2014/main" id="{AC3010AD-DECF-4E7A-A0A0-A7D0E8EC2720}"/>
              </a:ext>
            </a:extLst>
          </p:cNvPr>
          <p:cNvSpPr>
            <a:spLocks xmlns:a="http://schemas.openxmlformats.org/drawingml/2006/main" noGrp="1"/>
          </p:cNvSpPr>
          <p:nvPr/>
        </p:nvSpPr>
        <p:spPr>
          <a:xfrm xmlns:a="http://schemas.openxmlformats.org/drawingml/2006/main">
            <a:off x="762000" y="17907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ED9A4"/>
                </a:solidFill>
                <a:latin typeface="Calibri"/>
                <a:ea typeface="Calibri"/>
                <a:cs typeface="Calibri"/>
              </a:defRPr>
            </a:pPr>
            <a:r>
              <a:rPr sz="2250" b="1">
                <a:solidFill>
                  <a:srgbClr val="2ED9A4"/>
                </a:solidFill>
                <a:latin typeface="Calibri"/>
                <a:ea typeface="Calibri"/>
                <a:cs typeface="Calibri"/>
              </a:rPr>
              <a:t>01</a:t>
            </a:r>
          </a:p>
        </p:txBody>
      </p:sp>
      <p:sp>
        <p:nvSpPr>
          <p:cNvPr id="6" name="">
            <a:extLst xmlns:a="http://schemas.openxmlformats.org/drawingml/2006/main">
              <a:ext uri="{FF2B5EF4-FFF2-40B4-BE49-F238E27FC236}">
                <a16:creationId xmlns:a16="http://schemas.microsoft.com/office/drawing/2014/main" id="{6826016F-3418-45E7-BEA4-5634848A1A4D}"/>
              </a:ext>
            </a:extLst>
          </p:cNvPr>
          <p:cNvSpPr>
            <a:spLocks xmlns:a="http://schemas.openxmlformats.org/drawingml/2006/main" noGrp="1"/>
          </p:cNvSpPr>
          <p:nvPr/>
        </p:nvSpPr>
        <p:spPr>
          <a:xfrm xmlns:a="http://schemas.openxmlformats.org/drawingml/2006/main">
            <a:off x="1447800" y="18002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Complex workflows remained understandable</a:t>
            </a:r>
          </a:p>
        </p:txBody>
      </p:sp>
      <p:sp>
        <p:nvSpPr>
          <p:cNvPr id="7" name="">
            <a:extLst xmlns:a="http://schemas.openxmlformats.org/drawingml/2006/main">
              <a:ext uri="{FF2B5EF4-FFF2-40B4-BE49-F238E27FC236}">
                <a16:creationId xmlns:a16="http://schemas.microsoft.com/office/drawing/2014/main" id="{729992EF-9649-48C3-8774-E037AF9D385D}"/>
              </a:ext>
            </a:extLst>
          </p:cNvPr>
          <p:cNvSpPr>
            <a:spLocks xmlns:a="http://schemas.openxmlformats.org/drawingml/2006/main" noGrp="1"/>
          </p:cNvSpPr>
          <p:nvPr/>
        </p:nvSpPr>
        <p:spPr>
          <a:xfrm xmlns:a="http://schemas.openxmlformats.org/drawingml/2006/main">
            <a:off x="1447800" y="21145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UAT covered recurrence, repeated reminders, occurrence status, adaptive games and reward unlocking without role confusion.</a:t>
            </a:r>
          </a:p>
        </p:txBody>
      </p:sp>
      <p:sp>
        <p:nvSpPr>
          <p:cNvPr id="8" name="">
            <a:extLst xmlns:a="http://schemas.openxmlformats.org/drawingml/2006/main">
              <a:ext uri="{FF2B5EF4-FFF2-40B4-BE49-F238E27FC236}">
                <a16:creationId xmlns:a16="http://schemas.microsoft.com/office/drawing/2014/main" id="{E92F6575-512A-4DB1-8B1E-8698F239F471}"/>
              </a:ext>
            </a:extLst>
          </p:cNvPr>
          <p:cNvSpPr>
            <a:spLocks xmlns:a="http://schemas.openxmlformats.org/drawingml/2006/main" noGrp="1"/>
          </p:cNvSpPr>
          <p:nvPr/>
        </p:nvSpPr>
        <p:spPr>
          <a:xfrm xmlns:a="http://schemas.openxmlformats.org/drawingml/2006/main">
            <a:off x="762000" y="30480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7C83FD"/>
                </a:solidFill>
                <a:latin typeface="Calibri"/>
                <a:ea typeface="Calibri"/>
                <a:cs typeface="Calibri"/>
              </a:defRPr>
            </a:pPr>
            <a:r>
              <a:rPr sz="2250" b="1">
                <a:solidFill>
                  <a:srgbClr val="7C83FD"/>
                </a:solidFill>
                <a:latin typeface="Calibri"/>
                <a:ea typeface="Calibri"/>
                <a:cs typeface="Calibri"/>
              </a:rPr>
              <a:t>02</a:t>
            </a:r>
          </a:p>
        </p:txBody>
      </p:sp>
      <p:sp>
        <p:nvSpPr>
          <p:cNvPr id="9" name="">
            <a:extLst xmlns:a="http://schemas.openxmlformats.org/drawingml/2006/main">
              <a:ext uri="{FF2B5EF4-FFF2-40B4-BE49-F238E27FC236}">
                <a16:creationId xmlns:a16="http://schemas.microsoft.com/office/drawing/2014/main" id="{23F8031D-01DF-4F8E-BBA8-D1AABFB3244B}"/>
              </a:ext>
            </a:extLst>
          </p:cNvPr>
          <p:cNvSpPr>
            <a:spLocks xmlns:a="http://schemas.openxmlformats.org/drawingml/2006/main" noGrp="1"/>
          </p:cNvSpPr>
          <p:nvPr/>
        </p:nvSpPr>
        <p:spPr>
          <a:xfrm xmlns:a="http://schemas.openxmlformats.org/drawingml/2006/main">
            <a:off x="1447800" y="30575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Personalisation was demonstrated</a:t>
            </a:r>
          </a:p>
        </p:txBody>
      </p:sp>
      <p:sp>
        <p:nvSpPr>
          <p:cNvPr id="10" name="">
            <a:extLst xmlns:a="http://schemas.openxmlformats.org/drawingml/2006/main">
              <a:ext uri="{FF2B5EF4-FFF2-40B4-BE49-F238E27FC236}">
                <a16:creationId xmlns:a16="http://schemas.microsoft.com/office/drawing/2014/main" id="{B5AC052E-A4F2-4D65-A6DE-DC4D579ECBC5}"/>
              </a:ext>
            </a:extLst>
          </p:cNvPr>
          <p:cNvSpPr>
            <a:spLocks xmlns:a="http://schemas.openxmlformats.org/drawingml/2006/main" noGrp="1"/>
          </p:cNvSpPr>
          <p:nvPr/>
        </p:nvSpPr>
        <p:spPr>
          <a:xfrm xmlns:a="http://schemas.openxmlformats.org/drawingml/2006/main">
            <a:off x="1447800" y="33718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The correct game set was selected from dementia type and stage, and each game adapted independently from recent session data.</a:t>
            </a:r>
          </a:p>
        </p:txBody>
      </p:sp>
      <p:sp>
        <p:nvSpPr>
          <p:cNvPr id="11" name="">
            <a:extLst xmlns:a="http://schemas.openxmlformats.org/drawingml/2006/main">
              <a:ext uri="{FF2B5EF4-FFF2-40B4-BE49-F238E27FC236}">
                <a16:creationId xmlns:a16="http://schemas.microsoft.com/office/drawing/2014/main" id="{9723ED31-EE13-45CF-9710-D3CFE2B493A1}"/>
              </a:ext>
            </a:extLst>
          </p:cNvPr>
          <p:cNvSpPr>
            <a:spLocks xmlns:a="http://schemas.openxmlformats.org/drawingml/2006/main" noGrp="1"/>
          </p:cNvSpPr>
          <p:nvPr/>
        </p:nvSpPr>
        <p:spPr>
          <a:xfrm xmlns:a="http://schemas.openxmlformats.org/drawingml/2006/main">
            <a:off x="762000" y="4305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6B62"/>
                </a:solidFill>
                <a:latin typeface="Calibri"/>
                <a:ea typeface="Calibri"/>
                <a:cs typeface="Calibri"/>
              </a:defRPr>
            </a:pPr>
            <a:r>
              <a:rPr sz="2250" b="1">
                <a:solidFill>
                  <a:srgbClr val="FF6B62"/>
                </a:solidFill>
                <a:latin typeface="Calibri"/>
                <a:ea typeface="Calibri"/>
                <a:cs typeface="Calibri"/>
              </a:rPr>
              <a:t>03</a:t>
            </a:r>
          </a:p>
        </p:txBody>
      </p:sp>
      <p:sp>
        <p:nvSpPr>
          <p:cNvPr id="12" name="">
            <a:extLst xmlns:a="http://schemas.openxmlformats.org/drawingml/2006/main">
              <a:ext uri="{FF2B5EF4-FFF2-40B4-BE49-F238E27FC236}">
                <a16:creationId xmlns:a16="http://schemas.microsoft.com/office/drawing/2014/main" id="{8E5D650B-4649-468C-BC22-32389D576BF6}"/>
              </a:ext>
            </a:extLst>
          </p:cNvPr>
          <p:cNvSpPr>
            <a:spLocks xmlns:a="http://schemas.openxmlformats.org/drawingml/2006/main" noGrp="1"/>
          </p:cNvSpPr>
          <p:nvPr/>
        </p:nvSpPr>
        <p:spPr>
          <a:xfrm xmlns:a="http://schemas.openxmlformats.org/drawingml/2006/main">
            <a:off x="1447800" y="43148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Caregiver control stayed visible</a:t>
            </a:r>
          </a:p>
        </p:txBody>
      </p:sp>
      <p:sp>
        <p:nvSpPr>
          <p:cNvPr id="13" name="">
            <a:extLst xmlns:a="http://schemas.openxmlformats.org/drawingml/2006/main">
              <a:ext uri="{FF2B5EF4-FFF2-40B4-BE49-F238E27FC236}">
                <a16:creationId xmlns:a16="http://schemas.microsoft.com/office/drawing/2014/main" id="{28457AF7-B9FF-4208-A514-3158737827C6}"/>
              </a:ext>
            </a:extLst>
          </p:cNvPr>
          <p:cNvSpPr>
            <a:spLocks xmlns:a="http://schemas.openxmlformats.org/drawingml/2006/main" noGrp="1"/>
          </p:cNvSpPr>
          <p:nvPr/>
        </p:nvSpPr>
        <p:spPr>
          <a:xfrm xmlns:a="http://schemas.openxmlformats.org/drawingml/2006/main">
            <a:off x="1447800" y="46291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Statistics, override reasons, change history, analytics and risk explanations supported accountable monitoring.</a:t>
            </a:r>
          </a:p>
        </p:txBody>
      </p:sp>
      <p:sp>
        <p:nvSpPr>
          <p:cNvPr id="14" name="">
            <a:extLst xmlns:a="http://schemas.openxmlformats.org/drawingml/2006/main">
              <a:ext uri="{FF2B5EF4-FFF2-40B4-BE49-F238E27FC236}">
                <a16:creationId xmlns:a16="http://schemas.microsoft.com/office/drawing/2014/main" id="{435BA57E-C4A4-42E5-A904-0D2ABE11ED93}"/>
              </a:ext>
            </a:extLst>
          </p:cNvPr>
          <p:cNvSpPr>
            <a:spLocks xmlns:a="http://schemas.openxmlformats.org/drawingml/2006/main" noGrp="1"/>
          </p:cNvSpPr>
          <p:nvPr/>
        </p:nvSpPr>
        <p:spPr>
          <a:xfrm xmlns:a="http://schemas.openxmlformats.org/drawingml/2006/main">
            <a:off x="6667500" y="1809750"/>
            <a:ext cx="4476750" cy="3486150"/>
          </a:xfrm>
          <a:prstGeom xmlns:a="http://schemas.openxmlformats.org/drawingml/2006/main" prst="roundRect">
            <a:avLst>
              <a:gd name="adj" fmla="val 4372"/>
            </a:avLst>
          </a:prstGeom>
          <a:solidFill xmlns:a="http://schemas.openxmlformats.org/drawingml/2006/main">
            <a:srgbClr val="2E275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C5841B-697D-48AE-99FD-85388E04ED67}"/>
              </a:ext>
            </a:extLst>
          </p:cNvPr>
          <p:cNvSpPr>
            <a:spLocks xmlns:a="http://schemas.openxmlformats.org/drawingml/2006/main" noGrp="1"/>
          </p:cNvSpPr>
          <p:nvPr/>
        </p:nvSpPr>
        <p:spPr>
          <a:xfrm xmlns:a="http://schemas.openxmlformats.org/drawingml/2006/main">
            <a:off x="6934200" y="2057400"/>
            <a:ext cx="2000250" cy="323850"/>
          </a:xfrm>
          <a:prstGeom xmlns:a="http://schemas.openxmlformats.org/drawingml/2006/main" prst="roundRect">
            <a:avLst>
              <a:gd name="adj" fmla="val 35294"/>
            </a:avLst>
          </a:prstGeom>
          <a:solidFill xmlns:a="http://schemas.openxmlformats.org/drawingml/2006/main">
            <a:srgbClr val="FFB02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A55DEFC-3F85-4B32-8057-F8FD9A1C3B02}"/>
              </a:ext>
            </a:extLst>
          </p:cNvPr>
          <p:cNvSpPr>
            <a:spLocks xmlns:a="http://schemas.openxmlformats.org/drawingml/2006/main" noGrp="1"/>
          </p:cNvSpPr>
          <p:nvPr/>
        </p:nvSpPr>
        <p:spPr>
          <a:xfrm xmlns:a="http://schemas.openxmlformats.org/drawingml/2006/main">
            <a:off x="6934200" y="20669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01A33"/>
                </a:solidFill>
                <a:latin typeface="Calibri"/>
                <a:ea typeface="Calibri"/>
                <a:cs typeface="Calibri"/>
              </a:defRPr>
            </a:pPr>
            <a:r>
              <a:rPr sz="1125" b="1">
                <a:solidFill>
                  <a:srgbClr val="201A33"/>
                </a:solidFill>
                <a:latin typeface="Calibri"/>
                <a:ea typeface="Calibri"/>
                <a:cs typeface="Calibri"/>
              </a:rPr>
              <a:t>INTERPRET WITH CARE</a:t>
            </a:r>
          </a:p>
        </p:txBody>
      </p:sp>
      <p:sp>
        <p:nvSpPr>
          <p:cNvPr id="17" name="">
            <a:extLst xmlns:a="http://schemas.openxmlformats.org/drawingml/2006/main">
              <a:ext uri="{FF2B5EF4-FFF2-40B4-BE49-F238E27FC236}">
                <a16:creationId xmlns:a16="http://schemas.microsoft.com/office/drawing/2014/main" id="{71BBB464-6AD6-47B3-9476-BD7993B61122}"/>
              </a:ext>
            </a:extLst>
          </p:cNvPr>
          <p:cNvSpPr>
            <a:spLocks xmlns:a="http://schemas.openxmlformats.org/drawingml/2006/main" noGrp="1"/>
          </p:cNvSpPr>
          <p:nvPr/>
        </p:nvSpPr>
        <p:spPr>
          <a:xfrm xmlns:a="http://schemas.openxmlformats.org/drawingml/2006/main">
            <a:off x="6934200" y="2686050"/>
            <a:ext cx="3886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8F6FF"/>
                </a:solidFill>
                <a:latin typeface="Calibri"/>
                <a:ea typeface="Calibri"/>
                <a:cs typeface="Calibri"/>
              </a:defRPr>
            </a:pPr>
            <a:r>
              <a:rPr sz="1800" b="1">
                <a:solidFill>
                  <a:srgbClr val="F8F6FF"/>
                </a:solidFill>
                <a:latin typeface="Calibri"/>
                <a:ea typeface="Calibri"/>
                <a:cs typeface="Calibri"/>
              </a:rPr>
              <a:t>The usability result was strong, but the sample contained only five participants.</a:t>
            </a:r>
          </a:p>
        </p:txBody>
      </p:sp>
      <p:sp>
        <p:nvSpPr>
          <p:cNvPr id="18" name="">
            <a:extLst xmlns:a="http://schemas.openxmlformats.org/drawingml/2006/main">
              <a:ext uri="{FF2B5EF4-FFF2-40B4-BE49-F238E27FC236}">
                <a16:creationId xmlns:a16="http://schemas.microsoft.com/office/drawing/2014/main" id="{B4EBB49C-8112-4D29-8061-160B25868F19}"/>
              </a:ext>
            </a:extLst>
          </p:cNvPr>
          <p:cNvSpPr>
            <a:spLocks xmlns:a="http://schemas.openxmlformats.org/drawingml/2006/main" noGrp="1"/>
          </p:cNvSpPr>
          <p:nvPr/>
        </p:nvSpPr>
        <p:spPr>
          <a:xfrm xmlns:a="http://schemas.openxmlformats.org/drawingml/2006/main">
            <a:off x="6934200" y="3733800"/>
            <a:ext cx="3886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risk indicator remained a caregiver-support rule rather than a clinical diagnosis. Broader trials and professional review would be needed before making clinical claims.</a:t>
            </a:r>
          </a:p>
        </p:txBody>
      </p:sp>
      <p:sp>
        <p:nvSpPr>
          <p:cNvPr id="19" name="">
            <a:extLst xmlns:a="http://schemas.openxmlformats.org/drawingml/2006/main">
              <a:ext uri="{FF2B5EF4-FFF2-40B4-BE49-F238E27FC236}">
                <a16:creationId xmlns:a16="http://schemas.microsoft.com/office/drawing/2014/main" id="{0689425E-BBD1-4081-A200-379D2FD4A086}"/>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Chapters 7–8.</a:t>
            </a:r>
          </a:p>
        </p:txBody>
      </p:sp>
      <p:sp>
        <p:nvSpPr>
          <p:cNvPr id="20" name="">
            <a:extLst xmlns:a="http://schemas.openxmlformats.org/drawingml/2006/main">
              <a:ext uri="{FF2B5EF4-FFF2-40B4-BE49-F238E27FC236}">
                <a16:creationId xmlns:a16="http://schemas.microsoft.com/office/drawing/2014/main" id="{1B29C4C0-34B3-4FBB-AA58-CA2EEF21EB9C}"/>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18</a:t>
            </a:r>
          </a:p>
        </p:txBody>
      </p:sp>
    </p:spTree>
    <p:extLst>
      <p:ext uri="{BB962C8B-B14F-4D97-AF65-F5344CB8AC3E}">
        <p14:creationId xmlns:p14="http://schemas.microsoft.com/office/powerpoint/2010/main" val="1303776192"/>
      </p:ext>
    </p:extLst>
  </p:cSld>
</p:sld>
</file>

<file path=ppt/slides/slide19.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F235E6A-944C-40E9-8102-17732DD9FD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7A7503-AA94-488D-82CE-6C7944D7B4AD}"/>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8 · CONCLUSION</a:t>
            </a:r>
          </a:p>
        </p:txBody>
      </p:sp>
      <p:sp>
        <p:nvSpPr>
          <p:cNvPr id="3" name="">
            <a:extLst xmlns:a="http://schemas.openxmlformats.org/drawingml/2006/main">
              <a:ext uri="{FF2B5EF4-FFF2-40B4-BE49-F238E27FC236}">
                <a16:creationId xmlns:a16="http://schemas.microsoft.com/office/drawing/2014/main" id="{8BAA4BAD-8B04-4002-B7A1-BDE7B034E454}"/>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All three formal objectives were achieved</a:t>
            </a:r>
          </a:p>
        </p:txBody>
      </p:sp>
      <p:sp>
        <p:nvSpPr>
          <p:cNvPr id="4" name="">
            <a:extLst xmlns:a="http://schemas.openxmlformats.org/drawingml/2006/main">
              <a:ext uri="{FF2B5EF4-FFF2-40B4-BE49-F238E27FC236}">
                <a16:creationId xmlns:a16="http://schemas.microsoft.com/office/drawing/2014/main" id="{A753772B-2254-44E8-AC66-6A2675411074}"/>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outcomes can be linked directly to implemented modules and measured evidence.</a:t>
            </a:r>
          </a:p>
        </p:txBody>
      </p:sp>
      <p:sp>
        <p:nvSpPr>
          <p:cNvPr id="5" name="">
            <a:extLst xmlns:a="http://schemas.openxmlformats.org/drawingml/2006/main">
              <a:ext uri="{FF2B5EF4-FFF2-40B4-BE49-F238E27FC236}">
                <a16:creationId xmlns:a16="http://schemas.microsoft.com/office/drawing/2014/main" id="{2F4B9C3E-EA6C-4534-A112-9330AC26E135}"/>
              </a:ext>
            </a:extLst>
          </p:cNvPr>
          <p:cNvSpPr>
            <a:spLocks xmlns:a="http://schemas.openxmlformats.org/drawingml/2006/main" noGrp="1"/>
          </p:cNvSpPr>
          <p:nvPr/>
        </p:nvSpPr>
        <p:spPr>
          <a:xfrm xmlns:a="http://schemas.openxmlformats.org/drawingml/2006/main">
            <a:off x="685800" y="17907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FF6B62"/>
                </a:solidFill>
                <a:latin typeface="Calibri"/>
                <a:ea typeface="Calibri"/>
                <a:cs typeface="Calibri"/>
              </a:defRPr>
            </a:pPr>
            <a:r>
              <a:rPr sz="1050" b="1">
                <a:solidFill>
                  <a:srgbClr val="FF6B62"/>
                </a:solidFill>
                <a:latin typeface="Calibri"/>
                <a:ea typeface="Calibri"/>
                <a:cs typeface="Calibri"/>
              </a:rPr>
              <a:t>OBJECTIVE 1</a:t>
            </a:r>
          </a:p>
        </p:txBody>
      </p:sp>
      <p:sp>
        <p:nvSpPr>
          <p:cNvPr id="6" name="">
            <a:extLst xmlns:a="http://schemas.openxmlformats.org/drawingml/2006/main">
              <a:ext uri="{FF2B5EF4-FFF2-40B4-BE49-F238E27FC236}">
                <a16:creationId xmlns:a16="http://schemas.microsoft.com/office/drawing/2014/main" id="{42F8E59A-2925-4CF5-9852-AD285F0542FC}"/>
              </a:ext>
            </a:extLst>
          </p:cNvPr>
          <p:cNvSpPr>
            <a:spLocks xmlns:a="http://schemas.openxmlformats.org/drawingml/2006/main" noGrp="1"/>
          </p:cNvSpPr>
          <p:nvPr/>
        </p:nvSpPr>
        <p:spPr>
          <a:xfrm xmlns:a="http://schemas.openxmlformats.org/drawingml/2006/main">
            <a:off x="685800" y="209550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8F6FF"/>
                </a:solidFill>
                <a:latin typeface="Calibri"/>
                <a:ea typeface="Calibri"/>
                <a:cs typeface="Calibri"/>
              </a:defRPr>
            </a:pPr>
            <a:r>
              <a:rPr sz="1800" b="1">
                <a:solidFill>
                  <a:srgbClr val="F8F6FF"/>
                </a:solidFill>
                <a:latin typeface="Calibri"/>
                <a:ea typeface="Calibri"/>
                <a:cs typeface="Calibri"/>
              </a:rPr>
              <a:t>Build integrated daily and caregiver support</a:t>
            </a:r>
          </a:p>
        </p:txBody>
      </p:sp>
      <p:sp>
        <p:nvSpPr>
          <p:cNvPr id="7" name="">
            <a:extLst xmlns:a="http://schemas.openxmlformats.org/drawingml/2006/main">
              <a:ext uri="{FF2B5EF4-FFF2-40B4-BE49-F238E27FC236}">
                <a16:creationId xmlns:a16="http://schemas.microsoft.com/office/drawing/2014/main" id="{C20D6C6F-C14B-4BF1-89C8-4697DD05D1B1}"/>
              </a:ext>
            </a:extLst>
          </p:cNvPr>
          <p:cNvSpPr>
            <a:spLocks xmlns:a="http://schemas.openxmlformats.org/drawingml/2006/main" noGrp="1"/>
          </p:cNvSpPr>
          <p:nvPr/>
        </p:nvSpPr>
        <p:spPr>
          <a:xfrm xmlns:a="http://schemas.openxmlformats.org/drawingml/2006/main">
            <a:off x="4267200" y="1800225"/>
            <a:ext cx="38100" cy="1000125"/>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AC9DBD2-57A8-406B-809B-0A9B2D25AC0E}"/>
              </a:ext>
            </a:extLst>
          </p:cNvPr>
          <p:cNvSpPr>
            <a:spLocks xmlns:a="http://schemas.openxmlformats.org/drawingml/2006/main" noGrp="1"/>
          </p:cNvSpPr>
          <p:nvPr/>
        </p:nvSpPr>
        <p:spPr>
          <a:xfrm xmlns:a="http://schemas.openxmlformats.org/drawingml/2006/main">
            <a:off x="4552950" y="1857375"/>
            <a:ext cx="657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Achieved through patient management, recurring task and medication schedules, repeated reminders, role-specific dashboards, status tracking, analytics and rewards.</a:t>
            </a:r>
          </a:p>
        </p:txBody>
      </p:sp>
      <p:sp>
        <p:nvSpPr>
          <p:cNvPr id="9" name="">
            <a:extLst xmlns:a="http://schemas.openxmlformats.org/drawingml/2006/main">
              <a:ext uri="{FF2B5EF4-FFF2-40B4-BE49-F238E27FC236}">
                <a16:creationId xmlns:a16="http://schemas.microsoft.com/office/drawing/2014/main" id="{5868C56F-A6B0-410E-9068-D3D854AEE3BF}"/>
              </a:ext>
            </a:extLst>
          </p:cNvPr>
          <p:cNvSpPr>
            <a:spLocks xmlns:a="http://schemas.openxmlformats.org/drawingml/2006/main" noGrp="1"/>
          </p:cNvSpPr>
          <p:nvPr/>
        </p:nvSpPr>
        <p:spPr>
          <a:xfrm xmlns:a="http://schemas.openxmlformats.org/drawingml/2006/main">
            <a:off x="685800" y="32004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2ED9A4"/>
                </a:solidFill>
                <a:latin typeface="Calibri"/>
                <a:ea typeface="Calibri"/>
                <a:cs typeface="Calibri"/>
              </a:defRPr>
            </a:pPr>
            <a:r>
              <a:rPr sz="1050" b="1">
                <a:solidFill>
                  <a:srgbClr val="2ED9A4"/>
                </a:solidFill>
                <a:latin typeface="Calibri"/>
                <a:ea typeface="Calibri"/>
                <a:cs typeface="Calibri"/>
              </a:rPr>
              <a:t>OBJECTIVE 2</a:t>
            </a:r>
          </a:p>
        </p:txBody>
      </p:sp>
      <p:sp>
        <p:nvSpPr>
          <p:cNvPr id="10" name="">
            <a:extLst xmlns:a="http://schemas.openxmlformats.org/drawingml/2006/main">
              <a:ext uri="{FF2B5EF4-FFF2-40B4-BE49-F238E27FC236}">
                <a16:creationId xmlns:a16="http://schemas.microsoft.com/office/drawing/2014/main" id="{26A8BC70-700C-4BFD-A33D-6AD708232EA7}"/>
              </a:ext>
            </a:extLst>
          </p:cNvPr>
          <p:cNvSpPr>
            <a:spLocks xmlns:a="http://schemas.openxmlformats.org/drawingml/2006/main" noGrp="1"/>
          </p:cNvSpPr>
          <p:nvPr/>
        </p:nvSpPr>
        <p:spPr>
          <a:xfrm xmlns:a="http://schemas.openxmlformats.org/drawingml/2006/main">
            <a:off x="685800" y="350520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8F6FF"/>
                </a:solidFill>
                <a:latin typeface="Calibri"/>
                <a:ea typeface="Calibri"/>
                <a:cs typeface="Calibri"/>
              </a:defRPr>
            </a:pPr>
            <a:r>
              <a:rPr sz="1800" b="1">
                <a:solidFill>
                  <a:srgbClr val="F8F6FF"/>
                </a:solidFill>
                <a:latin typeface="Calibri"/>
                <a:ea typeface="Calibri"/>
                <a:cs typeface="Calibri"/>
              </a:rPr>
              <a:t>Evaluate usability and acceptance</a:t>
            </a:r>
          </a:p>
        </p:txBody>
      </p:sp>
      <p:sp>
        <p:nvSpPr>
          <p:cNvPr id="11" name="">
            <a:extLst xmlns:a="http://schemas.openxmlformats.org/drawingml/2006/main">
              <a:ext uri="{FF2B5EF4-FFF2-40B4-BE49-F238E27FC236}">
                <a16:creationId xmlns:a16="http://schemas.microsoft.com/office/drawing/2014/main" id="{5402C40D-B9D3-4BCE-801C-8818827239DF}"/>
              </a:ext>
            </a:extLst>
          </p:cNvPr>
          <p:cNvSpPr>
            <a:spLocks xmlns:a="http://schemas.openxmlformats.org/drawingml/2006/main" noGrp="1"/>
          </p:cNvSpPr>
          <p:nvPr/>
        </p:nvSpPr>
        <p:spPr>
          <a:xfrm xmlns:a="http://schemas.openxmlformats.org/drawingml/2006/main">
            <a:off x="4267200" y="3209925"/>
            <a:ext cx="38100" cy="1000125"/>
          </a:xfrm>
          <a:prstGeom xmlns:a="http://schemas.openxmlformats.org/drawingml/2006/main" prst="rect">
            <a:avLst/>
          </a:prstGeom>
          <a:solidFill xmlns:a="http://schemas.openxmlformats.org/drawingml/2006/main">
            <a:srgbClr val="2ED9A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7861278-EE0D-415D-B0BB-AD11CC517D3E}"/>
              </a:ext>
            </a:extLst>
          </p:cNvPr>
          <p:cNvSpPr>
            <a:spLocks xmlns:a="http://schemas.openxmlformats.org/drawingml/2006/main" noGrp="1"/>
          </p:cNvSpPr>
          <p:nvPr/>
        </p:nvSpPr>
        <p:spPr>
          <a:xfrm xmlns:a="http://schemas.openxmlformats.org/drawingml/2006/main">
            <a:off x="4552950" y="3267075"/>
            <a:ext cx="657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Achieved through 34 passed UAT cases and an average SUS score of 91.0, which exceeded the target of 85.</a:t>
            </a:r>
          </a:p>
        </p:txBody>
      </p:sp>
      <p:sp>
        <p:nvSpPr>
          <p:cNvPr id="13" name="">
            <a:extLst xmlns:a="http://schemas.openxmlformats.org/drawingml/2006/main">
              <a:ext uri="{FF2B5EF4-FFF2-40B4-BE49-F238E27FC236}">
                <a16:creationId xmlns:a16="http://schemas.microsoft.com/office/drawing/2014/main" id="{55FAC11F-4EF3-43FF-A171-BCD8C2E9B65B}"/>
              </a:ext>
            </a:extLst>
          </p:cNvPr>
          <p:cNvSpPr>
            <a:spLocks xmlns:a="http://schemas.openxmlformats.org/drawingml/2006/main" noGrp="1"/>
          </p:cNvSpPr>
          <p:nvPr/>
        </p:nvSpPr>
        <p:spPr>
          <a:xfrm xmlns:a="http://schemas.openxmlformats.org/drawingml/2006/main">
            <a:off x="685800" y="46101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FF6B62"/>
                </a:solidFill>
                <a:latin typeface="Calibri"/>
                <a:ea typeface="Calibri"/>
                <a:cs typeface="Calibri"/>
              </a:defRPr>
            </a:pPr>
            <a:r>
              <a:rPr sz="1050" b="1">
                <a:solidFill>
                  <a:srgbClr val="FF6B62"/>
                </a:solidFill>
                <a:latin typeface="Calibri"/>
                <a:ea typeface="Calibri"/>
                <a:cs typeface="Calibri"/>
              </a:rPr>
              <a:t>OBJECTIVE 3</a:t>
            </a:r>
          </a:p>
        </p:txBody>
      </p:sp>
      <p:sp>
        <p:nvSpPr>
          <p:cNvPr id="14" name="">
            <a:extLst xmlns:a="http://schemas.openxmlformats.org/drawingml/2006/main">
              <a:ext uri="{FF2B5EF4-FFF2-40B4-BE49-F238E27FC236}">
                <a16:creationId xmlns:a16="http://schemas.microsoft.com/office/drawing/2014/main" id="{4183282A-8843-4C41-B8A9-B610D6C15F0F}"/>
              </a:ext>
            </a:extLst>
          </p:cNvPr>
          <p:cNvSpPr>
            <a:spLocks xmlns:a="http://schemas.openxmlformats.org/drawingml/2006/main" noGrp="1"/>
          </p:cNvSpPr>
          <p:nvPr/>
        </p:nvSpPr>
        <p:spPr>
          <a:xfrm xmlns:a="http://schemas.openxmlformats.org/drawingml/2006/main">
            <a:off x="685800" y="491490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8F6FF"/>
                </a:solidFill>
                <a:latin typeface="Calibri"/>
                <a:ea typeface="Calibri"/>
                <a:cs typeface="Calibri"/>
              </a:defRPr>
            </a:pPr>
            <a:r>
              <a:rPr sz="1800" b="1">
                <a:solidFill>
                  <a:srgbClr val="F8F6FF"/>
                </a:solidFill>
                <a:latin typeface="Calibri"/>
                <a:ea typeface="Calibri"/>
                <a:cs typeface="Calibri"/>
              </a:rPr>
              <a:t>Deliver personalised adaptive cognition</a:t>
            </a:r>
          </a:p>
        </p:txBody>
      </p:sp>
      <p:sp>
        <p:nvSpPr>
          <p:cNvPr id="15" name="">
            <a:extLst xmlns:a="http://schemas.openxmlformats.org/drawingml/2006/main">
              <a:ext uri="{FF2B5EF4-FFF2-40B4-BE49-F238E27FC236}">
                <a16:creationId xmlns:a16="http://schemas.microsoft.com/office/drawing/2014/main" id="{2EF78F60-EB74-4B89-804A-697F2473035F}"/>
              </a:ext>
            </a:extLst>
          </p:cNvPr>
          <p:cNvSpPr>
            <a:spLocks xmlns:a="http://schemas.openxmlformats.org/drawingml/2006/main" noGrp="1"/>
          </p:cNvSpPr>
          <p:nvPr/>
        </p:nvSpPr>
        <p:spPr>
          <a:xfrm xmlns:a="http://schemas.openxmlformats.org/drawingml/2006/main">
            <a:off x="4267200" y="4619625"/>
            <a:ext cx="38100" cy="1000125"/>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68B4BD9-E19C-4F7A-BAAE-B6D44F5B6F33}"/>
              </a:ext>
            </a:extLst>
          </p:cNvPr>
          <p:cNvSpPr>
            <a:spLocks xmlns:a="http://schemas.openxmlformats.org/drawingml/2006/main" noGrp="1"/>
          </p:cNvSpPr>
          <p:nvPr/>
        </p:nvSpPr>
        <p:spPr>
          <a:xfrm xmlns:a="http://schemas.openxmlformats.org/drawingml/2006/main">
            <a:off x="4552950" y="4676775"/>
            <a:ext cx="657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Achieved through four dementia type-and-stage game sets, per-game automatic difficulty, caregiver override, freeze/resume and difficulty history.</a:t>
            </a:r>
          </a:p>
        </p:txBody>
      </p:sp>
      <p:sp>
        <p:nvSpPr>
          <p:cNvPr id="17" name="">
            <a:extLst xmlns:a="http://schemas.openxmlformats.org/drawingml/2006/main">
              <a:ext uri="{FF2B5EF4-FFF2-40B4-BE49-F238E27FC236}">
                <a16:creationId xmlns:a16="http://schemas.microsoft.com/office/drawing/2014/main" id="{968D778D-12EB-4D9A-8839-A0965C9FBF51}"/>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Objectives (pp. 25–26), Chapter 7 and Section 8.2.</a:t>
            </a:r>
          </a:p>
        </p:txBody>
      </p:sp>
      <p:sp>
        <p:nvSpPr>
          <p:cNvPr id="18" name="">
            <a:extLst xmlns:a="http://schemas.openxmlformats.org/drawingml/2006/main">
              <a:ext uri="{FF2B5EF4-FFF2-40B4-BE49-F238E27FC236}">
                <a16:creationId xmlns:a16="http://schemas.microsoft.com/office/drawing/2014/main" id="{914BA6DE-1EB6-4DE3-89B5-4A9667E2A8F2}"/>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19</a:t>
            </a:r>
          </a:p>
        </p:txBody>
      </p:sp>
    </p:spTree>
    <p:extLst>
      <p:ext uri="{BB962C8B-B14F-4D97-AF65-F5344CB8AC3E}">
        <p14:creationId xmlns:p14="http://schemas.microsoft.com/office/powerpoint/2010/main" val="1344036429"/>
      </p:ext>
    </p:extLst>
  </p:cSld>
</p:sld>
</file>

<file path=ppt/slides/slide20.xml><?xml version="1.0" encoding="utf-8"?>
<p:sld xmlns:p="http://schemas.openxmlformats.org/presentationml/2006/main">
  <p:cSld>
    <p:bg>
      <p:bgPr>
        <a:solidFill xmlns:a="http://schemas.openxmlformats.org/drawingml/2006/main">
          <a:srgbClr val="1A153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81CC5F0-38AC-4A2C-B244-61AB261A2F0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85DBC7-337D-470A-965D-B31E93198E1E}"/>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8 · FUTURE WORK</a:t>
            </a:r>
          </a:p>
        </p:txBody>
      </p:sp>
      <p:sp>
        <p:nvSpPr>
          <p:cNvPr id="3" name="">
            <a:extLst xmlns:a="http://schemas.openxmlformats.org/drawingml/2006/main">
              <a:ext uri="{FF2B5EF4-FFF2-40B4-BE49-F238E27FC236}">
                <a16:creationId xmlns:a16="http://schemas.microsoft.com/office/drawing/2014/main" id="{A467804E-6E36-4416-AE41-0C41168B3B05}"/>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8F6FF"/>
                </a:solidFill>
                <a:latin typeface="Calibri"/>
                <a:ea typeface="Calibri"/>
                <a:cs typeface="Calibri"/>
              </a:defRPr>
            </a:pPr>
            <a:r>
              <a:rPr sz="2700" b="1">
                <a:solidFill>
                  <a:srgbClr val="F8F6FF"/>
                </a:solidFill>
                <a:latin typeface="Calibri"/>
                <a:ea typeface="Calibri"/>
                <a:cs typeface="Calibri"/>
              </a:rPr>
              <a:t>The next stage is reliability, reach and clinical validation</a:t>
            </a:r>
          </a:p>
        </p:txBody>
      </p:sp>
      <p:sp>
        <p:nvSpPr>
          <p:cNvPr id="4" name="">
            <a:extLst xmlns:a="http://schemas.openxmlformats.org/drawingml/2006/main">
              <a:ext uri="{FF2B5EF4-FFF2-40B4-BE49-F238E27FC236}">
                <a16:creationId xmlns:a16="http://schemas.microsoft.com/office/drawing/2014/main" id="{99B913FF-2E46-4169-B9F6-6D6FB243140D}"/>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8B0D4"/>
                </a:solidFill>
                <a:latin typeface="Calibri"/>
                <a:ea typeface="Calibri"/>
                <a:cs typeface="Calibri"/>
              </a:defRPr>
            </a:pPr>
            <a:r>
              <a:rPr sz="1350" b="0">
                <a:solidFill>
                  <a:srgbClr val="B8B0D4"/>
                </a:solidFill>
                <a:latin typeface="Calibri"/>
                <a:ea typeface="Calibri"/>
                <a:cs typeface="Calibri"/>
              </a:rPr>
              <a:t>Future work should strengthen the platform without expanding beyond its role as a support tool.</a:t>
            </a:r>
          </a:p>
        </p:txBody>
      </p:sp>
      <p:sp>
        <p:nvSpPr>
          <p:cNvPr id="5" name="">
            <a:extLst xmlns:a="http://schemas.openxmlformats.org/drawingml/2006/main">
              <a:ext uri="{FF2B5EF4-FFF2-40B4-BE49-F238E27FC236}">
                <a16:creationId xmlns:a16="http://schemas.microsoft.com/office/drawing/2014/main" id="{14CEC2A8-A97B-4754-8410-EC1709867B9E}"/>
              </a:ext>
            </a:extLst>
          </p:cNvPr>
          <p:cNvSpPr>
            <a:spLocks xmlns:a="http://schemas.openxmlformats.org/drawingml/2006/main" noGrp="1"/>
          </p:cNvSpPr>
          <p:nvPr/>
        </p:nvSpPr>
        <p:spPr>
          <a:xfrm xmlns:a="http://schemas.openxmlformats.org/drawingml/2006/main">
            <a:off x="666750" y="18097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6B62"/>
                </a:solidFill>
                <a:latin typeface="Calibri"/>
                <a:ea typeface="Calibri"/>
                <a:cs typeface="Calibri"/>
              </a:defRPr>
            </a:pPr>
            <a:r>
              <a:rPr sz="1650" b="1">
                <a:solidFill>
                  <a:srgbClr val="FF6B62"/>
                </a:solidFill>
                <a:latin typeface="Calibri"/>
                <a:ea typeface="Calibri"/>
                <a:cs typeface="Calibri"/>
              </a:rPr>
              <a:t>01</a:t>
            </a:r>
          </a:p>
        </p:txBody>
      </p:sp>
      <p:sp>
        <p:nvSpPr>
          <p:cNvPr id="6" name="">
            <a:extLst xmlns:a="http://schemas.openxmlformats.org/drawingml/2006/main">
              <a:ext uri="{FF2B5EF4-FFF2-40B4-BE49-F238E27FC236}">
                <a16:creationId xmlns:a16="http://schemas.microsoft.com/office/drawing/2014/main" id="{3A6081B6-BBE3-4EB7-AC22-58A00BCAC6BF}"/>
              </a:ext>
            </a:extLst>
          </p:cNvPr>
          <p:cNvSpPr>
            <a:spLocks xmlns:a="http://schemas.openxmlformats.org/drawingml/2006/main" noGrp="1"/>
          </p:cNvSpPr>
          <p:nvPr/>
        </p:nvSpPr>
        <p:spPr>
          <a:xfrm xmlns:a="http://schemas.openxmlformats.org/drawingml/2006/main">
            <a:off x="1219200" y="1809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Offline-first routines</a:t>
            </a:r>
          </a:p>
        </p:txBody>
      </p:sp>
      <p:sp>
        <p:nvSpPr>
          <p:cNvPr id="7" name="">
            <a:extLst xmlns:a="http://schemas.openxmlformats.org/drawingml/2006/main">
              <a:ext uri="{FF2B5EF4-FFF2-40B4-BE49-F238E27FC236}">
                <a16:creationId xmlns:a16="http://schemas.microsoft.com/office/drawing/2014/main" id="{B5D9D080-0E75-4F8C-9B34-B87466835296}"/>
              </a:ext>
            </a:extLst>
          </p:cNvPr>
          <p:cNvSpPr>
            <a:spLocks xmlns:a="http://schemas.openxmlformats.org/drawingml/2006/main" noGrp="1"/>
          </p:cNvSpPr>
          <p:nvPr/>
        </p:nvSpPr>
        <p:spPr>
          <a:xfrm xmlns:a="http://schemas.openxmlformats.org/drawingml/2006/main">
            <a:off x="1219200" y="22669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Cache task lists and synchronise safely after connectivity returns.</a:t>
            </a:r>
          </a:p>
        </p:txBody>
      </p:sp>
      <p:sp>
        <p:nvSpPr>
          <p:cNvPr id="8" name="">
            <a:extLst xmlns:a="http://schemas.openxmlformats.org/drawingml/2006/main">
              <a:ext uri="{FF2B5EF4-FFF2-40B4-BE49-F238E27FC236}">
                <a16:creationId xmlns:a16="http://schemas.microsoft.com/office/drawing/2014/main" id="{9766E872-85B0-4457-9FEB-5538BC6EC44A}"/>
              </a:ext>
            </a:extLst>
          </p:cNvPr>
          <p:cNvSpPr>
            <a:spLocks xmlns:a="http://schemas.openxmlformats.org/drawingml/2006/main" noGrp="1"/>
          </p:cNvSpPr>
          <p:nvPr/>
        </p:nvSpPr>
        <p:spPr>
          <a:xfrm xmlns:a="http://schemas.openxmlformats.org/drawingml/2006/main">
            <a:off x="1219200" y="3181350"/>
            <a:ext cx="2647950" cy="28575"/>
          </a:xfrm>
          <a:prstGeom xmlns:a="http://schemas.openxmlformats.org/drawingml/2006/main" prst="rect">
            <a:avLst/>
          </a:prstGeom>
          <a:solidFill xmlns:a="http://schemas.openxmlformats.org/drawingml/2006/main">
            <a:srgbClr val="3A316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F24CC6B-52BA-4611-9069-277D4E2BA2B3}"/>
              </a:ext>
            </a:extLst>
          </p:cNvPr>
          <p:cNvSpPr>
            <a:spLocks xmlns:a="http://schemas.openxmlformats.org/drawingml/2006/main" noGrp="1"/>
          </p:cNvSpPr>
          <p:nvPr/>
        </p:nvSpPr>
        <p:spPr>
          <a:xfrm xmlns:a="http://schemas.openxmlformats.org/drawingml/2006/main">
            <a:off x="4457700" y="18097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6B62"/>
                </a:solidFill>
                <a:latin typeface="Calibri"/>
                <a:ea typeface="Calibri"/>
                <a:cs typeface="Calibri"/>
              </a:defRPr>
            </a:pPr>
            <a:r>
              <a:rPr sz="1650" b="1">
                <a:solidFill>
                  <a:srgbClr val="FF6B62"/>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7488917A-7B08-44ED-B2FD-210107771D26}"/>
              </a:ext>
            </a:extLst>
          </p:cNvPr>
          <p:cNvSpPr>
            <a:spLocks xmlns:a="http://schemas.openxmlformats.org/drawingml/2006/main" noGrp="1"/>
          </p:cNvSpPr>
          <p:nvPr/>
        </p:nvSpPr>
        <p:spPr>
          <a:xfrm xmlns:a="http://schemas.openxmlformats.org/drawingml/2006/main">
            <a:off x="5010150" y="1809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Broader access</a:t>
            </a:r>
          </a:p>
        </p:txBody>
      </p:sp>
      <p:sp>
        <p:nvSpPr>
          <p:cNvPr id="11" name="">
            <a:extLst xmlns:a="http://schemas.openxmlformats.org/drawingml/2006/main">
              <a:ext uri="{FF2B5EF4-FFF2-40B4-BE49-F238E27FC236}">
                <a16:creationId xmlns:a16="http://schemas.microsoft.com/office/drawing/2014/main" id="{4F5EB0C0-767B-409C-B213-468D1DD22CA9}"/>
              </a:ext>
            </a:extLst>
          </p:cNvPr>
          <p:cNvSpPr>
            <a:spLocks xmlns:a="http://schemas.openxmlformats.org/drawingml/2006/main" noGrp="1"/>
          </p:cNvSpPr>
          <p:nvPr/>
        </p:nvSpPr>
        <p:spPr>
          <a:xfrm xmlns:a="http://schemas.openxmlformats.org/drawingml/2006/main">
            <a:off x="5010150" y="22669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Add iOS support, multilingual interfaces, voice and text-to-speech reminders.</a:t>
            </a:r>
          </a:p>
        </p:txBody>
      </p:sp>
      <p:sp>
        <p:nvSpPr>
          <p:cNvPr id="12" name="">
            <a:extLst xmlns:a="http://schemas.openxmlformats.org/drawingml/2006/main">
              <a:ext uri="{FF2B5EF4-FFF2-40B4-BE49-F238E27FC236}">
                <a16:creationId xmlns:a16="http://schemas.microsoft.com/office/drawing/2014/main" id="{9234422E-D2AD-4F6B-B24D-F5FBC0F8EB7B}"/>
              </a:ext>
            </a:extLst>
          </p:cNvPr>
          <p:cNvSpPr>
            <a:spLocks xmlns:a="http://schemas.openxmlformats.org/drawingml/2006/main" noGrp="1"/>
          </p:cNvSpPr>
          <p:nvPr/>
        </p:nvSpPr>
        <p:spPr>
          <a:xfrm xmlns:a="http://schemas.openxmlformats.org/drawingml/2006/main">
            <a:off x="5010150" y="3181350"/>
            <a:ext cx="2647950" cy="28575"/>
          </a:xfrm>
          <a:prstGeom xmlns:a="http://schemas.openxmlformats.org/drawingml/2006/main" prst="rect">
            <a:avLst/>
          </a:prstGeom>
          <a:solidFill xmlns:a="http://schemas.openxmlformats.org/drawingml/2006/main">
            <a:srgbClr val="3A31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457C94-7E20-4D1D-BEE9-AC3B7EDB67C3}"/>
              </a:ext>
            </a:extLst>
          </p:cNvPr>
          <p:cNvSpPr>
            <a:spLocks xmlns:a="http://schemas.openxmlformats.org/drawingml/2006/main" noGrp="1"/>
          </p:cNvSpPr>
          <p:nvPr/>
        </p:nvSpPr>
        <p:spPr>
          <a:xfrm xmlns:a="http://schemas.openxmlformats.org/drawingml/2006/main">
            <a:off x="8248650" y="18097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6B62"/>
                </a:solidFill>
                <a:latin typeface="Calibri"/>
                <a:ea typeface="Calibri"/>
                <a:cs typeface="Calibri"/>
              </a:defRPr>
            </a:pPr>
            <a:r>
              <a:rPr sz="1650" b="1">
                <a:solidFill>
                  <a:srgbClr val="FF6B62"/>
                </a:solidFill>
                <a:latin typeface="Calibri"/>
                <a:ea typeface="Calibri"/>
                <a:cs typeface="Calibri"/>
              </a:rPr>
              <a:t>03</a:t>
            </a:r>
          </a:p>
        </p:txBody>
      </p:sp>
      <p:sp>
        <p:nvSpPr>
          <p:cNvPr id="14" name="">
            <a:extLst xmlns:a="http://schemas.openxmlformats.org/drawingml/2006/main">
              <a:ext uri="{FF2B5EF4-FFF2-40B4-BE49-F238E27FC236}">
                <a16:creationId xmlns:a16="http://schemas.microsoft.com/office/drawing/2014/main" id="{05A612F0-5885-4C5B-8942-5119525A82C8}"/>
              </a:ext>
            </a:extLst>
          </p:cNvPr>
          <p:cNvSpPr>
            <a:spLocks xmlns:a="http://schemas.openxmlformats.org/drawingml/2006/main" noGrp="1"/>
          </p:cNvSpPr>
          <p:nvPr/>
        </p:nvSpPr>
        <p:spPr>
          <a:xfrm xmlns:a="http://schemas.openxmlformats.org/drawingml/2006/main">
            <a:off x="8801100" y="1809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Personal media</a:t>
            </a:r>
          </a:p>
        </p:txBody>
      </p:sp>
      <p:sp>
        <p:nvSpPr>
          <p:cNvPr id="15" name="">
            <a:extLst xmlns:a="http://schemas.openxmlformats.org/drawingml/2006/main">
              <a:ext uri="{FF2B5EF4-FFF2-40B4-BE49-F238E27FC236}">
                <a16:creationId xmlns:a16="http://schemas.microsoft.com/office/drawing/2014/main" id="{77ED01DE-9D36-42A9-81E0-87D5FF2A3E0A}"/>
              </a:ext>
            </a:extLst>
          </p:cNvPr>
          <p:cNvSpPr>
            <a:spLocks xmlns:a="http://schemas.openxmlformats.org/drawingml/2006/main" noGrp="1"/>
          </p:cNvSpPr>
          <p:nvPr/>
        </p:nvSpPr>
        <p:spPr>
          <a:xfrm xmlns:a="http://schemas.openxmlformats.org/drawingml/2006/main">
            <a:off x="8801100" y="22669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Allow familiar photos and sounds in recognition activities.</a:t>
            </a:r>
          </a:p>
        </p:txBody>
      </p:sp>
      <p:sp>
        <p:nvSpPr>
          <p:cNvPr id="16" name="">
            <a:extLst xmlns:a="http://schemas.openxmlformats.org/drawingml/2006/main">
              <a:ext uri="{FF2B5EF4-FFF2-40B4-BE49-F238E27FC236}">
                <a16:creationId xmlns:a16="http://schemas.microsoft.com/office/drawing/2014/main" id="{0C398512-548D-40AB-B8B6-F7C75A8C8A85}"/>
              </a:ext>
            </a:extLst>
          </p:cNvPr>
          <p:cNvSpPr>
            <a:spLocks xmlns:a="http://schemas.openxmlformats.org/drawingml/2006/main" noGrp="1"/>
          </p:cNvSpPr>
          <p:nvPr/>
        </p:nvSpPr>
        <p:spPr>
          <a:xfrm xmlns:a="http://schemas.openxmlformats.org/drawingml/2006/main">
            <a:off x="8801100" y="3181350"/>
            <a:ext cx="2647950" cy="28575"/>
          </a:xfrm>
          <a:prstGeom xmlns:a="http://schemas.openxmlformats.org/drawingml/2006/main" prst="rect">
            <a:avLst/>
          </a:prstGeom>
          <a:solidFill xmlns:a="http://schemas.openxmlformats.org/drawingml/2006/main">
            <a:srgbClr val="3A316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5738178-F457-43F7-9C06-E19E7FD14C1B}"/>
              </a:ext>
            </a:extLst>
          </p:cNvPr>
          <p:cNvSpPr>
            <a:spLocks xmlns:a="http://schemas.openxmlformats.org/drawingml/2006/main" noGrp="1"/>
          </p:cNvSpPr>
          <p:nvPr/>
        </p:nvSpPr>
        <p:spPr>
          <a:xfrm xmlns:a="http://schemas.openxmlformats.org/drawingml/2006/main">
            <a:off x="666750" y="3676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6B62"/>
                </a:solidFill>
                <a:latin typeface="Calibri"/>
                <a:ea typeface="Calibri"/>
                <a:cs typeface="Calibri"/>
              </a:defRPr>
            </a:pPr>
            <a:r>
              <a:rPr sz="1650" b="1">
                <a:solidFill>
                  <a:srgbClr val="FF6B62"/>
                </a:solidFill>
                <a:latin typeface="Calibri"/>
                <a:ea typeface="Calibri"/>
                <a:cs typeface="Calibri"/>
              </a:rPr>
              <a:t>04</a:t>
            </a:r>
          </a:p>
        </p:txBody>
      </p:sp>
      <p:sp>
        <p:nvSpPr>
          <p:cNvPr id="18" name="">
            <a:extLst xmlns:a="http://schemas.openxmlformats.org/drawingml/2006/main">
              <a:ext uri="{FF2B5EF4-FFF2-40B4-BE49-F238E27FC236}">
                <a16:creationId xmlns:a16="http://schemas.microsoft.com/office/drawing/2014/main" id="{4AC7A202-BFF6-4BEC-8E07-5AE873642272}"/>
              </a:ext>
            </a:extLst>
          </p:cNvPr>
          <p:cNvSpPr>
            <a:spLocks xmlns:a="http://schemas.openxmlformats.org/drawingml/2006/main" noGrp="1"/>
          </p:cNvSpPr>
          <p:nvPr/>
        </p:nvSpPr>
        <p:spPr>
          <a:xfrm xmlns:a="http://schemas.openxmlformats.org/drawingml/2006/main">
            <a:off x="1219200" y="36766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Owned reward games</a:t>
            </a:r>
          </a:p>
        </p:txBody>
      </p:sp>
      <p:sp>
        <p:nvSpPr>
          <p:cNvPr id="19" name="">
            <a:extLst xmlns:a="http://schemas.openxmlformats.org/drawingml/2006/main">
              <a:ext uri="{FF2B5EF4-FFF2-40B4-BE49-F238E27FC236}">
                <a16:creationId xmlns:a16="http://schemas.microsoft.com/office/drawing/2014/main" id="{20BDE7ED-4399-4A27-A06B-CE383EC30E32}"/>
              </a:ext>
            </a:extLst>
          </p:cNvPr>
          <p:cNvSpPr>
            <a:spLocks xmlns:a="http://schemas.openxmlformats.org/drawingml/2006/main" noGrp="1"/>
          </p:cNvSpPr>
          <p:nvPr/>
        </p:nvSpPr>
        <p:spPr>
          <a:xfrm xmlns:a="http://schemas.openxmlformats.org/drawingml/2006/main">
            <a:off x="1219200" y="41338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Reduce dependency on external WebView sites by hosting controlled content.</a:t>
            </a:r>
          </a:p>
        </p:txBody>
      </p:sp>
      <p:sp>
        <p:nvSpPr>
          <p:cNvPr id="20" name="">
            <a:extLst xmlns:a="http://schemas.openxmlformats.org/drawingml/2006/main">
              <a:ext uri="{FF2B5EF4-FFF2-40B4-BE49-F238E27FC236}">
                <a16:creationId xmlns:a16="http://schemas.microsoft.com/office/drawing/2014/main" id="{3BBDEA15-AE4B-4376-8883-D16CB61D89C0}"/>
              </a:ext>
            </a:extLst>
          </p:cNvPr>
          <p:cNvSpPr>
            <a:spLocks xmlns:a="http://schemas.openxmlformats.org/drawingml/2006/main" noGrp="1"/>
          </p:cNvSpPr>
          <p:nvPr/>
        </p:nvSpPr>
        <p:spPr>
          <a:xfrm xmlns:a="http://schemas.openxmlformats.org/drawingml/2006/main">
            <a:off x="1219200" y="5048250"/>
            <a:ext cx="2647950" cy="28575"/>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5F40170-3629-4446-B8E2-3F91C0F0D8FD}"/>
              </a:ext>
            </a:extLst>
          </p:cNvPr>
          <p:cNvSpPr>
            <a:spLocks xmlns:a="http://schemas.openxmlformats.org/drawingml/2006/main" noGrp="1"/>
          </p:cNvSpPr>
          <p:nvPr/>
        </p:nvSpPr>
        <p:spPr>
          <a:xfrm xmlns:a="http://schemas.openxmlformats.org/drawingml/2006/main">
            <a:off x="4457700" y="3676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6B62"/>
                </a:solidFill>
                <a:latin typeface="Calibri"/>
                <a:ea typeface="Calibri"/>
                <a:cs typeface="Calibri"/>
              </a:defRPr>
            </a:pPr>
            <a:r>
              <a:rPr sz="1650" b="1">
                <a:solidFill>
                  <a:srgbClr val="FF6B62"/>
                </a:solidFill>
                <a:latin typeface="Calibri"/>
                <a:ea typeface="Calibri"/>
                <a:cs typeface="Calibri"/>
              </a:rPr>
              <a:t>05</a:t>
            </a:r>
          </a:p>
        </p:txBody>
      </p:sp>
      <p:sp>
        <p:nvSpPr>
          <p:cNvPr id="22" name="">
            <a:extLst xmlns:a="http://schemas.openxmlformats.org/drawingml/2006/main">
              <a:ext uri="{FF2B5EF4-FFF2-40B4-BE49-F238E27FC236}">
                <a16:creationId xmlns:a16="http://schemas.microsoft.com/office/drawing/2014/main" id="{7BC3208F-B78D-4C19-BFB7-CCCB359175F4}"/>
              </a:ext>
            </a:extLst>
          </p:cNvPr>
          <p:cNvSpPr>
            <a:spLocks xmlns:a="http://schemas.openxmlformats.org/drawingml/2006/main" noGrp="1"/>
          </p:cNvSpPr>
          <p:nvPr/>
        </p:nvSpPr>
        <p:spPr>
          <a:xfrm xmlns:a="http://schemas.openxmlformats.org/drawingml/2006/main">
            <a:off x="5010150" y="36766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Clinical review</a:t>
            </a:r>
          </a:p>
        </p:txBody>
      </p:sp>
      <p:sp>
        <p:nvSpPr>
          <p:cNvPr id="23" name="">
            <a:extLst xmlns:a="http://schemas.openxmlformats.org/drawingml/2006/main">
              <a:ext uri="{FF2B5EF4-FFF2-40B4-BE49-F238E27FC236}">
                <a16:creationId xmlns:a16="http://schemas.microsoft.com/office/drawing/2014/main" id="{BE2060E9-CCE0-4917-9469-BA992BB732A9}"/>
              </a:ext>
            </a:extLst>
          </p:cNvPr>
          <p:cNvSpPr>
            <a:spLocks xmlns:a="http://schemas.openxmlformats.org/drawingml/2006/main" noGrp="1"/>
          </p:cNvSpPr>
          <p:nvPr/>
        </p:nvSpPr>
        <p:spPr>
          <a:xfrm xmlns:a="http://schemas.openxmlformats.org/drawingml/2006/main">
            <a:off x="5010150" y="41338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Validate game parameters and risk thresholds with healthcare professionals.</a:t>
            </a:r>
          </a:p>
        </p:txBody>
      </p:sp>
      <p:sp>
        <p:nvSpPr>
          <p:cNvPr id="24" name="">
            <a:extLst xmlns:a="http://schemas.openxmlformats.org/drawingml/2006/main">
              <a:ext uri="{FF2B5EF4-FFF2-40B4-BE49-F238E27FC236}">
                <a16:creationId xmlns:a16="http://schemas.microsoft.com/office/drawing/2014/main" id="{130EFF49-592C-410A-925F-4790D9ABE397}"/>
              </a:ext>
            </a:extLst>
          </p:cNvPr>
          <p:cNvSpPr>
            <a:spLocks xmlns:a="http://schemas.openxmlformats.org/drawingml/2006/main" noGrp="1"/>
          </p:cNvSpPr>
          <p:nvPr/>
        </p:nvSpPr>
        <p:spPr>
          <a:xfrm xmlns:a="http://schemas.openxmlformats.org/drawingml/2006/main">
            <a:off x="5010150" y="5048250"/>
            <a:ext cx="2647950" cy="28575"/>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1E6C1E1-0F7A-46CE-8DC2-D26DF19B9D61}"/>
              </a:ext>
            </a:extLst>
          </p:cNvPr>
          <p:cNvSpPr>
            <a:spLocks xmlns:a="http://schemas.openxmlformats.org/drawingml/2006/main" noGrp="1"/>
          </p:cNvSpPr>
          <p:nvPr/>
        </p:nvSpPr>
        <p:spPr>
          <a:xfrm xmlns:a="http://schemas.openxmlformats.org/drawingml/2006/main">
            <a:off x="8248650" y="3676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6B62"/>
                </a:solidFill>
                <a:latin typeface="Calibri"/>
                <a:ea typeface="Calibri"/>
                <a:cs typeface="Calibri"/>
              </a:defRPr>
            </a:pPr>
            <a:r>
              <a:rPr sz="1650" b="1">
                <a:solidFill>
                  <a:srgbClr val="FF6B62"/>
                </a:solidFill>
                <a:latin typeface="Calibri"/>
                <a:ea typeface="Calibri"/>
                <a:cs typeface="Calibri"/>
              </a:rPr>
              <a:t>06</a:t>
            </a:r>
          </a:p>
        </p:txBody>
      </p:sp>
      <p:sp>
        <p:nvSpPr>
          <p:cNvPr id="26" name="">
            <a:extLst xmlns:a="http://schemas.openxmlformats.org/drawingml/2006/main">
              <a:ext uri="{FF2B5EF4-FFF2-40B4-BE49-F238E27FC236}">
                <a16:creationId xmlns:a16="http://schemas.microsoft.com/office/drawing/2014/main" id="{E4C0283D-6C21-4EB5-92DE-6C985A489574}"/>
              </a:ext>
            </a:extLst>
          </p:cNvPr>
          <p:cNvSpPr>
            <a:spLocks xmlns:a="http://schemas.openxmlformats.org/drawingml/2006/main" noGrp="1"/>
          </p:cNvSpPr>
          <p:nvPr/>
        </p:nvSpPr>
        <p:spPr>
          <a:xfrm xmlns:a="http://schemas.openxmlformats.org/drawingml/2006/main">
            <a:off x="8801100" y="36766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8F6FF"/>
                </a:solidFill>
                <a:latin typeface="Calibri"/>
                <a:ea typeface="Calibri"/>
                <a:cs typeface="Calibri"/>
              </a:defRPr>
            </a:pPr>
            <a:r>
              <a:rPr sz="1650" b="1">
                <a:solidFill>
                  <a:srgbClr val="F8F6FF"/>
                </a:solidFill>
                <a:latin typeface="Calibri"/>
                <a:ea typeface="Calibri"/>
                <a:cs typeface="Calibri"/>
              </a:rPr>
              <a:t>Larger evaluation</a:t>
            </a:r>
          </a:p>
        </p:txBody>
      </p:sp>
      <p:sp>
        <p:nvSpPr>
          <p:cNvPr id="27" name="">
            <a:extLst xmlns:a="http://schemas.openxmlformats.org/drawingml/2006/main">
              <a:ext uri="{FF2B5EF4-FFF2-40B4-BE49-F238E27FC236}">
                <a16:creationId xmlns:a16="http://schemas.microsoft.com/office/drawing/2014/main" id="{0E76C2CD-4219-448C-8F65-DD3B6B152B5D}"/>
              </a:ext>
            </a:extLst>
          </p:cNvPr>
          <p:cNvSpPr>
            <a:spLocks xmlns:a="http://schemas.openxmlformats.org/drawingml/2006/main" noGrp="1"/>
          </p:cNvSpPr>
          <p:nvPr/>
        </p:nvSpPr>
        <p:spPr>
          <a:xfrm xmlns:a="http://schemas.openxmlformats.org/drawingml/2006/main">
            <a:off x="8801100" y="41338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8B0D4"/>
                </a:solidFill>
                <a:latin typeface="Calibri"/>
                <a:ea typeface="Calibri"/>
                <a:cs typeface="Calibri"/>
              </a:defRPr>
            </a:pPr>
            <a:r>
              <a:rPr sz="1275" b="0">
                <a:solidFill>
                  <a:srgbClr val="B8B0D4"/>
                </a:solidFill>
                <a:latin typeface="Calibri"/>
                <a:ea typeface="Calibri"/>
                <a:cs typeface="Calibri"/>
              </a:rPr>
              <a:t>Test with more dementia patients and caregivers over a longer period.</a:t>
            </a:r>
          </a:p>
        </p:txBody>
      </p:sp>
      <p:sp>
        <p:nvSpPr>
          <p:cNvPr id="28" name="">
            <a:extLst xmlns:a="http://schemas.openxmlformats.org/drawingml/2006/main">
              <a:ext uri="{FF2B5EF4-FFF2-40B4-BE49-F238E27FC236}">
                <a16:creationId xmlns:a16="http://schemas.microsoft.com/office/drawing/2014/main" id="{78DAAF41-51CA-456C-9063-7C7D075F4B9B}"/>
              </a:ext>
            </a:extLst>
          </p:cNvPr>
          <p:cNvSpPr>
            <a:spLocks xmlns:a="http://schemas.openxmlformats.org/drawingml/2006/main" noGrp="1"/>
          </p:cNvSpPr>
          <p:nvPr/>
        </p:nvSpPr>
        <p:spPr>
          <a:xfrm xmlns:a="http://schemas.openxmlformats.org/drawingml/2006/main">
            <a:off x="8801100" y="5048250"/>
            <a:ext cx="2647950" cy="28575"/>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43B8C52-AE50-4DB1-97DF-524FF4A987E8}"/>
              </a:ext>
            </a:extLst>
          </p:cNvPr>
          <p:cNvSpPr>
            <a:spLocks xmlns:a="http://schemas.openxmlformats.org/drawingml/2006/main" noGrp="1"/>
          </p:cNvSpPr>
          <p:nvPr/>
        </p:nvSpPr>
        <p:spPr>
          <a:xfrm xmlns:a="http://schemas.openxmlformats.org/drawingml/2006/main">
            <a:off x="1809750" y="5667375"/>
            <a:ext cx="8572500" cy="495300"/>
          </a:xfrm>
          <a:prstGeom xmlns:a="http://schemas.openxmlformats.org/drawingml/2006/main" prst="roundRect">
            <a:avLst>
              <a:gd name="adj" fmla="val 23077"/>
            </a:avLst>
          </a:prstGeom>
          <a:solidFill xmlns:a="http://schemas.openxmlformats.org/drawingml/2006/main">
            <a:srgbClr val="2E275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CFF77D1-FCC7-4144-917D-B595F131AF66}"/>
              </a:ext>
            </a:extLst>
          </p:cNvPr>
          <p:cNvSpPr>
            <a:spLocks xmlns:a="http://schemas.openxmlformats.org/drawingml/2006/main" noGrp="1"/>
          </p:cNvSpPr>
          <p:nvPr/>
        </p:nvSpPr>
        <p:spPr>
          <a:xfrm xmlns:a="http://schemas.openxmlformats.org/drawingml/2006/main">
            <a:off x="2095500" y="581025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B8B0D4"/>
                </a:solidFill>
                <a:latin typeface="Calibri"/>
                <a:ea typeface="Calibri"/>
                <a:cs typeface="Calibri"/>
              </a:defRPr>
            </a:pPr>
            <a:r>
              <a:rPr sz="1200" b="0">
                <a:solidFill>
                  <a:srgbClr val="B8B0D4"/>
                </a:solidFill>
                <a:latin typeface="Calibri"/>
                <a:ea typeface="Calibri"/>
                <a:cs typeface="Calibri"/>
              </a:rPr>
              <a:t>Positioning: MindCare supported daily routines and caregiver decisions; it did not diagnose dementia or replace clinical judgement.</a:t>
            </a:r>
          </a:p>
        </p:txBody>
      </p:sp>
      <p:sp>
        <p:nvSpPr>
          <p:cNvPr id="31" name="">
            <a:extLst xmlns:a="http://schemas.openxmlformats.org/drawingml/2006/main">
              <a:ext uri="{FF2B5EF4-FFF2-40B4-BE49-F238E27FC236}">
                <a16:creationId xmlns:a16="http://schemas.microsoft.com/office/drawing/2014/main" id="{956213DF-7C38-4C16-B894-CC4FDF16D8B9}"/>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Section 8.3, pp. 227–228.</a:t>
            </a:r>
          </a:p>
        </p:txBody>
      </p:sp>
      <p:sp>
        <p:nvSpPr>
          <p:cNvPr id="32" name="">
            <a:extLst xmlns:a="http://schemas.openxmlformats.org/drawingml/2006/main">
              <a:ext uri="{FF2B5EF4-FFF2-40B4-BE49-F238E27FC236}">
                <a16:creationId xmlns:a16="http://schemas.microsoft.com/office/drawing/2014/main" id="{B3181377-E69C-4A74-BA66-ED665553572B}"/>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B8B0D4"/>
                </a:solidFill>
                <a:latin typeface="Calibri"/>
                <a:ea typeface="Calibri"/>
                <a:cs typeface="Calibri"/>
              </a:defRPr>
            </a:pPr>
            <a:r>
              <a:rPr sz="975" b="1">
                <a:solidFill>
                  <a:srgbClr val="B8B0D4"/>
                </a:solidFill>
                <a:latin typeface="Calibri"/>
                <a:ea typeface="Calibri"/>
                <a:cs typeface="Calibri"/>
              </a:rPr>
              <a:t>20</a:t>
            </a:r>
          </a:p>
        </p:txBody>
      </p:sp>
    </p:spTree>
    <p:extLst>
      <p:ext uri="{BB962C8B-B14F-4D97-AF65-F5344CB8AC3E}">
        <p14:creationId xmlns:p14="http://schemas.microsoft.com/office/powerpoint/2010/main" val="1730885108"/>
      </p:ext>
    </p:extLst>
  </p:cSld>
</p:sld>
</file>

<file path=ppt/slides/slide21.xml><?xml version="1.0" encoding="utf-8"?>
<p:sld xmlns:p="http://schemas.openxmlformats.org/presentationml/2006/main">
  <p:cSld>
    <p:bg>
      <p:bgPr>
        <a:solidFill xmlns:a="http://schemas.openxmlformats.org/drawingml/2006/main">
          <a:srgbClr val="100B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8B297C-CD7B-4DA2-9F97-04E29C46BCE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B6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EBD362-D23F-4BA7-86D0-8E6736E14896}"/>
              </a:ext>
            </a:extLst>
          </p:cNvPr>
          <p:cNvSpPr>
            <a:spLocks xmlns:a="http://schemas.openxmlformats.org/drawingml/2006/main" noGrp="1"/>
          </p:cNvSpPr>
          <p:nvPr/>
        </p:nvSpPr>
        <p:spPr>
          <a:xfrm xmlns:a="http://schemas.openxmlformats.org/drawingml/2006/main">
            <a:off x="9810750" y="4762500"/>
            <a:ext cx="3238500" cy="3238500"/>
          </a:xfrm>
          <a:prstGeom xmlns:a="http://schemas.openxmlformats.org/drawingml/2006/main" prst="ellipse">
            <a:avLst/>
          </a:prstGeom>
          <a:solidFill xmlns:a="http://schemas.openxmlformats.org/drawingml/2006/main">
            <a:srgbClr val="2E275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2A3CF4-12D1-4056-BCBC-CCBECD107F31}"/>
              </a:ext>
            </a:extLst>
          </p:cNvPr>
          <p:cNvSpPr>
            <a:spLocks xmlns:a="http://schemas.openxmlformats.org/drawingml/2006/main" noGrp="1"/>
          </p:cNvSpPr>
          <p:nvPr/>
        </p:nvSpPr>
        <p:spPr>
          <a:xfrm xmlns:a="http://schemas.openxmlformats.org/drawingml/2006/main">
            <a:off x="723900" y="1047750"/>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8F6FF"/>
                </a:solidFill>
                <a:latin typeface="Calibri"/>
                <a:ea typeface="Calibri"/>
                <a:cs typeface="Calibri"/>
              </a:defRPr>
            </a:pPr>
            <a:r>
              <a:rPr sz="3600" b="1">
                <a:solidFill>
                  <a:srgbClr val="F8F6FF"/>
                </a:solidFill>
                <a:latin typeface="Calibri"/>
                <a:ea typeface="Calibri"/>
                <a:cs typeface="Calibri"/>
              </a:rPr>
              <a:t>MindCare evolved beyond reminders.</a:t>
            </a:r>
          </a:p>
        </p:txBody>
      </p:sp>
      <p:sp>
        <p:nvSpPr>
          <p:cNvPr id="4" name="">
            <a:extLst xmlns:a="http://schemas.openxmlformats.org/drawingml/2006/main">
              <a:ext uri="{FF2B5EF4-FFF2-40B4-BE49-F238E27FC236}">
                <a16:creationId xmlns:a16="http://schemas.microsoft.com/office/drawing/2014/main" id="{4D1A9858-0CE8-4C62-9F72-F31AE5DC7224}"/>
              </a:ext>
            </a:extLst>
          </p:cNvPr>
          <p:cNvSpPr>
            <a:spLocks xmlns:a="http://schemas.openxmlformats.org/drawingml/2006/main" noGrp="1"/>
          </p:cNvSpPr>
          <p:nvPr/>
        </p:nvSpPr>
        <p:spPr>
          <a:xfrm xmlns:a="http://schemas.openxmlformats.org/drawingml/2006/main">
            <a:off x="742950" y="1962150"/>
            <a:ext cx="695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6B62"/>
                </a:solidFill>
                <a:latin typeface="Calibri"/>
                <a:ea typeface="Calibri"/>
                <a:cs typeface="Calibri"/>
              </a:defRPr>
            </a:pPr>
            <a:r>
              <a:rPr sz="2250" b="1">
                <a:solidFill>
                  <a:srgbClr val="FF6B62"/>
                </a:solidFill>
                <a:latin typeface="Calibri"/>
                <a:ea typeface="Calibri"/>
                <a:cs typeface="Calibri"/>
              </a:rPr>
              <a:t>It connected daily assistance, adaptive cognitive engagement and caregiver insight in one accessible mobile workflow.</a:t>
            </a:r>
          </a:p>
        </p:txBody>
      </p:sp>
      <p:sp>
        <p:nvSpPr>
          <p:cNvPr id="5" name="">
            <a:extLst xmlns:a="http://schemas.openxmlformats.org/drawingml/2006/main">
              <a:ext uri="{FF2B5EF4-FFF2-40B4-BE49-F238E27FC236}">
                <a16:creationId xmlns:a16="http://schemas.microsoft.com/office/drawing/2014/main" id="{3DC77316-6D98-4178-886F-A83A46143347}"/>
              </a:ext>
            </a:extLst>
          </p:cNvPr>
          <p:cNvSpPr>
            <a:spLocks xmlns:a="http://schemas.openxmlformats.org/drawingml/2006/main" noGrp="1"/>
          </p:cNvSpPr>
          <p:nvPr/>
        </p:nvSpPr>
        <p:spPr>
          <a:xfrm xmlns:a="http://schemas.openxmlformats.org/drawingml/2006/main">
            <a:off x="742950" y="3619500"/>
            <a:ext cx="6572250" cy="1009650"/>
          </a:xfrm>
          <a:prstGeom xmlns:a="http://schemas.openxmlformats.org/drawingml/2006/main" prst="roundRect">
            <a:avLst>
              <a:gd name="adj" fmla="val 15094"/>
            </a:avLst>
          </a:prstGeom>
          <a:solidFill xmlns:a="http://schemas.openxmlformats.org/drawingml/2006/main">
            <a:srgbClr val="2E27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35E3F9-EF37-4832-961A-62E04092C3B8}"/>
              </a:ext>
            </a:extLst>
          </p:cNvPr>
          <p:cNvSpPr>
            <a:spLocks xmlns:a="http://schemas.openxmlformats.org/drawingml/2006/main" noGrp="1"/>
          </p:cNvSpPr>
          <p:nvPr/>
        </p:nvSpPr>
        <p:spPr>
          <a:xfrm xmlns:a="http://schemas.openxmlformats.org/drawingml/2006/main">
            <a:off x="1009650" y="3876675"/>
            <a:ext cx="1847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ED9A4"/>
                </a:solidFill>
                <a:latin typeface="Calibri"/>
                <a:ea typeface="Calibri"/>
                <a:cs typeface="Calibri"/>
              </a:defRPr>
            </a:pPr>
            <a:r>
              <a:rPr sz="1950" b="1">
                <a:solidFill>
                  <a:srgbClr val="2ED9A4"/>
                </a:solidFill>
                <a:latin typeface="Calibri"/>
                <a:ea typeface="Calibri"/>
                <a:cs typeface="Calibri"/>
              </a:rPr>
              <a:t>34 / 34 UAT</a:t>
            </a:r>
          </a:p>
        </p:txBody>
      </p:sp>
      <p:sp>
        <p:nvSpPr>
          <p:cNvPr id="7" name="">
            <a:extLst xmlns:a="http://schemas.openxmlformats.org/drawingml/2006/main">
              <a:ext uri="{FF2B5EF4-FFF2-40B4-BE49-F238E27FC236}">
                <a16:creationId xmlns:a16="http://schemas.microsoft.com/office/drawing/2014/main" id="{158BD1BB-BCF8-4913-B199-82E98541A7A4}"/>
              </a:ext>
            </a:extLst>
          </p:cNvPr>
          <p:cNvSpPr>
            <a:spLocks xmlns:a="http://schemas.openxmlformats.org/drawingml/2006/main" noGrp="1"/>
          </p:cNvSpPr>
          <p:nvPr/>
        </p:nvSpPr>
        <p:spPr>
          <a:xfrm xmlns:a="http://schemas.openxmlformats.org/drawingml/2006/main">
            <a:off x="3105150" y="387667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ED9A4"/>
                </a:solidFill>
                <a:latin typeface="Calibri"/>
                <a:ea typeface="Calibri"/>
                <a:cs typeface="Calibri"/>
              </a:defRPr>
            </a:pPr>
            <a:r>
              <a:rPr sz="1950" b="1">
                <a:solidFill>
                  <a:srgbClr val="2ED9A4"/>
                </a:solidFill>
                <a:latin typeface="Calibri"/>
                <a:ea typeface="Calibri"/>
                <a:cs typeface="Calibri"/>
              </a:rPr>
              <a:t>91.0 SUS</a:t>
            </a:r>
          </a:p>
        </p:txBody>
      </p:sp>
      <p:sp>
        <p:nvSpPr>
          <p:cNvPr id="8" name="">
            <a:extLst xmlns:a="http://schemas.openxmlformats.org/drawingml/2006/main">
              <a:ext uri="{FF2B5EF4-FFF2-40B4-BE49-F238E27FC236}">
                <a16:creationId xmlns:a16="http://schemas.microsoft.com/office/drawing/2014/main" id="{E21E6A96-1E20-4AF4-B6DA-2A0BB393E2D6}"/>
              </a:ext>
            </a:extLst>
          </p:cNvPr>
          <p:cNvSpPr>
            <a:spLocks xmlns:a="http://schemas.openxmlformats.org/drawingml/2006/main" noGrp="1"/>
          </p:cNvSpPr>
          <p:nvPr/>
        </p:nvSpPr>
        <p:spPr>
          <a:xfrm xmlns:a="http://schemas.openxmlformats.org/drawingml/2006/main">
            <a:off x="5086350" y="387667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ED9A4"/>
                </a:solidFill>
                <a:latin typeface="Calibri"/>
                <a:ea typeface="Calibri"/>
                <a:cs typeface="Calibri"/>
              </a:defRPr>
            </a:pPr>
            <a:r>
              <a:rPr sz="1950" b="1">
                <a:solidFill>
                  <a:srgbClr val="2ED9A4"/>
                </a:solidFill>
                <a:latin typeface="Calibri"/>
                <a:ea typeface="Calibri"/>
                <a:cs typeface="Calibri"/>
              </a:rPr>
              <a:t>33 FRs</a:t>
            </a:r>
          </a:p>
        </p:txBody>
      </p:sp>
      <p:sp>
        <p:nvSpPr>
          <p:cNvPr id="9" name="">
            <a:extLst xmlns:a="http://schemas.openxmlformats.org/drawingml/2006/main">
              <a:ext uri="{FF2B5EF4-FFF2-40B4-BE49-F238E27FC236}">
                <a16:creationId xmlns:a16="http://schemas.microsoft.com/office/drawing/2014/main" id="{7A943847-C5DC-4066-87BF-CC4A2FCDC840}"/>
              </a:ext>
            </a:extLst>
          </p:cNvPr>
          <p:cNvSpPr>
            <a:spLocks xmlns:a="http://schemas.openxmlformats.org/drawingml/2006/main" noGrp="1"/>
          </p:cNvSpPr>
          <p:nvPr/>
        </p:nvSpPr>
        <p:spPr>
          <a:xfrm xmlns:a="http://schemas.openxmlformats.org/drawingml/2006/main">
            <a:off x="742950" y="5505450"/>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8F6FF"/>
                </a:solidFill>
                <a:latin typeface="Calibri"/>
                <a:ea typeface="Calibri"/>
                <a:cs typeface="Calibri"/>
              </a:defRPr>
            </a:pPr>
            <a:r>
              <a:rPr sz="2850" b="1">
                <a:solidFill>
                  <a:srgbClr val="F8F6FF"/>
                </a:solidFill>
                <a:latin typeface="Calibri"/>
                <a:ea typeface="Calibri"/>
                <a:cs typeface="Calibri"/>
              </a:rPr>
              <a:t>Thank you</a:t>
            </a:r>
          </a:p>
        </p:txBody>
      </p:sp>
      <p:sp>
        <p:nvSpPr>
          <p:cNvPr id="10" name="">
            <a:extLst xmlns:a="http://schemas.openxmlformats.org/drawingml/2006/main">
              <a:ext uri="{FF2B5EF4-FFF2-40B4-BE49-F238E27FC236}">
                <a16:creationId xmlns:a16="http://schemas.microsoft.com/office/drawing/2014/main" id="{EC925539-C23E-4E7C-8958-C0EDC6F4AEDF}"/>
              </a:ext>
            </a:extLst>
          </p:cNvPr>
          <p:cNvSpPr>
            <a:spLocks xmlns:a="http://schemas.openxmlformats.org/drawingml/2006/main" noGrp="1"/>
          </p:cNvSpPr>
          <p:nvPr/>
        </p:nvSpPr>
        <p:spPr>
          <a:xfrm xmlns:a="http://schemas.openxmlformats.org/drawingml/2006/main">
            <a:off x="762000" y="6038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8B0D4"/>
                </a:solidFill>
                <a:latin typeface="Calibri"/>
                <a:ea typeface="Calibri"/>
                <a:cs typeface="Calibri"/>
              </a:defRPr>
            </a:pPr>
            <a:r>
              <a:rPr sz="1425" b="0">
                <a:solidFill>
                  <a:srgbClr val="B8B0D4"/>
                </a:solidFill>
                <a:latin typeface="Calibri"/>
                <a:ea typeface="Calibri"/>
                <a:cs typeface="Calibri"/>
              </a:rPr>
              <a:t>Questions &amp; Discussion</a:t>
            </a:r>
          </a:p>
        </p:txBody>
      </p:sp>
      <p:sp>
        <p:nvSpPr>
          <p:cNvPr id="11" name="">
            <a:extLst xmlns:a="http://schemas.openxmlformats.org/drawingml/2006/main">
              <a:ext uri="{FF2B5EF4-FFF2-40B4-BE49-F238E27FC236}">
                <a16:creationId xmlns:a16="http://schemas.microsoft.com/office/drawing/2014/main" id="{CF1AEA44-7292-4F07-BE89-FDA84C899AF5}"/>
              </a:ext>
            </a:extLst>
          </p:cNvPr>
          <p:cNvSpPr>
            <a:spLocks xmlns:a="http://schemas.openxmlformats.org/drawingml/2006/main" noGrp="1"/>
          </p:cNvSpPr>
          <p:nvPr/>
        </p:nvSpPr>
        <p:spPr>
          <a:xfrm xmlns:a="http://schemas.openxmlformats.org/drawingml/2006/main">
            <a:off x="7981950" y="1190625"/>
            <a:ext cx="3429000" cy="3810000"/>
          </a:xfrm>
          <a:prstGeom xmlns:a="http://schemas.openxmlformats.org/drawingml/2006/main" prst="roundRect">
            <a:avLst>
              <a:gd name="adj" fmla="val 4444"/>
            </a:avLst>
          </a:prstGeom>
          <a:solidFill xmlns:a="http://schemas.openxmlformats.org/drawingml/2006/main">
            <a:srgbClr val="100B2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BF3C8A1-0259-4220-B7B6-C657C17732DF}"/>
              </a:ext>
            </a:extLst>
          </p:cNvPr>
          <p:cNvSpPr>
            <a:spLocks xmlns:a="http://schemas.openxmlformats.org/drawingml/2006/main" noGrp="1"/>
          </p:cNvSpPr>
          <p:nvPr/>
        </p:nvSpPr>
        <p:spPr>
          <a:xfrm xmlns:a="http://schemas.openxmlformats.org/drawingml/2006/main">
            <a:off x="7867650" y="1057275"/>
            <a:ext cx="3505200" cy="3886200"/>
          </a:xfrm>
          <a:prstGeom xmlns:a="http://schemas.openxmlformats.org/drawingml/2006/main" prst="roundRect">
            <a:avLst>
              <a:gd name="adj" fmla="val 4348"/>
            </a:avLst>
          </a:prstGeom>
          <a:solidFill xmlns:a="http://schemas.openxmlformats.org/drawingml/2006/main">
            <a:srgbClr val="3A3160"/>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bfac01d67414b56"/>
          <a:srcRect xmlns:a="http://schemas.openxmlformats.org/drawingml/2006/main" l="10969" t="0" r="10969" b="0"/>
          <a:stretch xmlns:a="http://schemas.openxmlformats.org/drawingml/2006/main">
            <a:fillRect l="0" t="0" r="0" b="0"/>
          </a:stretch>
        </p:blipFill>
        <p:spPr>
          <a:xfrm xmlns:a="http://schemas.openxmlformats.org/drawingml/2006/main">
            <a:off x="7905750" y="1095375"/>
            <a:ext cx="3429000" cy="3810000"/>
          </a:xfrm>
          <a:prstGeom xmlns:a="http://schemas.openxmlformats.org/drawingml/2006/main" prst="roundRect">
            <a:avLst>
              <a:gd name="adj" fmla="val 3333"/>
            </a:avLst>
          </a:prstGeom>
        </p:spPr>
      </p:pic>
    </p:spTree>
    <p:extLst>
      <p:ext uri="{BB962C8B-B14F-4D97-AF65-F5344CB8AC3E}">
        <p14:creationId xmlns:p14="http://schemas.microsoft.com/office/powerpoint/2010/main" val="1107614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2026-09-14T08:08:12.3580000Z</dcterms:created>
  <dcterms:modified xsi:type="dcterms:W3CDTF">2026-09-14T08:08:12.3580000Z</dcterms:modified>
</coreProperties>
</file>